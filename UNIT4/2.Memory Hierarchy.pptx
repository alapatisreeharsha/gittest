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Default Extension="jpeg" ContentType="image/jpeg"/>
  <Override PartName="/ppt/slideLayouts/slideLayout3.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3" r:id="rId3"/>
    <p:sldId id="298" r:id="rId4"/>
    <p:sldId id="257" r:id="rId5"/>
    <p:sldId id="258" r:id="rId6"/>
    <p:sldId id="259" r:id="rId7"/>
    <p:sldId id="260" r:id="rId8"/>
    <p:sldId id="261" r:id="rId9"/>
    <p:sldId id="295" r:id="rId10"/>
    <p:sldId id="296" r:id="rId11"/>
    <p:sldId id="262" r:id="rId12"/>
    <p:sldId id="270" r:id="rId13"/>
    <p:sldId id="269" r:id="rId14"/>
    <p:sldId id="281" r:id="rId15"/>
    <p:sldId id="297" r:id="rId16"/>
    <p:sldId id="311" r:id="rId17"/>
    <p:sldId id="312" r:id="rId18"/>
    <p:sldId id="313" r:id="rId19"/>
    <p:sldId id="314" r:id="rId20"/>
    <p:sldId id="271" r:id="rId21"/>
    <p:sldId id="272" r:id="rId22"/>
    <p:sldId id="282" r:id="rId23"/>
    <p:sldId id="278" r:id="rId24"/>
    <p:sldId id="279" r:id="rId25"/>
    <p:sldId id="283" r:id="rId26"/>
    <p:sldId id="284" r:id="rId27"/>
    <p:sldId id="286" r:id="rId28"/>
    <p:sldId id="287" r:id="rId29"/>
    <p:sldId id="277" r:id="rId30"/>
    <p:sldId id="299" r:id="rId31"/>
    <p:sldId id="300" r:id="rId32"/>
    <p:sldId id="306" r:id="rId33"/>
    <p:sldId id="309" r:id="rId34"/>
    <p:sldId id="310" r:id="rId35"/>
    <p:sldId id="288" r:id="rId36"/>
    <p:sldId id="303" r:id="rId37"/>
    <p:sldId id="304" r:id="rId38"/>
    <p:sldId id="305" r:id="rId39"/>
    <p:sldId id="289" r:id="rId40"/>
    <p:sldId id="307" r:id="rId41"/>
    <p:sldId id="308"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2500" autoAdjust="0"/>
    <p:restoredTop sz="94660"/>
  </p:normalViewPr>
  <p:slideViewPr>
    <p:cSldViewPr>
      <p:cViewPr varScale="1">
        <p:scale>
          <a:sx n="68" d="100"/>
          <a:sy n="68" d="100"/>
        </p:scale>
        <p:origin x="-1572"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1D8BD707-D9CF-40AE-B4C6-C98DA3205C09}" type="datetimeFigureOut">
              <a:rPr lang="en-US" smtClean="0"/>
              <a:pPr/>
              <a:t>7/15/2022</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6F15528-21DE-4FAA-801E-634DDDAF4B2B}"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7/15/2022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7/15/2022</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7/15/2022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1D8BD707-D9CF-40AE-B4C6-C98DA3205C09}" type="datetimeFigureOut">
              <a:rPr lang="en-US" smtClean="0"/>
              <a:pPr/>
              <a:t>7/15/2022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7/15/2022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7/15/2022</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7/15/2022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7/15/2022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1D8BD707-D9CF-40AE-B4C6-C98DA3205C09}" type="datetimeFigureOut">
              <a:rPr lang="en-US" smtClean="0"/>
              <a:pPr/>
              <a:t>7/15/2022</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sz="6000" b="1" smtClean="0">
                <a:solidFill>
                  <a:schemeClr val="bg1"/>
                </a:solidFill>
              </a:rPr>
              <a:t>Memory Hierarchy</a:t>
            </a:r>
            <a:endParaRPr lang="en-US" sz="6000" dirty="0">
              <a:solidFill>
                <a:schemeClr val="bg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1">
                    <a:lumMod val="75000"/>
                  </a:schemeClr>
                </a:solidFill>
              </a:rPr>
              <a:t>Memory Hierarchy</a:t>
            </a:r>
            <a:endParaRPr lang="en-US" dirty="0"/>
          </a:p>
        </p:txBody>
      </p:sp>
      <p:sp>
        <p:nvSpPr>
          <p:cNvPr id="3" name="Content Placeholder 2"/>
          <p:cNvSpPr>
            <a:spLocks noGrp="1"/>
          </p:cNvSpPr>
          <p:nvPr>
            <p:ph sz="quarter" idx="1"/>
          </p:nvPr>
        </p:nvSpPr>
        <p:spPr>
          <a:xfrm>
            <a:off x="914400" y="1447800"/>
            <a:ext cx="7772400" cy="4953000"/>
          </a:xfrm>
        </p:spPr>
        <p:txBody>
          <a:bodyPr/>
          <a:lstStyle/>
          <a:p>
            <a:pPr fontAlgn="base">
              <a:buNone/>
            </a:pPr>
            <a:r>
              <a:rPr lang="en-US" dirty="0" smtClean="0"/>
              <a:t>This Memory Hierarchy Design is divided into 2 main types:</a:t>
            </a:r>
          </a:p>
          <a:p>
            <a:pPr fontAlgn="base"/>
            <a:endParaRPr lang="en-US" b="1" dirty="0" smtClean="0">
              <a:solidFill>
                <a:srgbClr val="FF0000"/>
              </a:solidFill>
            </a:endParaRPr>
          </a:p>
          <a:p>
            <a:pPr fontAlgn="base"/>
            <a:r>
              <a:rPr lang="en-US" b="1" dirty="0" smtClean="0">
                <a:solidFill>
                  <a:srgbClr val="FF0000"/>
                </a:solidFill>
              </a:rPr>
              <a:t>External Memory or Secondary Memory –</a:t>
            </a:r>
            <a:r>
              <a:rPr lang="en-US" dirty="0" smtClean="0"/>
              <a:t/>
            </a:r>
            <a:br>
              <a:rPr lang="en-US" dirty="0" smtClean="0"/>
            </a:br>
            <a:r>
              <a:rPr lang="en-US" dirty="0" smtClean="0"/>
              <a:t>Comprising of Magnetic Disk, Optical Disk, Magnetic Tape i.e. peripheral storage devices which are accessible by the processor via I/O Module.</a:t>
            </a:r>
          </a:p>
          <a:p>
            <a:pPr fontAlgn="base">
              <a:buNone/>
            </a:pPr>
            <a:endParaRPr lang="en-US" dirty="0" smtClean="0"/>
          </a:p>
          <a:p>
            <a:pPr fontAlgn="base"/>
            <a:r>
              <a:rPr lang="en-US" b="1" dirty="0" smtClean="0">
                <a:solidFill>
                  <a:srgbClr val="FF0000"/>
                </a:solidFill>
              </a:rPr>
              <a:t>Internal Memory or Primary Memory –</a:t>
            </a:r>
            <a:r>
              <a:rPr lang="en-US" dirty="0" smtClean="0"/>
              <a:t/>
            </a:r>
            <a:br>
              <a:rPr lang="en-US" dirty="0" smtClean="0"/>
            </a:br>
            <a:r>
              <a:rPr lang="en-US" dirty="0" smtClean="0"/>
              <a:t>Comprising of Main Memory, Cache Memory &amp; CPU registers. This is directly accessible by the processor.</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Memory Hierarchy"/>
          <p:cNvPicPr>
            <a:picLocks noChangeAspect="1" noChangeArrowheads="1"/>
          </p:cNvPicPr>
          <p:nvPr/>
        </p:nvPicPr>
        <p:blipFill>
          <a:blip r:embed="rId2"/>
          <a:srcRect/>
          <a:stretch>
            <a:fillRect/>
          </a:stretch>
        </p:blipFill>
        <p:spPr bwMode="auto">
          <a:xfrm>
            <a:off x="533400" y="685800"/>
            <a:ext cx="8153400" cy="5638800"/>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1">
                    <a:lumMod val="75000"/>
                  </a:schemeClr>
                </a:solidFill>
              </a:rPr>
              <a:t>Memory Hierarchy</a:t>
            </a:r>
            <a:endParaRPr lang="en-US" b="1" dirty="0">
              <a:solidFill>
                <a:schemeClr val="accent1">
                  <a:lumMod val="75000"/>
                </a:schemeClr>
              </a:solidFill>
            </a:endParaRPr>
          </a:p>
        </p:txBody>
      </p:sp>
      <p:sp>
        <p:nvSpPr>
          <p:cNvPr id="3" name="Content Placeholder 2"/>
          <p:cNvSpPr>
            <a:spLocks noGrp="1"/>
          </p:cNvSpPr>
          <p:nvPr>
            <p:ph sz="quarter" idx="1"/>
          </p:nvPr>
        </p:nvSpPr>
        <p:spPr/>
        <p:txBody>
          <a:bodyPr/>
          <a:lstStyle/>
          <a:p>
            <a:pPr>
              <a:buNone/>
            </a:pPr>
            <a:r>
              <a:rPr lang="en-US" dirty="0" smtClean="0"/>
              <a:t>    The Computer memory hierarchy looks like a pyramid structure which is used to describe the differences among memory types. It separates the computer storage based on hierarchy.</a:t>
            </a:r>
          </a:p>
          <a:p>
            <a:r>
              <a:rPr lang="en-US" dirty="0" smtClean="0"/>
              <a:t>Level 0: CPU registers</a:t>
            </a:r>
          </a:p>
          <a:p>
            <a:r>
              <a:rPr lang="en-US" dirty="0" smtClean="0"/>
              <a:t>Level 1: Cache memory</a:t>
            </a:r>
          </a:p>
          <a:p>
            <a:r>
              <a:rPr lang="en-US" dirty="0" smtClean="0"/>
              <a:t>Level 2: Main memory or primary memory</a:t>
            </a:r>
          </a:p>
          <a:p>
            <a:r>
              <a:rPr lang="en-US" dirty="0" smtClean="0"/>
              <a:t>Level 3: Magnetic disks or secondary memory</a:t>
            </a:r>
          </a:p>
          <a:p>
            <a:r>
              <a:rPr lang="en-US" dirty="0" smtClean="0"/>
              <a:t>Level 4: Optical disks or magnetic types or tertiary Memory</a:t>
            </a:r>
          </a:p>
          <a:p>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RGUKT\Desktop\Memory Hierarchy.png"/>
          <p:cNvPicPr>
            <a:picLocks noChangeAspect="1" noChangeArrowheads="1"/>
          </p:cNvPicPr>
          <p:nvPr/>
        </p:nvPicPr>
        <p:blipFill>
          <a:blip r:embed="rId2"/>
          <a:srcRect/>
          <a:stretch>
            <a:fillRect/>
          </a:stretch>
        </p:blipFill>
        <p:spPr bwMode="auto">
          <a:xfrm>
            <a:off x="838200" y="1676400"/>
            <a:ext cx="7620000" cy="4419600"/>
          </a:xfrm>
          <a:prstGeom prst="rect">
            <a:avLst/>
          </a:prstGeom>
          <a:noFill/>
        </p:spPr>
      </p:pic>
      <p:sp>
        <p:nvSpPr>
          <p:cNvPr id="9" name="Title 8"/>
          <p:cNvSpPr>
            <a:spLocks noGrp="1"/>
          </p:cNvSpPr>
          <p:nvPr>
            <p:ph type="title"/>
          </p:nvPr>
        </p:nvSpPr>
        <p:spPr/>
        <p:txBody>
          <a:bodyPr/>
          <a:lstStyle/>
          <a:p>
            <a:r>
              <a:rPr lang="en-US" b="1" dirty="0" smtClean="0">
                <a:solidFill>
                  <a:schemeClr val="accent1">
                    <a:lumMod val="75000"/>
                  </a:schemeClr>
                </a:solidFill>
              </a:rPr>
              <a:t>Memory Hierarchy</a:t>
            </a:r>
            <a:endParaRPr lang="en-US" b="1" dirty="0">
              <a:solidFill>
                <a:schemeClr val="accent1">
                  <a:lumMod val="75000"/>
                </a:schemeClr>
              </a:solidFill>
            </a:endParaRPr>
          </a:p>
        </p:txBody>
      </p:sp>
      <p:sp>
        <p:nvSpPr>
          <p:cNvPr id="10" name="Content Placeholder 9"/>
          <p:cNvSpPr>
            <a:spLocks noGrp="1"/>
          </p:cNvSpPr>
          <p:nvPr>
            <p:ph sz="quarter" idx="1"/>
          </p:nvPr>
        </p:nvSpPr>
        <p:spPr/>
        <p:txBody>
          <a:bodyPr/>
          <a:lstStyle/>
          <a:p>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1">
                    <a:lumMod val="75000"/>
                  </a:schemeClr>
                </a:solidFill>
              </a:rPr>
              <a:t>Memory Hierarchy</a:t>
            </a:r>
            <a:endParaRPr lang="en-US" b="1" dirty="0">
              <a:solidFill>
                <a:schemeClr val="accent1">
                  <a:lumMod val="75000"/>
                </a:schemeClr>
              </a:solidFill>
            </a:endParaRPr>
          </a:p>
        </p:txBody>
      </p:sp>
      <p:sp>
        <p:nvSpPr>
          <p:cNvPr id="3" name="Content Placeholder 2"/>
          <p:cNvSpPr>
            <a:spLocks noGrp="1"/>
          </p:cNvSpPr>
          <p:nvPr>
            <p:ph sz="quarter" idx="1"/>
          </p:nvPr>
        </p:nvSpPr>
        <p:spPr>
          <a:xfrm>
            <a:off x="914400" y="1447800"/>
            <a:ext cx="7772400" cy="4876800"/>
          </a:xfrm>
        </p:spPr>
        <p:txBody>
          <a:bodyPr/>
          <a:lstStyle/>
          <a:p>
            <a:r>
              <a:rPr lang="en-US" dirty="0" smtClean="0"/>
              <a:t>In Memory Hierarchy the cost of memory, capacity is inversely proportional to speed. Here the devices are arranged in a manner Fast to slow, that is form register to Tertiary memory.</a:t>
            </a:r>
          </a:p>
          <a:p>
            <a:pPr>
              <a:buNone/>
            </a:pPr>
            <a:endParaRPr lang="en-US" b="1" dirty="0" smtClean="0">
              <a:solidFill>
                <a:srgbClr val="002060"/>
              </a:solidFill>
            </a:endParaRPr>
          </a:p>
          <a:p>
            <a:pPr>
              <a:buNone/>
            </a:pPr>
            <a:r>
              <a:rPr lang="en-US" b="1" dirty="0" smtClean="0">
                <a:solidFill>
                  <a:srgbClr val="002060"/>
                </a:solidFill>
              </a:rPr>
              <a:t>Level-0 − Registers</a:t>
            </a:r>
          </a:p>
          <a:p>
            <a:r>
              <a:rPr lang="en-US" dirty="0" smtClean="0"/>
              <a:t>The registers are present inside the CPU. As they are present inside the CPU, they have least access time. Registers are most expensive and smallest in size generally in kilobytes. They are implemented by using Flip-Flops.</a:t>
            </a:r>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1">
                    <a:lumMod val="75000"/>
                  </a:schemeClr>
                </a:solidFill>
              </a:rPr>
              <a:t>Memory Hierarchy</a:t>
            </a:r>
            <a:endParaRPr lang="en-US" dirty="0"/>
          </a:p>
        </p:txBody>
      </p:sp>
      <p:sp>
        <p:nvSpPr>
          <p:cNvPr id="3" name="Content Placeholder 2"/>
          <p:cNvSpPr>
            <a:spLocks noGrp="1"/>
          </p:cNvSpPr>
          <p:nvPr>
            <p:ph sz="quarter" idx="1"/>
          </p:nvPr>
        </p:nvSpPr>
        <p:spPr>
          <a:xfrm>
            <a:off x="914400" y="1447800"/>
            <a:ext cx="7772400" cy="4876800"/>
          </a:xfrm>
        </p:spPr>
        <p:txBody>
          <a:bodyPr>
            <a:normAutofit lnSpcReduction="10000"/>
          </a:bodyPr>
          <a:lstStyle/>
          <a:p>
            <a:pPr>
              <a:buNone/>
            </a:pPr>
            <a:r>
              <a:rPr lang="en-US" b="1" dirty="0" smtClean="0">
                <a:solidFill>
                  <a:srgbClr val="002060"/>
                </a:solidFill>
              </a:rPr>
              <a:t>Level-1 − Cache</a:t>
            </a:r>
          </a:p>
          <a:p>
            <a:r>
              <a:rPr lang="en-US" dirty="0" smtClean="0"/>
              <a:t>Cache memory is used to store the segments of a program that are frequently accessed by the processor. It is expensive and smaller in size generally in Megabytes and is implemented by using static RAM</a:t>
            </a:r>
            <a:r>
              <a:rPr lang="en-US" dirty="0" smtClean="0"/>
              <a:t>.</a:t>
            </a:r>
          </a:p>
          <a:p>
            <a:endParaRPr lang="en-US" dirty="0" smtClean="0"/>
          </a:p>
          <a:p>
            <a:pPr>
              <a:buNone/>
            </a:pPr>
            <a:r>
              <a:rPr lang="en-US" b="1" dirty="0" smtClean="0">
                <a:solidFill>
                  <a:srgbClr val="002060"/>
                </a:solidFill>
              </a:rPr>
              <a:t>Level-2 − Primary or Main Memory</a:t>
            </a:r>
          </a:p>
          <a:p>
            <a:r>
              <a:rPr lang="en-US" dirty="0" smtClean="0"/>
              <a:t>It directly communicates with the CPU and with auxiliary memory devices through an I/O processor. Main memory is less expensive than cache memory and larger in size generally in Gigabytes. This memory is implemented by using dynamic RAM.</a:t>
            </a:r>
          </a:p>
          <a:p>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1">
                    <a:lumMod val="75000"/>
                  </a:schemeClr>
                </a:solidFill>
              </a:rPr>
              <a:t>Memory Hierarchy</a:t>
            </a:r>
            <a:endParaRPr lang="en-US" dirty="0"/>
          </a:p>
        </p:txBody>
      </p:sp>
      <p:sp>
        <p:nvSpPr>
          <p:cNvPr id="3" name="Content Placeholder 2"/>
          <p:cNvSpPr>
            <a:spLocks noGrp="1"/>
          </p:cNvSpPr>
          <p:nvPr>
            <p:ph sz="quarter" idx="1"/>
          </p:nvPr>
        </p:nvSpPr>
        <p:spPr/>
        <p:txBody>
          <a:bodyPr/>
          <a:lstStyle/>
          <a:p>
            <a:pPr>
              <a:buNone/>
            </a:pPr>
            <a:r>
              <a:rPr lang="en-US" b="1" dirty="0" smtClean="0">
                <a:solidFill>
                  <a:srgbClr val="002060"/>
                </a:solidFill>
              </a:rPr>
              <a:t>Level-3 − Secondary storage</a:t>
            </a:r>
          </a:p>
          <a:p>
            <a:r>
              <a:rPr lang="en-US" dirty="0" smtClean="0"/>
              <a:t>Secondary storage devices like Magnetic Disk are present at level 3. They are used as backup storage. They are cheaper than main memory and larger in size generally in a few TB.</a:t>
            </a:r>
          </a:p>
          <a:p>
            <a:pPr>
              <a:buNone/>
            </a:pPr>
            <a:endParaRPr lang="en-US" dirty="0" smtClean="0"/>
          </a:p>
          <a:p>
            <a:pPr>
              <a:buNone/>
            </a:pPr>
            <a:r>
              <a:rPr lang="en-US" b="1" dirty="0" smtClean="0">
                <a:solidFill>
                  <a:srgbClr val="002060"/>
                </a:solidFill>
              </a:rPr>
              <a:t>Level-4 − Tertiary storage</a:t>
            </a:r>
          </a:p>
          <a:p>
            <a:r>
              <a:rPr lang="en-US" dirty="0" smtClean="0"/>
              <a:t>Tertiary storage devices like magnetic tape are present at level 4. They are used to store removable files and are the cheapest and largest in size (1-20 TB).</a:t>
            </a:r>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chemeClr val="accent2">
                    <a:lumMod val="50000"/>
                  </a:schemeClr>
                </a:solidFill>
              </a:rPr>
              <a:t>Characteristics of Memory Hierarchy</a:t>
            </a:r>
            <a:endParaRPr lang="en-US" b="1" dirty="0">
              <a:solidFill>
                <a:schemeClr val="accent2">
                  <a:lumMod val="50000"/>
                </a:schemeClr>
              </a:solidFill>
            </a:endParaRPr>
          </a:p>
        </p:txBody>
      </p:sp>
      <p:sp>
        <p:nvSpPr>
          <p:cNvPr id="3" name="Content Placeholder 2"/>
          <p:cNvSpPr>
            <a:spLocks noGrp="1"/>
          </p:cNvSpPr>
          <p:nvPr>
            <p:ph sz="quarter" idx="1"/>
          </p:nvPr>
        </p:nvSpPr>
        <p:spPr>
          <a:xfrm>
            <a:off x="914400" y="1676400"/>
            <a:ext cx="7772400" cy="4724400"/>
          </a:xfrm>
        </p:spPr>
        <p:txBody>
          <a:bodyPr>
            <a:normAutofit/>
          </a:bodyPr>
          <a:lstStyle/>
          <a:p>
            <a:pPr fontAlgn="base"/>
            <a:r>
              <a:rPr lang="en-US" b="1" dirty="0" smtClean="0">
                <a:solidFill>
                  <a:srgbClr val="002060"/>
                </a:solidFill>
              </a:rPr>
              <a:t>Capacity:</a:t>
            </a:r>
            <a:r>
              <a:rPr lang="en-US" dirty="0" smtClean="0"/>
              <a:t/>
            </a:r>
            <a:br>
              <a:rPr lang="en-US" dirty="0" smtClean="0"/>
            </a:br>
            <a:r>
              <a:rPr lang="en-US" dirty="0" smtClean="0"/>
              <a:t>It is the global volume of information the memory can store. As we move from top to bottom in the Hierarchy, the capacity increases.</a:t>
            </a:r>
          </a:p>
          <a:p>
            <a:pPr fontAlgn="base">
              <a:buNone/>
            </a:pPr>
            <a:endParaRPr lang="en-US" dirty="0" smtClean="0"/>
          </a:p>
          <a:p>
            <a:pPr fontAlgn="base"/>
            <a:r>
              <a:rPr lang="en-US" b="1" dirty="0" smtClean="0">
                <a:solidFill>
                  <a:srgbClr val="002060"/>
                </a:solidFill>
              </a:rPr>
              <a:t>Access Time:</a:t>
            </a:r>
            <a:r>
              <a:rPr lang="en-US" dirty="0" smtClean="0"/>
              <a:t/>
            </a:r>
            <a:br>
              <a:rPr lang="en-US" dirty="0" smtClean="0"/>
            </a:br>
            <a:r>
              <a:rPr lang="en-US" dirty="0" smtClean="0"/>
              <a:t>It is the time interval between the read/write request and the availability of the data. As we move from top to bottom in the Hierarchy, the access time increases.</a:t>
            </a:r>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chemeClr val="accent2">
                    <a:lumMod val="50000"/>
                  </a:schemeClr>
                </a:solidFill>
              </a:rPr>
              <a:t>Characteristics of Memory Hierarchy</a:t>
            </a:r>
            <a:endParaRPr lang="en-US" dirty="0"/>
          </a:p>
        </p:txBody>
      </p:sp>
      <p:sp>
        <p:nvSpPr>
          <p:cNvPr id="3" name="Content Placeholder 2"/>
          <p:cNvSpPr>
            <a:spLocks noGrp="1"/>
          </p:cNvSpPr>
          <p:nvPr>
            <p:ph sz="quarter" idx="1"/>
          </p:nvPr>
        </p:nvSpPr>
        <p:spPr>
          <a:xfrm>
            <a:off x="914400" y="1676400"/>
            <a:ext cx="7772400" cy="4343400"/>
          </a:xfrm>
        </p:spPr>
        <p:txBody>
          <a:bodyPr>
            <a:normAutofit/>
          </a:bodyPr>
          <a:lstStyle/>
          <a:p>
            <a:pPr fontAlgn="base"/>
            <a:r>
              <a:rPr lang="en-US" b="1" dirty="0" smtClean="0">
                <a:solidFill>
                  <a:srgbClr val="002060"/>
                </a:solidFill>
              </a:rPr>
              <a:t>Performance:</a:t>
            </a:r>
            <a:r>
              <a:rPr lang="en-US" dirty="0" smtClean="0"/>
              <a:t/>
            </a:r>
            <a:br>
              <a:rPr lang="en-US" dirty="0" smtClean="0"/>
            </a:br>
            <a:r>
              <a:rPr lang="en-US" dirty="0" smtClean="0"/>
              <a:t>Earlier when the computer system was designed without Memory Hierarchy design, the speed gap increases between the CPU registers and Main Memory due to large difference in access time. </a:t>
            </a:r>
          </a:p>
          <a:p>
            <a:pPr fontAlgn="base">
              <a:buNone/>
            </a:pPr>
            <a:endParaRPr lang="en-US" dirty="0" smtClean="0"/>
          </a:p>
          <a:p>
            <a:pPr fontAlgn="base"/>
            <a:r>
              <a:rPr lang="en-US" b="1" dirty="0" smtClean="0">
                <a:solidFill>
                  <a:srgbClr val="002060"/>
                </a:solidFill>
              </a:rPr>
              <a:t>Cost per bit:</a:t>
            </a:r>
            <a:r>
              <a:rPr lang="en-US" dirty="0" smtClean="0"/>
              <a:t/>
            </a:r>
            <a:br>
              <a:rPr lang="en-US" dirty="0" smtClean="0"/>
            </a:br>
            <a:r>
              <a:rPr lang="en-US" dirty="0" smtClean="0"/>
              <a:t>As we move from bottom to top in the Hierarchy, the cost per bit increases i.e. Internal Memory is costlier than External Memory.</a:t>
            </a:r>
          </a:p>
          <a:p>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74638"/>
            <a:ext cx="8153400" cy="1143000"/>
          </a:xfrm>
        </p:spPr>
        <p:txBody>
          <a:bodyPr/>
          <a:lstStyle/>
          <a:p>
            <a:r>
              <a:rPr lang="en-US" b="1" dirty="0" smtClean="0">
                <a:solidFill>
                  <a:schemeClr val="accent1">
                    <a:lumMod val="75000"/>
                  </a:schemeClr>
                </a:solidFill>
              </a:rPr>
              <a:t>Memory Hierarchy</a:t>
            </a:r>
            <a:endParaRPr lang="en-US" dirty="0"/>
          </a:p>
        </p:txBody>
      </p:sp>
      <p:graphicFrame>
        <p:nvGraphicFramePr>
          <p:cNvPr id="4" name="Table 3"/>
          <p:cNvGraphicFramePr>
            <a:graphicFrameLocks noGrp="1"/>
          </p:cNvGraphicFramePr>
          <p:nvPr/>
        </p:nvGraphicFramePr>
        <p:xfrm>
          <a:off x="457198" y="1676400"/>
          <a:ext cx="8382002" cy="4876802"/>
        </p:xfrm>
        <a:graphic>
          <a:graphicData uri="http://schemas.openxmlformats.org/drawingml/2006/table">
            <a:tbl>
              <a:tblPr/>
              <a:tblGrid>
                <a:gridCol w="2063262"/>
                <a:gridCol w="1579685"/>
                <a:gridCol w="1579685"/>
                <a:gridCol w="1579685"/>
                <a:gridCol w="1579685"/>
              </a:tblGrid>
              <a:tr h="991822">
                <a:tc>
                  <a:txBody>
                    <a:bodyPr/>
                    <a:lstStyle/>
                    <a:p>
                      <a:r>
                        <a:rPr lang="en-US" sz="2000" b="1" dirty="0">
                          <a:solidFill>
                            <a:srgbClr val="C00000"/>
                          </a:solidFill>
                        </a:rPr>
                        <a:t>Level</a:t>
                      </a:r>
                      <a:r>
                        <a:rPr lang="en-US" sz="2000" dirty="0">
                          <a:solidFill>
                            <a:srgbClr val="C00000"/>
                          </a:solidFill>
                        </a:rPr>
                        <a:t/>
                      </a:r>
                      <a:br>
                        <a:rPr lang="en-US" sz="2000" dirty="0">
                          <a:solidFill>
                            <a:srgbClr val="C00000"/>
                          </a:solidFill>
                        </a:rPr>
                      </a:br>
                      <a:endParaRPr lang="en-US" sz="2000" dirty="0">
                        <a:solidFill>
                          <a:srgbClr val="C00000"/>
                        </a:solidFill>
                      </a:endParaRPr>
                    </a:p>
                  </a:txBody>
                  <a:tcPr marL="26390" marR="26390" marT="26390" marB="26390">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r>
                        <a:rPr lang="en-US" sz="2000" b="1" dirty="0">
                          <a:solidFill>
                            <a:srgbClr val="C00000"/>
                          </a:solidFill>
                        </a:rPr>
                        <a:t>Register</a:t>
                      </a:r>
                      <a:r>
                        <a:rPr lang="en-US" sz="2000" dirty="0">
                          <a:solidFill>
                            <a:srgbClr val="C00000"/>
                          </a:solidFill>
                        </a:rPr>
                        <a:t/>
                      </a:r>
                      <a:br>
                        <a:rPr lang="en-US" sz="2000" dirty="0">
                          <a:solidFill>
                            <a:srgbClr val="C00000"/>
                          </a:solidFill>
                        </a:rPr>
                      </a:br>
                      <a:endParaRPr lang="en-US" sz="2000" dirty="0">
                        <a:solidFill>
                          <a:srgbClr val="C00000"/>
                        </a:solidFill>
                      </a:endParaRPr>
                    </a:p>
                  </a:txBody>
                  <a:tcPr marL="26390" marR="26390" marT="26390" marB="26390">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r>
                        <a:rPr lang="en-US" sz="2000" b="1" dirty="0">
                          <a:solidFill>
                            <a:srgbClr val="C00000"/>
                          </a:solidFill>
                        </a:rPr>
                        <a:t>Cache</a:t>
                      </a:r>
                      <a:r>
                        <a:rPr lang="en-US" sz="2000" dirty="0">
                          <a:solidFill>
                            <a:srgbClr val="C00000"/>
                          </a:solidFill>
                        </a:rPr>
                        <a:t/>
                      </a:r>
                      <a:br>
                        <a:rPr lang="en-US" sz="2000" dirty="0">
                          <a:solidFill>
                            <a:srgbClr val="C00000"/>
                          </a:solidFill>
                        </a:rPr>
                      </a:br>
                      <a:endParaRPr lang="en-US" sz="2000" dirty="0">
                        <a:solidFill>
                          <a:srgbClr val="C00000"/>
                        </a:solidFill>
                      </a:endParaRPr>
                    </a:p>
                  </a:txBody>
                  <a:tcPr marL="26390" marR="26390" marT="26390" marB="26390">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r>
                        <a:rPr lang="en-US" sz="2000" b="1" dirty="0">
                          <a:solidFill>
                            <a:srgbClr val="C00000"/>
                          </a:solidFill>
                        </a:rPr>
                        <a:t>Primary memory</a:t>
                      </a:r>
                      <a:r>
                        <a:rPr lang="en-US" sz="2000" dirty="0">
                          <a:solidFill>
                            <a:srgbClr val="C00000"/>
                          </a:solidFill>
                        </a:rPr>
                        <a:t/>
                      </a:r>
                      <a:br>
                        <a:rPr lang="en-US" sz="2000" dirty="0">
                          <a:solidFill>
                            <a:srgbClr val="C00000"/>
                          </a:solidFill>
                        </a:rPr>
                      </a:br>
                      <a:endParaRPr lang="en-US" sz="2000" dirty="0">
                        <a:solidFill>
                          <a:srgbClr val="C00000"/>
                        </a:solidFill>
                      </a:endParaRPr>
                    </a:p>
                  </a:txBody>
                  <a:tcPr marL="26390" marR="26390" marT="26390" marB="26390">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r>
                        <a:rPr lang="en-US" sz="2000" b="1" dirty="0">
                          <a:solidFill>
                            <a:srgbClr val="C00000"/>
                          </a:solidFill>
                        </a:rPr>
                        <a:t>Secondary memory</a:t>
                      </a:r>
                      <a:r>
                        <a:rPr lang="en-US" sz="2000" dirty="0">
                          <a:solidFill>
                            <a:srgbClr val="C00000"/>
                          </a:solidFill>
                        </a:rPr>
                        <a:t/>
                      </a:r>
                      <a:br>
                        <a:rPr lang="en-US" sz="2000" dirty="0">
                          <a:solidFill>
                            <a:srgbClr val="C00000"/>
                          </a:solidFill>
                        </a:rPr>
                      </a:br>
                      <a:endParaRPr lang="en-US" sz="2000" dirty="0">
                        <a:solidFill>
                          <a:srgbClr val="C00000"/>
                        </a:solidFill>
                      </a:endParaRPr>
                    </a:p>
                  </a:txBody>
                  <a:tcPr marL="26390" marR="26390" marT="26390" marB="26390">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r>
              <a:tr h="971245">
                <a:tc>
                  <a:txBody>
                    <a:bodyPr/>
                    <a:lstStyle/>
                    <a:p>
                      <a:r>
                        <a:rPr lang="en-US" sz="2000" b="1" dirty="0">
                          <a:solidFill>
                            <a:schemeClr val="accent6">
                              <a:lumMod val="50000"/>
                            </a:schemeClr>
                          </a:solidFill>
                        </a:rPr>
                        <a:t>Bandwidth</a:t>
                      </a:r>
                      <a:br>
                        <a:rPr lang="en-US" sz="2000" b="1" dirty="0">
                          <a:solidFill>
                            <a:schemeClr val="accent6">
                              <a:lumMod val="50000"/>
                            </a:schemeClr>
                          </a:solidFill>
                        </a:rPr>
                      </a:br>
                      <a:endParaRPr lang="en-US" sz="2000" b="1" dirty="0">
                        <a:solidFill>
                          <a:schemeClr val="accent6">
                            <a:lumMod val="50000"/>
                          </a:schemeClr>
                        </a:solidFill>
                      </a:endParaRPr>
                    </a:p>
                  </a:txBody>
                  <a:tcPr marL="26390" marR="26390" marT="26390" marB="26390">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r>
                        <a:rPr lang="en-US" sz="2000" dirty="0"/>
                        <a:t>4k to 32k MB/sec</a:t>
                      </a:r>
                      <a:br>
                        <a:rPr lang="en-US" sz="2000" dirty="0"/>
                      </a:br>
                      <a:endParaRPr lang="en-US" sz="2000" dirty="0"/>
                    </a:p>
                  </a:txBody>
                  <a:tcPr marL="26390" marR="26390" marT="26390" marB="26390">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r>
                        <a:rPr lang="en-US" sz="2000"/>
                        <a:t>800 to 5k MB/sec</a:t>
                      </a:r>
                      <a:br>
                        <a:rPr lang="en-US" sz="2000"/>
                      </a:br>
                      <a:endParaRPr lang="en-US" sz="2000"/>
                    </a:p>
                  </a:txBody>
                  <a:tcPr marL="26390" marR="26390" marT="26390" marB="26390">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r>
                        <a:rPr lang="en-US" sz="2000"/>
                        <a:t>400 to 2k MB/sec</a:t>
                      </a:r>
                      <a:br>
                        <a:rPr lang="en-US" sz="2000"/>
                      </a:br>
                      <a:endParaRPr lang="en-US" sz="2000"/>
                    </a:p>
                  </a:txBody>
                  <a:tcPr marL="26390" marR="26390" marT="26390" marB="26390">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r>
                        <a:rPr lang="en-US" sz="2000"/>
                        <a:t>4 to 32 MB/sec</a:t>
                      </a:r>
                      <a:br>
                        <a:rPr lang="en-US" sz="2000"/>
                      </a:br>
                      <a:endParaRPr lang="en-US" sz="2000"/>
                    </a:p>
                  </a:txBody>
                  <a:tcPr marL="26390" marR="26390" marT="26390" marB="26390">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r>
              <a:tr h="971245">
                <a:tc>
                  <a:txBody>
                    <a:bodyPr/>
                    <a:lstStyle/>
                    <a:p>
                      <a:r>
                        <a:rPr lang="en-US" sz="2000" b="1" dirty="0">
                          <a:solidFill>
                            <a:schemeClr val="accent6">
                              <a:lumMod val="50000"/>
                            </a:schemeClr>
                          </a:solidFill>
                        </a:rPr>
                        <a:t>Size</a:t>
                      </a:r>
                      <a:br>
                        <a:rPr lang="en-US" sz="2000" b="1" dirty="0">
                          <a:solidFill>
                            <a:schemeClr val="accent6">
                              <a:lumMod val="50000"/>
                            </a:schemeClr>
                          </a:solidFill>
                        </a:rPr>
                      </a:br>
                      <a:endParaRPr lang="en-US" sz="2000" b="1" dirty="0">
                        <a:solidFill>
                          <a:schemeClr val="accent6">
                            <a:lumMod val="50000"/>
                          </a:schemeClr>
                        </a:solidFill>
                      </a:endParaRPr>
                    </a:p>
                  </a:txBody>
                  <a:tcPr marL="26390" marR="26390" marT="26390" marB="26390">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r>
                        <a:rPr lang="en-US" sz="2000" baseline="0" dirty="0" smtClean="0"/>
                        <a:t> </a:t>
                      </a:r>
                      <a:r>
                        <a:rPr lang="en-US" sz="2000" dirty="0" smtClean="0"/>
                        <a:t>KB</a:t>
                      </a:r>
                      <a:r>
                        <a:rPr lang="en-US" sz="2000" dirty="0"/>
                        <a:t/>
                      </a:r>
                      <a:br>
                        <a:rPr lang="en-US" sz="2000" dirty="0"/>
                      </a:br>
                      <a:endParaRPr lang="en-US" sz="2000" dirty="0"/>
                    </a:p>
                  </a:txBody>
                  <a:tcPr marL="26390" marR="26390" marT="26390" marB="26390">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r>
                        <a:rPr lang="en-US" sz="2000" baseline="0" dirty="0" smtClean="0"/>
                        <a:t> </a:t>
                      </a:r>
                      <a:r>
                        <a:rPr lang="en-US" sz="2000" dirty="0" smtClean="0"/>
                        <a:t>MB</a:t>
                      </a:r>
                      <a:r>
                        <a:rPr lang="en-US" sz="2000" dirty="0"/>
                        <a:t/>
                      </a:r>
                      <a:br>
                        <a:rPr lang="en-US" sz="2000" dirty="0"/>
                      </a:br>
                      <a:endParaRPr lang="en-US" sz="2000" dirty="0"/>
                    </a:p>
                  </a:txBody>
                  <a:tcPr marL="26390" marR="26390" marT="26390" marB="26390">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r>
                        <a:rPr lang="en-US" sz="2000" baseline="0" dirty="0" smtClean="0"/>
                        <a:t> </a:t>
                      </a:r>
                      <a:r>
                        <a:rPr lang="en-US" sz="2000" dirty="0" smtClean="0"/>
                        <a:t>GB</a:t>
                      </a:r>
                      <a:r>
                        <a:rPr lang="en-US" sz="2000" dirty="0"/>
                        <a:t/>
                      </a:r>
                      <a:br>
                        <a:rPr lang="en-US" sz="2000" dirty="0"/>
                      </a:br>
                      <a:endParaRPr lang="en-US" sz="2000" dirty="0"/>
                    </a:p>
                  </a:txBody>
                  <a:tcPr marL="26390" marR="26390" marT="26390" marB="26390">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r>
                        <a:rPr lang="en-US" sz="2000" dirty="0"/>
                        <a:t>Greater than </a:t>
                      </a:r>
                      <a:r>
                        <a:rPr lang="en-US" sz="2000" dirty="0" smtClean="0"/>
                        <a:t>GB</a:t>
                      </a:r>
                    </a:p>
                    <a:p>
                      <a:pPr algn="ctr"/>
                      <a:r>
                        <a:rPr lang="en-US" sz="2000" dirty="0" smtClean="0"/>
                        <a:t>(TB)</a:t>
                      </a:r>
                      <a:r>
                        <a:rPr lang="en-US" sz="2000" dirty="0"/>
                        <a:t/>
                      </a:r>
                      <a:br>
                        <a:rPr lang="en-US" sz="2000" dirty="0"/>
                      </a:br>
                      <a:endParaRPr lang="en-US" sz="2000" dirty="0"/>
                    </a:p>
                  </a:txBody>
                  <a:tcPr marL="26390" marR="26390" marT="26390" marB="26390">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r>
              <a:tr h="971245">
                <a:tc>
                  <a:txBody>
                    <a:bodyPr/>
                    <a:lstStyle/>
                    <a:p>
                      <a:r>
                        <a:rPr lang="en-US" sz="2000" b="1" dirty="0">
                          <a:solidFill>
                            <a:schemeClr val="accent6">
                              <a:lumMod val="50000"/>
                            </a:schemeClr>
                          </a:solidFill>
                        </a:rPr>
                        <a:t>Access time</a:t>
                      </a:r>
                      <a:br>
                        <a:rPr lang="en-US" sz="2000" b="1" dirty="0">
                          <a:solidFill>
                            <a:schemeClr val="accent6">
                              <a:lumMod val="50000"/>
                            </a:schemeClr>
                          </a:solidFill>
                        </a:rPr>
                      </a:br>
                      <a:endParaRPr lang="en-US" sz="2000" b="1" dirty="0">
                        <a:solidFill>
                          <a:schemeClr val="accent6">
                            <a:lumMod val="50000"/>
                          </a:schemeClr>
                        </a:solidFill>
                      </a:endParaRPr>
                    </a:p>
                  </a:txBody>
                  <a:tcPr marL="26390" marR="26390" marT="26390" marB="26390">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r>
                        <a:rPr lang="en-US" sz="2000"/>
                        <a:t>2 to 5nsec</a:t>
                      </a:r>
                      <a:br>
                        <a:rPr lang="en-US" sz="2000"/>
                      </a:br>
                      <a:endParaRPr lang="en-US" sz="2000"/>
                    </a:p>
                  </a:txBody>
                  <a:tcPr marL="26390" marR="26390" marT="26390" marB="26390">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r>
                        <a:rPr lang="en-US" sz="2000" dirty="0"/>
                        <a:t>3 to 10 </a:t>
                      </a:r>
                      <a:r>
                        <a:rPr lang="en-US" sz="2000" dirty="0" err="1"/>
                        <a:t>nsec</a:t>
                      </a:r>
                      <a:r>
                        <a:rPr lang="en-US" sz="2000" dirty="0"/>
                        <a:t/>
                      </a:r>
                      <a:br>
                        <a:rPr lang="en-US" sz="2000" dirty="0"/>
                      </a:br>
                      <a:endParaRPr lang="en-US" sz="2000" dirty="0"/>
                    </a:p>
                  </a:txBody>
                  <a:tcPr marL="26390" marR="26390" marT="26390" marB="26390">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r>
                        <a:rPr lang="en-US" sz="2000" dirty="0"/>
                        <a:t>80 to 400 </a:t>
                      </a:r>
                      <a:r>
                        <a:rPr lang="en-US" sz="2000" dirty="0" err="1"/>
                        <a:t>nsec</a:t>
                      </a:r>
                      <a:r>
                        <a:rPr lang="en-US" sz="2000" dirty="0"/>
                        <a:t/>
                      </a:r>
                      <a:br>
                        <a:rPr lang="en-US" sz="2000" dirty="0"/>
                      </a:br>
                      <a:endParaRPr lang="en-US" sz="2000" dirty="0"/>
                    </a:p>
                  </a:txBody>
                  <a:tcPr marL="26390" marR="26390" marT="26390" marB="26390">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r>
                        <a:rPr lang="en-US" sz="2000" dirty="0"/>
                        <a:t>5ms</a:t>
                      </a:r>
                      <a:br>
                        <a:rPr lang="en-US" sz="2000" dirty="0"/>
                      </a:br>
                      <a:endParaRPr lang="en-US" sz="2000" dirty="0"/>
                    </a:p>
                  </a:txBody>
                  <a:tcPr marL="26390" marR="26390" marT="26390" marB="26390">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r>
              <a:tr h="971245">
                <a:tc>
                  <a:txBody>
                    <a:bodyPr/>
                    <a:lstStyle/>
                    <a:p>
                      <a:r>
                        <a:rPr lang="en-US" sz="2000" b="1" dirty="0">
                          <a:solidFill>
                            <a:schemeClr val="accent6">
                              <a:lumMod val="50000"/>
                            </a:schemeClr>
                          </a:solidFill>
                        </a:rPr>
                        <a:t>Managed by</a:t>
                      </a:r>
                      <a:br>
                        <a:rPr lang="en-US" sz="2000" b="1" dirty="0">
                          <a:solidFill>
                            <a:schemeClr val="accent6">
                              <a:lumMod val="50000"/>
                            </a:schemeClr>
                          </a:solidFill>
                        </a:rPr>
                      </a:br>
                      <a:endParaRPr lang="en-US" sz="2000" b="1" dirty="0">
                        <a:solidFill>
                          <a:schemeClr val="accent6">
                            <a:lumMod val="50000"/>
                          </a:schemeClr>
                        </a:solidFill>
                      </a:endParaRPr>
                    </a:p>
                  </a:txBody>
                  <a:tcPr marL="26390" marR="26390" marT="26390" marB="26390">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r>
                        <a:rPr lang="en-US" sz="2000"/>
                        <a:t>Compiler</a:t>
                      </a:r>
                      <a:br>
                        <a:rPr lang="en-US" sz="2000"/>
                      </a:br>
                      <a:endParaRPr lang="en-US" sz="2000"/>
                    </a:p>
                  </a:txBody>
                  <a:tcPr marL="26390" marR="26390" marT="26390" marB="26390">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r>
                        <a:rPr lang="en-US" sz="2000"/>
                        <a:t>Hardware</a:t>
                      </a:r>
                      <a:br>
                        <a:rPr lang="en-US" sz="2000"/>
                      </a:br>
                      <a:endParaRPr lang="en-US" sz="2000"/>
                    </a:p>
                  </a:txBody>
                  <a:tcPr marL="26390" marR="26390" marT="26390" marB="26390">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r>
                        <a:rPr lang="en-US" sz="2000"/>
                        <a:t>Operating system</a:t>
                      </a:r>
                      <a:br>
                        <a:rPr lang="en-US" sz="2000"/>
                      </a:br>
                      <a:endParaRPr lang="en-US" sz="2000"/>
                    </a:p>
                  </a:txBody>
                  <a:tcPr marL="26390" marR="26390" marT="26390" marB="26390">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r>
                        <a:rPr lang="en-US" sz="2000" dirty="0"/>
                        <a:t>OS or user</a:t>
                      </a:r>
                      <a:br>
                        <a:rPr lang="en-US" sz="2000" dirty="0"/>
                      </a:br>
                      <a:endParaRPr lang="en-US" sz="2000" dirty="0"/>
                    </a:p>
                  </a:txBody>
                  <a:tcPr marL="26390" marR="26390" marT="26390" marB="26390">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r>
            </a:tbl>
          </a:graphicData>
        </a:graphic>
      </p:graphicFrame>
      <p:sp>
        <p:nvSpPr>
          <p:cNvPr id="5121" name="Rectangle 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rgbClr val="000000"/>
                </a:solidFill>
                <a:effectLst/>
                <a:latin typeface="Arial" charset="0"/>
                <a:cs typeface="Arial" charset="0"/>
              </a:rPr>
              <a:t/>
            </a:r>
            <a:br>
              <a:rPr kumimoji="0" lang="en-US" sz="1200" b="0" i="0" u="none" strike="noStrike" cap="none" normalizeH="0" baseline="0" smtClean="0">
                <a:ln>
                  <a:noFill/>
                </a:ln>
                <a:solidFill>
                  <a:srgbClr val="000000"/>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sz="6000" b="1" smtClean="0">
                <a:solidFill>
                  <a:schemeClr val="bg1"/>
                </a:solidFill>
              </a:rPr>
              <a:t>Main Memory</a:t>
            </a:r>
            <a:endParaRPr lang="en-US" sz="6000" dirty="0">
              <a:solidFill>
                <a:schemeClr val="bg1"/>
              </a:solidFill>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solidFill>
                  <a:srgbClr val="C00000"/>
                </a:solidFill>
              </a:rPr>
              <a:t>Main Memory</a:t>
            </a:r>
            <a:endParaRPr lang="en-US" b="1" dirty="0">
              <a:solidFill>
                <a:srgbClr val="C00000"/>
              </a:solidFill>
            </a:endParaRPr>
          </a:p>
        </p:txBody>
      </p:sp>
      <p:sp>
        <p:nvSpPr>
          <p:cNvPr id="3" name="Content Placeholder 2"/>
          <p:cNvSpPr>
            <a:spLocks noGrp="1"/>
          </p:cNvSpPr>
          <p:nvPr>
            <p:ph sz="quarter" idx="1"/>
          </p:nvPr>
        </p:nvSpPr>
        <p:spPr>
          <a:xfrm>
            <a:off x="914400" y="1447800"/>
            <a:ext cx="7772400" cy="5029200"/>
          </a:xfrm>
        </p:spPr>
        <p:txBody>
          <a:bodyPr>
            <a:normAutofit lnSpcReduction="10000"/>
          </a:bodyPr>
          <a:lstStyle/>
          <a:p>
            <a:endParaRPr lang="en-US" dirty="0" smtClean="0"/>
          </a:p>
          <a:p>
            <a:r>
              <a:rPr lang="en-US" dirty="0" smtClean="0"/>
              <a:t>The main memory acts as the central storage unit in a computer system. It is a relatively large and fast memory which is used to store programs and data during the run time operations.</a:t>
            </a:r>
          </a:p>
          <a:p>
            <a:pPr>
              <a:buNone/>
            </a:pPr>
            <a:endParaRPr lang="en-US" dirty="0" smtClean="0"/>
          </a:p>
          <a:p>
            <a:r>
              <a:rPr lang="en-US" dirty="0" smtClean="0"/>
              <a:t>The primary technology used for the main memory is based on semiconductor integrated circuits. The integrated circuits for the main memory are classified into two major units.</a:t>
            </a:r>
          </a:p>
          <a:p>
            <a:pPr>
              <a:buNone/>
            </a:pPr>
            <a:endParaRPr lang="en-US" dirty="0" smtClean="0"/>
          </a:p>
          <a:p>
            <a:pPr marL="514350" indent="-514350">
              <a:buFont typeface="+mj-lt"/>
              <a:buAutoNum type="arabicPeriod"/>
            </a:pPr>
            <a:r>
              <a:rPr lang="en-US" dirty="0" smtClean="0"/>
              <a:t>RAM (Random Access Memory) integrated circuit chips</a:t>
            </a:r>
          </a:p>
          <a:p>
            <a:pPr marL="514350" indent="-514350">
              <a:buFont typeface="+mj-lt"/>
              <a:buAutoNum type="arabicPeriod"/>
            </a:pPr>
            <a:r>
              <a:rPr lang="en-US" dirty="0" smtClean="0"/>
              <a:t>ROM (Read Only Memory) integrated circuit chips</a:t>
            </a:r>
          </a:p>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1">
                    <a:lumMod val="50000"/>
                  </a:schemeClr>
                </a:solidFill>
              </a:rPr>
              <a:t>RAM </a:t>
            </a:r>
            <a:endParaRPr lang="en-US" dirty="0"/>
          </a:p>
        </p:txBody>
      </p:sp>
      <p:sp>
        <p:nvSpPr>
          <p:cNvPr id="3" name="Content Placeholder 2"/>
          <p:cNvSpPr>
            <a:spLocks noGrp="1"/>
          </p:cNvSpPr>
          <p:nvPr>
            <p:ph sz="quarter" idx="1"/>
          </p:nvPr>
        </p:nvSpPr>
        <p:spPr>
          <a:xfrm>
            <a:off x="914400" y="1447800"/>
            <a:ext cx="7772400" cy="5181600"/>
          </a:xfrm>
        </p:spPr>
        <p:txBody>
          <a:bodyPr>
            <a:normAutofit lnSpcReduction="10000"/>
          </a:bodyPr>
          <a:lstStyle/>
          <a:p>
            <a:r>
              <a:rPr lang="en-US" dirty="0" smtClean="0"/>
              <a:t>RAM, which stands for Random Access Memory, is a hardware device generally located on the motherboard of a computer and acts as an </a:t>
            </a:r>
            <a:r>
              <a:rPr lang="en-US" dirty="0" smtClean="0">
                <a:solidFill>
                  <a:srgbClr val="FF0000"/>
                </a:solidFill>
              </a:rPr>
              <a:t>internal memory of the CPU.</a:t>
            </a:r>
          </a:p>
          <a:p>
            <a:endParaRPr lang="en-US" dirty="0" smtClean="0"/>
          </a:p>
          <a:p>
            <a:r>
              <a:rPr lang="en-US" dirty="0" smtClean="0"/>
              <a:t> It allows CPU store data, programs, and program results when you switch on the computer. It is the read and write memory of a computer, which means the information can be written to it as well as read from it</a:t>
            </a:r>
            <a:r>
              <a:rPr lang="en-US" dirty="0" smtClean="0"/>
              <a:t>.</a:t>
            </a:r>
          </a:p>
          <a:p>
            <a:endParaRPr lang="en-US" dirty="0" smtClean="0"/>
          </a:p>
          <a:p>
            <a:r>
              <a:rPr lang="en-US" dirty="0" smtClean="0"/>
              <a:t>RAM is a volatile memory, which means it does not store data or instructions permanently. When you switch on the computer the data and instructions from the hard disk are stored in the RAM,</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1">
                    <a:lumMod val="50000"/>
                  </a:schemeClr>
                </a:solidFill>
              </a:rPr>
              <a:t>RAM </a:t>
            </a:r>
            <a:endParaRPr lang="en-US" dirty="0"/>
          </a:p>
        </p:txBody>
      </p:sp>
      <p:sp>
        <p:nvSpPr>
          <p:cNvPr id="3" name="Content Placeholder 2"/>
          <p:cNvSpPr>
            <a:spLocks noGrp="1"/>
          </p:cNvSpPr>
          <p:nvPr>
            <p:ph sz="quarter" idx="1"/>
          </p:nvPr>
        </p:nvSpPr>
        <p:spPr/>
        <p:txBody>
          <a:bodyPr>
            <a:normAutofit fontScale="92500"/>
          </a:bodyPr>
          <a:lstStyle/>
          <a:p>
            <a:r>
              <a:rPr lang="en-US" dirty="0" smtClean="0"/>
              <a:t>RAM comes in the form of a chip that is individually mounted on the motherboard or in the form of several chips on a small board connected to the motherboard. </a:t>
            </a:r>
            <a:endParaRPr lang="en-US" dirty="0" smtClean="0"/>
          </a:p>
          <a:p>
            <a:endParaRPr lang="en-US" dirty="0" smtClean="0"/>
          </a:p>
          <a:p>
            <a:r>
              <a:rPr lang="en-US" dirty="0" smtClean="0"/>
              <a:t>It </a:t>
            </a:r>
            <a:r>
              <a:rPr lang="en-US" dirty="0" smtClean="0"/>
              <a:t>is the main memory of a computer. It is faster to write to and read from as compared to other </a:t>
            </a:r>
            <a:r>
              <a:rPr lang="en-US" dirty="0" smtClean="0"/>
              <a:t>memory such </a:t>
            </a:r>
            <a:r>
              <a:rPr lang="en-US" dirty="0" smtClean="0"/>
              <a:t>as a hard disk drive (HDD</a:t>
            </a:r>
            <a:r>
              <a:rPr lang="en-US" dirty="0" smtClean="0"/>
              <a:t>).</a:t>
            </a:r>
          </a:p>
          <a:p>
            <a:endParaRPr lang="en-US" dirty="0" smtClean="0"/>
          </a:p>
          <a:p>
            <a:r>
              <a:rPr lang="en-US" dirty="0" smtClean="0"/>
              <a:t>RAM chips are available in a variety of sizes and are used as per the system requirement. The following block diagram demonstrates the chip interconnection in a 128 * 8 RAM chip.</a:t>
            </a:r>
          </a:p>
          <a:p>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descr="Main Memory"/>
          <p:cNvPicPr>
            <a:picLocks noChangeAspect="1" noChangeArrowheads="1"/>
          </p:cNvPicPr>
          <p:nvPr/>
        </p:nvPicPr>
        <p:blipFill>
          <a:blip r:embed="rId2"/>
          <a:srcRect/>
          <a:stretch>
            <a:fillRect/>
          </a:stretch>
        </p:blipFill>
        <p:spPr bwMode="auto">
          <a:xfrm>
            <a:off x="838200" y="609600"/>
            <a:ext cx="7848600" cy="5715000"/>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1">
                    <a:lumMod val="50000"/>
                  </a:schemeClr>
                </a:solidFill>
              </a:rPr>
              <a:t>RAM</a:t>
            </a:r>
            <a:endParaRPr lang="en-US" dirty="0"/>
          </a:p>
        </p:txBody>
      </p:sp>
      <p:sp>
        <p:nvSpPr>
          <p:cNvPr id="3" name="Content Placeholder 2"/>
          <p:cNvSpPr>
            <a:spLocks noGrp="1"/>
          </p:cNvSpPr>
          <p:nvPr>
            <p:ph sz="quarter" idx="1"/>
          </p:nvPr>
        </p:nvSpPr>
        <p:spPr/>
        <p:txBody>
          <a:bodyPr>
            <a:normAutofit/>
          </a:bodyPr>
          <a:lstStyle/>
          <a:p>
            <a:r>
              <a:rPr lang="en-US" dirty="0" smtClean="0"/>
              <a:t>A 128 * 8 RAM chip has a memory capacity of 128 words of eight bits (one byte) per word. This requires a 7-bit address and an 8-bit bidirectional data bus.</a:t>
            </a:r>
          </a:p>
          <a:p>
            <a:endParaRPr lang="en-US" dirty="0" smtClean="0"/>
          </a:p>
          <a:p>
            <a:r>
              <a:rPr lang="en-US" dirty="0" smtClean="0"/>
              <a:t>The 8-bit bidirectional data bus allows the transfer of data either from memory to CPU during a </a:t>
            </a:r>
            <a:r>
              <a:rPr lang="en-US" b="1" dirty="0" smtClean="0"/>
              <a:t>read</a:t>
            </a:r>
            <a:r>
              <a:rPr lang="en-US" dirty="0" smtClean="0"/>
              <a:t> operation or from CPU to memory during a </a:t>
            </a:r>
            <a:r>
              <a:rPr lang="en-US" b="1" dirty="0" smtClean="0"/>
              <a:t>write</a:t>
            </a:r>
            <a:r>
              <a:rPr lang="en-US" dirty="0" smtClean="0"/>
              <a:t> operation.</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1">
                    <a:lumMod val="50000"/>
                  </a:schemeClr>
                </a:solidFill>
              </a:rPr>
              <a:t>RAM</a:t>
            </a:r>
            <a:endParaRPr lang="en-US" dirty="0"/>
          </a:p>
        </p:txBody>
      </p:sp>
      <p:sp>
        <p:nvSpPr>
          <p:cNvPr id="3" name="Content Placeholder 2"/>
          <p:cNvSpPr>
            <a:spLocks noGrp="1"/>
          </p:cNvSpPr>
          <p:nvPr>
            <p:ph sz="quarter" idx="1"/>
          </p:nvPr>
        </p:nvSpPr>
        <p:spPr>
          <a:xfrm>
            <a:off x="914400" y="1447800"/>
            <a:ext cx="7772400" cy="4953000"/>
          </a:xfrm>
        </p:spPr>
        <p:txBody>
          <a:bodyPr>
            <a:normAutofit/>
          </a:bodyPr>
          <a:lstStyle/>
          <a:p>
            <a:r>
              <a:rPr lang="en-US" dirty="0" smtClean="0"/>
              <a:t>The </a:t>
            </a:r>
            <a:r>
              <a:rPr lang="en-US" b="1" dirty="0" smtClean="0"/>
              <a:t>read</a:t>
            </a:r>
            <a:r>
              <a:rPr lang="en-US" dirty="0" smtClean="0"/>
              <a:t> and </a:t>
            </a:r>
            <a:r>
              <a:rPr lang="en-US" b="1" dirty="0" smtClean="0"/>
              <a:t>write</a:t>
            </a:r>
            <a:r>
              <a:rPr lang="en-US" dirty="0" smtClean="0"/>
              <a:t> inputs specify the memory operation, and the two chip select (CS) control inputs are for enabling the chip only when the microprocessor selects it.</a:t>
            </a:r>
          </a:p>
          <a:p>
            <a:endParaRPr lang="en-US" dirty="0" smtClean="0"/>
          </a:p>
          <a:p>
            <a:r>
              <a:rPr lang="en-US" dirty="0" smtClean="0"/>
              <a:t>The </a:t>
            </a:r>
            <a:r>
              <a:rPr lang="en-US" dirty="0" smtClean="0"/>
              <a:t>output generated by three-state buffers can be placed in one of the three possible states which include a signal equivalent to logic 1, a signal equal to logic 0, or a high-impedance state.</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solidFill>
                  <a:schemeClr val="accent1">
                    <a:lumMod val="50000"/>
                  </a:schemeClr>
                </a:solidFill>
              </a:rPr>
              <a:t>RAM</a:t>
            </a:r>
            <a:endParaRPr lang="en-US" dirty="0"/>
          </a:p>
        </p:txBody>
      </p:sp>
      <p:sp>
        <p:nvSpPr>
          <p:cNvPr id="6" name="Content Placeholder 5"/>
          <p:cNvSpPr>
            <a:spLocks noGrp="1"/>
          </p:cNvSpPr>
          <p:nvPr>
            <p:ph sz="quarter" idx="1"/>
          </p:nvPr>
        </p:nvSpPr>
        <p:spPr>
          <a:xfrm>
            <a:off x="914400" y="1447800"/>
            <a:ext cx="7772400" cy="4876800"/>
          </a:xfrm>
        </p:spPr>
        <p:txBody>
          <a:bodyPr/>
          <a:lstStyle/>
          <a:p>
            <a:r>
              <a:rPr lang="en-US" dirty="0" smtClean="0"/>
              <a:t>The following function table specifies the operations of a 128 * 8 RAM chip.</a:t>
            </a:r>
            <a:endParaRPr lang="en-US" dirty="0"/>
          </a:p>
        </p:txBody>
      </p:sp>
      <p:pic>
        <p:nvPicPr>
          <p:cNvPr id="1026" name="Picture 2" descr="Main Memory"/>
          <p:cNvPicPr>
            <a:picLocks noChangeAspect="1" noChangeArrowheads="1"/>
          </p:cNvPicPr>
          <p:nvPr/>
        </p:nvPicPr>
        <p:blipFill>
          <a:blip r:embed="rId2"/>
          <a:srcRect/>
          <a:stretch>
            <a:fillRect/>
          </a:stretch>
        </p:blipFill>
        <p:spPr bwMode="auto">
          <a:xfrm>
            <a:off x="1295400" y="2438400"/>
            <a:ext cx="7010400" cy="3581400"/>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solidFill>
                  <a:schemeClr val="accent1">
                    <a:lumMod val="50000"/>
                  </a:schemeClr>
                </a:solidFill>
              </a:rPr>
              <a:t>Types of RAM </a:t>
            </a:r>
            <a:endParaRPr lang="en-US" b="1" dirty="0">
              <a:solidFill>
                <a:schemeClr val="accent1">
                  <a:lumMod val="50000"/>
                </a:schemeClr>
              </a:solidFill>
            </a:endParaRPr>
          </a:p>
        </p:txBody>
      </p:sp>
      <p:sp>
        <p:nvSpPr>
          <p:cNvPr id="3" name="Content Placeholder 2"/>
          <p:cNvSpPr>
            <a:spLocks noGrp="1"/>
          </p:cNvSpPr>
          <p:nvPr>
            <p:ph sz="quarter" idx="1"/>
          </p:nvPr>
        </p:nvSpPr>
        <p:spPr>
          <a:xfrm>
            <a:off x="914400" y="1447800"/>
            <a:ext cx="7772400" cy="5029200"/>
          </a:xfrm>
        </p:spPr>
        <p:txBody>
          <a:bodyPr>
            <a:normAutofit/>
          </a:bodyPr>
          <a:lstStyle/>
          <a:p>
            <a:r>
              <a:rPr lang="en-US" dirty="0" smtClean="0"/>
              <a:t>The RAM integrated circuit chips are further classified into two possible operating modes</a:t>
            </a:r>
            <a:r>
              <a:rPr lang="en-US" dirty="0" smtClean="0"/>
              <a:t>, </a:t>
            </a:r>
            <a:r>
              <a:rPr lang="en-US" b="1" dirty="0" smtClean="0">
                <a:solidFill>
                  <a:srgbClr val="C00000"/>
                </a:solidFill>
              </a:rPr>
              <a:t>Static</a:t>
            </a:r>
            <a:r>
              <a:rPr lang="en-US" dirty="0" smtClean="0">
                <a:solidFill>
                  <a:srgbClr val="C00000"/>
                </a:solidFill>
              </a:rPr>
              <a:t> </a:t>
            </a:r>
            <a:r>
              <a:rPr lang="en-US" dirty="0" smtClean="0">
                <a:solidFill>
                  <a:srgbClr val="C00000"/>
                </a:solidFill>
              </a:rPr>
              <a:t>a</a:t>
            </a:r>
            <a:r>
              <a:rPr lang="en-US" dirty="0" smtClean="0"/>
              <a:t>nd </a:t>
            </a:r>
            <a:r>
              <a:rPr lang="en-US" b="1" dirty="0" smtClean="0">
                <a:solidFill>
                  <a:srgbClr val="C00000"/>
                </a:solidFill>
              </a:rPr>
              <a:t>Dynamic</a:t>
            </a:r>
            <a:r>
              <a:rPr lang="en-US" dirty="0" smtClean="0">
                <a:solidFill>
                  <a:srgbClr val="C00000"/>
                </a:solidFill>
              </a:rPr>
              <a:t>.</a:t>
            </a:r>
            <a:endParaRPr lang="en-US" dirty="0" smtClean="0">
              <a:solidFill>
                <a:srgbClr val="C00000"/>
              </a:solidFill>
            </a:endParaRPr>
          </a:p>
          <a:p>
            <a:endParaRPr lang="en-US" dirty="0" smtClean="0"/>
          </a:p>
          <a:p>
            <a:r>
              <a:rPr lang="en-US" dirty="0" smtClean="0"/>
              <a:t>The primary compositions of a static RAM are flip-flops that store the binary information. </a:t>
            </a:r>
          </a:p>
          <a:p>
            <a:endParaRPr lang="en-US" dirty="0" smtClean="0"/>
          </a:p>
          <a:p>
            <a:r>
              <a:rPr lang="en-US" dirty="0" smtClean="0"/>
              <a:t>The nature of the stored information is volatile, i.e. it remains valid as long as power is applied to the system. </a:t>
            </a:r>
          </a:p>
          <a:p>
            <a:endParaRPr lang="en-US" dirty="0" smtClean="0"/>
          </a:p>
          <a:p>
            <a:r>
              <a:rPr lang="en-US" dirty="0" smtClean="0"/>
              <a:t>The static RAM is easy to use and takes less time performing read and write operations as compared to dynamic RAM.</a:t>
            </a:r>
          </a:p>
          <a:p>
            <a:endParaRPr lang="en-US" dirty="0" smtClean="0"/>
          </a:p>
          <a:p>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1">
                    <a:lumMod val="50000"/>
                  </a:schemeClr>
                </a:solidFill>
              </a:rPr>
              <a:t>Types of RAM </a:t>
            </a:r>
            <a:endParaRPr lang="en-US" dirty="0"/>
          </a:p>
        </p:txBody>
      </p:sp>
      <p:sp>
        <p:nvSpPr>
          <p:cNvPr id="3" name="Content Placeholder 2"/>
          <p:cNvSpPr>
            <a:spLocks noGrp="1"/>
          </p:cNvSpPr>
          <p:nvPr>
            <p:ph sz="quarter" idx="1"/>
          </p:nvPr>
        </p:nvSpPr>
        <p:spPr>
          <a:xfrm>
            <a:off x="914400" y="1447800"/>
            <a:ext cx="7772400" cy="4876800"/>
          </a:xfrm>
        </p:spPr>
        <p:txBody>
          <a:bodyPr>
            <a:normAutofit/>
          </a:bodyPr>
          <a:lstStyle/>
          <a:p>
            <a:r>
              <a:rPr lang="en-US" dirty="0" smtClean="0"/>
              <a:t>The dynamic RAM exhibits the binary information in the form of electric charges that are applied to capacitors. </a:t>
            </a:r>
          </a:p>
          <a:p>
            <a:endParaRPr lang="en-US" dirty="0" smtClean="0"/>
          </a:p>
          <a:p>
            <a:r>
              <a:rPr lang="en-US" dirty="0" smtClean="0"/>
              <a:t>The capacitors are integrated inside the chip by MOS transistors. The dynamic RAM consumes less power and provides large storage capacity in a single memory chip.</a:t>
            </a:r>
          </a:p>
          <a:p>
            <a:pPr>
              <a:buNone/>
            </a:pPr>
            <a:endParaRPr lang="en-US" dirty="0" smtClean="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solidFill>
                  <a:schemeClr val="accent2">
                    <a:lumMod val="50000"/>
                  </a:schemeClr>
                </a:solidFill>
              </a:rPr>
              <a:t>Static RAM:</a:t>
            </a:r>
            <a:endParaRPr lang="en-US" dirty="0"/>
          </a:p>
        </p:txBody>
      </p:sp>
      <p:sp>
        <p:nvSpPr>
          <p:cNvPr id="4" name="Content Placeholder 3"/>
          <p:cNvSpPr>
            <a:spLocks noGrp="1"/>
          </p:cNvSpPr>
          <p:nvPr>
            <p:ph sz="quarter" idx="1"/>
          </p:nvPr>
        </p:nvSpPr>
        <p:spPr>
          <a:xfrm>
            <a:off x="914400" y="1447800"/>
            <a:ext cx="7772400" cy="4876800"/>
          </a:xfrm>
        </p:spPr>
        <p:txBody>
          <a:bodyPr>
            <a:normAutofit lnSpcReduction="10000"/>
          </a:bodyPr>
          <a:lstStyle/>
          <a:p>
            <a:pPr fontAlgn="base"/>
            <a:r>
              <a:rPr lang="en-US" dirty="0" smtClean="0"/>
              <a:t>Data is stored in transistors and requires a constant power flow. Because of the continuous power, SRAM doesn’t need to be refreshed to remember the data being stored. </a:t>
            </a:r>
          </a:p>
          <a:p>
            <a:pPr fontAlgn="base">
              <a:buNone/>
            </a:pPr>
            <a:endParaRPr lang="en-US" dirty="0" smtClean="0"/>
          </a:p>
          <a:p>
            <a:pPr fontAlgn="base"/>
            <a:r>
              <a:rPr lang="en-US" dirty="0" smtClean="0"/>
              <a:t>SRAM is called static as no change or action i.e. refreshing is not needed to keep the data intact. It is used in cache memories.  </a:t>
            </a:r>
          </a:p>
          <a:p>
            <a:pPr fontAlgn="base">
              <a:buNone/>
            </a:pPr>
            <a:endParaRPr lang="en-US" dirty="0" smtClean="0"/>
          </a:p>
          <a:p>
            <a:pPr fontAlgn="base">
              <a:buNone/>
            </a:pPr>
            <a:r>
              <a:rPr lang="en-US" b="1" dirty="0" smtClean="0"/>
              <a:t>    Advantage:</a:t>
            </a:r>
            <a:r>
              <a:rPr lang="en-US" dirty="0" smtClean="0"/>
              <a:t> Low power consumption and faster access speeds. </a:t>
            </a:r>
            <a:br>
              <a:rPr lang="en-US" dirty="0" smtClean="0"/>
            </a:br>
            <a:r>
              <a:rPr lang="en-US" b="1" dirty="0" smtClean="0"/>
              <a:t>Disadvantage:</a:t>
            </a:r>
            <a:r>
              <a:rPr lang="en-US" dirty="0" smtClean="0"/>
              <a:t> Fewer memory capacities and high costs of manufacturing. </a:t>
            </a: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smtClean="0">
                <a:solidFill>
                  <a:schemeClr val="accent2">
                    <a:lumMod val="50000"/>
                  </a:schemeClr>
                </a:solidFill>
              </a:rPr>
              <a:t>Static RAM:</a:t>
            </a:r>
            <a:endParaRPr lang="en-US" b="1" dirty="0">
              <a:solidFill>
                <a:schemeClr val="accent2">
                  <a:lumMod val="50000"/>
                </a:schemeClr>
              </a:solidFill>
            </a:endParaRPr>
          </a:p>
        </p:txBody>
      </p:sp>
      <p:pic>
        <p:nvPicPr>
          <p:cNvPr id="33794" name="Picture 2" descr="RAM 2"/>
          <p:cNvPicPr>
            <a:picLocks noChangeAspect="1" noChangeArrowheads="1"/>
          </p:cNvPicPr>
          <p:nvPr/>
        </p:nvPicPr>
        <p:blipFill>
          <a:blip r:embed="rId2"/>
          <a:srcRect/>
          <a:stretch>
            <a:fillRect/>
          </a:stretch>
        </p:blipFill>
        <p:spPr bwMode="auto">
          <a:xfrm>
            <a:off x="1600200" y="1828800"/>
            <a:ext cx="6248400" cy="4419600"/>
          </a:xfrm>
          <a:prstGeom prst="rect">
            <a:avLst/>
          </a:prstGeo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solidFill>
                  <a:schemeClr val="accent2">
                    <a:lumMod val="50000"/>
                  </a:schemeClr>
                </a:solidFill>
              </a:rPr>
              <a:t>Static RAM:</a:t>
            </a:r>
            <a:endParaRPr lang="en-US" dirty="0"/>
          </a:p>
        </p:txBody>
      </p:sp>
      <p:sp>
        <p:nvSpPr>
          <p:cNvPr id="4" name="Content Placeholder 3"/>
          <p:cNvSpPr>
            <a:spLocks noGrp="1"/>
          </p:cNvSpPr>
          <p:nvPr>
            <p:ph sz="quarter" idx="1"/>
          </p:nvPr>
        </p:nvSpPr>
        <p:spPr>
          <a:xfrm>
            <a:off x="914400" y="1600200"/>
            <a:ext cx="7772400" cy="4800600"/>
          </a:xfrm>
        </p:spPr>
        <p:txBody>
          <a:bodyPr/>
          <a:lstStyle/>
          <a:p>
            <a:r>
              <a:rPr lang="en-US" dirty="0" smtClean="0"/>
              <a:t>It has a special arrangement of transistors that makes a flip-flop, a type of memory cell. </a:t>
            </a:r>
          </a:p>
          <a:p>
            <a:r>
              <a:rPr lang="en-US" dirty="0" smtClean="0"/>
              <a:t>One memory cell stores one bit of data. Most of the modern SRAM memory cells are made of six CMOS transistors, but lack capacitors. </a:t>
            </a:r>
          </a:p>
          <a:p>
            <a:r>
              <a:rPr lang="en-US" dirty="0" smtClean="0"/>
              <a:t>The access time in SRAM chips can be as low as 10 nanoseconds.</a:t>
            </a:r>
          </a:p>
          <a:p>
            <a:r>
              <a:rPr lang="en-US" dirty="0" smtClean="0"/>
              <a:t>The Static RAM is fast because the six-transistor configuration of its circuit maintains the flow of current in one direction or the other (0 or 1). </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2">
                    <a:lumMod val="50000"/>
                  </a:schemeClr>
                </a:solidFill>
              </a:rPr>
              <a:t>Static RAM:</a:t>
            </a:r>
            <a:endParaRPr lang="en-US" dirty="0"/>
          </a:p>
        </p:txBody>
      </p:sp>
      <p:sp>
        <p:nvSpPr>
          <p:cNvPr id="3" name="Content Placeholder 2"/>
          <p:cNvSpPr>
            <a:spLocks noGrp="1"/>
          </p:cNvSpPr>
          <p:nvPr>
            <p:ph sz="quarter" idx="1"/>
          </p:nvPr>
        </p:nvSpPr>
        <p:spPr/>
        <p:txBody>
          <a:bodyPr/>
          <a:lstStyle/>
          <a:p>
            <a:r>
              <a:rPr lang="en-US" dirty="0" smtClean="0"/>
              <a:t>The drawback with Static RAM is that its memory cells occupy more space on a chip than the DRAM memory cells for the same amount of storage space (memory) as it has more parts than a DRAM. So, it offers less memory per chip.</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2">
                    <a:lumMod val="50000"/>
                  </a:schemeClr>
                </a:solidFill>
              </a:rPr>
              <a:t>Dynamic RAM:</a:t>
            </a:r>
            <a:endParaRPr lang="en-US" dirty="0">
              <a:solidFill>
                <a:schemeClr val="accent2">
                  <a:lumMod val="50000"/>
                </a:schemeClr>
              </a:solidFill>
            </a:endParaRPr>
          </a:p>
        </p:txBody>
      </p:sp>
      <p:sp>
        <p:nvSpPr>
          <p:cNvPr id="3" name="Content Placeholder 2"/>
          <p:cNvSpPr>
            <a:spLocks noGrp="1"/>
          </p:cNvSpPr>
          <p:nvPr>
            <p:ph sz="quarter" idx="1"/>
          </p:nvPr>
        </p:nvSpPr>
        <p:spPr/>
        <p:txBody>
          <a:bodyPr/>
          <a:lstStyle/>
          <a:p>
            <a:r>
              <a:rPr lang="en-US" dirty="0" smtClean="0"/>
              <a:t>Dynamic Ram (DRAM) is also made up of memory cells. It is an integrated circuit (IC) made of millions of transistors and capacitors which are extremely small in size and each transistor is lined up with a capacitor to create a very compact memory cell so that millions of them can fit on a single memory chip.</a:t>
            </a:r>
            <a:endParaRPr lang="en-US" dirty="0"/>
          </a:p>
        </p:txBody>
      </p:sp>
      <p:pic>
        <p:nvPicPr>
          <p:cNvPr id="35842" name="Picture 2" descr="RAM 3"/>
          <p:cNvPicPr>
            <a:picLocks noChangeAspect="1" noChangeArrowheads="1"/>
          </p:cNvPicPr>
          <p:nvPr/>
        </p:nvPicPr>
        <p:blipFill>
          <a:blip r:embed="rId2"/>
          <a:srcRect/>
          <a:stretch>
            <a:fillRect/>
          </a:stretch>
        </p:blipFill>
        <p:spPr bwMode="auto">
          <a:xfrm>
            <a:off x="4572000" y="3810000"/>
            <a:ext cx="3733800" cy="2771775"/>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2">
                    <a:lumMod val="50000"/>
                  </a:schemeClr>
                </a:solidFill>
              </a:rPr>
              <a:t>Dynamic RAM:</a:t>
            </a:r>
            <a:endParaRPr lang="en-US" dirty="0"/>
          </a:p>
        </p:txBody>
      </p:sp>
      <p:sp>
        <p:nvSpPr>
          <p:cNvPr id="3" name="Content Placeholder 2"/>
          <p:cNvSpPr>
            <a:spLocks noGrp="1"/>
          </p:cNvSpPr>
          <p:nvPr>
            <p:ph sz="quarter" idx="1"/>
          </p:nvPr>
        </p:nvSpPr>
        <p:spPr/>
        <p:txBody>
          <a:bodyPr/>
          <a:lstStyle/>
          <a:p>
            <a:r>
              <a:rPr lang="en-US" dirty="0" smtClean="0"/>
              <a:t>So, a memory cell of a DRAM has one transistor and one capacitor and each cell represents or stores a single bit of data in its capacitor within an integrated circuit.</a:t>
            </a:r>
          </a:p>
          <a:p>
            <a:pPr>
              <a:buNone/>
            </a:pPr>
            <a:endParaRPr lang="en-US" dirty="0" smtClean="0"/>
          </a:p>
          <a:p>
            <a:r>
              <a:rPr lang="en-US" dirty="0" smtClean="0"/>
              <a:t>The capacitor holds this bit of information or data, either as 0 or as 1. </a:t>
            </a:r>
          </a:p>
          <a:p>
            <a:endParaRPr lang="en-US" dirty="0" smtClean="0"/>
          </a:p>
          <a:p>
            <a:r>
              <a:rPr lang="en-US" dirty="0" smtClean="0"/>
              <a:t>The transistor, which is also present in the cell, acts as a switch that allows the electric circuit on the memory chip to read the capacitor and change its state.</a:t>
            </a:r>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2">
                    <a:lumMod val="50000"/>
                  </a:schemeClr>
                </a:solidFill>
              </a:rPr>
              <a:t>Dynamic RAM:</a:t>
            </a:r>
            <a:endParaRPr lang="en-US" dirty="0"/>
          </a:p>
        </p:txBody>
      </p:sp>
      <p:sp>
        <p:nvSpPr>
          <p:cNvPr id="3" name="Content Placeholder 2"/>
          <p:cNvSpPr>
            <a:spLocks noGrp="1"/>
          </p:cNvSpPr>
          <p:nvPr>
            <p:ph sz="quarter" idx="1"/>
          </p:nvPr>
        </p:nvSpPr>
        <p:spPr/>
        <p:txBody>
          <a:bodyPr>
            <a:normAutofit lnSpcReduction="10000"/>
          </a:bodyPr>
          <a:lstStyle/>
          <a:p>
            <a:r>
              <a:rPr lang="en-US" dirty="0" smtClean="0"/>
              <a:t>The capacitor needs to be refreshed after regular intervals to maintain the charge in the capacitor. </a:t>
            </a:r>
          </a:p>
          <a:p>
            <a:endParaRPr lang="en-US" dirty="0" smtClean="0"/>
          </a:p>
          <a:p>
            <a:r>
              <a:rPr lang="en-US" dirty="0" smtClean="0"/>
              <a:t>This is achieved by placing the memory on a refresh circuit that rewrites the data several hundred times per second. The access time in DRAM is around 60 nanoseconds.</a:t>
            </a:r>
          </a:p>
          <a:p>
            <a:endParaRPr lang="en-US" dirty="0" smtClean="0"/>
          </a:p>
          <a:p>
            <a:r>
              <a:rPr lang="en-US" dirty="0" smtClean="0"/>
              <a:t>This is called refreshing the memory and this process continues automatically thousands of times per second. So, this type of RAM needs to be dynamically refreshed all the time.</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descr="C:\Users\RGUKT\Desktop\static and dynamic RAM.JPG"/>
          <p:cNvPicPr>
            <a:picLocks noChangeAspect="1" noChangeArrowheads="1"/>
          </p:cNvPicPr>
          <p:nvPr/>
        </p:nvPicPr>
        <p:blipFill>
          <a:blip r:embed="rId2"/>
          <a:srcRect/>
          <a:stretch>
            <a:fillRect/>
          </a:stretch>
        </p:blipFill>
        <p:spPr bwMode="auto">
          <a:xfrm>
            <a:off x="838200" y="1676400"/>
            <a:ext cx="7620000" cy="4800600"/>
          </a:xfrm>
          <a:prstGeom prst="rect">
            <a:avLst/>
          </a:prstGeom>
          <a:noFill/>
        </p:spPr>
      </p:pic>
      <p:pic>
        <p:nvPicPr>
          <p:cNvPr id="32771" name="Picture 3" descr="C:\Users\RGUKT\Desktop\download.jpg"/>
          <p:cNvPicPr>
            <a:picLocks noChangeAspect="1" noChangeArrowheads="1"/>
          </p:cNvPicPr>
          <p:nvPr/>
        </p:nvPicPr>
        <p:blipFill>
          <a:blip r:embed="rId3"/>
          <a:srcRect/>
          <a:stretch>
            <a:fillRect/>
          </a:stretch>
        </p:blipFill>
        <p:spPr bwMode="auto">
          <a:xfrm>
            <a:off x="762000" y="304799"/>
            <a:ext cx="7467600" cy="1143001"/>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RGUKT\Desktop\CAFNwSm.png"/>
          <p:cNvPicPr>
            <a:picLocks noChangeAspect="1" noChangeArrowheads="1"/>
          </p:cNvPicPr>
          <p:nvPr/>
        </p:nvPicPr>
        <p:blipFill>
          <a:blip r:embed="rId2"/>
          <a:srcRect/>
          <a:stretch>
            <a:fillRect/>
          </a:stretch>
        </p:blipFill>
        <p:spPr bwMode="auto">
          <a:xfrm>
            <a:off x="0" y="0"/>
            <a:ext cx="9144000" cy="6858000"/>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ROM"/>
          <p:cNvPicPr>
            <a:picLocks noChangeAspect="1" noChangeArrowheads="1"/>
          </p:cNvPicPr>
          <p:nvPr/>
        </p:nvPicPr>
        <p:blipFill>
          <a:blip r:embed="rId2"/>
          <a:srcRect/>
          <a:stretch>
            <a:fillRect/>
          </a:stretch>
        </p:blipFill>
        <p:spPr bwMode="auto">
          <a:xfrm>
            <a:off x="5029200" y="3962400"/>
            <a:ext cx="3133725" cy="2647951"/>
          </a:xfrm>
          <a:prstGeom prst="rect">
            <a:avLst/>
          </a:prstGeom>
          <a:noFill/>
        </p:spPr>
      </p:pic>
      <p:sp>
        <p:nvSpPr>
          <p:cNvPr id="3" name="Title 2"/>
          <p:cNvSpPr>
            <a:spLocks noGrp="1"/>
          </p:cNvSpPr>
          <p:nvPr>
            <p:ph type="title"/>
          </p:nvPr>
        </p:nvSpPr>
        <p:spPr/>
        <p:txBody>
          <a:bodyPr/>
          <a:lstStyle/>
          <a:p>
            <a:r>
              <a:rPr lang="en-US" b="1" dirty="0" smtClean="0">
                <a:solidFill>
                  <a:srgbClr val="C00000"/>
                </a:solidFill>
              </a:rPr>
              <a:t>ROM :</a:t>
            </a:r>
            <a:endParaRPr lang="en-US" b="1" dirty="0">
              <a:solidFill>
                <a:srgbClr val="C00000"/>
              </a:solidFill>
            </a:endParaRPr>
          </a:p>
        </p:txBody>
      </p:sp>
      <p:sp>
        <p:nvSpPr>
          <p:cNvPr id="4" name="Content Placeholder 3"/>
          <p:cNvSpPr>
            <a:spLocks noGrp="1"/>
          </p:cNvSpPr>
          <p:nvPr>
            <p:ph sz="quarter" idx="4294967295"/>
          </p:nvPr>
        </p:nvSpPr>
        <p:spPr>
          <a:xfrm>
            <a:off x="762000" y="1447800"/>
            <a:ext cx="8077200" cy="5029200"/>
          </a:xfrm>
        </p:spPr>
        <p:txBody>
          <a:bodyPr/>
          <a:lstStyle/>
          <a:p>
            <a:r>
              <a:rPr lang="en-US" dirty="0" smtClean="0"/>
              <a:t>ROM, which stands for </a:t>
            </a:r>
            <a:r>
              <a:rPr lang="en-US" dirty="0" smtClean="0"/>
              <a:t>Read Only Memory</a:t>
            </a:r>
            <a:r>
              <a:rPr lang="en-US" dirty="0" smtClean="0"/>
              <a:t>, is a memory device or storage medium that stores information permanently</a:t>
            </a:r>
            <a:r>
              <a:rPr lang="en-US" dirty="0" smtClean="0"/>
              <a:t>.</a:t>
            </a:r>
          </a:p>
          <a:p>
            <a:r>
              <a:rPr lang="en-US" dirty="0" smtClean="0"/>
              <a:t>The block of ROM has 'n' input lines and 'm' output lines. Each bit combination of the input variables is known as an address. </a:t>
            </a:r>
            <a:endParaRPr lang="en-US" dirty="0" smtClean="0"/>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2" descr="Main Memory"/>
          <p:cNvPicPr>
            <a:picLocks noChangeAspect="1" noChangeArrowheads="1"/>
          </p:cNvPicPr>
          <p:nvPr/>
        </p:nvPicPr>
        <p:blipFill>
          <a:blip r:embed="rId2"/>
          <a:srcRect/>
          <a:stretch>
            <a:fillRect/>
          </a:stretch>
        </p:blipFill>
        <p:spPr bwMode="auto">
          <a:xfrm>
            <a:off x="304800" y="762000"/>
            <a:ext cx="8001000" cy="5486400"/>
          </a:xfrm>
          <a:prstGeom prst="rect">
            <a:avLst/>
          </a:prstGeom>
          <a:noFill/>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ROM :</a:t>
            </a:r>
            <a:endParaRPr lang="en-US" dirty="0"/>
          </a:p>
        </p:txBody>
      </p:sp>
      <p:sp>
        <p:nvSpPr>
          <p:cNvPr id="3" name="Content Placeholder 2"/>
          <p:cNvSpPr>
            <a:spLocks noGrp="1"/>
          </p:cNvSpPr>
          <p:nvPr>
            <p:ph sz="quarter" idx="1"/>
          </p:nvPr>
        </p:nvSpPr>
        <p:spPr>
          <a:xfrm>
            <a:off x="914400" y="1447800"/>
            <a:ext cx="7772400" cy="4953000"/>
          </a:xfrm>
        </p:spPr>
        <p:txBody>
          <a:bodyPr>
            <a:normAutofit lnSpcReduction="10000"/>
          </a:bodyPr>
          <a:lstStyle/>
          <a:p>
            <a:r>
              <a:rPr lang="en-US" dirty="0" smtClean="0"/>
              <a:t>Apart from the permanent storage of data, the ROM portion of main memory is needed for storing an initial program called a </a:t>
            </a:r>
            <a:r>
              <a:rPr lang="en-US" b="1" dirty="0" smtClean="0"/>
              <a:t>bootstrap loader</a:t>
            </a:r>
            <a:r>
              <a:rPr lang="en-US" dirty="0" smtClean="0"/>
              <a:t>.</a:t>
            </a:r>
          </a:p>
          <a:p>
            <a:endParaRPr lang="en-US" dirty="0" smtClean="0"/>
          </a:p>
          <a:p>
            <a:r>
              <a:rPr lang="en-US" dirty="0" smtClean="0"/>
              <a:t> </a:t>
            </a:r>
            <a:r>
              <a:rPr lang="en-US" dirty="0" smtClean="0"/>
              <a:t>The primary function of the </a:t>
            </a:r>
            <a:r>
              <a:rPr lang="en-US" b="1" dirty="0" smtClean="0"/>
              <a:t>bootstrap loader</a:t>
            </a:r>
            <a:r>
              <a:rPr lang="en-US" dirty="0" smtClean="0"/>
              <a:t> program is to start the computer software operating when power is turned on</a:t>
            </a:r>
            <a:r>
              <a:rPr lang="en-US" dirty="0" smtClean="0"/>
              <a:t>.</a:t>
            </a:r>
          </a:p>
          <a:p>
            <a:endParaRPr lang="en-US" dirty="0" smtClean="0"/>
          </a:p>
          <a:p>
            <a:r>
              <a:rPr lang="en-US" dirty="0" smtClean="0"/>
              <a:t>ROM chips are also available in a variety of sizes and are also used as per the system requirement. The following block diagram demonstrates the chip interconnection in a 512 * 8 ROM chip.</a:t>
            </a:r>
          </a:p>
          <a:p>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ROM :</a:t>
            </a:r>
            <a:endParaRPr lang="en-US" dirty="0"/>
          </a:p>
        </p:txBody>
      </p:sp>
      <p:sp>
        <p:nvSpPr>
          <p:cNvPr id="3" name="Content Placeholder 2"/>
          <p:cNvSpPr>
            <a:spLocks noGrp="1"/>
          </p:cNvSpPr>
          <p:nvPr>
            <p:ph sz="quarter" idx="1"/>
          </p:nvPr>
        </p:nvSpPr>
        <p:spPr/>
        <p:txBody>
          <a:bodyPr/>
          <a:lstStyle/>
          <a:p>
            <a:r>
              <a:rPr lang="en-US" dirty="0" smtClean="0"/>
              <a:t>A ROM chip has a similar organization as a RAM chip. However, a ROM can only perform read operation; the data bus can only operate in an output mode</a:t>
            </a:r>
            <a:r>
              <a:rPr lang="en-US" dirty="0" smtClean="0"/>
              <a:t>.</a:t>
            </a:r>
          </a:p>
          <a:p>
            <a:endParaRPr lang="en-US" dirty="0" smtClean="0"/>
          </a:p>
          <a:p>
            <a:r>
              <a:rPr lang="en-US" dirty="0" smtClean="0"/>
              <a:t>The 9-bit address lines in the ROM chip specify any one of the 512 bytes stored in it</a:t>
            </a:r>
            <a:r>
              <a:rPr lang="en-US" dirty="0" smtClean="0"/>
              <a:t>.</a:t>
            </a:r>
          </a:p>
          <a:p>
            <a:endParaRPr lang="en-US" dirty="0" smtClean="0"/>
          </a:p>
          <a:p>
            <a:r>
              <a:rPr lang="en-US" dirty="0" smtClean="0"/>
              <a:t>The value for chip select 1 and chip select 2 must be 1 and 0 for the unit to operate. Otherwise, the data bus is said to be in a high-impedance state.</a:t>
            </a:r>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solidFill>
                  <a:srgbClr val="C00000"/>
                </a:solidFill>
              </a:rPr>
              <a:t>Types of ROM</a:t>
            </a:r>
            <a:r>
              <a:rPr lang="en-US" b="1" dirty="0" smtClean="0">
                <a:solidFill>
                  <a:srgbClr val="C00000"/>
                </a:solidFill>
              </a:rPr>
              <a:t>:</a:t>
            </a:r>
            <a:endParaRPr lang="en-US" b="1" dirty="0">
              <a:solidFill>
                <a:srgbClr val="C00000"/>
              </a:solidFill>
            </a:endParaRPr>
          </a:p>
        </p:txBody>
      </p:sp>
      <p:sp>
        <p:nvSpPr>
          <p:cNvPr id="4" name="Content Placeholder 3"/>
          <p:cNvSpPr>
            <a:spLocks noGrp="1"/>
          </p:cNvSpPr>
          <p:nvPr>
            <p:ph sz="quarter" idx="1"/>
          </p:nvPr>
        </p:nvSpPr>
        <p:spPr>
          <a:xfrm>
            <a:off x="914400" y="1447800"/>
            <a:ext cx="7772400" cy="5181600"/>
          </a:xfrm>
        </p:spPr>
        <p:txBody>
          <a:bodyPr>
            <a:normAutofit/>
          </a:bodyPr>
          <a:lstStyle/>
          <a:p>
            <a:pPr>
              <a:buNone/>
            </a:pPr>
            <a:r>
              <a:rPr lang="en-US" dirty="0" smtClean="0"/>
              <a:t>    Read only memories are non volatile in nature. The storage is permanent, but it is read only memory. We can not store new information in ROM.</a:t>
            </a:r>
          </a:p>
          <a:p>
            <a:pPr>
              <a:buNone/>
            </a:pPr>
            <a:r>
              <a:rPr lang="en-US" dirty="0" smtClean="0"/>
              <a:t>Several types of ROM are available</a:t>
            </a:r>
            <a:r>
              <a:rPr lang="en-US" dirty="0" smtClean="0"/>
              <a:t>:</a:t>
            </a:r>
          </a:p>
          <a:p>
            <a:pPr>
              <a:buFont typeface="Wingdings" pitchFamily="2" charset="2"/>
              <a:buChar char="Ø"/>
            </a:pPr>
            <a:r>
              <a:rPr lang="en-US" b="1" dirty="0" smtClean="0">
                <a:solidFill>
                  <a:srgbClr val="002060"/>
                </a:solidFill>
              </a:rPr>
              <a:t>MROM : Masked </a:t>
            </a:r>
            <a:r>
              <a:rPr lang="en-US" b="1" dirty="0" smtClean="0">
                <a:solidFill>
                  <a:srgbClr val="002060"/>
                </a:solidFill>
              </a:rPr>
              <a:t>Read Only </a:t>
            </a:r>
            <a:r>
              <a:rPr lang="en-US" b="1" dirty="0" smtClean="0">
                <a:solidFill>
                  <a:srgbClr val="002060"/>
                </a:solidFill>
              </a:rPr>
              <a:t>Memory</a:t>
            </a:r>
          </a:p>
          <a:p>
            <a:pPr>
              <a:buFont typeface="Wingdings" pitchFamily="2" charset="2"/>
              <a:buChar char="Ø"/>
            </a:pPr>
            <a:r>
              <a:rPr lang="en-US" b="1" dirty="0" smtClean="0">
                <a:solidFill>
                  <a:srgbClr val="002060"/>
                </a:solidFill>
              </a:rPr>
              <a:t>PROM : </a:t>
            </a:r>
            <a:r>
              <a:rPr lang="en-US" b="1" dirty="0" smtClean="0">
                <a:solidFill>
                  <a:srgbClr val="002060"/>
                </a:solidFill>
              </a:rPr>
              <a:t>Programmable Read Only </a:t>
            </a:r>
            <a:r>
              <a:rPr lang="en-US" b="1" dirty="0" smtClean="0">
                <a:solidFill>
                  <a:srgbClr val="002060"/>
                </a:solidFill>
              </a:rPr>
              <a:t>Memory</a:t>
            </a:r>
          </a:p>
          <a:p>
            <a:pPr>
              <a:buFont typeface="Wingdings" pitchFamily="2" charset="2"/>
              <a:buChar char="Ø"/>
            </a:pPr>
            <a:r>
              <a:rPr lang="en-US" b="1" dirty="0" smtClean="0">
                <a:solidFill>
                  <a:srgbClr val="002060"/>
                </a:solidFill>
              </a:rPr>
              <a:t>EPROM : </a:t>
            </a:r>
            <a:r>
              <a:rPr lang="en-US" b="1" dirty="0" smtClean="0">
                <a:solidFill>
                  <a:srgbClr val="002060"/>
                </a:solidFill>
              </a:rPr>
              <a:t>Erasable Programmable Read Only </a:t>
            </a:r>
            <a:r>
              <a:rPr lang="en-US" b="1" dirty="0" smtClean="0">
                <a:solidFill>
                  <a:srgbClr val="002060"/>
                </a:solidFill>
              </a:rPr>
              <a:t>Memory</a:t>
            </a:r>
          </a:p>
          <a:p>
            <a:pPr>
              <a:buFont typeface="Wingdings" pitchFamily="2" charset="2"/>
              <a:buChar char="Ø"/>
            </a:pPr>
            <a:r>
              <a:rPr lang="en-US" b="1" dirty="0" smtClean="0">
                <a:solidFill>
                  <a:srgbClr val="002060"/>
                </a:solidFill>
              </a:rPr>
              <a:t>EEPROM : </a:t>
            </a:r>
            <a:r>
              <a:rPr lang="en-US" b="1" dirty="0" smtClean="0">
                <a:solidFill>
                  <a:srgbClr val="002060"/>
                </a:solidFill>
              </a:rPr>
              <a:t>Electrically Erasable Programmable Read Only </a:t>
            </a:r>
            <a:r>
              <a:rPr lang="en-US" b="1" dirty="0" smtClean="0">
                <a:solidFill>
                  <a:srgbClr val="002060"/>
                </a:solidFill>
              </a:rPr>
              <a:t>Memory</a:t>
            </a:r>
          </a:p>
          <a:p>
            <a:pPr>
              <a:buFont typeface="Wingdings" pitchFamily="2" charset="2"/>
              <a:buChar char="Ø"/>
            </a:pPr>
            <a:r>
              <a:rPr lang="en-US" b="1" dirty="0" smtClean="0">
                <a:solidFill>
                  <a:srgbClr val="002060"/>
                </a:solidFill>
              </a:rPr>
              <a:t>FLASH ROM</a:t>
            </a:r>
            <a:endParaRPr lang="en-US" b="1" dirty="0" smtClean="0">
              <a:solidFill>
                <a:srgbClr val="002060"/>
              </a:solidFill>
            </a:endParaRPr>
          </a:p>
          <a:p>
            <a:pPr>
              <a:buFont typeface="Wingdings" pitchFamily="2" charset="2"/>
              <a:buChar char="Ø"/>
            </a:pPr>
            <a:endParaRPr lang="en-US" b="1" dirty="0" smtClean="0">
              <a:solidFill>
                <a:srgbClr val="002060"/>
              </a:solidFill>
            </a:endParaRPr>
          </a:p>
          <a:p>
            <a:pPr>
              <a:buNone/>
            </a:pPr>
            <a:endParaRPr lang="en-US" b="1" dirty="0" smtClean="0">
              <a:solidFill>
                <a:srgbClr val="002060"/>
              </a:solidFill>
            </a:endParaRPr>
          </a:p>
          <a:p>
            <a:pPr>
              <a:buNone/>
            </a:pPr>
            <a:endParaRPr lang="en-US" b="1" dirty="0" smtClean="0">
              <a:solidFill>
                <a:srgbClr val="002060"/>
              </a:solidFill>
            </a:endParaRPr>
          </a:p>
          <a:p>
            <a:pPr>
              <a:buNone/>
            </a:pPr>
            <a:endParaRPr lang="en-US" dirty="0" smtClean="0"/>
          </a:p>
          <a:p>
            <a:pPr>
              <a:buNone/>
            </a:pPr>
            <a:endParaRPr lang="en-US" dirty="0" smtClean="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Types of ROM:</a:t>
            </a:r>
            <a:endParaRPr lang="en-US" dirty="0"/>
          </a:p>
        </p:txBody>
      </p:sp>
      <p:sp>
        <p:nvSpPr>
          <p:cNvPr id="3" name="Content Placeholder 2"/>
          <p:cNvSpPr>
            <a:spLocks noGrp="1"/>
          </p:cNvSpPr>
          <p:nvPr>
            <p:ph sz="quarter" idx="1"/>
          </p:nvPr>
        </p:nvSpPr>
        <p:spPr/>
        <p:txBody>
          <a:bodyPr>
            <a:normAutofit/>
          </a:bodyPr>
          <a:lstStyle/>
          <a:p>
            <a:pPr>
              <a:buNone/>
            </a:pPr>
            <a:r>
              <a:rPr lang="en-US" b="1" dirty="0" smtClean="0">
                <a:solidFill>
                  <a:srgbClr val="002060"/>
                </a:solidFill>
              </a:rPr>
              <a:t>Masked Read Only Memory (MROM</a:t>
            </a:r>
            <a:r>
              <a:rPr lang="en-US" b="1" dirty="0" smtClean="0">
                <a:solidFill>
                  <a:srgbClr val="002060"/>
                </a:solidFill>
              </a:rPr>
              <a:t>):</a:t>
            </a:r>
          </a:p>
          <a:p>
            <a:pPr>
              <a:buNone/>
            </a:pPr>
            <a:endParaRPr lang="en-US" b="1" dirty="0" smtClean="0">
              <a:solidFill>
                <a:srgbClr val="002060"/>
              </a:solidFill>
            </a:endParaRPr>
          </a:p>
          <a:p>
            <a:r>
              <a:rPr lang="en-US" dirty="0" smtClean="0"/>
              <a:t>It is the oldest type of read only memory (ROM). </a:t>
            </a:r>
            <a:r>
              <a:rPr lang="en-US" dirty="0" smtClean="0"/>
              <a:t>In this, programs and instructions are stored at the time of Manufacturing.</a:t>
            </a:r>
          </a:p>
          <a:p>
            <a:r>
              <a:rPr lang="en-US" dirty="0" smtClean="0"/>
              <a:t>So, it cannot be modified, reprogrammed, or erased later.</a:t>
            </a:r>
          </a:p>
          <a:p>
            <a:r>
              <a:rPr lang="en-US" dirty="0" smtClean="0"/>
              <a:t>Inexpensive</a:t>
            </a:r>
          </a:p>
          <a:p>
            <a:r>
              <a:rPr lang="en-US" dirty="0" smtClean="0"/>
              <a:t>The </a:t>
            </a:r>
            <a:r>
              <a:rPr lang="en-US" dirty="0" smtClean="0"/>
              <a:t>MROM chips are made of integrated circuits. </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Types of ROM:</a:t>
            </a:r>
            <a:endParaRPr lang="en-US" dirty="0"/>
          </a:p>
        </p:txBody>
      </p:sp>
      <p:sp>
        <p:nvSpPr>
          <p:cNvPr id="3" name="Content Placeholder 2"/>
          <p:cNvSpPr>
            <a:spLocks noGrp="1"/>
          </p:cNvSpPr>
          <p:nvPr>
            <p:ph sz="quarter" idx="1"/>
          </p:nvPr>
        </p:nvSpPr>
        <p:spPr/>
        <p:txBody>
          <a:bodyPr/>
          <a:lstStyle/>
          <a:p>
            <a:pPr>
              <a:buNone/>
            </a:pPr>
            <a:r>
              <a:rPr lang="en-US" b="1" dirty="0" smtClean="0">
                <a:solidFill>
                  <a:srgbClr val="002060"/>
                </a:solidFill>
              </a:rPr>
              <a:t>PROM: Programmable Read Only </a:t>
            </a:r>
            <a:r>
              <a:rPr lang="en-US" b="1" dirty="0" smtClean="0">
                <a:solidFill>
                  <a:srgbClr val="002060"/>
                </a:solidFill>
              </a:rPr>
              <a:t>Memory:</a:t>
            </a:r>
          </a:p>
          <a:p>
            <a:r>
              <a:rPr lang="en-US" dirty="0" smtClean="0"/>
              <a:t>PROM is a blank version of ROM. It is manufactured as blank memory and programmed after manufacturing. </a:t>
            </a:r>
            <a:endParaRPr lang="en-US" b="1" dirty="0" smtClean="0">
              <a:solidFill>
                <a:srgbClr val="002060"/>
              </a:solidFill>
            </a:endParaRPr>
          </a:p>
          <a:p>
            <a:r>
              <a:rPr lang="en-US" b="1" dirty="0" smtClean="0">
                <a:solidFill>
                  <a:srgbClr val="002060"/>
                </a:solidFill>
              </a:rPr>
              <a:t> I</a:t>
            </a:r>
            <a:r>
              <a:rPr lang="en-US" dirty="0" smtClean="0"/>
              <a:t>t </a:t>
            </a:r>
            <a:r>
              <a:rPr lang="en-US" dirty="0" smtClean="0"/>
              <a:t>can be programmed </a:t>
            </a:r>
            <a:r>
              <a:rPr lang="en-US" dirty="0" smtClean="0"/>
              <a:t>only once </a:t>
            </a:r>
            <a:r>
              <a:rPr lang="en-US" dirty="0" smtClean="0"/>
              <a:t>as per user requirements</a:t>
            </a:r>
            <a:r>
              <a:rPr lang="en-US" dirty="0" smtClean="0"/>
              <a:t>.</a:t>
            </a:r>
          </a:p>
          <a:p>
            <a:r>
              <a:rPr lang="en-US" dirty="0" smtClean="0"/>
              <a:t>It is not Erasable.</a:t>
            </a:r>
          </a:p>
          <a:p>
            <a:r>
              <a:rPr lang="en-US" b="1" dirty="0" err="1" smtClean="0"/>
              <a:t>Uses:</a:t>
            </a:r>
            <a:r>
              <a:rPr lang="en-US" dirty="0" err="1" smtClean="0"/>
              <a:t>It</a:t>
            </a:r>
            <a:r>
              <a:rPr lang="en-US" dirty="0" smtClean="0"/>
              <a:t> is used in cell phones, video game </a:t>
            </a:r>
            <a:r>
              <a:rPr lang="en-US" dirty="0" err="1" smtClean="0"/>
              <a:t>consoles,etc</a:t>
            </a:r>
            <a:r>
              <a:rPr lang="en-US" dirty="0" smtClean="0"/>
              <a:t>.</a:t>
            </a:r>
            <a:endParaRPr lang="en-US" b="1" dirty="0" smtClean="0"/>
          </a:p>
          <a:p>
            <a:pPr>
              <a:buNone/>
            </a:pPr>
            <a:endParaRPr lang="en-US" b="1" dirty="0" smtClean="0">
              <a:solidFill>
                <a:srgbClr val="002060"/>
              </a:solidFill>
            </a:endParaRPr>
          </a:p>
          <a:p>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Types of ROM:</a:t>
            </a:r>
            <a:endParaRPr lang="en-US" dirty="0"/>
          </a:p>
        </p:txBody>
      </p:sp>
      <p:sp>
        <p:nvSpPr>
          <p:cNvPr id="3" name="Content Placeholder 2"/>
          <p:cNvSpPr>
            <a:spLocks noGrp="1"/>
          </p:cNvSpPr>
          <p:nvPr>
            <p:ph sz="quarter" idx="1"/>
          </p:nvPr>
        </p:nvSpPr>
        <p:spPr/>
        <p:txBody>
          <a:bodyPr/>
          <a:lstStyle/>
          <a:p>
            <a:pPr>
              <a:buNone/>
            </a:pPr>
            <a:r>
              <a:rPr lang="en-US" b="1" dirty="0" smtClean="0">
                <a:solidFill>
                  <a:srgbClr val="002060"/>
                </a:solidFill>
              </a:rPr>
              <a:t>EPROM: Erasable Programmable Read Only </a:t>
            </a:r>
            <a:r>
              <a:rPr lang="en-US" b="1" dirty="0" smtClean="0">
                <a:solidFill>
                  <a:srgbClr val="002060"/>
                </a:solidFill>
              </a:rPr>
              <a:t>Memory:</a:t>
            </a:r>
          </a:p>
          <a:p>
            <a:r>
              <a:rPr lang="en-US" dirty="0" smtClean="0"/>
              <a:t>It can be reprogrammed and erased many times. </a:t>
            </a:r>
          </a:p>
          <a:p>
            <a:r>
              <a:rPr lang="en-US" dirty="0" smtClean="0"/>
              <a:t>It can be erased by exposing it to Ultra violet light for approx. 40 minutes.</a:t>
            </a:r>
          </a:p>
          <a:p>
            <a:r>
              <a:rPr lang="en-US" dirty="0" smtClean="0"/>
              <a:t>An EPROM Eraser achieves this function.</a:t>
            </a:r>
          </a:p>
          <a:p>
            <a:r>
              <a:rPr lang="en-US" b="1" dirty="0" smtClean="0"/>
              <a:t>Uses: </a:t>
            </a:r>
            <a:r>
              <a:rPr lang="en-US" dirty="0" smtClean="0"/>
              <a:t>It is used in some micro-controllers to store </a:t>
            </a:r>
            <a:r>
              <a:rPr lang="en-US" dirty="0" smtClean="0"/>
              <a:t>program.</a:t>
            </a:r>
            <a:endParaRPr lang="en-US" b="1" dirty="0" smtClean="0"/>
          </a:p>
          <a:p>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Types of ROM:</a:t>
            </a:r>
            <a:endParaRPr lang="en-US" dirty="0"/>
          </a:p>
        </p:txBody>
      </p:sp>
      <p:sp>
        <p:nvSpPr>
          <p:cNvPr id="3" name="Content Placeholder 2"/>
          <p:cNvSpPr>
            <a:spLocks noGrp="1"/>
          </p:cNvSpPr>
          <p:nvPr>
            <p:ph sz="quarter" idx="1"/>
          </p:nvPr>
        </p:nvSpPr>
        <p:spPr>
          <a:xfrm>
            <a:off x="914400" y="1447800"/>
            <a:ext cx="7772400" cy="4953000"/>
          </a:xfrm>
        </p:spPr>
        <p:txBody>
          <a:bodyPr>
            <a:normAutofit/>
          </a:bodyPr>
          <a:lstStyle/>
          <a:p>
            <a:pPr>
              <a:buNone/>
            </a:pPr>
            <a:r>
              <a:rPr lang="en-US" b="1" dirty="0" smtClean="0">
                <a:solidFill>
                  <a:srgbClr val="002060"/>
                </a:solidFill>
              </a:rPr>
              <a:t>EEPROM: Electrically Erasable Programmable Read Only </a:t>
            </a:r>
            <a:r>
              <a:rPr lang="en-US" b="1" dirty="0" smtClean="0">
                <a:solidFill>
                  <a:srgbClr val="002060"/>
                </a:solidFill>
              </a:rPr>
              <a:t>Memory:</a:t>
            </a:r>
          </a:p>
          <a:p>
            <a:r>
              <a:rPr lang="en-US" dirty="0" smtClean="0"/>
              <a:t>It is programmed and Erased Electrically.</a:t>
            </a:r>
          </a:p>
          <a:p>
            <a:r>
              <a:rPr lang="en-US" dirty="0" smtClean="0"/>
              <a:t>It can be erased and reprogrammed about 10,000 times.</a:t>
            </a:r>
          </a:p>
          <a:p>
            <a:r>
              <a:rPr lang="en-US" dirty="0" smtClean="0"/>
              <a:t>Both Erasing and programming takes about 4 to 10 </a:t>
            </a:r>
            <a:r>
              <a:rPr lang="en-US" dirty="0" err="1" smtClean="0"/>
              <a:t>ms.</a:t>
            </a:r>
            <a:endParaRPr lang="en-US" dirty="0" smtClean="0"/>
          </a:p>
          <a:p>
            <a:r>
              <a:rPr lang="en-US" dirty="0" smtClean="0"/>
              <a:t>Any location can be selectively erased, rather than erasing entire chip.</a:t>
            </a:r>
            <a:endParaRPr lang="en-US" dirty="0" smtClean="0"/>
          </a:p>
          <a:p>
            <a:r>
              <a:rPr lang="en-US" b="1" dirty="0" smtClean="0"/>
              <a:t>Uses: </a:t>
            </a:r>
            <a:r>
              <a:rPr lang="en-US" dirty="0" smtClean="0"/>
              <a:t>The </a:t>
            </a:r>
            <a:r>
              <a:rPr lang="en-US" dirty="0" smtClean="0"/>
              <a:t>BIOS of a computer is stored in this memory.</a:t>
            </a:r>
            <a:endParaRPr lang="en-US" b="1" dirty="0" smtClean="0"/>
          </a:p>
          <a:p>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Types of ROM:</a:t>
            </a:r>
            <a:endParaRPr lang="en-US" dirty="0"/>
          </a:p>
        </p:txBody>
      </p:sp>
      <p:sp>
        <p:nvSpPr>
          <p:cNvPr id="3" name="Content Placeholder 2"/>
          <p:cNvSpPr>
            <a:spLocks noGrp="1"/>
          </p:cNvSpPr>
          <p:nvPr>
            <p:ph sz="quarter" idx="1"/>
          </p:nvPr>
        </p:nvSpPr>
        <p:spPr/>
        <p:txBody>
          <a:bodyPr/>
          <a:lstStyle/>
          <a:p>
            <a:pPr>
              <a:buNone/>
            </a:pPr>
            <a:r>
              <a:rPr lang="en-US" b="1" dirty="0" smtClean="0">
                <a:solidFill>
                  <a:srgbClr val="002060"/>
                </a:solidFill>
              </a:rPr>
              <a:t>FLASH </a:t>
            </a:r>
            <a:r>
              <a:rPr lang="en-US" b="1" dirty="0" smtClean="0">
                <a:solidFill>
                  <a:srgbClr val="002060"/>
                </a:solidFill>
              </a:rPr>
              <a:t>ROM:</a:t>
            </a:r>
          </a:p>
          <a:p>
            <a:r>
              <a:rPr lang="en-US" b="1" dirty="0" smtClean="0">
                <a:solidFill>
                  <a:srgbClr val="002060"/>
                </a:solidFill>
              </a:rPr>
              <a:t> </a:t>
            </a:r>
            <a:r>
              <a:rPr lang="en-US" dirty="0" smtClean="0"/>
              <a:t>It is an advanced version of EEPROM. </a:t>
            </a:r>
            <a:endParaRPr lang="en-US" dirty="0" smtClean="0"/>
          </a:p>
          <a:p>
            <a:r>
              <a:rPr lang="en-US" dirty="0" smtClean="0"/>
              <a:t>We can write blocks of data at a particular time. Where as, in EEPROM we can write only 1 byte of data at a time. So,  this memory is faster than EPROM.</a:t>
            </a:r>
          </a:p>
          <a:p>
            <a:r>
              <a:rPr lang="en-US" dirty="0" smtClean="0"/>
              <a:t>It is highly durable as it can bear high temperature and intense pressure.</a:t>
            </a:r>
          </a:p>
          <a:p>
            <a:r>
              <a:rPr lang="en-US" b="1" dirty="0" smtClean="0"/>
              <a:t>Uses: </a:t>
            </a:r>
            <a:r>
              <a:rPr lang="en-US" dirty="0" smtClean="0"/>
              <a:t>It is used in USB flash drives, MP3 players, digital cameras, </a:t>
            </a:r>
            <a:r>
              <a:rPr lang="en-US" dirty="0" err="1" smtClean="0"/>
              <a:t>modems,etc</a:t>
            </a:r>
            <a:r>
              <a:rPr lang="en-US" dirty="0" smtClean="0"/>
              <a:t>.</a:t>
            </a:r>
            <a:endParaRPr lang="en-US" b="1" dirty="0" smtClean="0"/>
          </a:p>
          <a:p>
            <a:endParaRPr lang="en-US" dirty="0" smtClean="0"/>
          </a:p>
          <a:p>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Anu Chanti\Desktop\Thank you.jpg"/>
          <p:cNvPicPr>
            <a:picLocks noChangeAspect="1" noChangeArrowheads="1"/>
          </p:cNvPicPr>
          <p:nvPr/>
        </p:nvPicPr>
        <p:blipFill>
          <a:blip r:embed="rId2" cstate="print"/>
          <a:srcRect/>
          <a:stretch>
            <a:fillRect/>
          </a:stretch>
        </p:blipFill>
        <p:spPr bwMode="auto">
          <a:xfrm>
            <a:off x="914400" y="381000"/>
            <a:ext cx="7924800" cy="5867400"/>
          </a:xfrm>
          <a:prstGeom prst="rect">
            <a:avLst/>
          </a:prstGeom>
          <a:noFill/>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396</TotalTime>
  <Words>1764</Words>
  <Application>Microsoft Office PowerPoint</Application>
  <PresentationFormat>On-screen Show (4:3)</PresentationFormat>
  <Paragraphs>197</Paragraphs>
  <Slides>41</Slides>
  <Notes>0</Notes>
  <HiddenSlides>0</HiddenSlides>
  <MMClips>0</MMClips>
  <ScaleCrop>false</ScaleCrop>
  <HeadingPairs>
    <vt:vector size="4" baseType="variant">
      <vt:variant>
        <vt:lpstr>Theme</vt:lpstr>
      </vt:variant>
      <vt:variant>
        <vt:i4>1</vt:i4>
      </vt:variant>
      <vt:variant>
        <vt:lpstr>Slide Titles</vt:lpstr>
      </vt:variant>
      <vt:variant>
        <vt:i4>41</vt:i4>
      </vt:variant>
    </vt:vector>
  </HeadingPairs>
  <TitlesOfParts>
    <vt:vector size="42" baseType="lpstr">
      <vt:lpstr>Equity</vt:lpstr>
      <vt:lpstr>Memory Hierarchy</vt:lpstr>
      <vt:lpstr>Memory Hierarchy</vt:lpstr>
      <vt:lpstr>Slide 3</vt:lpstr>
      <vt:lpstr>Memory Hierarchy</vt:lpstr>
      <vt:lpstr>Memory Hierarchy</vt:lpstr>
      <vt:lpstr>Memory Hierarchy</vt:lpstr>
      <vt:lpstr>Memory Hierarchy</vt:lpstr>
      <vt:lpstr>Memory Hierarchy</vt:lpstr>
      <vt:lpstr>Characteristics of Memory Hierarchy</vt:lpstr>
      <vt:lpstr>Characteristics of Memory Hierarchy</vt:lpstr>
      <vt:lpstr>Memory Hierarchy</vt:lpstr>
      <vt:lpstr>Main Memory</vt:lpstr>
      <vt:lpstr>Main Memory</vt:lpstr>
      <vt:lpstr>RAM </vt:lpstr>
      <vt:lpstr>RAM </vt:lpstr>
      <vt:lpstr>Slide 16</vt:lpstr>
      <vt:lpstr>RAM</vt:lpstr>
      <vt:lpstr>RAM</vt:lpstr>
      <vt:lpstr>RAM</vt:lpstr>
      <vt:lpstr>Types of RAM </vt:lpstr>
      <vt:lpstr>Types of RAM </vt:lpstr>
      <vt:lpstr>Static RAM:</vt:lpstr>
      <vt:lpstr>Static RAM:</vt:lpstr>
      <vt:lpstr>Static RAM:</vt:lpstr>
      <vt:lpstr>Static RAM:</vt:lpstr>
      <vt:lpstr>Dynamic RAM:</vt:lpstr>
      <vt:lpstr>Dynamic RAM:</vt:lpstr>
      <vt:lpstr>Dynamic RAM:</vt:lpstr>
      <vt:lpstr>Slide 29</vt:lpstr>
      <vt:lpstr>Slide 30</vt:lpstr>
      <vt:lpstr>ROM :</vt:lpstr>
      <vt:lpstr>Slide 32</vt:lpstr>
      <vt:lpstr>ROM :</vt:lpstr>
      <vt:lpstr>ROM :</vt:lpstr>
      <vt:lpstr>Types of ROM:</vt:lpstr>
      <vt:lpstr>Types of ROM:</vt:lpstr>
      <vt:lpstr>Types of ROM:</vt:lpstr>
      <vt:lpstr>Types of ROM:</vt:lpstr>
      <vt:lpstr>Types of ROM:</vt:lpstr>
      <vt:lpstr>Types of ROM:</vt:lpstr>
      <vt:lpstr>Slide 41</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RGUKT</dc:creator>
  <cp:lastModifiedBy>RGUKT</cp:lastModifiedBy>
  <cp:revision>88</cp:revision>
  <dcterms:created xsi:type="dcterms:W3CDTF">2006-08-16T00:00:00Z</dcterms:created>
  <dcterms:modified xsi:type="dcterms:W3CDTF">2022-07-15T01:09:54Z</dcterms:modified>
</cp:coreProperties>
</file>