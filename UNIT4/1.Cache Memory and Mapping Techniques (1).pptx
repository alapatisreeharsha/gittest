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9" r:id="rId9"/>
    <p:sldId id="270" r:id="rId10"/>
    <p:sldId id="271" r:id="rId11"/>
    <p:sldId id="286" r:id="rId12"/>
    <p:sldId id="287" r:id="rId13"/>
    <p:sldId id="288" r:id="rId14"/>
    <p:sldId id="289" r:id="rId15"/>
    <p:sldId id="273" r:id="rId16"/>
    <p:sldId id="262" r:id="rId17"/>
    <p:sldId id="275" r:id="rId18"/>
    <p:sldId id="266" r:id="rId19"/>
    <p:sldId id="290" r:id="rId20"/>
    <p:sldId id="291" r:id="rId21"/>
    <p:sldId id="307" r:id="rId22"/>
    <p:sldId id="277" r:id="rId23"/>
    <p:sldId id="278" r:id="rId24"/>
    <p:sldId id="285" r:id="rId25"/>
    <p:sldId id="294" r:id="rId26"/>
    <p:sldId id="279" r:id="rId27"/>
    <p:sldId id="280" r:id="rId28"/>
    <p:sldId id="295" r:id="rId29"/>
    <p:sldId id="284" r:id="rId30"/>
    <p:sldId id="283" r:id="rId31"/>
    <p:sldId id="274" r:id="rId32"/>
    <p:sldId id="268"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B6F15528-21DE-4FAA-801E-634DDDAF4B2B}" type="slidenum">
              <a:rPr lang="en-US" smtClean="0"/>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B6F15528-21DE-4FAA-801E-634DDDAF4B2B}" type="slidenum">
              <a:rPr lang="en-US" smtClean="0"/>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B6F15528-21DE-4FAA-801E-634DDDAF4B2B}" type="slidenum">
              <a:rPr lang="en-US" smtClean="0"/>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B6F15528-21DE-4FAA-801E-634DDDAF4B2B}" type="slidenum">
              <a:rPr lang="en-US" smtClean="0"/>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B6F15528-21DE-4FAA-801E-634DDDAF4B2B}" type="slidenum">
              <a:rPr lang="en-US" smtClean="0"/>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1D8BD707-D9CF-40AE-B4C6-C98DA3205C09}" type="datetimeFigureOut">
              <a:rPr lang="en-US" smtClean="0"/>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6F15528-21DE-4FAA-801E-634DDDAF4B2B}" type="slidenum">
              <a:rPr lang="en-US" smtClean="0"/>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6600" b="1" dirty="0" smtClean="0"/>
              <a:t>Cache Memory</a:t>
            </a:r>
            <a:endParaRPr lang="en-US" sz="6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Cache Memory</a:t>
            </a:r>
            <a:endParaRPr lang="en-US" dirty="0"/>
          </a:p>
        </p:txBody>
      </p:sp>
      <p:sp>
        <p:nvSpPr>
          <p:cNvPr id="3" name="Content Placeholder 2"/>
          <p:cNvSpPr>
            <a:spLocks noGrp="1"/>
          </p:cNvSpPr>
          <p:nvPr>
            <p:ph sz="quarter" idx="1"/>
          </p:nvPr>
        </p:nvSpPr>
        <p:spPr/>
        <p:txBody>
          <a:bodyPr/>
          <a:lstStyle/>
          <a:p>
            <a:r>
              <a:rPr lang="en-US" dirty="0" smtClean="0"/>
              <a:t>Cache is a type of memory that is used to increase the speed of data access. </a:t>
            </a:r>
            <a:endParaRPr lang="en-US" dirty="0" smtClean="0"/>
          </a:p>
          <a:p>
            <a:endParaRPr lang="en-US" dirty="0" smtClean="0"/>
          </a:p>
          <a:p>
            <a:r>
              <a:rPr lang="en-US" dirty="0" smtClean="0"/>
              <a:t>Normally, the data required for any process resides in the main memory. </a:t>
            </a:r>
            <a:endParaRPr lang="en-US" dirty="0" smtClean="0"/>
          </a:p>
          <a:p>
            <a:endParaRPr lang="en-US" dirty="0" smtClean="0"/>
          </a:p>
          <a:p>
            <a:r>
              <a:rPr lang="en-US" dirty="0" smtClean="0"/>
              <a:t>The data or contents of the main memory that are used frequently by CPU are stored in the cache memory so that the processor can easily access that data in a shorter time.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Memory</a:t>
            </a:r>
            <a:endParaRPr lang="en-US" dirty="0"/>
          </a:p>
        </p:txBody>
      </p:sp>
      <p:sp>
        <p:nvSpPr>
          <p:cNvPr id="3" name="Content Placeholder 2"/>
          <p:cNvSpPr>
            <a:spLocks noGrp="1"/>
          </p:cNvSpPr>
          <p:nvPr>
            <p:ph sz="quarter" idx="1"/>
          </p:nvPr>
        </p:nvSpPr>
        <p:spPr>
          <a:xfrm>
            <a:off x="301752" y="1527048"/>
            <a:ext cx="8503920" cy="4949952"/>
          </a:xfrm>
        </p:spPr>
        <p:txBody>
          <a:bodyPr>
            <a:normAutofit fontScale="92500" lnSpcReduction="10000"/>
          </a:bodyPr>
          <a:lstStyle/>
          <a:p>
            <a:r>
              <a:rPr lang="en-US" dirty="0" smtClean="0"/>
              <a:t>Whenever the CPU needs to access memory, it first checks the cache memory. </a:t>
            </a:r>
            <a:endParaRPr lang="en-US" dirty="0" smtClean="0"/>
          </a:p>
          <a:p>
            <a:endParaRPr lang="en-US" dirty="0" smtClean="0"/>
          </a:p>
          <a:p>
            <a:r>
              <a:rPr lang="en-US" dirty="0" smtClean="0"/>
              <a:t>If the data is not found in cache memory, then the CPU moves into the main memory.</a:t>
            </a:r>
            <a:endParaRPr lang="en-US" dirty="0" smtClean="0"/>
          </a:p>
          <a:p>
            <a:endParaRPr lang="en-US" dirty="0" smtClean="0"/>
          </a:p>
          <a:p>
            <a:r>
              <a:rPr lang="en-US" dirty="0" smtClean="0"/>
              <a:t>Cache memory is used to reduce the average time to access data from the Main memory. </a:t>
            </a:r>
            <a:endParaRPr lang="en-US" dirty="0" smtClean="0"/>
          </a:p>
          <a:p>
            <a:endParaRPr lang="en-US" dirty="0" smtClean="0"/>
          </a:p>
          <a:p>
            <a:r>
              <a:rPr lang="en-US" dirty="0" smtClean="0"/>
              <a:t>The cache is a smaller and faster memory which stores copies of the data </a:t>
            </a:r>
            <a:r>
              <a:rPr lang="en-US" dirty="0" smtClean="0"/>
              <a:t>frequently </a:t>
            </a:r>
            <a:r>
              <a:rPr lang="en-US" dirty="0" smtClean="0"/>
              <a:t>used </a:t>
            </a:r>
            <a:r>
              <a:rPr lang="en-US" dirty="0" smtClean="0"/>
              <a:t>from main </a:t>
            </a:r>
            <a:r>
              <a:rPr lang="en-US" dirty="0" smtClean="0"/>
              <a:t>memory locations. </a:t>
            </a: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Cache Memory</a:t>
            </a:r>
            <a:endParaRPr lang="en-US" dirty="0"/>
          </a:p>
        </p:txBody>
      </p:sp>
      <p:sp>
        <p:nvSpPr>
          <p:cNvPr id="7" name="Content Placeholder 6"/>
          <p:cNvSpPr>
            <a:spLocks noGrp="1"/>
          </p:cNvSpPr>
          <p:nvPr>
            <p:ph sz="quarter" idx="1"/>
          </p:nvPr>
        </p:nvSpPr>
        <p:spPr/>
        <p:txBody>
          <a:bodyPr/>
          <a:lstStyle/>
          <a:p>
            <a:r>
              <a:rPr lang="en-US" dirty="0" smtClean="0"/>
              <a:t>Cache memory is placed between the CPU and the main memory. The block diagram for a cache memory can be represented as:</a:t>
            </a:r>
            <a:endParaRPr lang="en-US" dirty="0" smtClean="0"/>
          </a:p>
          <a:p>
            <a:endParaRPr lang="en-US" dirty="0"/>
          </a:p>
        </p:txBody>
      </p:sp>
      <p:pic>
        <p:nvPicPr>
          <p:cNvPr id="1026" name="Picture 2" descr="C:\Users\RGUKT\Desktop\cache....png"/>
          <p:cNvPicPr>
            <a:picLocks noChangeAspect="1" noChangeArrowheads="1"/>
          </p:cNvPicPr>
          <p:nvPr/>
        </p:nvPicPr>
        <p:blipFill>
          <a:blip r:embed="rId1"/>
          <a:srcRect/>
          <a:stretch>
            <a:fillRect/>
          </a:stretch>
        </p:blipFill>
        <p:spPr bwMode="auto">
          <a:xfrm>
            <a:off x="1524000" y="3352800"/>
            <a:ext cx="6248400" cy="27432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Cache Performance</a:t>
            </a:r>
            <a:endParaRPr lang="en-US" dirty="0"/>
          </a:p>
        </p:txBody>
      </p:sp>
      <p:sp>
        <p:nvSpPr>
          <p:cNvPr id="3" name="Content Placeholder 2"/>
          <p:cNvSpPr>
            <a:spLocks noGrp="1"/>
          </p:cNvSpPr>
          <p:nvPr>
            <p:ph sz="quarter" idx="1"/>
          </p:nvPr>
        </p:nvSpPr>
        <p:spPr/>
        <p:txBody>
          <a:bodyPr>
            <a:normAutofit/>
          </a:bodyPr>
          <a:lstStyle/>
          <a:p>
            <a:r>
              <a:rPr lang="en-US" dirty="0" smtClean="0"/>
              <a:t>The cache performance can be explained using the following steps −</a:t>
            </a:r>
            <a:endParaRPr lang="en-US" dirty="0" smtClean="0"/>
          </a:p>
          <a:p>
            <a:r>
              <a:rPr lang="en-US" dirty="0" smtClean="0"/>
              <a:t>If a process needs some data, it first searches in the cache memory. </a:t>
            </a:r>
            <a:endParaRPr lang="en-US" dirty="0" smtClean="0"/>
          </a:p>
          <a:p>
            <a:r>
              <a:rPr lang="en-US" dirty="0" smtClean="0"/>
              <a:t>If the data is available in the cache, this is termed as a </a:t>
            </a:r>
            <a:r>
              <a:rPr lang="en-US" b="1" dirty="0" smtClean="0">
                <a:solidFill>
                  <a:srgbClr val="FF0000"/>
                </a:solidFill>
              </a:rPr>
              <a:t>cache hit </a:t>
            </a:r>
            <a:r>
              <a:rPr lang="en-US" dirty="0" smtClean="0"/>
              <a:t>and the data is accessed as required.</a:t>
            </a:r>
            <a:endParaRPr lang="en-US" dirty="0" smtClean="0"/>
          </a:p>
          <a:p>
            <a:r>
              <a:rPr lang="en-US" dirty="0" smtClean="0"/>
              <a:t>If the data is not in the cache then it is termed as a </a:t>
            </a:r>
            <a:r>
              <a:rPr lang="en-US" b="1" dirty="0" smtClean="0">
                <a:solidFill>
                  <a:srgbClr val="FF0000"/>
                </a:solidFill>
              </a:rPr>
              <a:t>cache miss. </a:t>
            </a:r>
            <a:endParaRPr lang="en-US" b="1" dirty="0">
              <a:solidFill>
                <a:srgbClr val="FF0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Cache Performance</a:t>
            </a:r>
            <a:endParaRPr lang="en-US" dirty="0"/>
          </a:p>
        </p:txBody>
      </p:sp>
      <p:sp>
        <p:nvSpPr>
          <p:cNvPr id="3" name="Content Placeholder 2"/>
          <p:cNvSpPr>
            <a:spLocks noGrp="1"/>
          </p:cNvSpPr>
          <p:nvPr>
            <p:ph sz="quarter" idx="1"/>
          </p:nvPr>
        </p:nvSpPr>
        <p:spPr/>
        <p:txBody>
          <a:bodyPr/>
          <a:lstStyle/>
          <a:p>
            <a:r>
              <a:rPr lang="en-US" dirty="0" smtClean="0"/>
              <a:t>Then the data is obtained from the main memory. After that the data is transferred to the cache memory under the assumption that it will be needed again.</a:t>
            </a:r>
            <a:endParaRPr lang="en-US" dirty="0" smtClean="0"/>
          </a:p>
          <a:p>
            <a:r>
              <a:rPr lang="en-US" dirty="0" smtClean="0"/>
              <a:t>The performance of the cache is measured using the hit ratio. It is the number of cache hits divided by the total cache accesses. The formula for this is:</a:t>
            </a:r>
            <a:endParaRPr lang="en-US" dirty="0" smtClean="0"/>
          </a:p>
          <a:p>
            <a:endParaRPr lang="en-US" dirty="0"/>
          </a:p>
        </p:txBody>
      </p:sp>
      <p:sp>
        <p:nvSpPr>
          <p:cNvPr id="2050" name="AutoShape 2" descr="https://www.tutorialspoint.com/assets/questions/media/11131/Cache%20Hits%20Formulae.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2052" name="AutoShape 4" descr="https://www.tutorialspoint.com/assets/questions/media/11131/Cache%20Hits%20Formulae.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2053" name="Picture 5" descr="C:\Users\RGUKT\Desktop\Cache Hits Formulae.png"/>
          <p:cNvPicPr>
            <a:picLocks noChangeAspect="1" noChangeArrowheads="1"/>
          </p:cNvPicPr>
          <p:nvPr/>
        </p:nvPicPr>
        <p:blipFill>
          <a:blip r:embed="rId1"/>
          <a:srcRect/>
          <a:stretch>
            <a:fillRect/>
          </a:stretch>
        </p:blipFill>
        <p:spPr bwMode="auto">
          <a:xfrm>
            <a:off x="1143000" y="4876800"/>
            <a:ext cx="6781800" cy="14478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Types of Cache Memory:</a:t>
            </a:r>
            <a:endParaRPr lang="en-US" dirty="0"/>
          </a:p>
        </p:txBody>
      </p:sp>
      <p:sp>
        <p:nvSpPr>
          <p:cNvPr id="3" name="Content Placeholder 2"/>
          <p:cNvSpPr>
            <a:spLocks noGrp="1"/>
          </p:cNvSpPr>
          <p:nvPr>
            <p:ph sz="quarter" idx="1"/>
          </p:nvPr>
        </p:nvSpPr>
        <p:spPr/>
        <p:txBody>
          <a:bodyPr/>
          <a:lstStyle/>
          <a:p>
            <a:r>
              <a:rPr lang="en-US" b="1" dirty="0" smtClean="0"/>
              <a:t>L1:</a:t>
            </a:r>
            <a:r>
              <a:rPr lang="en-US" dirty="0" smtClean="0"/>
              <a:t> It is the first level of cache memory, which is called Level 1 cache or L1 cache. </a:t>
            </a:r>
            <a:endParaRPr lang="en-US" dirty="0" smtClean="0"/>
          </a:p>
          <a:p>
            <a:r>
              <a:rPr lang="en-US" dirty="0" smtClean="0"/>
              <a:t>In this type of cache memory, a small amount of memory is present inside the CPU itself. </a:t>
            </a:r>
            <a:endParaRPr lang="en-US" dirty="0" smtClean="0"/>
          </a:p>
          <a:p>
            <a:r>
              <a:rPr lang="en-US" dirty="0" smtClean="0"/>
              <a:t>The size of this memory ranges from 2KB to 64 KB. The L1 cache further has two types of caches: </a:t>
            </a:r>
            <a:endParaRPr lang="en-US" dirty="0" smtClean="0"/>
          </a:p>
          <a:p>
            <a:r>
              <a:rPr lang="en-US" dirty="0" smtClean="0">
                <a:solidFill>
                  <a:srgbClr val="FF0000"/>
                </a:solidFill>
              </a:rPr>
              <a:t>Instruction cache</a:t>
            </a:r>
            <a:r>
              <a:rPr lang="en-US" dirty="0" smtClean="0"/>
              <a:t>, which stores instructions required by the CPU, and the </a:t>
            </a:r>
            <a:r>
              <a:rPr lang="en-US" dirty="0" smtClean="0">
                <a:solidFill>
                  <a:srgbClr val="FF0000"/>
                </a:solidFill>
              </a:rPr>
              <a:t>data cache </a:t>
            </a:r>
            <a:r>
              <a:rPr lang="en-US" dirty="0" smtClean="0"/>
              <a:t>that stores the data required by the CPU.</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Cache Memory:</a:t>
            </a:r>
            <a:endParaRPr lang="en-US" dirty="0"/>
          </a:p>
        </p:txBody>
      </p:sp>
      <p:sp>
        <p:nvSpPr>
          <p:cNvPr id="3" name="Content Placeholder 2"/>
          <p:cNvSpPr>
            <a:spLocks noGrp="1"/>
          </p:cNvSpPr>
          <p:nvPr>
            <p:ph sz="quarter" idx="1"/>
          </p:nvPr>
        </p:nvSpPr>
        <p:spPr/>
        <p:txBody>
          <a:bodyPr/>
          <a:lstStyle/>
          <a:p>
            <a:r>
              <a:rPr lang="en-US" b="1" dirty="0" smtClean="0"/>
              <a:t>L2:</a:t>
            </a:r>
            <a:r>
              <a:rPr lang="en-US" dirty="0" smtClean="0"/>
              <a:t> This cache is known as Level 2 cache or L2 cache. This level 2 cache may be inside the CPU or outside the CPU. </a:t>
            </a:r>
            <a:endParaRPr lang="en-US" dirty="0" smtClean="0"/>
          </a:p>
          <a:p>
            <a:endParaRPr lang="en-US" dirty="0" smtClean="0"/>
          </a:p>
          <a:p>
            <a:r>
              <a:rPr lang="en-US" dirty="0" smtClean="0"/>
              <a:t>In case it is outside the CPU, it is connected with the CPU with a very high-speed bus. </a:t>
            </a:r>
            <a:endParaRPr lang="en-US" dirty="0" smtClean="0"/>
          </a:p>
          <a:p>
            <a:endParaRPr lang="en-US" dirty="0" smtClean="0"/>
          </a:p>
          <a:p>
            <a:r>
              <a:rPr lang="en-US" dirty="0" smtClean="0"/>
              <a:t>The memory size of this cache is in the range of 256 KB to the 512 KB. In terms of speed, they are slower than the L1 cache.</a:t>
            </a: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Cache Memory:</a:t>
            </a:r>
            <a:endParaRPr lang="en-US" dirty="0"/>
          </a:p>
        </p:txBody>
      </p:sp>
      <p:sp>
        <p:nvSpPr>
          <p:cNvPr id="3" name="Content Placeholder 2"/>
          <p:cNvSpPr>
            <a:spLocks noGrp="1"/>
          </p:cNvSpPr>
          <p:nvPr>
            <p:ph sz="quarter" idx="1"/>
          </p:nvPr>
        </p:nvSpPr>
        <p:spPr/>
        <p:txBody>
          <a:bodyPr/>
          <a:lstStyle/>
          <a:p>
            <a:r>
              <a:rPr lang="en-US" b="1" dirty="0" smtClean="0"/>
              <a:t>L3:</a:t>
            </a:r>
            <a:r>
              <a:rPr lang="en-US" dirty="0" smtClean="0"/>
              <a:t> It is known as Level 3 cache or L3 cache. This cache is not present in all the processors; some high-end processors may have this type of cache.</a:t>
            </a:r>
            <a:endParaRPr lang="en-US" dirty="0" smtClean="0"/>
          </a:p>
          <a:p>
            <a:pPr>
              <a:buNone/>
            </a:pPr>
            <a:r>
              <a:rPr lang="en-US" dirty="0" smtClean="0"/>
              <a:t> </a:t>
            </a:r>
            <a:endParaRPr lang="en-US" dirty="0" smtClean="0"/>
          </a:p>
          <a:p>
            <a:r>
              <a:rPr lang="en-US" dirty="0" smtClean="0"/>
              <a:t>Although it is slower than L1 and L2 cache, it is faster than Random Access Memory (RAM).</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Locality of reference</a:t>
            </a:r>
            <a:endParaRPr lang="en-US" dirty="0"/>
          </a:p>
        </p:txBody>
      </p:sp>
      <p:sp>
        <p:nvSpPr>
          <p:cNvPr id="3" name="Content Placeholder 2"/>
          <p:cNvSpPr>
            <a:spLocks noGrp="1"/>
          </p:cNvSpPr>
          <p:nvPr>
            <p:ph sz="quarter" idx="1"/>
          </p:nvPr>
        </p:nvSpPr>
        <p:spPr/>
        <p:txBody>
          <a:bodyPr>
            <a:normAutofit/>
          </a:bodyPr>
          <a:lstStyle/>
          <a:p>
            <a:pPr fontAlgn="base">
              <a:buNone/>
            </a:pPr>
            <a:r>
              <a:rPr lang="en-US" b="1" dirty="0" smtClean="0"/>
              <a:t>Locality of reference –</a:t>
            </a:r>
            <a:br>
              <a:rPr lang="en-US" dirty="0" smtClean="0"/>
            </a:br>
            <a:r>
              <a:rPr lang="en-US" dirty="0" smtClean="0"/>
              <a:t>Since size of cache memory is less as compared to main memory. So to check which part of main memory should be given priority and loaded in cache is decided based on locality of reference.</a:t>
            </a:r>
            <a:endParaRPr lang="en-US" dirty="0" smtClean="0"/>
          </a:p>
          <a:p>
            <a:pPr fontAlgn="base">
              <a:buNone/>
            </a:pPr>
            <a:r>
              <a:rPr lang="en-US" b="1" dirty="0" smtClean="0"/>
              <a:t>Types of Locality of reference</a:t>
            </a:r>
            <a:endParaRPr lang="en-US" b="1" dirty="0" smtClean="0"/>
          </a:p>
          <a:p>
            <a:pPr fontAlgn="base">
              <a:buNone/>
            </a:pPr>
            <a:endParaRPr lang="en-US" dirty="0" smtClean="0"/>
          </a:p>
          <a:p>
            <a:pPr fontAlgn="base"/>
            <a:r>
              <a:rPr lang="en-US" b="1" dirty="0" smtClean="0">
                <a:solidFill>
                  <a:srgbClr val="C00000"/>
                </a:solidFill>
              </a:rPr>
              <a:t>Spatial Locality of reference</a:t>
            </a:r>
            <a:endParaRPr lang="en-US" b="1" dirty="0" smtClean="0">
              <a:solidFill>
                <a:srgbClr val="C00000"/>
              </a:solidFill>
            </a:endParaRPr>
          </a:p>
          <a:p>
            <a:pPr fontAlgn="base"/>
            <a:r>
              <a:rPr lang="en-US" b="1" dirty="0" smtClean="0">
                <a:solidFill>
                  <a:srgbClr val="C00000"/>
                </a:solidFill>
              </a:rPr>
              <a:t>Temporal Locality of reference </a:t>
            </a:r>
            <a:br>
              <a:rPr lang="en-US" dirty="0" smtClean="0">
                <a:solidFill>
                  <a:srgbClr val="C00000"/>
                </a:solidFill>
              </a:rPr>
            </a:br>
            <a:endParaRPr lang="en-US" dirty="0">
              <a:solidFill>
                <a:srgbClr val="C00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C00000"/>
                </a:solidFill>
              </a:rPr>
              <a:t>Spatial Locality of reference</a:t>
            </a:r>
            <a:endParaRPr lang="en-US" dirty="0"/>
          </a:p>
        </p:txBody>
      </p:sp>
      <p:sp>
        <p:nvSpPr>
          <p:cNvPr id="3" name="Content Placeholder 2"/>
          <p:cNvSpPr>
            <a:spLocks noGrp="1"/>
          </p:cNvSpPr>
          <p:nvPr>
            <p:ph sz="quarter" idx="1"/>
          </p:nvPr>
        </p:nvSpPr>
        <p:spPr/>
        <p:txBody>
          <a:bodyPr>
            <a:normAutofit/>
          </a:bodyPr>
          <a:lstStyle/>
          <a:p>
            <a:pPr fontAlgn="base"/>
            <a:r>
              <a:rPr lang="en-US" dirty="0" smtClean="0"/>
              <a:t>Spatial locality means instruction or data near to the current memory location that is being fetched, may be needed by the </a:t>
            </a:r>
            <a:r>
              <a:rPr lang="en-US" dirty="0" smtClean="0"/>
              <a:t>processor.</a:t>
            </a:r>
            <a:endParaRPr lang="en-US" dirty="0" smtClean="0"/>
          </a:p>
          <a:p>
            <a:pPr fontAlgn="base">
              <a:buNone/>
            </a:pPr>
            <a:endParaRPr lang="en-US" dirty="0" smtClean="0"/>
          </a:p>
          <a:p>
            <a:pPr fontAlgn="base"/>
            <a:r>
              <a:rPr lang="en-US" dirty="0" smtClean="0"/>
              <a:t>If an item is accessed in Memory, then items with near by addresses will tend to be referenced next.</a:t>
            </a:r>
            <a:endParaRPr lang="en-US" dirty="0" smtClean="0"/>
          </a:p>
          <a:p>
            <a:pPr fontAlgn="base">
              <a:buNone/>
            </a:pPr>
            <a:endParaRPr lang="en-US" dirty="0" smtClean="0"/>
          </a:p>
          <a:p>
            <a:pPr fontAlgn="base">
              <a:buNone/>
            </a:pPr>
            <a:r>
              <a:rPr lang="en-US" dirty="0" smtClean="0"/>
              <a:t>(Referencing Instructions in sequence.)</a:t>
            </a: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Temporal Locality of reference</a:t>
            </a:r>
            <a:endParaRPr lang="en-US" dirty="0">
              <a:solidFill>
                <a:srgbClr val="C00000"/>
              </a:solidFill>
            </a:endParaRPr>
          </a:p>
        </p:txBody>
      </p:sp>
      <p:sp>
        <p:nvSpPr>
          <p:cNvPr id="3" name="Content Placeholder 2"/>
          <p:cNvSpPr>
            <a:spLocks noGrp="1"/>
          </p:cNvSpPr>
          <p:nvPr>
            <p:ph sz="quarter" idx="1"/>
          </p:nvPr>
        </p:nvSpPr>
        <p:spPr/>
        <p:txBody>
          <a:bodyPr>
            <a:normAutofit/>
          </a:bodyPr>
          <a:lstStyle/>
          <a:p>
            <a:r>
              <a:rPr lang="en-US" dirty="0" smtClean="0"/>
              <a:t>Temporal locality means current data or instruction that is being fetched may </a:t>
            </a:r>
            <a:r>
              <a:rPr lang="en-US" b="1" dirty="0" smtClean="0">
                <a:solidFill>
                  <a:srgbClr val="00B050"/>
                </a:solidFill>
              </a:rPr>
              <a:t>be needed </a:t>
            </a:r>
            <a:r>
              <a:rPr lang="en-US" b="1" dirty="0" smtClean="0">
                <a:solidFill>
                  <a:srgbClr val="00B050"/>
                </a:solidFill>
              </a:rPr>
              <a:t>soon.</a:t>
            </a:r>
            <a:endParaRPr lang="en-US" b="1" dirty="0" smtClean="0">
              <a:solidFill>
                <a:srgbClr val="00B050"/>
              </a:solidFill>
            </a:endParaRPr>
          </a:p>
          <a:p>
            <a:endParaRPr lang="en-US" b="1" dirty="0" smtClean="0">
              <a:solidFill>
                <a:srgbClr val="00B050"/>
              </a:solidFill>
            </a:endParaRPr>
          </a:p>
          <a:p>
            <a:r>
              <a:rPr lang="en-US" dirty="0" smtClean="0"/>
              <a:t>If an item is accessed in Memory, then </a:t>
            </a:r>
            <a:r>
              <a:rPr lang="en-US" dirty="0" smtClean="0"/>
              <a:t>same item with will be referenced again in future.</a:t>
            </a:r>
            <a:endParaRPr lang="en-US" dirty="0" smtClean="0"/>
          </a:p>
          <a:p>
            <a:pPr>
              <a:buNone/>
            </a:pPr>
            <a:endParaRPr lang="en-US" dirty="0" smtClean="0"/>
          </a:p>
          <a:p>
            <a:pPr>
              <a:buNone/>
            </a:pPr>
            <a:r>
              <a:rPr lang="en-US" dirty="0" smtClean="0"/>
              <a:t>(Referencing </a:t>
            </a:r>
            <a:r>
              <a:rPr lang="en-US" dirty="0" smtClean="0"/>
              <a:t>Instructions in </a:t>
            </a:r>
            <a:r>
              <a:rPr lang="en-US" dirty="0" smtClean="0"/>
              <a:t>loop.)</a:t>
            </a: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Cache Mapping?</a:t>
            </a:r>
            <a:endParaRPr lang="en-US" dirty="0"/>
          </a:p>
        </p:txBody>
      </p:sp>
      <p:sp>
        <p:nvSpPr>
          <p:cNvPr id="3" name="Content Placeholder 2"/>
          <p:cNvSpPr>
            <a:spLocks noGrp="1"/>
          </p:cNvSpPr>
          <p:nvPr>
            <p:ph sz="quarter" idx="1"/>
          </p:nvPr>
        </p:nvSpPr>
        <p:spPr/>
        <p:txBody>
          <a:bodyPr>
            <a:normAutofit/>
          </a:bodyPr>
          <a:lstStyle/>
          <a:p>
            <a:pPr>
              <a:buNone/>
            </a:pPr>
            <a:r>
              <a:rPr lang="en-US" dirty="0" smtClean="0"/>
              <a:t>Whenever a cache hit occurs,</a:t>
            </a:r>
            <a:endParaRPr lang="en-US" dirty="0" smtClean="0"/>
          </a:p>
          <a:p>
            <a:pPr>
              <a:buNone/>
            </a:pPr>
            <a:endParaRPr lang="en-US" dirty="0" smtClean="0"/>
          </a:p>
          <a:p>
            <a:r>
              <a:rPr lang="en-US" dirty="0" smtClean="0"/>
              <a:t>The word that is required is present in the memory of the cache.</a:t>
            </a:r>
            <a:endParaRPr lang="en-US" dirty="0" smtClean="0"/>
          </a:p>
          <a:p>
            <a:r>
              <a:rPr lang="en-US" dirty="0" smtClean="0"/>
              <a:t>Then the required word would be delivered from the cache memory to the CPU.</a:t>
            </a:r>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Mapping</a:t>
            </a:r>
            <a:endParaRPr lang="en-US" dirty="0"/>
          </a:p>
        </p:txBody>
      </p:sp>
      <p:sp>
        <p:nvSpPr>
          <p:cNvPr id="3" name="Content Placeholder 2"/>
          <p:cNvSpPr>
            <a:spLocks noGrp="1"/>
          </p:cNvSpPr>
          <p:nvPr>
            <p:ph sz="quarter" idx="1"/>
          </p:nvPr>
        </p:nvSpPr>
        <p:spPr/>
        <p:txBody>
          <a:bodyPr/>
          <a:lstStyle/>
          <a:p>
            <a:pPr>
              <a:buNone/>
            </a:pPr>
            <a:r>
              <a:rPr lang="en-US" dirty="0" smtClean="0"/>
              <a:t>And, whenever a cache miss occurs,</a:t>
            </a:r>
            <a:endParaRPr lang="en-US" dirty="0" smtClean="0"/>
          </a:p>
          <a:p>
            <a:pPr>
              <a:buNone/>
            </a:pPr>
            <a:endParaRPr lang="en-US" dirty="0" smtClean="0"/>
          </a:p>
          <a:p>
            <a:r>
              <a:rPr lang="en-US" dirty="0" smtClean="0"/>
              <a:t>The word that is required isn’t present in the memory of the cache.</a:t>
            </a:r>
            <a:endParaRPr lang="en-US" dirty="0" smtClean="0"/>
          </a:p>
          <a:p>
            <a:r>
              <a:rPr lang="en-US" dirty="0" smtClean="0"/>
              <a:t>The page consists of the required word that we need to map from the main memory.</a:t>
            </a:r>
            <a:endParaRPr lang="en-US" dirty="0" smtClean="0"/>
          </a:p>
          <a:p>
            <a:r>
              <a:rPr lang="en-US" dirty="0" smtClean="0"/>
              <a:t>We can perform such a type of mapping using various different techniques of cache mapping.</a:t>
            </a:r>
            <a:endParaRPr lang="en-US" dirty="0" smtClean="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Cache Mapping</a:t>
            </a:r>
            <a:endParaRPr lang="en-US" dirty="0"/>
          </a:p>
        </p:txBody>
      </p:sp>
      <p:sp>
        <p:nvSpPr>
          <p:cNvPr id="3" name="Content Placeholder 2"/>
          <p:cNvSpPr>
            <a:spLocks noGrp="1"/>
          </p:cNvSpPr>
          <p:nvPr>
            <p:ph sz="quarter" idx="1"/>
          </p:nvPr>
        </p:nvSpPr>
        <p:spPr/>
        <p:txBody>
          <a:bodyPr/>
          <a:lstStyle/>
          <a:p>
            <a:r>
              <a:rPr lang="en-US" dirty="0" smtClean="0"/>
              <a:t>Cache mapping refers to a technique using which the content present in the main memory is brought into the memory of the cache. </a:t>
            </a:r>
            <a:endParaRPr lang="en-US" dirty="0" smtClean="0"/>
          </a:p>
          <a:p>
            <a:r>
              <a:rPr lang="en-US" dirty="0" smtClean="0"/>
              <a:t>Three distinct types of mapping are used for cache memory mapping.</a:t>
            </a:r>
            <a:endParaRPr lang="en-US" dirty="0" smtClean="0"/>
          </a:p>
          <a:p>
            <a:endParaRPr lang="en-US" dirty="0" smtClean="0"/>
          </a:p>
          <a:p>
            <a:pPr marL="514350" indent="-514350" fontAlgn="base">
              <a:buFont typeface="+mj-lt"/>
              <a:buAutoNum type="arabicPeriod"/>
            </a:pPr>
            <a:r>
              <a:rPr lang="en-US" b="1" dirty="0" smtClean="0">
                <a:solidFill>
                  <a:srgbClr val="C00000"/>
                </a:solidFill>
              </a:rPr>
              <a:t>Direct Mapped Cache.</a:t>
            </a:r>
            <a:endParaRPr lang="en-US" b="1" dirty="0" smtClean="0">
              <a:solidFill>
                <a:srgbClr val="C00000"/>
              </a:solidFill>
            </a:endParaRPr>
          </a:p>
          <a:p>
            <a:pPr marL="514350" indent="-514350" fontAlgn="base">
              <a:buFont typeface="+mj-lt"/>
              <a:buAutoNum type="arabicPeriod"/>
            </a:pPr>
            <a:r>
              <a:rPr lang="en-US" b="1" dirty="0" smtClean="0">
                <a:solidFill>
                  <a:srgbClr val="C00000"/>
                </a:solidFill>
              </a:rPr>
              <a:t>Associative Mapping Technique.</a:t>
            </a:r>
            <a:endParaRPr lang="en-US" b="1" dirty="0" smtClean="0">
              <a:solidFill>
                <a:srgbClr val="C00000"/>
              </a:solidFill>
            </a:endParaRPr>
          </a:p>
          <a:p>
            <a:pPr marL="514350" indent="-514350" fontAlgn="base">
              <a:buFont typeface="+mj-lt"/>
              <a:buAutoNum type="arabicPeriod"/>
            </a:pPr>
            <a:r>
              <a:rPr lang="en-US" b="1" dirty="0" smtClean="0">
                <a:solidFill>
                  <a:srgbClr val="C00000"/>
                </a:solidFill>
              </a:rPr>
              <a:t>Set Associative Mapping Technique.</a:t>
            </a:r>
            <a:endParaRPr lang="en-US" b="1" dirty="0" smtClean="0">
              <a:solidFill>
                <a:srgbClr val="C00000"/>
              </a:solidFill>
            </a:endParaRPr>
          </a:p>
          <a:p>
            <a:endParaRPr lang="en-US" dirty="0" smtClean="0"/>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GUKT\Desktop\mapping.png"/>
          <p:cNvPicPr>
            <a:picLocks noGrp="1" noChangeAspect="1" noChangeArrowheads="1"/>
          </p:cNvPicPr>
          <p:nvPr>
            <p:ph sz="quarter" idx="4294967295"/>
          </p:nvPr>
        </p:nvPicPr>
        <p:blipFill>
          <a:blip r:embed="rId1"/>
          <a:srcRect/>
          <a:stretch>
            <a:fillRect/>
          </a:stretch>
        </p:blipFill>
        <p:spPr bwMode="auto">
          <a:xfrm>
            <a:off x="381000" y="609600"/>
            <a:ext cx="8229600" cy="55626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Direct Mapping</a:t>
            </a:r>
            <a:endParaRPr lang="en-US" dirty="0"/>
          </a:p>
        </p:txBody>
      </p:sp>
      <p:sp>
        <p:nvSpPr>
          <p:cNvPr id="3" name="Content Placeholder 2"/>
          <p:cNvSpPr>
            <a:spLocks noGrp="1"/>
          </p:cNvSpPr>
          <p:nvPr>
            <p:ph sz="quarter" idx="1"/>
          </p:nvPr>
        </p:nvSpPr>
        <p:spPr/>
        <p:txBody>
          <a:bodyPr/>
          <a:lstStyle/>
          <a:p>
            <a:r>
              <a:rPr lang="en-US" dirty="0" smtClean="0"/>
              <a:t>Direct mapping is a procedure used to assign each memory block in the main memory to a particular line in the cache. </a:t>
            </a:r>
            <a:endParaRPr lang="en-US" dirty="0" smtClean="0"/>
          </a:p>
          <a:p>
            <a:pPr>
              <a:buNone/>
            </a:pPr>
            <a:endParaRPr lang="en-US" dirty="0" smtClean="0"/>
          </a:p>
          <a:p>
            <a:r>
              <a:rPr lang="en-US" dirty="0" smtClean="0"/>
              <a:t>If a line is already filled with a memory block and a new block needs to be loaded, then the old block is discarded from the cache.</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Direct Mapping</a:t>
            </a:r>
            <a:endParaRPr lang="en-US" dirty="0"/>
          </a:p>
        </p:txBody>
      </p:sp>
      <p:pic>
        <p:nvPicPr>
          <p:cNvPr id="6" name="image5.jpeg"/>
          <p:cNvPicPr/>
          <p:nvPr/>
        </p:nvPicPr>
        <p:blipFill>
          <a:blip r:embed="rId1" cstate="print"/>
          <a:stretch>
            <a:fillRect/>
          </a:stretch>
        </p:blipFill>
        <p:spPr>
          <a:xfrm>
            <a:off x="914400" y="1828800"/>
            <a:ext cx="7239000" cy="3962400"/>
          </a:xfrm>
          <a:prstGeom prst="rect">
            <a:avLst/>
          </a:prstGeom>
        </p:spPr>
      </p:pic>
      <p:sp>
        <p:nvSpPr>
          <p:cNvPr id="7" name="Rectangle 6"/>
          <p:cNvSpPr/>
          <p:nvPr/>
        </p:nvSpPr>
        <p:spPr>
          <a:xfrm>
            <a:off x="3657600" y="1981201"/>
            <a:ext cx="4724400" cy="646331"/>
          </a:xfrm>
          <a:prstGeom prst="rect">
            <a:avLst/>
          </a:prstGeom>
        </p:spPr>
        <p:txBody>
          <a:bodyPr wrap="square">
            <a:spAutoFit/>
          </a:bodyPr>
          <a:lstStyle/>
          <a:p>
            <a:r>
              <a:rPr lang="en-US" b="1" dirty="0" smtClean="0">
                <a:solidFill>
                  <a:srgbClr val="FF0000"/>
                </a:solidFill>
              </a:rPr>
              <a:t>Fig. </a:t>
            </a:r>
            <a:r>
              <a:rPr lang="en-US" b="1" dirty="0" smtClean="0">
                <a:solidFill>
                  <a:srgbClr val="FF0000"/>
                </a:solidFill>
              </a:rPr>
              <a:t>Addressing relationship between Main and Cache Memory</a:t>
            </a:r>
            <a:endParaRPr lang="en-US" b="1"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Mapping</a:t>
            </a:r>
            <a:endParaRPr lang="en-US" dirty="0"/>
          </a:p>
        </p:txBody>
      </p:sp>
      <p:pic>
        <p:nvPicPr>
          <p:cNvPr id="3" name="image6.jpeg"/>
          <p:cNvPicPr/>
          <p:nvPr/>
        </p:nvPicPr>
        <p:blipFill>
          <a:blip r:embed="rId1" cstate="print"/>
          <a:stretch>
            <a:fillRect/>
          </a:stretch>
        </p:blipFill>
        <p:spPr>
          <a:xfrm>
            <a:off x="762000" y="1676400"/>
            <a:ext cx="7874820" cy="3886200"/>
          </a:xfrm>
          <a:prstGeom prst="rect">
            <a:avLst/>
          </a:prstGeom>
        </p:spPr>
      </p:pic>
      <p:sp>
        <p:nvSpPr>
          <p:cNvPr id="2049" name="Rectangle 1"/>
          <p:cNvSpPr>
            <a:spLocks noChangeArrowheads="1"/>
          </p:cNvSpPr>
          <p:nvPr/>
        </p:nvSpPr>
        <p:spPr bwMode="auto">
          <a:xfrm>
            <a:off x="3733800" y="1620797"/>
            <a:ext cx="3886200" cy="433965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endParaRPr lang="en-US" sz="1200" b="1" dirty="0" smtClean="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sz="12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Fig. Direct Mapping cache organization</a:t>
            </a: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3" name="Picture 2"/>
          <p:cNvPicPr>
            <a:picLocks noChangeAspect="1"/>
          </p:cNvPicPr>
          <p:nvPr/>
        </p:nvPicPr>
        <p:blipFill>
          <a:blip r:embed="rId1"/>
          <a:stretch>
            <a:fillRect/>
          </a:stretch>
        </p:blipFill>
        <p:spPr>
          <a:xfrm>
            <a:off x="184785" y="138430"/>
            <a:ext cx="8651240" cy="64884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Mapping</a:t>
            </a:r>
            <a:endParaRPr lang="en-US" dirty="0"/>
          </a:p>
        </p:txBody>
      </p:sp>
      <p:sp>
        <p:nvSpPr>
          <p:cNvPr id="3" name="Content Placeholder 2"/>
          <p:cNvSpPr>
            <a:spLocks noGrp="1"/>
          </p:cNvSpPr>
          <p:nvPr>
            <p:ph sz="quarter" idx="1"/>
          </p:nvPr>
        </p:nvSpPr>
        <p:spPr>
          <a:xfrm>
            <a:off x="301752" y="1527048"/>
            <a:ext cx="8503920" cy="4949952"/>
          </a:xfrm>
        </p:spPr>
        <p:txBody>
          <a:bodyPr>
            <a:normAutofit/>
          </a:bodyPr>
          <a:lstStyle/>
          <a:p>
            <a:r>
              <a:rPr lang="en-US" dirty="0" smtClean="0"/>
              <a:t>The CPU address of 15 bits is divided into two fields. The nine least significant bits constitute the index field and the remaining six bits form the tag field</a:t>
            </a:r>
            <a:r>
              <a:rPr lang="en-US" dirty="0" smtClean="0"/>
              <a:t>.</a:t>
            </a:r>
            <a:endParaRPr lang="en-US" dirty="0" smtClean="0"/>
          </a:p>
          <a:p>
            <a:endParaRPr lang="en-US" dirty="0" smtClean="0"/>
          </a:p>
          <a:p>
            <a:r>
              <a:rPr lang="en-US" dirty="0" smtClean="0"/>
              <a:t>The main memory needs an address that includes both the tag and the index bits</a:t>
            </a:r>
            <a:r>
              <a:rPr lang="en-US" dirty="0" smtClean="0"/>
              <a:t>.</a:t>
            </a:r>
            <a:endParaRPr lang="en-US" dirty="0" smtClean="0"/>
          </a:p>
          <a:p>
            <a:endParaRPr lang="en-US" dirty="0" smtClean="0"/>
          </a:p>
          <a:p>
            <a:r>
              <a:rPr lang="en-US" dirty="0" smtClean="0"/>
              <a:t>The number of bits in the index field is equal to the number of address bits required to access the cache memory.</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Mapping</a:t>
            </a:r>
            <a:endParaRPr lang="en-US" dirty="0"/>
          </a:p>
        </p:txBody>
      </p:sp>
      <p:sp>
        <p:nvSpPr>
          <p:cNvPr id="3" name="Content Placeholder 2"/>
          <p:cNvSpPr>
            <a:spLocks noGrp="1"/>
          </p:cNvSpPr>
          <p:nvPr>
            <p:ph sz="quarter" idx="1"/>
          </p:nvPr>
        </p:nvSpPr>
        <p:spPr>
          <a:xfrm>
            <a:off x="301752" y="1527048"/>
            <a:ext cx="8503920" cy="5178552"/>
          </a:xfrm>
        </p:spPr>
        <p:txBody>
          <a:bodyPr/>
          <a:lstStyle/>
          <a:p>
            <a:r>
              <a:rPr lang="en-US" dirty="0" smtClean="0"/>
              <a:t>The n-bit memory address is divided into two fields: k bits for the index field and n - k bits for the tag field. </a:t>
            </a:r>
            <a:endParaRPr lang="en-US" dirty="0" smtClean="0"/>
          </a:p>
          <a:p>
            <a:endParaRPr lang="en-US" dirty="0" smtClean="0"/>
          </a:p>
          <a:p>
            <a:r>
              <a:rPr lang="en-US" dirty="0" smtClean="0"/>
              <a:t>The </a:t>
            </a:r>
            <a:r>
              <a:rPr lang="en-US" dirty="0" smtClean="0"/>
              <a:t>direct mapping cache organization uses the n-bit address to access the main memory and the k-bit index to access the cache.</a:t>
            </a:r>
            <a:endParaRPr lang="en-US" dirty="0" smtClean="0"/>
          </a:p>
          <a:p>
            <a:endParaRPr lang="en-US" dirty="0" smtClean="0"/>
          </a:p>
          <a:p>
            <a:r>
              <a:rPr lang="en-US" dirty="0" smtClean="0"/>
              <a:t>It </a:t>
            </a:r>
            <a:r>
              <a:rPr lang="en-US" dirty="0" smtClean="0"/>
              <a:t>is easy to implement, but not </a:t>
            </a:r>
            <a:r>
              <a:rPr lang="en-US" dirty="0" smtClean="0"/>
              <a:t>Flexible.</a:t>
            </a:r>
            <a:endParaRPr lang="en-US" dirty="0" smtClean="0"/>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Associative Mapping </a:t>
            </a:r>
            <a:endParaRPr lang="en-US" dirty="0"/>
          </a:p>
        </p:txBody>
      </p:sp>
      <p:sp>
        <p:nvSpPr>
          <p:cNvPr id="3" name="Content Placeholder 2"/>
          <p:cNvSpPr>
            <a:spLocks noGrp="1"/>
          </p:cNvSpPr>
          <p:nvPr>
            <p:ph sz="quarter" idx="1"/>
          </p:nvPr>
        </p:nvSpPr>
        <p:spPr/>
        <p:txBody>
          <a:bodyPr>
            <a:normAutofit/>
          </a:bodyPr>
          <a:lstStyle/>
          <a:p>
            <a:r>
              <a:rPr lang="en-US" dirty="0" smtClean="0"/>
              <a:t>In this type of mapping, the associative memory is used to store content and addresses of the memory word</a:t>
            </a:r>
            <a:r>
              <a:rPr lang="en-US" dirty="0" smtClean="0"/>
              <a:t>.</a:t>
            </a:r>
            <a:endParaRPr lang="en-US" dirty="0" smtClean="0"/>
          </a:p>
          <a:p>
            <a:endParaRPr lang="en-US" dirty="0" smtClean="0"/>
          </a:p>
          <a:p>
            <a:r>
              <a:rPr lang="en-US" dirty="0" smtClean="0"/>
              <a:t> </a:t>
            </a:r>
            <a:r>
              <a:rPr lang="en-US" dirty="0" smtClean="0"/>
              <a:t>The fastest and most flexible cache organization uses an associative memory</a:t>
            </a:r>
            <a:r>
              <a:rPr lang="en-US" dirty="0" smtClean="0"/>
              <a:t>.</a:t>
            </a:r>
            <a:endParaRPr lang="en-US" dirty="0" smtClean="0"/>
          </a:p>
          <a:p>
            <a:endParaRPr lang="en-US" dirty="0" smtClean="0"/>
          </a:p>
          <a:p>
            <a:r>
              <a:rPr lang="en-US" dirty="0" smtClean="0"/>
              <a:t>The associative memory stores both the address and content (data) of the memory word</a:t>
            </a:r>
            <a:r>
              <a:rPr lang="en-US" dirty="0" smtClean="0"/>
              <a:t>.</a:t>
            </a:r>
            <a:endParaRPr lang="en-US"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smtClean="0"/>
              <a:t>Associative Mapping:</a:t>
            </a:r>
            <a:endParaRPr lang="en-US" dirty="0"/>
          </a:p>
        </p:txBody>
      </p:sp>
      <p:pic>
        <p:nvPicPr>
          <p:cNvPr id="4" name="image4.png"/>
          <p:cNvPicPr>
            <a:picLocks noGrp="1"/>
          </p:cNvPicPr>
          <p:nvPr>
            <p:ph sz="quarter" idx="4294967295"/>
          </p:nvPr>
        </p:nvPicPr>
        <p:blipFill>
          <a:blip r:embed="rId1" cstate="print"/>
          <a:stretch>
            <a:fillRect/>
          </a:stretch>
        </p:blipFill>
        <p:spPr>
          <a:xfrm>
            <a:off x="1828800" y="1752600"/>
            <a:ext cx="5943600" cy="3743325"/>
          </a:xfrm>
          <a:prstGeom prst="rect">
            <a:avLst/>
          </a:prstGeom>
        </p:spPr>
      </p:pic>
      <p:sp>
        <p:nvSpPr>
          <p:cNvPr id="6" name="Rectangle 5"/>
          <p:cNvSpPr/>
          <p:nvPr/>
        </p:nvSpPr>
        <p:spPr>
          <a:xfrm>
            <a:off x="2395763" y="3244334"/>
            <a:ext cx="4352474" cy="2862322"/>
          </a:xfrm>
          <a:prstGeom prst="rect">
            <a:avLst/>
          </a:prstGeom>
        </p:spPr>
        <p:txBody>
          <a:bodyPr wrap="square">
            <a:spAutoFit/>
          </a:bodyPr>
          <a:lstStyle/>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r>
              <a:rPr lang="en-US" b="1" dirty="0" smtClean="0"/>
              <a:t>Fig. </a:t>
            </a:r>
            <a:r>
              <a:rPr lang="en-US" b="1" dirty="0" smtClean="0"/>
              <a:t>Associative Mapping Cache</a:t>
            </a:r>
            <a:endParaRPr lang="en-US"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Associative Mapping:</a:t>
            </a:r>
            <a:endParaRPr lang="en-US" dirty="0"/>
          </a:p>
        </p:txBody>
      </p:sp>
      <p:sp>
        <p:nvSpPr>
          <p:cNvPr id="3" name="Content Placeholder 2"/>
          <p:cNvSpPr>
            <a:spLocks noGrp="1"/>
          </p:cNvSpPr>
          <p:nvPr>
            <p:ph sz="quarter" idx="1"/>
          </p:nvPr>
        </p:nvSpPr>
        <p:spPr>
          <a:xfrm>
            <a:off x="301752" y="1527048"/>
            <a:ext cx="8503920" cy="4873752"/>
          </a:xfrm>
        </p:spPr>
        <p:txBody>
          <a:bodyPr>
            <a:normAutofit lnSpcReduction="10000"/>
          </a:bodyPr>
          <a:lstStyle/>
          <a:p>
            <a:r>
              <a:rPr lang="en-US" dirty="0" smtClean="0"/>
              <a:t>This is more flexible mapping method, in which main memory block can be placed into any cache block position</a:t>
            </a:r>
            <a:r>
              <a:rPr lang="en-US" dirty="0" smtClean="0"/>
              <a:t>. </a:t>
            </a:r>
            <a:endParaRPr lang="en-US" dirty="0" smtClean="0"/>
          </a:p>
          <a:p>
            <a:endParaRPr lang="en-US" dirty="0" smtClean="0"/>
          </a:p>
          <a:p>
            <a:r>
              <a:rPr lang="en-US" dirty="0" smtClean="0"/>
              <a:t>The </a:t>
            </a:r>
            <a:r>
              <a:rPr lang="en-US" dirty="0" smtClean="0"/>
              <a:t>address value of 15 bits is shown as a five-digit octal number and its corresponding 12 -bit word is shown as a four-digit octal number. </a:t>
            </a:r>
            <a:endParaRPr lang="en-US" dirty="0" smtClean="0"/>
          </a:p>
          <a:p>
            <a:endParaRPr lang="en-US" dirty="0" smtClean="0"/>
          </a:p>
          <a:p>
            <a:r>
              <a:rPr lang="en-US" dirty="0" smtClean="0"/>
              <a:t>A </a:t>
            </a:r>
            <a:r>
              <a:rPr lang="en-US" dirty="0" smtClean="0"/>
              <a:t>CPU address of 15 bits is placed in the argument register and the associative memory is searched for a matching address.</a:t>
            </a:r>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Associative Mapping:</a:t>
            </a:r>
            <a:endParaRPr lang="en-US" dirty="0"/>
          </a:p>
        </p:txBody>
      </p:sp>
      <p:sp>
        <p:nvSpPr>
          <p:cNvPr id="3" name="Content Placeholder 2"/>
          <p:cNvSpPr>
            <a:spLocks noGrp="1"/>
          </p:cNvSpPr>
          <p:nvPr>
            <p:ph sz="quarter" idx="1"/>
          </p:nvPr>
        </p:nvSpPr>
        <p:spPr>
          <a:xfrm>
            <a:off x="301752" y="1527048"/>
            <a:ext cx="8503920" cy="4949952"/>
          </a:xfrm>
        </p:spPr>
        <p:txBody>
          <a:bodyPr>
            <a:normAutofit lnSpcReduction="10000"/>
          </a:bodyPr>
          <a:lstStyle/>
          <a:p>
            <a:r>
              <a:rPr lang="en-US" dirty="0" smtClean="0"/>
              <a:t>If the address is found, the corresponding 12-bit data is read and sent to the CPU.</a:t>
            </a:r>
            <a:endParaRPr lang="en-US" dirty="0" smtClean="0"/>
          </a:p>
          <a:p>
            <a:r>
              <a:rPr lang="en-US" dirty="0" smtClean="0"/>
              <a:t>If no match occurs, the main memory is accessed for the word.</a:t>
            </a:r>
            <a:endParaRPr lang="en-US" dirty="0" smtClean="0"/>
          </a:p>
          <a:p>
            <a:endParaRPr lang="en-US" dirty="0" smtClean="0"/>
          </a:p>
          <a:p>
            <a:r>
              <a:rPr lang="en-US" dirty="0" smtClean="0"/>
              <a:t>In </a:t>
            </a:r>
            <a:r>
              <a:rPr lang="en-US" dirty="0" smtClean="0"/>
              <a:t>this, 12 tag bits are required to identify a memory block when it is resident in the cache.</a:t>
            </a:r>
            <a:endParaRPr lang="en-US" dirty="0" smtClean="0"/>
          </a:p>
          <a:p>
            <a:endParaRPr lang="en-US" dirty="0" smtClean="0"/>
          </a:p>
          <a:p>
            <a:r>
              <a:rPr lang="en-US" dirty="0" smtClean="0"/>
              <a:t>The tag bits of an address </a:t>
            </a:r>
            <a:r>
              <a:rPr lang="en-US" dirty="0" err="1" smtClean="0"/>
              <a:t>recevied</a:t>
            </a:r>
            <a:r>
              <a:rPr lang="en-US" dirty="0" smtClean="0"/>
              <a:t> from the processor are compared to the tag bits of each block of the cache to see, if the desired block is present. </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Associative Mapping:</a:t>
            </a:r>
            <a:endParaRPr lang="en-US" dirty="0"/>
          </a:p>
        </p:txBody>
      </p:sp>
      <p:pic>
        <p:nvPicPr>
          <p:cNvPr id="4" name="Content Placeholder 3"/>
          <p:cNvPicPr>
            <a:picLocks noChangeAspect="1"/>
          </p:cNvPicPr>
          <p:nvPr>
            <p:ph sz="quarter" idx="1"/>
          </p:nvPr>
        </p:nvPicPr>
        <p:blipFill>
          <a:blip r:embed="rId1"/>
          <a:stretch>
            <a:fillRect/>
          </a:stretch>
        </p:blipFill>
        <p:spPr>
          <a:xfrm>
            <a:off x="617220" y="1716405"/>
            <a:ext cx="7744460" cy="458343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Set-Associated Mapping:</a:t>
            </a: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smtClean="0"/>
              <a:t>It is the combination of direct and associative mapping technique.</a:t>
            </a:r>
            <a:endParaRPr lang="en-US" dirty="0" smtClean="0"/>
          </a:p>
          <a:p>
            <a:endParaRPr lang="en-US" dirty="0" smtClean="0"/>
          </a:p>
          <a:p>
            <a:r>
              <a:rPr lang="en-US" dirty="0" smtClean="0"/>
              <a:t>A third type of cache organization, called set-associative mapping, is an improvement over the direct mapping organization in that each word of cache can store two or more words of memory under the same index address. </a:t>
            </a:r>
            <a:endParaRPr lang="en-US" dirty="0" smtClean="0"/>
          </a:p>
          <a:p>
            <a:endParaRPr lang="en-US" dirty="0" smtClean="0"/>
          </a:p>
          <a:p>
            <a:r>
              <a:rPr lang="en-US" dirty="0" smtClean="0"/>
              <a:t>Each </a:t>
            </a:r>
            <a:r>
              <a:rPr lang="en-US" dirty="0" smtClean="0"/>
              <a:t>data word is stored together with its tag and the number of tag-data items in one word of cache is said to form a set.</a:t>
            </a:r>
            <a:endParaRPr lang="en-US" dirty="0" smtClean="0"/>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Set-Associated Mapping:</a:t>
            </a:r>
            <a:endParaRPr lang="en-US" dirty="0"/>
          </a:p>
        </p:txBody>
      </p:sp>
      <p:sp>
        <p:nvSpPr>
          <p:cNvPr id="3" name="Content Placeholder 2"/>
          <p:cNvSpPr>
            <a:spLocks noGrp="1"/>
          </p:cNvSpPr>
          <p:nvPr>
            <p:ph sz="quarter" idx="1"/>
          </p:nvPr>
        </p:nvSpPr>
        <p:spPr>
          <a:xfrm>
            <a:off x="301752" y="1527048"/>
            <a:ext cx="8503920" cy="5102352"/>
          </a:xfrm>
        </p:spPr>
        <p:txBody>
          <a:bodyPr>
            <a:normAutofit/>
          </a:bodyPr>
          <a:lstStyle/>
          <a:p>
            <a:r>
              <a:rPr lang="en-US" dirty="0" smtClean="0"/>
              <a:t>. In general, a set-associative cache of set size k will accommodate k words of main memory in each word of cache</a:t>
            </a:r>
            <a:r>
              <a:rPr lang="en-US" dirty="0" smtClean="0"/>
              <a:t>.</a:t>
            </a:r>
            <a:endParaRPr lang="en-US" dirty="0" smtClean="0"/>
          </a:p>
          <a:p>
            <a:endParaRPr lang="en-US" dirty="0" smtClean="0"/>
          </a:p>
          <a:p>
            <a:r>
              <a:rPr lang="en-US" dirty="0" smtClean="0"/>
              <a:t>When the CPU generates a memory request, the index value of the address is used to access the cache. </a:t>
            </a:r>
            <a:endParaRPr lang="en-US" dirty="0" smtClean="0"/>
          </a:p>
          <a:p>
            <a:endParaRPr lang="en-US" dirty="0" smtClean="0"/>
          </a:p>
          <a:p>
            <a:r>
              <a:rPr lang="en-US" dirty="0" smtClean="0"/>
              <a:t>The </a:t>
            </a:r>
            <a:r>
              <a:rPr lang="en-US" dirty="0" smtClean="0"/>
              <a:t>tag field of the CPU address is then compared with both tags in the cache to determine if a match occurs.</a:t>
            </a:r>
            <a:endParaRPr lang="en-US" dirty="0" smtClean="0"/>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Set-Associated Mapping:</a:t>
            </a:r>
            <a:endParaRPr lang="en-US" dirty="0"/>
          </a:p>
        </p:txBody>
      </p:sp>
      <p:pic>
        <p:nvPicPr>
          <p:cNvPr id="6" name="Content Placeholder 5"/>
          <p:cNvPicPr>
            <a:picLocks noChangeAspect="1"/>
          </p:cNvPicPr>
          <p:nvPr>
            <p:ph sz="quarter" idx="1"/>
          </p:nvPr>
        </p:nvPicPr>
        <p:blipFill>
          <a:blip r:embed="rId1"/>
          <a:stretch>
            <a:fillRect/>
          </a:stretch>
        </p:blipFill>
        <p:spPr>
          <a:xfrm>
            <a:off x="775335" y="1614170"/>
            <a:ext cx="7967345" cy="469646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u Chanti\Desktop\Thank you.jpg"/>
          <p:cNvPicPr>
            <a:picLocks noChangeAspect="1" noChangeArrowheads="1"/>
          </p:cNvPicPr>
          <p:nvPr/>
        </p:nvPicPr>
        <p:blipFill>
          <a:blip r:embed="rId1" cstate="print"/>
          <a:srcRect/>
          <a:stretch>
            <a:fillRect/>
          </a:stretch>
        </p:blipFill>
        <p:spPr bwMode="auto">
          <a:xfrm>
            <a:off x="533400" y="381000"/>
            <a:ext cx="8305800" cy="58674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0</TotalTime>
  <Words>7173</Words>
  <Application>WPS Presentation</Application>
  <PresentationFormat>On-screen Show (4:3)</PresentationFormat>
  <Paragraphs>227</Paragraphs>
  <Slides>31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Arial</vt:lpstr>
      <vt:lpstr>SimSun</vt:lpstr>
      <vt:lpstr>Wingdings</vt:lpstr>
      <vt:lpstr>Wingdings 2</vt:lpstr>
      <vt:lpstr>Wingdings</vt:lpstr>
      <vt:lpstr>Georgia</vt:lpstr>
      <vt:lpstr>Microsoft YaHei</vt:lpstr>
      <vt:lpstr>Arial Unicode MS</vt:lpstr>
      <vt:lpstr>Calibri</vt:lpstr>
      <vt:lpstr>Times New Roman</vt:lpstr>
      <vt:lpstr>Civic</vt:lpstr>
      <vt:lpstr>Cache Memory</vt:lpstr>
      <vt:lpstr>Cache Memory</vt:lpstr>
      <vt:lpstr>Cache Memory</vt:lpstr>
      <vt:lpstr>Cache Memory</vt:lpstr>
      <vt:lpstr>Cache Performance</vt:lpstr>
      <vt:lpstr>Cache Performance</vt:lpstr>
      <vt:lpstr>Types of Cache Memory:</vt:lpstr>
      <vt:lpstr>Types of Cache Memory:</vt:lpstr>
      <vt:lpstr>Types of Cache Memory:</vt:lpstr>
      <vt:lpstr>Locality of reference</vt:lpstr>
      <vt:lpstr>Spatial Locality of reference</vt:lpstr>
      <vt:lpstr>Temporal Locality of reference</vt:lpstr>
      <vt:lpstr>What is Cache Mapping?</vt:lpstr>
      <vt:lpstr>Cache Mapping</vt:lpstr>
      <vt:lpstr>Cache Mapping</vt:lpstr>
      <vt:lpstr>PowerPoint 演示文稿</vt:lpstr>
      <vt:lpstr>Direct Mapping</vt:lpstr>
      <vt:lpstr>Direct Mapping</vt:lpstr>
      <vt:lpstr>Direct Mapping</vt:lpstr>
      <vt:lpstr>PowerPoint 演示文稿</vt:lpstr>
      <vt:lpstr>Direct Mapping</vt:lpstr>
      <vt:lpstr>Direct Mapping</vt:lpstr>
      <vt:lpstr>Associative Mapping </vt:lpstr>
      <vt:lpstr>Associative Mapping:</vt:lpstr>
      <vt:lpstr> Associative Mapping:</vt:lpstr>
      <vt:lpstr>Associative Mapping:</vt:lpstr>
      <vt:lpstr>Associative Mapping:</vt:lpstr>
      <vt:lpstr>Set-Associated Mapping:</vt:lpstr>
      <vt:lpstr>Set-Associated Mapping:</vt:lpstr>
      <vt:lpstr>Set-Associated Mapping:</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Memory</dc:title>
  <dc:creator>RGUKT</dc:creator>
  <cp:lastModifiedBy>Medisetty Anusha (Anu)</cp:lastModifiedBy>
  <cp:revision>58</cp:revision>
  <dcterms:created xsi:type="dcterms:W3CDTF">2006-08-16T00:00:00Z</dcterms:created>
  <dcterms:modified xsi:type="dcterms:W3CDTF">2025-02-19T04:56:03Z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78CA7A9A10F242E6A1512E43249FD983_12</vt:lpwstr>
  </property>
  <property fmtid="{D5CDD505-2E9C-101B-9397-08002B2CF9AE}" pid="3" name="KSOProductBuildVer">
    <vt:lpwstr>1033-12.2.0.19805</vt:lpwstr>
  </property>
</Properties>
</file>