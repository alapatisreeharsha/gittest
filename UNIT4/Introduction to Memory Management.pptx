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6858000" cx="9144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11/21/2022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11/21/2022</a:t>
            </a:fld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11/21/2022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Memory Management in OS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267200"/>
            <a:ext cx="8382000" cy="1385338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en-US" dirty="0">
                <a:latin typeface="Algerian" pitchFamily="82" charset="0"/>
                <a:cs typeface="Aharoni" pitchFamily="2" charset="-79"/>
              </a:rPr>
              <a:t>By</a:t>
            </a:r>
          </a:p>
          <a:p>
            <a:pPr algn="ctr"/>
            <a:r>
              <a:rPr lang="en-US" dirty="0">
                <a:latin typeface="Algerian" pitchFamily="82" charset="0"/>
                <a:cs typeface="Aharoni" pitchFamily="2" charset="-79"/>
              </a:rPr>
              <a:t>M. BABY ANUSHA,</a:t>
            </a:r>
          </a:p>
          <a:p>
            <a:pPr algn="ctr"/>
            <a:r>
              <a:rPr lang="en-US" dirty="0">
                <a:latin typeface="Algerian" pitchFamily="82" charset="0"/>
                <a:cs typeface="Aharoni" pitchFamily="2" charset="-79"/>
              </a:rPr>
              <a:t>ASST.PROF IN CSE DEPT.,</a:t>
            </a:r>
          </a:p>
          <a:p>
            <a:pPr algn="ctr"/>
            <a:r>
              <a:rPr lang="en-US" dirty="0">
                <a:latin typeface="Algerian" pitchFamily="82" charset="0"/>
                <a:cs typeface="Aharoni" pitchFamily="2" charset="-79"/>
              </a:rPr>
              <a:t>RGUKT,NUZVID</a:t>
            </a:r>
            <a:endParaRPr lang="en-US" dirty="0"/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Memory is the important part of the computer that is used to store the data. Its management is critical to the computer system because </a:t>
            </a:r>
            <a:r>
              <a:rPr lang="en-US" dirty="0">
                <a:solidFill>
                  <a:srgbClr val="00B050"/>
                </a:solidFill>
              </a:rPr>
              <a:t>the amount of main memory available in a computer system is very limited. </a:t>
            </a:r>
            <a:r>
              <a:rPr lang="en-US" dirty="0"/>
              <a:t>At any time, many processes are competing for it. </a:t>
            </a:r>
          </a:p>
          <a:p>
            <a:r>
              <a:rPr lang="en-US" dirty="0"/>
              <a:t>Moreover, </a:t>
            </a:r>
            <a:r>
              <a:rPr lang="en-US" dirty="0">
                <a:solidFill>
                  <a:srgbClr val="00B050"/>
                </a:solidFill>
              </a:rPr>
              <a:t>to increase performance, several processes are executed simultaneously</a:t>
            </a:r>
            <a:r>
              <a:rPr lang="en-US" dirty="0"/>
              <a:t>. For this, we must keep several processes in the main memory, so it is even more important to manage them effectively.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management is the functionality of an operating system </a:t>
            </a:r>
            <a:r>
              <a:rPr lang="en-US" dirty="0">
                <a:solidFill>
                  <a:srgbClr val="00B050"/>
                </a:solidFill>
              </a:rPr>
              <a:t>which handles or manages primary memory and moves processes back and forth between main memory and disk </a:t>
            </a:r>
            <a:r>
              <a:rPr lang="en-US" dirty="0"/>
              <a:t>during execution. </a:t>
            </a:r>
          </a:p>
          <a:p>
            <a:r>
              <a:rPr lang="en-US" dirty="0"/>
              <a:t>Memory management keeps track of each and every memory location, regardless of either it is allocated to some process or it is free.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Also, it checks </a:t>
            </a:r>
            <a:r>
              <a:rPr lang="en-US" b="1" dirty="0">
                <a:solidFill>
                  <a:srgbClr val="00B050"/>
                </a:solidFill>
              </a:rPr>
              <a:t>how much memory is to be allocated to processes</a:t>
            </a:r>
            <a:r>
              <a:rPr lang="en-US" dirty="0"/>
              <a:t>. It decides which process will get memory at what time. </a:t>
            </a:r>
          </a:p>
          <a:p>
            <a:r>
              <a:rPr lang="en-US" dirty="0"/>
              <a:t>It tracks </a:t>
            </a:r>
            <a:r>
              <a:rPr lang="en-US" b="1" dirty="0">
                <a:solidFill>
                  <a:srgbClr val="00B050"/>
                </a:solidFill>
              </a:rPr>
              <a:t>whenever some memory gets freed or unallocated </a:t>
            </a:r>
            <a:r>
              <a:rPr lang="en-US" dirty="0"/>
              <a:t>and correspondingly it </a:t>
            </a:r>
            <a:r>
              <a:rPr lang="en-US" dirty="0">
                <a:solidFill>
                  <a:srgbClr val="00B050"/>
                </a:solidFill>
              </a:rPr>
              <a:t>updates the status.</a:t>
            </a:r>
          </a:p>
          <a:p>
            <a:r>
              <a:rPr lang="en-US" dirty="0"/>
              <a:t>To achieve a </a:t>
            </a:r>
            <a:r>
              <a:rPr lang="en-US" b="1" dirty="0">
                <a:solidFill>
                  <a:srgbClr val="00B050"/>
                </a:solidFill>
              </a:rPr>
              <a:t>degree of multiprogramming </a:t>
            </a:r>
            <a:r>
              <a:rPr lang="en-US" dirty="0"/>
              <a:t>and proper utilization of memory, </a:t>
            </a:r>
            <a:r>
              <a:rPr lang="en-US" b="1" dirty="0">
                <a:solidFill>
                  <a:srgbClr val="00B050"/>
                </a:solidFill>
              </a:rPr>
              <a:t>memory management is important.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emory Management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066800"/>
            <a:ext cx="8458200" cy="5181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685800"/>
            <a:ext cx="8763000" cy="1524000"/>
          </a:xfrm>
        </p:spPr>
        <p:txBody>
          <a:bodyPr>
            <a:normAutofit/>
          </a:bodyPr>
          <a:lstStyle/>
          <a:p>
            <a:r>
              <a:rPr lang="en-US" b="1" dirty="0"/>
              <a:t>Need for Memory Management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49424"/>
            <a:ext cx="8229600" cy="437997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Memory management technique is needed for the following reasons:</a:t>
            </a:r>
          </a:p>
          <a:p>
            <a:pPr fontAlgn="base"/>
            <a:r>
              <a:rPr lang="en-US" b="1" dirty="0">
                <a:solidFill>
                  <a:srgbClr val="00B050"/>
                </a:solidFill>
              </a:rPr>
              <a:t>Allocate and de-allocate memory </a:t>
            </a:r>
            <a:r>
              <a:rPr lang="en-US" dirty="0"/>
              <a:t>before and after process execution.</a:t>
            </a:r>
          </a:p>
          <a:p>
            <a:pPr fontAlgn="base"/>
            <a:r>
              <a:rPr lang="en-US" b="1" dirty="0">
                <a:solidFill>
                  <a:srgbClr val="00B050"/>
                </a:solidFill>
              </a:rPr>
              <a:t>To keep track of used memory </a:t>
            </a:r>
            <a:r>
              <a:rPr lang="en-US" dirty="0"/>
              <a:t>space by processes.</a:t>
            </a:r>
          </a:p>
          <a:p>
            <a:r>
              <a:rPr lang="en-US" dirty="0"/>
              <a:t>It helps to protect different processes from each other so that they </a:t>
            </a:r>
            <a:r>
              <a:rPr lang="en-US" b="1" dirty="0">
                <a:solidFill>
                  <a:srgbClr val="00B050"/>
                </a:solidFill>
              </a:rPr>
              <a:t>do not interfere with each other's operations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382000" cy="1447800"/>
          </a:xfrm>
        </p:spPr>
        <p:txBody>
          <a:bodyPr>
            <a:normAutofit/>
          </a:bodyPr>
          <a:lstStyle/>
          <a:p>
            <a:r>
              <a:rPr lang="en-US" b="1" dirty="0"/>
              <a:t>Need for Memory Management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helps to </a:t>
            </a:r>
            <a:r>
              <a:rPr lang="en-US" b="1" dirty="0">
                <a:solidFill>
                  <a:srgbClr val="00B050"/>
                </a:solidFill>
              </a:rPr>
              <a:t>allocate space to different application routines.</a:t>
            </a:r>
          </a:p>
          <a:p>
            <a:pPr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r>
              <a:rPr lang="en-US" dirty="0"/>
              <a:t>It allows you to check how much memory needs to be allocated to processes that decide which processor should get memory at what time.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It keeps the </a:t>
            </a:r>
            <a:r>
              <a:rPr lang="en-US" b="1" dirty="0">
                <a:solidFill>
                  <a:srgbClr val="00B050"/>
                </a:solidFill>
              </a:rPr>
              <a:t>track of each memory location </a:t>
            </a:r>
            <a:r>
              <a:rPr lang="en-US" dirty="0"/>
              <a:t>whether it is free or allocated.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668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Methods Involved in Memory Management 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Memory Management can be done intelligently by the Operating System:</a:t>
            </a:r>
          </a:p>
          <a:p>
            <a:r>
              <a:rPr lang="en-US" dirty="0"/>
              <a:t>The Memory management Techniques can be classified into following main categories:</a:t>
            </a:r>
          </a:p>
          <a:p>
            <a:pPr marL="624078" indent="-514350"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Contiguous memory management schemes</a:t>
            </a:r>
          </a:p>
          <a:p>
            <a:pPr marL="624078" indent="-514350"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Non-Contiguous memory management schemes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emory Management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685800"/>
            <a:ext cx="7772400" cy="5562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76400"/>
            <a:ext cx="8229600" cy="3581400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002060"/>
                </a:solidFill>
              </a:rPr>
              <a:t>Contiguous Memory Allocation in Operating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Single contiguous memory management schemes:</a:t>
            </a:r>
            <a:br>
              <a:rPr lang="en-US" b="1" dirty="0">
                <a:solidFill>
                  <a:srgbClr val="C0000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Single contiguous memory management scheme is the simplest memory management scheme used in the earliest generation of computer systems. </a:t>
            </a:r>
          </a:p>
          <a:p>
            <a:r>
              <a:rPr lang="en-US" dirty="0"/>
              <a:t>In this scheme, the </a:t>
            </a:r>
            <a:r>
              <a:rPr lang="en-US" b="1" dirty="0">
                <a:solidFill>
                  <a:srgbClr val="00B050"/>
                </a:solidFill>
              </a:rPr>
              <a:t>main memory is divided into two contiguous areas or partitions.</a:t>
            </a:r>
          </a:p>
          <a:p>
            <a:r>
              <a:rPr lang="en-US" dirty="0"/>
              <a:t> The operating systems reside permanently in one partition, generally at the lower memory, and the user process is loaded into the other partition.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Advantages of Single contiguous memory management schemes:</a:t>
            </a:r>
            <a:br>
              <a:rPr lang="en-US" dirty="0">
                <a:solidFill>
                  <a:srgbClr val="C0000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to implement.</a:t>
            </a:r>
          </a:p>
          <a:p>
            <a:r>
              <a:rPr lang="en-US" dirty="0"/>
              <a:t>Easy to manage and design.</a:t>
            </a:r>
          </a:p>
          <a:p>
            <a:r>
              <a:rPr lang="en-US" dirty="0"/>
              <a:t>In a Single contiguous memory management scheme, once a process is loaded, it is given full processor's time, and no other processor will interrupt it.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Disadvantages of Single contiguous memory management schemes:</a:t>
            </a:r>
            <a:br>
              <a:rPr lang="en-US" b="1" dirty="0">
                <a:solidFill>
                  <a:srgbClr val="C00000"/>
                </a:solidFill>
              </a:rPr>
            </a:b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Wastage of memory space due to unused memory as the process is unlikely to use all the available memory space.</a:t>
            </a:r>
          </a:p>
          <a:p>
            <a:r>
              <a:rPr lang="en-US" dirty="0"/>
              <a:t>The CPU remains idle, waiting for the disk to load process into the main memory.</a:t>
            </a:r>
          </a:p>
          <a:p>
            <a:r>
              <a:rPr lang="en-US" dirty="0"/>
              <a:t>It can not be executed if the program is too large to fit the entire available main memory space.</a:t>
            </a:r>
          </a:p>
          <a:p>
            <a:r>
              <a:rPr lang="en-US" dirty="0"/>
              <a:t>It does not support multiprogramming, i.e., it cannot handle multiple programs simultaneously.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Multiple Partitioning: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single Contiguous memory management scheme is inefficient as it </a:t>
            </a:r>
            <a:r>
              <a:rPr lang="en-US" b="1" dirty="0">
                <a:solidFill>
                  <a:srgbClr val="00B050"/>
                </a:solidFill>
              </a:rPr>
              <a:t>limits computers to execute only one program at a time </a:t>
            </a:r>
            <a:r>
              <a:rPr lang="en-US" dirty="0"/>
              <a:t>resulting in wastage in memory space and CPU time. 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The problem of inefficient CPU use can be overcome using multiprogramming that allows more than one program to run concurrently.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Multiple Partitioning: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switch between two processes, the operating systems need to load both processes into the main memory. 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The operating system needs to </a:t>
            </a:r>
            <a:r>
              <a:rPr lang="en-US" b="1" dirty="0">
                <a:solidFill>
                  <a:srgbClr val="00B050"/>
                </a:solidFill>
              </a:rPr>
              <a:t>divide the available main memory into multiple parts to load multiple processes into the main memory. </a:t>
            </a:r>
            <a:r>
              <a:rPr lang="en-US" dirty="0"/>
              <a:t>Thus multiple processes can reside in the main memory simultaneously.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Multiple Partitioning: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>
                <a:solidFill>
                  <a:srgbClr val="00B050"/>
                </a:solidFill>
              </a:rPr>
              <a:t>The multiple partitioning schemes can be of two types:</a:t>
            </a:r>
          </a:p>
          <a:p>
            <a:pPr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Fixed Partitioning</a:t>
            </a:r>
          </a:p>
          <a:p>
            <a:r>
              <a:rPr lang="en-US" b="1" dirty="0">
                <a:solidFill>
                  <a:srgbClr val="0070C0"/>
                </a:solidFill>
              </a:rPr>
              <a:t>Dynamic Partitioning</a:t>
            </a:r>
          </a:p>
          <a:p>
            <a:pPr>
              <a:buNone/>
            </a:pP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4" name="Picture 3" descr="https://s3.ap-south-1.amazonaws.com/s3.studytonight.com/tutorials/uploads/pictures/1608112570-71449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10200" y="3048000"/>
            <a:ext cx="32766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Fixed Partitioning :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main memory is divided into several </a:t>
            </a:r>
            <a:r>
              <a:rPr lang="en-US" b="1" dirty="0">
                <a:solidFill>
                  <a:srgbClr val="00B050"/>
                </a:solidFill>
              </a:rPr>
              <a:t>fixed-sized partitions</a:t>
            </a:r>
            <a:r>
              <a:rPr lang="en-US" dirty="0"/>
              <a:t> in a fixed partition memory management scheme or </a:t>
            </a:r>
            <a:r>
              <a:rPr lang="en-US" b="1" dirty="0">
                <a:solidFill>
                  <a:srgbClr val="00B050"/>
                </a:solidFill>
              </a:rPr>
              <a:t>static partitioning. </a:t>
            </a:r>
          </a:p>
          <a:p>
            <a:pPr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r>
              <a:rPr lang="en-US" dirty="0"/>
              <a:t>These partitions can be of the same size or different sizes. </a:t>
            </a:r>
            <a:r>
              <a:rPr lang="en-US" b="1" dirty="0">
                <a:solidFill>
                  <a:srgbClr val="00B050"/>
                </a:solidFill>
              </a:rPr>
              <a:t>Each partition can hold a single process.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Fixed Partitioning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number of partitions determines </a:t>
            </a:r>
            <a:r>
              <a:rPr lang="en-US" b="1" dirty="0">
                <a:solidFill>
                  <a:srgbClr val="00B050"/>
                </a:solidFill>
              </a:rPr>
              <a:t>the degree of multiprogramming</a:t>
            </a:r>
            <a:r>
              <a:rPr lang="en-US" dirty="0"/>
              <a:t>, i.e., the maximum number of processes in memory. 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These partitions are made at the </a:t>
            </a:r>
            <a:r>
              <a:rPr lang="en-US" b="1" dirty="0">
                <a:solidFill>
                  <a:srgbClr val="00B050"/>
                </a:solidFill>
              </a:rPr>
              <a:t>time of system generation and remain fixed after that.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Fixed Partitioning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b="1" dirty="0">
                <a:solidFill>
                  <a:srgbClr val="0070C0"/>
                </a:solidFill>
              </a:rPr>
              <a:t>Advantages of Fixed Partitioning memory management schemes: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/>
              <a:t>Simple to implement.</a:t>
            </a:r>
          </a:p>
          <a:p>
            <a:r>
              <a:rPr lang="en-US" dirty="0"/>
              <a:t>Easy to manage and design.</a:t>
            </a:r>
          </a:p>
          <a:p>
            <a:pPr>
              <a:buNone/>
            </a:pPr>
            <a:endParaRPr lang="en-US" b="1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0070C0"/>
                </a:solidFill>
              </a:rPr>
              <a:t>Disadvantages of Fixed Partitioning memory management schemes:</a:t>
            </a:r>
          </a:p>
          <a:p>
            <a:r>
              <a:rPr lang="en-US" dirty="0"/>
              <a:t>This scheme suffers from internal fragmentation.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/>
              <a:t>The number of partitions is specified at the time of system generation.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Dynamic Partitioning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dynamic partitioning was designed to </a:t>
            </a:r>
            <a:r>
              <a:rPr lang="en-US" b="1" dirty="0">
                <a:solidFill>
                  <a:srgbClr val="00B050"/>
                </a:solidFill>
              </a:rPr>
              <a:t>overcome the problems of a fixed partitioning scheme. 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In a dynamic partitioning scheme, </a:t>
            </a:r>
            <a:r>
              <a:rPr lang="en-US" b="1" dirty="0">
                <a:solidFill>
                  <a:srgbClr val="00B050"/>
                </a:solidFill>
              </a:rPr>
              <a:t>each process occupies only as much memory as they require when loaded for processing.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Dynamic Partitioning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Requested processes are allocated memory until the entire physical memory is exhausted or the remaining space is insufficient to hold the requesting process.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 In this scheme the partitions used are of </a:t>
            </a:r>
            <a:r>
              <a:rPr lang="en-US" b="1" dirty="0">
                <a:solidFill>
                  <a:srgbClr val="00B050"/>
                </a:solidFill>
              </a:rPr>
              <a:t>variable size</a:t>
            </a:r>
            <a:r>
              <a:rPr lang="en-US" dirty="0"/>
              <a:t>, and the number of partitions is not defined at the system generation time.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Dynamic Partitioning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>
                <a:solidFill>
                  <a:srgbClr val="0070C0"/>
                </a:solidFill>
              </a:rPr>
              <a:t>Advantages of Dynamic Partitioning memory management schemes: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/>
              <a:t>Simple to implement.</a:t>
            </a:r>
          </a:p>
          <a:p>
            <a:r>
              <a:rPr lang="en-US" dirty="0"/>
              <a:t>Easy to manage and design.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>
                <a:solidFill>
                  <a:srgbClr val="0070C0"/>
                </a:solidFill>
              </a:rPr>
              <a:t>Disadvantages of Dynamic Partitioning memory management schemes:</a:t>
            </a:r>
          </a:p>
          <a:p>
            <a:r>
              <a:rPr lang="en-US" dirty="0"/>
              <a:t>This scheme also suffers from internal fragmentation.</a:t>
            </a:r>
          </a:p>
          <a:p>
            <a:r>
              <a:rPr lang="en-US" dirty="0"/>
              <a:t>The number of partitions is specified at the time of system segmentation.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Anu Chanti\Desktop\Thank you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1" y="1066800"/>
            <a:ext cx="6629400" cy="4724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