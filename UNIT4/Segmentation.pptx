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8.xml"/><Relationship Id="rId10" Type="http://schemas.openxmlformats.org/officeDocument/2006/relationships/slide" Target="slides/slide7.xml"/><Relationship Id="rId13" Type="http://schemas.openxmlformats.org/officeDocument/2006/relationships/slide" Target="slides/slide10.xml"/><Relationship Id="rId12" Type="http://schemas.openxmlformats.org/officeDocument/2006/relationships/slide" Target="slides/slide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BACD26C8-C1A6-4F40-A494-C89F7073FCA1}"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637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spTree>
    <p:extLst>
      <p:ext uri="{BB962C8B-B14F-4D97-AF65-F5344CB8AC3E}">
        <p14:creationId xmlns:p14="http://schemas.microsoft.com/office/powerpoint/2010/main" val="4257351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7809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A67097-CAED-4CB5-B616-85190C55C249}"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D26C8-C1A6-4F40-A494-C89F7073FCA1}" type="slidenum">
              <a:rPr lang="en-US" smtClean="0"/>
              <a:t>‹#›</a:t>
            </a:fld>
            <a:endParaRPr lang="en-US"/>
          </a:p>
        </p:txBody>
      </p:sp>
    </p:spTree>
    <p:extLst>
      <p:ext uri="{BB962C8B-B14F-4D97-AF65-F5344CB8AC3E}">
        <p14:creationId xmlns:p14="http://schemas.microsoft.com/office/powerpoint/2010/main" val="874032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A67097-CAED-4CB5-B616-85190C55C249}" type="datetimeFigureOut">
              <a:rPr lang="en-US" smtClean="0"/>
              <a:t>12/4/2023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CD26C8-C1A6-4F40-A494-C89F7073FCA1}"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3455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A67097-CAED-4CB5-B616-85190C55C249}" type="datetimeFigureOut">
              <a:rPr lang="en-US" smtClean="0"/>
              <a:t>12/4/2023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CD26C8-C1A6-4F40-A494-C89F7073FCA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0331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67097-CAED-4CB5-B616-85190C55C249}" type="datetimeFigureOut">
              <a:rPr lang="en-US" smtClean="0"/>
              <a:t>12/4/2023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CD26C8-C1A6-4F40-A494-C89F7073FCA1}" type="slidenum">
              <a:rPr lang="en-US" smtClean="0"/>
              <a:t>‹#›</a:t>
            </a:fld>
            <a:endParaRPr lang="en-US"/>
          </a:p>
        </p:txBody>
      </p:sp>
    </p:spTree>
    <p:extLst>
      <p:ext uri="{BB962C8B-B14F-4D97-AF65-F5344CB8AC3E}">
        <p14:creationId xmlns:p14="http://schemas.microsoft.com/office/powerpoint/2010/main" val="2415739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A67097-CAED-4CB5-B616-85190C55C249}"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D26C8-C1A6-4F40-A494-C89F7073FCA1}"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0119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A67097-CAED-4CB5-B616-85190C55C249}"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D26C8-C1A6-4F40-A494-C89F7073FCA1}" type="slidenum">
              <a:rPr lang="en-US" smtClean="0"/>
              <a:t>‹#›</a:t>
            </a:fld>
            <a:endParaRPr lang="en-US"/>
          </a:p>
        </p:txBody>
      </p:sp>
    </p:spTree>
    <p:extLst>
      <p:ext uri="{BB962C8B-B14F-4D97-AF65-F5344CB8AC3E}">
        <p14:creationId xmlns:p14="http://schemas.microsoft.com/office/powerpoint/2010/main" val="4242719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A67097-CAED-4CB5-B616-85190C55C249}" type="datetimeFigureOut">
              <a:rPr lang="en-US" smtClean="0"/>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D26C8-C1A6-4F40-A494-C89F7073FCA1}" type="slidenum">
              <a:rPr lang="en-US" smtClean="0"/>
              <a:t>‹#›</a:t>
            </a:fld>
            <a:endParaRPr lang="en-US"/>
          </a:p>
        </p:txBody>
      </p:sp>
    </p:spTree>
    <p:extLst>
      <p:ext uri="{BB962C8B-B14F-4D97-AF65-F5344CB8AC3E}">
        <p14:creationId xmlns:p14="http://schemas.microsoft.com/office/powerpoint/2010/main" val="2985337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1491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4590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spTree>
    <p:extLst>
      <p:ext uri="{BB962C8B-B14F-4D97-AF65-F5344CB8AC3E}">
        <p14:creationId xmlns:p14="http://schemas.microsoft.com/office/powerpoint/2010/main" val="2434554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6258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8263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1916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A67097-CAED-4CB5-B616-85190C55C249}" type="datetimeFigureOut">
              <a:rPr lang="en-US" smtClean="0"/>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D26C8-C1A6-4F40-A494-C89F7073FCA1}"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3339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FA67097-CAED-4CB5-B616-85190C55C249}" type="datetimeFigureOut">
              <a:rPr lang="en-US" smtClean="0"/>
              <a:t>12/4/2023</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ACD26C8-C1A6-4F40-A494-C89F7073FCA1}" type="slidenum">
              <a:rPr lang="en-US" smtClean="0"/>
              <a:t>‹#›</a:t>
            </a:fld>
            <a:endParaRPr lang="en-US"/>
          </a:p>
        </p:txBody>
      </p:sp>
    </p:spTree>
    <p:extLst>
      <p:ext uri="{BB962C8B-B14F-4D97-AF65-F5344CB8AC3E}">
        <p14:creationId xmlns:p14="http://schemas.microsoft.com/office/powerpoint/2010/main" val="60471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E926-BD1C-67D5-6E48-6753BFA1B0E3}"/>
              </a:ext>
            </a:extLst>
          </p:cNvPr>
          <p:cNvSpPr>
            <a:spLocks noGrp="1"/>
          </p:cNvSpPr>
          <p:nvPr>
            <p:ph type="ctrTitle"/>
          </p:nvPr>
        </p:nvSpPr>
        <p:spPr/>
        <p:txBody>
          <a:bodyPr>
            <a:normAutofit/>
          </a:bodyPr>
          <a:lstStyle/>
          <a:p>
            <a:r>
              <a:rPr lang="en-US" b="0" i="0" dirty="0">
                <a:solidFill>
                  <a:srgbClr val="610B38"/>
                </a:solidFill>
                <a:effectLst/>
                <a:latin typeface="erdana"/>
              </a:rPr>
              <a:t>Segmentation in</a:t>
            </a:r>
            <a:r>
              <a:rPr lang="en-US" dirty="0">
                <a:solidFill>
                  <a:srgbClr val="610B38"/>
                </a:solidFill>
                <a:latin typeface="erdana"/>
              </a:rPr>
              <a:t> OS</a:t>
            </a:r>
            <a:endParaRPr lang="en-US" dirty="0"/>
          </a:p>
        </p:txBody>
      </p:sp>
      <p:sp>
        <p:nvSpPr>
          <p:cNvPr id="3" name="Subtitle 2">
            <a:extLst>
              <a:ext uri="{FF2B5EF4-FFF2-40B4-BE49-F238E27FC236}">
                <a16:creationId xmlns:a16="http://schemas.microsoft.com/office/drawing/2014/main" id="{F5C44444-A60C-F0A2-94C5-B8B02AB6932A}"/>
              </a:ext>
            </a:extLst>
          </p:cNvPr>
          <p:cNvSpPr>
            <a:spLocks noGrp="1"/>
          </p:cNvSpPr>
          <p:nvPr>
            <p:ph type="subTitle" idx="1"/>
          </p:nvPr>
        </p:nvSpPr>
        <p:spPr/>
        <p:txBody>
          <a:bodyPr>
            <a:normAutofit fontScale="70000" lnSpcReduction="20000"/>
          </a:bodyPr>
          <a:lstStyle/>
          <a:p>
            <a:pPr algn="ctr"/>
            <a:r>
              <a:rPr lang="en-US" altLang="en-US" sz="2000" dirty="0">
                <a:latin typeface="Algerian" panose="04020705040A02060702" pitchFamily="82" charset="0"/>
                <a:cs typeface="Aharoni" panose="02010803020104030203" pitchFamily="2" charset="-79"/>
              </a:rPr>
              <a:t>By</a:t>
            </a:r>
          </a:p>
          <a:p>
            <a:pPr algn="ctr"/>
            <a:r>
              <a:rPr lang="en-US" altLang="en-US" sz="2000" dirty="0">
                <a:latin typeface="Algerian" panose="04020705040A02060702" pitchFamily="82" charset="0"/>
                <a:cs typeface="Aharoni" panose="02010803020104030203" pitchFamily="2" charset="-79"/>
              </a:rPr>
              <a:t>M. BABY ANUSHA,</a:t>
            </a:r>
          </a:p>
          <a:p>
            <a:pPr algn="ctr"/>
            <a:r>
              <a:rPr lang="en-US" altLang="en-US" sz="2000" dirty="0">
                <a:latin typeface="Algerian" panose="04020705040A02060702" pitchFamily="82" charset="0"/>
                <a:cs typeface="Aharoni" panose="02010803020104030203" pitchFamily="2" charset="-79"/>
              </a:rPr>
              <a:t>ASST.PROF IN CSE DEPT.,</a:t>
            </a:r>
          </a:p>
          <a:p>
            <a:pPr algn="ctr"/>
            <a:r>
              <a:rPr lang="en-US" altLang="en-US" sz="2000" dirty="0">
                <a:latin typeface="Algerian" panose="04020705040A02060702" pitchFamily="82" charset="0"/>
                <a:cs typeface="Aharoni" panose="02010803020104030203" pitchFamily="2" charset="-79"/>
              </a:rPr>
              <a:t>RGUKT,NUZVID</a:t>
            </a:r>
            <a:endParaRPr lang="en-US" altLang="en-US" sz="2000" dirty="0"/>
          </a:p>
          <a:p>
            <a:endParaRPr lang="en-US" dirty="0"/>
          </a:p>
        </p:txBody>
      </p:sp>
    </p:spTree>
    <p:extLst>
      <p:ext uri="{BB962C8B-B14F-4D97-AF65-F5344CB8AC3E}">
        <p14:creationId xmlns:p14="http://schemas.microsoft.com/office/powerpoint/2010/main" val="2503264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DEC6A-BFC5-86A9-10F6-2887333B5631}"/>
              </a:ext>
            </a:extLst>
          </p:cNvPr>
          <p:cNvSpPr>
            <a:spLocks noGrp="1"/>
          </p:cNvSpPr>
          <p:nvPr>
            <p:ph type="title"/>
          </p:nvPr>
        </p:nvSpPr>
        <p:spPr/>
        <p:txBody>
          <a:bodyPr>
            <a:normAutofit/>
          </a:bodyPr>
          <a:lstStyle/>
          <a:p>
            <a:r>
              <a:rPr lang="en-US" b="0" i="0" dirty="0">
                <a:solidFill>
                  <a:srgbClr val="610B38"/>
                </a:solidFill>
                <a:effectLst/>
                <a:latin typeface="erdana"/>
              </a:rPr>
              <a:t>Segmentation</a:t>
            </a:r>
            <a:endParaRPr lang="en-US" dirty="0"/>
          </a:p>
        </p:txBody>
      </p:sp>
      <p:sp>
        <p:nvSpPr>
          <p:cNvPr id="3" name="Content Placeholder 2">
            <a:extLst>
              <a:ext uri="{FF2B5EF4-FFF2-40B4-BE49-F238E27FC236}">
                <a16:creationId xmlns:a16="http://schemas.microsoft.com/office/drawing/2014/main" id="{1168E2EA-60D2-5CC2-D833-DB10E0DC8C71}"/>
              </a:ext>
            </a:extLst>
          </p:cNvPr>
          <p:cNvSpPr>
            <a:spLocks noGrp="1"/>
          </p:cNvSpPr>
          <p:nvPr>
            <p:ph idx="1"/>
          </p:nvPr>
        </p:nvSpPr>
        <p:spPr/>
        <p:txBody>
          <a:bodyPr>
            <a:normAutofit/>
          </a:bodyPr>
          <a:lstStyle/>
          <a:p>
            <a:pPr algn="just"/>
            <a:r>
              <a:rPr lang="en-US" b="0" i="0" dirty="0">
                <a:solidFill>
                  <a:srgbClr val="333333"/>
                </a:solidFill>
                <a:effectLst/>
                <a:latin typeface="inter-regular"/>
              </a:rPr>
              <a:t>In Operating Systems, Segmentation is a memory management technique in which the memory is divided into the variable size partitions. </a:t>
            </a:r>
          </a:p>
          <a:p>
            <a:pPr algn="just"/>
            <a:r>
              <a:rPr lang="en-US" b="0" i="0" dirty="0">
                <a:solidFill>
                  <a:srgbClr val="333333"/>
                </a:solidFill>
                <a:effectLst/>
                <a:latin typeface="inter-regular"/>
              </a:rPr>
              <a:t>Each partition is known as a segment which can be allocated to a process.</a:t>
            </a:r>
          </a:p>
          <a:p>
            <a:pPr algn="just"/>
            <a:r>
              <a:rPr lang="en-US" b="0" i="0" dirty="0">
                <a:solidFill>
                  <a:srgbClr val="333333"/>
                </a:solidFill>
                <a:effectLst/>
                <a:latin typeface="inter-regular"/>
              </a:rPr>
              <a:t>The details about each segment are stored in a table called a segment table. Segment table is stored in one (or many) of the segments.</a:t>
            </a:r>
          </a:p>
          <a:p>
            <a:endParaRPr lang="en-US" dirty="0"/>
          </a:p>
        </p:txBody>
      </p:sp>
    </p:spTree>
    <p:extLst>
      <p:ext uri="{BB962C8B-B14F-4D97-AF65-F5344CB8AC3E}">
        <p14:creationId xmlns:p14="http://schemas.microsoft.com/office/powerpoint/2010/main" val="1017489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15C8-84AC-5F4F-02D9-00531E49856C}"/>
              </a:ext>
            </a:extLst>
          </p:cNvPr>
          <p:cNvSpPr>
            <a:spLocks noGrp="1"/>
          </p:cNvSpPr>
          <p:nvPr>
            <p:ph type="title"/>
          </p:nvPr>
        </p:nvSpPr>
        <p:spPr/>
        <p:txBody>
          <a:bodyPr/>
          <a:lstStyle/>
          <a:p>
            <a:r>
              <a:rPr lang="en-US" b="0" i="0" dirty="0">
                <a:solidFill>
                  <a:srgbClr val="610B38"/>
                </a:solidFill>
                <a:effectLst/>
                <a:latin typeface="erdana"/>
              </a:rPr>
              <a:t>Segmentation</a:t>
            </a:r>
            <a:endParaRPr lang="en-US" dirty="0"/>
          </a:p>
        </p:txBody>
      </p:sp>
      <p:sp>
        <p:nvSpPr>
          <p:cNvPr id="3" name="Content Placeholder 2">
            <a:extLst>
              <a:ext uri="{FF2B5EF4-FFF2-40B4-BE49-F238E27FC236}">
                <a16:creationId xmlns:a16="http://schemas.microsoft.com/office/drawing/2014/main" id="{A85D4635-E738-0B17-CA36-ADC9602C4A34}"/>
              </a:ext>
            </a:extLst>
          </p:cNvPr>
          <p:cNvSpPr>
            <a:spLocks noGrp="1"/>
          </p:cNvSpPr>
          <p:nvPr>
            <p:ph idx="1"/>
          </p:nvPr>
        </p:nvSpPr>
        <p:spPr/>
        <p:txBody>
          <a:bodyPr/>
          <a:lstStyle/>
          <a:p>
            <a:pPr algn="just"/>
            <a:r>
              <a:rPr lang="en-US" b="0" i="0" dirty="0">
                <a:solidFill>
                  <a:srgbClr val="333333"/>
                </a:solidFill>
                <a:effectLst/>
                <a:latin typeface="inter-regular"/>
              </a:rPr>
              <a:t>Segment table contains mainly two information about segment:</a:t>
            </a:r>
          </a:p>
          <a:p>
            <a:pPr algn="just">
              <a:buFont typeface="+mj-lt"/>
              <a:buAutoNum type="arabicPeriod"/>
            </a:pPr>
            <a:r>
              <a:rPr lang="en-US" b="1" i="0" dirty="0">
                <a:solidFill>
                  <a:srgbClr val="FF0000"/>
                </a:solidFill>
                <a:effectLst/>
                <a:latin typeface="inter-regular"/>
              </a:rPr>
              <a:t>Base: </a:t>
            </a:r>
            <a:r>
              <a:rPr lang="en-US" b="0" i="0" dirty="0">
                <a:solidFill>
                  <a:srgbClr val="000000"/>
                </a:solidFill>
                <a:effectLst/>
                <a:latin typeface="inter-regular"/>
              </a:rPr>
              <a:t>It is the base address of the segment</a:t>
            </a:r>
          </a:p>
          <a:p>
            <a:pPr algn="just">
              <a:buFont typeface="+mj-lt"/>
              <a:buAutoNum type="arabicPeriod"/>
            </a:pPr>
            <a:r>
              <a:rPr lang="en-US" b="1" i="0" dirty="0">
                <a:solidFill>
                  <a:srgbClr val="FF0000"/>
                </a:solidFill>
                <a:effectLst/>
                <a:latin typeface="inter-regular"/>
              </a:rPr>
              <a:t>Limit: </a:t>
            </a:r>
            <a:r>
              <a:rPr lang="en-US" b="0" i="0" dirty="0">
                <a:solidFill>
                  <a:srgbClr val="000000"/>
                </a:solidFill>
                <a:effectLst/>
                <a:latin typeface="inter-regular"/>
              </a:rPr>
              <a:t>It is the length of the segment.</a:t>
            </a:r>
          </a:p>
          <a:p>
            <a:endParaRPr lang="en-US" dirty="0"/>
          </a:p>
        </p:txBody>
      </p:sp>
    </p:spTree>
    <p:extLst>
      <p:ext uri="{BB962C8B-B14F-4D97-AF65-F5344CB8AC3E}">
        <p14:creationId xmlns:p14="http://schemas.microsoft.com/office/powerpoint/2010/main" val="4269187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BE61B-2DB8-EC73-F133-D8DBD4BB7518}"/>
              </a:ext>
            </a:extLst>
          </p:cNvPr>
          <p:cNvSpPr>
            <a:spLocks noGrp="1"/>
          </p:cNvSpPr>
          <p:nvPr>
            <p:ph type="title"/>
          </p:nvPr>
        </p:nvSpPr>
        <p:spPr/>
        <p:txBody>
          <a:bodyPr>
            <a:normAutofit/>
          </a:bodyPr>
          <a:lstStyle/>
          <a:p>
            <a:r>
              <a:rPr lang="en-US" b="0" i="0" dirty="0">
                <a:solidFill>
                  <a:srgbClr val="610B38"/>
                </a:solidFill>
                <a:effectLst/>
                <a:latin typeface="erdana"/>
              </a:rPr>
              <a:t>Why Segmentation is required?</a:t>
            </a:r>
            <a:endParaRPr lang="en-US" dirty="0"/>
          </a:p>
        </p:txBody>
      </p:sp>
      <p:sp>
        <p:nvSpPr>
          <p:cNvPr id="3" name="Content Placeholder 2">
            <a:extLst>
              <a:ext uri="{FF2B5EF4-FFF2-40B4-BE49-F238E27FC236}">
                <a16:creationId xmlns:a16="http://schemas.microsoft.com/office/drawing/2014/main" id="{66099C8F-077A-36F8-587E-EFA99D5773BC}"/>
              </a:ext>
            </a:extLst>
          </p:cNvPr>
          <p:cNvSpPr>
            <a:spLocks noGrp="1"/>
          </p:cNvSpPr>
          <p:nvPr>
            <p:ph idx="1"/>
          </p:nvPr>
        </p:nvSpPr>
        <p:spPr/>
        <p:txBody>
          <a:bodyPr/>
          <a:lstStyle/>
          <a:p>
            <a:pPr algn="just"/>
            <a:r>
              <a:rPr lang="en-US" b="0" i="0" dirty="0">
                <a:solidFill>
                  <a:srgbClr val="333333"/>
                </a:solidFill>
                <a:effectLst/>
                <a:latin typeface="inter-regular"/>
              </a:rPr>
              <a:t>Till now, we were using Paging as our main memory management technique. Paging is more close to the Operating system rather than the User. </a:t>
            </a:r>
          </a:p>
          <a:p>
            <a:pPr algn="just"/>
            <a:r>
              <a:rPr lang="en-US" b="0" i="0" dirty="0">
                <a:solidFill>
                  <a:srgbClr val="333333"/>
                </a:solidFill>
                <a:effectLst/>
                <a:latin typeface="inter-regular"/>
              </a:rPr>
              <a:t>It divides all the processes into the form of pages regardless of the fact that a process can have some relative parts of functions which need to be loaded in the same page.</a:t>
            </a:r>
          </a:p>
          <a:p>
            <a:endParaRPr lang="en-US" dirty="0"/>
          </a:p>
        </p:txBody>
      </p:sp>
    </p:spTree>
    <p:extLst>
      <p:ext uri="{BB962C8B-B14F-4D97-AF65-F5344CB8AC3E}">
        <p14:creationId xmlns:p14="http://schemas.microsoft.com/office/powerpoint/2010/main" val="410423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9F68-B726-854C-3F90-814A6587E2C5}"/>
              </a:ext>
            </a:extLst>
          </p:cNvPr>
          <p:cNvSpPr>
            <a:spLocks noGrp="1"/>
          </p:cNvSpPr>
          <p:nvPr>
            <p:ph type="title"/>
          </p:nvPr>
        </p:nvSpPr>
        <p:spPr/>
        <p:txBody>
          <a:bodyPr>
            <a:normAutofit/>
          </a:bodyPr>
          <a:lstStyle/>
          <a:p>
            <a:r>
              <a:rPr lang="en-US" b="0" i="0" dirty="0">
                <a:solidFill>
                  <a:srgbClr val="610B38"/>
                </a:solidFill>
                <a:effectLst/>
                <a:latin typeface="erdana"/>
              </a:rPr>
              <a:t>Why Segmentation is required?</a:t>
            </a:r>
            <a:endParaRPr lang="en-US" dirty="0"/>
          </a:p>
        </p:txBody>
      </p:sp>
      <p:sp>
        <p:nvSpPr>
          <p:cNvPr id="3" name="Content Placeholder 2">
            <a:extLst>
              <a:ext uri="{FF2B5EF4-FFF2-40B4-BE49-F238E27FC236}">
                <a16:creationId xmlns:a16="http://schemas.microsoft.com/office/drawing/2014/main" id="{690E9FAE-6848-E260-A3CA-D1845AD8CD78}"/>
              </a:ext>
            </a:extLst>
          </p:cNvPr>
          <p:cNvSpPr>
            <a:spLocks noGrp="1"/>
          </p:cNvSpPr>
          <p:nvPr>
            <p:ph idx="1"/>
          </p:nvPr>
        </p:nvSpPr>
        <p:spPr/>
        <p:txBody>
          <a:bodyPr/>
          <a:lstStyle/>
          <a:p>
            <a:pPr algn="just"/>
            <a:r>
              <a:rPr lang="en-US" b="0" i="0" dirty="0">
                <a:solidFill>
                  <a:srgbClr val="333333"/>
                </a:solidFill>
                <a:effectLst/>
                <a:latin typeface="inter-regular"/>
              </a:rPr>
              <a:t>Operating system doesn't care about the User's view of the process.</a:t>
            </a:r>
          </a:p>
          <a:p>
            <a:pPr algn="just"/>
            <a:r>
              <a:rPr lang="en-US" b="0" i="0" dirty="0">
                <a:solidFill>
                  <a:srgbClr val="333333"/>
                </a:solidFill>
                <a:effectLst/>
                <a:latin typeface="inter-regular"/>
              </a:rPr>
              <a:t> It may divide the same function into different pages and those pages may or may not be loaded at the same time into the memory.</a:t>
            </a:r>
          </a:p>
          <a:p>
            <a:pPr algn="just"/>
            <a:r>
              <a:rPr lang="en-US" b="0" i="0" dirty="0">
                <a:solidFill>
                  <a:srgbClr val="333333"/>
                </a:solidFill>
                <a:effectLst/>
                <a:latin typeface="inter-regular"/>
              </a:rPr>
              <a:t> It decreases the efficiency of the system.</a:t>
            </a:r>
          </a:p>
          <a:p>
            <a:endParaRPr lang="en-US" dirty="0"/>
          </a:p>
        </p:txBody>
      </p:sp>
    </p:spTree>
    <p:extLst>
      <p:ext uri="{BB962C8B-B14F-4D97-AF65-F5344CB8AC3E}">
        <p14:creationId xmlns:p14="http://schemas.microsoft.com/office/powerpoint/2010/main" val="3501390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889CB-49A3-53BD-749D-DFCB19590087}"/>
              </a:ext>
            </a:extLst>
          </p:cNvPr>
          <p:cNvSpPr>
            <a:spLocks noGrp="1"/>
          </p:cNvSpPr>
          <p:nvPr>
            <p:ph type="title"/>
          </p:nvPr>
        </p:nvSpPr>
        <p:spPr/>
        <p:txBody>
          <a:bodyPr/>
          <a:lstStyle/>
          <a:p>
            <a:pPr marL="0" indent="0">
              <a:buNone/>
            </a:pPr>
            <a:r>
              <a:rPr lang="en-US" b="0" i="0" dirty="0">
                <a:solidFill>
                  <a:srgbClr val="610B38"/>
                </a:solidFill>
                <a:effectLst/>
                <a:latin typeface="erdana"/>
              </a:rPr>
              <a:t>Why Segmentation is required?</a:t>
            </a:r>
          </a:p>
        </p:txBody>
      </p:sp>
      <p:sp>
        <p:nvSpPr>
          <p:cNvPr id="3" name="Content Placeholder 2">
            <a:extLst>
              <a:ext uri="{FF2B5EF4-FFF2-40B4-BE49-F238E27FC236}">
                <a16:creationId xmlns:a16="http://schemas.microsoft.com/office/drawing/2014/main" id="{18FF997C-17EB-E3E1-3858-74D0CCED52AE}"/>
              </a:ext>
            </a:extLst>
          </p:cNvPr>
          <p:cNvSpPr>
            <a:spLocks noGrp="1"/>
          </p:cNvSpPr>
          <p:nvPr>
            <p:ph idx="1"/>
          </p:nvPr>
        </p:nvSpPr>
        <p:spPr/>
        <p:txBody>
          <a:bodyPr/>
          <a:lstStyle/>
          <a:p>
            <a:r>
              <a:rPr lang="en-US" b="0" i="0" dirty="0">
                <a:solidFill>
                  <a:srgbClr val="333333"/>
                </a:solidFill>
                <a:effectLst/>
                <a:latin typeface="inter-regular"/>
              </a:rPr>
              <a:t>It is better to have segmentation which divides the process into the segments.</a:t>
            </a:r>
          </a:p>
          <a:p>
            <a:r>
              <a:rPr lang="en-US" b="0" i="0" dirty="0">
                <a:solidFill>
                  <a:srgbClr val="333333"/>
                </a:solidFill>
                <a:effectLst/>
                <a:latin typeface="inter-regular"/>
              </a:rPr>
              <a:t> Each segment contains the same type of functions such as the main function can be included in one segment and the library functions can be included in the other segment.</a:t>
            </a:r>
          </a:p>
          <a:p>
            <a:endParaRPr lang="en-US" dirty="0"/>
          </a:p>
        </p:txBody>
      </p:sp>
    </p:spTree>
    <p:extLst>
      <p:ext uri="{BB962C8B-B14F-4D97-AF65-F5344CB8AC3E}">
        <p14:creationId xmlns:p14="http://schemas.microsoft.com/office/powerpoint/2010/main" val="522253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72301-DB36-73BD-F1B0-0AEB006CA589}"/>
              </a:ext>
            </a:extLst>
          </p:cNvPr>
          <p:cNvSpPr>
            <a:spLocks noGrp="1"/>
          </p:cNvSpPr>
          <p:nvPr>
            <p:ph type="title"/>
          </p:nvPr>
        </p:nvSpPr>
        <p:spPr/>
        <p:txBody>
          <a:bodyPr/>
          <a:lstStyle/>
          <a:p>
            <a:r>
              <a:rPr lang="en-US" b="0" i="0" dirty="0">
                <a:solidFill>
                  <a:srgbClr val="610B38"/>
                </a:solidFill>
                <a:effectLst/>
                <a:latin typeface="erdana"/>
              </a:rPr>
              <a:t>Segmentation Hardware</a:t>
            </a:r>
            <a:endParaRPr lang="en-US" dirty="0"/>
          </a:p>
        </p:txBody>
      </p:sp>
      <p:sp>
        <p:nvSpPr>
          <p:cNvPr id="3" name="Content Placeholder 2">
            <a:extLst>
              <a:ext uri="{FF2B5EF4-FFF2-40B4-BE49-F238E27FC236}">
                <a16:creationId xmlns:a16="http://schemas.microsoft.com/office/drawing/2014/main" id="{15AEF781-1B04-4F2F-452F-6349BCD8A275}"/>
              </a:ext>
            </a:extLst>
          </p:cNvPr>
          <p:cNvSpPr>
            <a:spLocks noGrp="1"/>
          </p:cNvSpPr>
          <p:nvPr>
            <p:ph idx="1"/>
          </p:nvPr>
        </p:nvSpPr>
        <p:spPr/>
        <p:txBody>
          <a:bodyPr/>
          <a:lstStyle/>
          <a:p>
            <a:pPr marL="0" indent="0" algn="just">
              <a:buNone/>
            </a:pPr>
            <a:r>
              <a:rPr lang="en-US" b="0" i="0" dirty="0">
                <a:solidFill>
                  <a:srgbClr val="610B38"/>
                </a:solidFill>
                <a:effectLst/>
                <a:latin typeface="erdana"/>
              </a:rPr>
              <a:t>Translation of Logical address into physical address by segment table</a:t>
            </a:r>
          </a:p>
          <a:p>
            <a:pPr algn="just"/>
            <a:r>
              <a:rPr lang="en-US" b="0" i="0" dirty="0">
                <a:solidFill>
                  <a:srgbClr val="333333"/>
                </a:solidFill>
                <a:effectLst/>
                <a:latin typeface="inter-regular"/>
              </a:rPr>
              <a:t>CPU generates a logical address which contains two parts:</a:t>
            </a:r>
          </a:p>
          <a:p>
            <a:pPr algn="just">
              <a:buFont typeface="+mj-lt"/>
              <a:buAutoNum type="arabicPeriod"/>
            </a:pPr>
            <a:r>
              <a:rPr lang="en-US" b="0" i="0" dirty="0">
                <a:solidFill>
                  <a:srgbClr val="000000"/>
                </a:solidFill>
                <a:effectLst/>
                <a:latin typeface="inter-regular"/>
              </a:rPr>
              <a:t>Segment Number</a:t>
            </a:r>
          </a:p>
          <a:p>
            <a:pPr algn="just">
              <a:buFont typeface="+mj-lt"/>
              <a:buAutoNum type="arabicPeriod"/>
            </a:pPr>
            <a:r>
              <a:rPr lang="en-US" b="0" i="0" dirty="0">
                <a:solidFill>
                  <a:srgbClr val="000000"/>
                </a:solidFill>
                <a:effectLst/>
                <a:latin typeface="inter-regular"/>
              </a:rPr>
              <a:t>Offset</a:t>
            </a:r>
          </a:p>
          <a:p>
            <a:endParaRPr lang="en-US" dirty="0"/>
          </a:p>
        </p:txBody>
      </p:sp>
    </p:spTree>
    <p:extLst>
      <p:ext uri="{BB962C8B-B14F-4D97-AF65-F5344CB8AC3E}">
        <p14:creationId xmlns:p14="http://schemas.microsoft.com/office/powerpoint/2010/main" val="310380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Segmentation in OS? Introduction, Implementation, Example ...">
            <a:extLst>
              <a:ext uri="{FF2B5EF4-FFF2-40B4-BE49-F238E27FC236}">
                <a16:creationId xmlns:a16="http://schemas.microsoft.com/office/drawing/2014/main" id="{EAE04374-724E-70CC-A6A0-EB6BBDC47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045" y="884903"/>
            <a:ext cx="9193161" cy="5309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888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EA610-9DBD-EF12-7769-9703E871D0E6}"/>
              </a:ext>
            </a:extLst>
          </p:cNvPr>
          <p:cNvSpPr>
            <a:spLocks noGrp="1"/>
          </p:cNvSpPr>
          <p:nvPr>
            <p:ph type="title"/>
          </p:nvPr>
        </p:nvSpPr>
        <p:spPr/>
        <p:txBody>
          <a:bodyPr/>
          <a:lstStyle/>
          <a:p>
            <a:r>
              <a:rPr kumimoji="0" lang="en-US" sz="4400" b="0" i="0" u="none" strike="noStrike" kern="1200" cap="none" spc="0" normalizeH="0" baseline="0" noProof="0" dirty="0">
                <a:ln w="3175" cmpd="sng">
                  <a:noFill/>
                </a:ln>
                <a:solidFill>
                  <a:srgbClr val="610B38"/>
                </a:solidFill>
                <a:effectLst/>
                <a:uLnTx/>
                <a:uFillTx/>
                <a:latin typeface="erdana"/>
                <a:ea typeface="+mj-ea"/>
                <a:cs typeface="+mj-cs"/>
              </a:rPr>
              <a:t>Segmentation Hardware</a:t>
            </a:r>
            <a:endParaRPr lang="en-US" dirty="0"/>
          </a:p>
        </p:txBody>
      </p:sp>
      <p:sp>
        <p:nvSpPr>
          <p:cNvPr id="3" name="Content Placeholder 2">
            <a:extLst>
              <a:ext uri="{FF2B5EF4-FFF2-40B4-BE49-F238E27FC236}">
                <a16:creationId xmlns:a16="http://schemas.microsoft.com/office/drawing/2014/main" id="{7396A4EA-2F60-7DAA-D854-2B430CD73733}"/>
              </a:ext>
            </a:extLst>
          </p:cNvPr>
          <p:cNvSpPr>
            <a:spLocks noGrp="1"/>
          </p:cNvSpPr>
          <p:nvPr>
            <p:ph idx="1"/>
          </p:nvPr>
        </p:nvSpPr>
        <p:spPr/>
        <p:txBody>
          <a:bodyPr/>
          <a:lstStyle/>
          <a:p>
            <a:pPr algn="just"/>
            <a:r>
              <a:rPr lang="en-US" b="0" i="0" dirty="0">
                <a:solidFill>
                  <a:srgbClr val="333333"/>
                </a:solidFill>
                <a:effectLst/>
                <a:latin typeface="inter-regular"/>
              </a:rPr>
              <a:t>The </a:t>
            </a:r>
            <a:r>
              <a:rPr lang="en-US" b="1" i="0" dirty="0">
                <a:solidFill>
                  <a:srgbClr val="333333"/>
                </a:solidFill>
                <a:effectLst/>
                <a:latin typeface="inter-bold"/>
              </a:rPr>
              <a:t>Segment number</a:t>
            </a:r>
            <a:r>
              <a:rPr lang="en-US" b="0" i="0" dirty="0">
                <a:solidFill>
                  <a:srgbClr val="333333"/>
                </a:solidFill>
                <a:effectLst/>
                <a:latin typeface="inter-regular"/>
              </a:rPr>
              <a:t> is mapped to the segment table. The limit of the respective segment is compared with the offset. If the offset is less than the limit then the address is valid otherwise it throws an error as the address is invalid.</a:t>
            </a:r>
          </a:p>
          <a:p>
            <a:pPr algn="just"/>
            <a:r>
              <a:rPr lang="en-US" b="0" i="0" dirty="0">
                <a:solidFill>
                  <a:srgbClr val="333333"/>
                </a:solidFill>
                <a:effectLst/>
                <a:latin typeface="inter-regular"/>
              </a:rPr>
              <a:t>In the case of valid addresses, the base address of the segment is added to the offset to get the physical address of the actual word in the main memory.</a:t>
            </a:r>
          </a:p>
          <a:p>
            <a:endParaRPr lang="en-US" dirty="0"/>
          </a:p>
        </p:txBody>
      </p:sp>
    </p:spTree>
    <p:extLst>
      <p:ext uri="{BB962C8B-B14F-4D97-AF65-F5344CB8AC3E}">
        <p14:creationId xmlns:p14="http://schemas.microsoft.com/office/powerpoint/2010/main" val="1613256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Os unit 3">
            <a:extLst>
              <a:ext uri="{FF2B5EF4-FFF2-40B4-BE49-F238E27FC236}">
                <a16:creationId xmlns:a16="http://schemas.microsoft.com/office/drawing/2014/main" id="{3CF9914C-66EE-E84E-33CB-2958D1F5EA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568" y="658761"/>
            <a:ext cx="10471355" cy="5476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768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54394-A378-3DF2-061F-54C13F57F596}"/>
              </a:ext>
            </a:extLst>
          </p:cNvPr>
          <p:cNvSpPr>
            <a:spLocks noGrp="1"/>
          </p:cNvSpPr>
          <p:nvPr>
            <p:ph type="title"/>
          </p:nvPr>
        </p:nvSpPr>
        <p:spPr/>
        <p:txBody>
          <a:bodyPr>
            <a:normAutofit/>
          </a:bodyPr>
          <a:lstStyle/>
          <a:p>
            <a:r>
              <a:rPr lang="en-US" b="0" i="0" dirty="0">
                <a:solidFill>
                  <a:srgbClr val="610B38"/>
                </a:solidFill>
                <a:effectLst/>
                <a:latin typeface="erdana"/>
              </a:rPr>
              <a:t>Advantages of Segmentation</a:t>
            </a:r>
            <a:endParaRPr lang="en-US" dirty="0"/>
          </a:p>
        </p:txBody>
      </p:sp>
      <p:sp>
        <p:nvSpPr>
          <p:cNvPr id="3" name="Content Placeholder 2">
            <a:extLst>
              <a:ext uri="{FF2B5EF4-FFF2-40B4-BE49-F238E27FC236}">
                <a16:creationId xmlns:a16="http://schemas.microsoft.com/office/drawing/2014/main" id="{CAA60E4D-7B9F-40DA-27CE-0E25CDA35300}"/>
              </a:ext>
            </a:extLst>
          </p:cNvPr>
          <p:cNvSpPr>
            <a:spLocks noGrp="1"/>
          </p:cNvSpPr>
          <p:nvPr>
            <p:ph idx="1"/>
          </p:nvPr>
        </p:nvSpPr>
        <p:spPr/>
        <p:txBody>
          <a:bodyPr>
            <a:normAutofit/>
          </a:bodyPr>
          <a:lstStyle/>
          <a:p>
            <a:pPr algn="just">
              <a:buFont typeface="+mj-lt"/>
              <a:buAutoNum type="arabicPeriod"/>
            </a:pPr>
            <a:r>
              <a:rPr lang="en-US" b="0" i="0" dirty="0">
                <a:solidFill>
                  <a:srgbClr val="000000"/>
                </a:solidFill>
                <a:effectLst/>
                <a:latin typeface="inter-regular"/>
              </a:rPr>
              <a:t>No internal fragmentation</a:t>
            </a:r>
          </a:p>
          <a:p>
            <a:pPr algn="just">
              <a:buFont typeface="+mj-lt"/>
              <a:buAutoNum type="arabicPeriod"/>
            </a:pPr>
            <a:r>
              <a:rPr lang="en-US" b="0" i="0" dirty="0">
                <a:solidFill>
                  <a:srgbClr val="000000"/>
                </a:solidFill>
                <a:effectLst/>
                <a:latin typeface="inter-regular"/>
              </a:rPr>
              <a:t>Average Segment Size is larger than the actual page size.</a:t>
            </a:r>
          </a:p>
          <a:p>
            <a:pPr algn="just">
              <a:buFont typeface="+mj-lt"/>
              <a:buAutoNum type="arabicPeriod"/>
            </a:pPr>
            <a:r>
              <a:rPr lang="en-US" b="0" i="0" dirty="0">
                <a:solidFill>
                  <a:srgbClr val="000000"/>
                </a:solidFill>
                <a:effectLst/>
                <a:latin typeface="inter-regular"/>
              </a:rPr>
              <a:t>Less overhead</a:t>
            </a:r>
          </a:p>
          <a:p>
            <a:pPr algn="just">
              <a:buFont typeface="+mj-lt"/>
              <a:buAutoNum type="arabicPeriod"/>
            </a:pPr>
            <a:r>
              <a:rPr lang="en-US" b="0" i="0" dirty="0">
                <a:solidFill>
                  <a:srgbClr val="000000"/>
                </a:solidFill>
                <a:effectLst/>
                <a:latin typeface="inter-regular"/>
              </a:rPr>
              <a:t>It is easier to relocate segments than entire address space.</a:t>
            </a:r>
          </a:p>
          <a:p>
            <a:pPr algn="just">
              <a:buFont typeface="+mj-lt"/>
              <a:buAutoNum type="arabicPeriod"/>
            </a:pPr>
            <a:r>
              <a:rPr lang="en-US" b="0" i="0" dirty="0">
                <a:solidFill>
                  <a:srgbClr val="000000"/>
                </a:solidFill>
                <a:effectLst/>
                <a:latin typeface="inter-regular"/>
              </a:rPr>
              <a:t>The segment table is of lesser size as compared to the page table in paging.</a:t>
            </a:r>
          </a:p>
          <a:p>
            <a:endParaRPr lang="en-US" dirty="0"/>
          </a:p>
        </p:txBody>
      </p:sp>
    </p:spTree>
    <p:extLst>
      <p:ext uri="{BB962C8B-B14F-4D97-AF65-F5344CB8AC3E}">
        <p14:creationId xmlns:p14="http://schemas.microsoft.com/office/powerpoint/2010/main" val="9945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80151-C68C-C601-A18E-175457C3D2B0}"/>
              </a:ext>
            </a:extLst>
          </p:cNvPr>
          <p:cNvSpPr>
            <a:spLocks noGrp="1"/>
          </p:cNvSpPr>
          <p:nvPr>
            <p:ph type="title"/>
          </p:nvPr>
        </p:nvSpPr>
        <p:spPr/>
        <p:txBody>
          <a:bodyPr>
            <a:normAutofit/>
          </a:bodyPr>
          <a:lstStyle/>
          <a:p>
            <a:r>
              <a:rPr lang="en-US" b="0" i="0" dirty="0">
                <a:solidFill>
                  <a:srgbClr val="610B38"/>
                </a:solidFill>
                <a:effectLst/>
                <a:latin typeface="erdana"/>
              </a:rPr>
              <a:t>Disadvantages</a:t>
            </a:r>
            <a:endParaRPr lang="en-US" dirty="0"/>
          </a:p>
        </p:txBody>
      </p:sp>
      <p:sp>
        <p:nvSpPr>
          <p:cNvPr id="3" name="Content Placeholder 2">
            <a:extLst>
              <a:ext uri="{FF2B5EF4-FFF2-40B4-BE49-F238E27FC236}">
                <a16:creationId xmlns:a16="http://schemas.microsoft.com/office/drawing/2014/main" id="{1B899B3F-20A3-9C37-5CBF-D0C46A1AB35F}"/>
              </a:ext>
            </a:extLst>
          </p:cNvPr>
          <p:cNvSpPr>
            <a:spLocks noGrp="1"/>
          </p:cNvSpPr>
          <p:nvPr>
            <p:ph idx="1"/>
          </p:nvPr>
        </p:nvSpPr>
        <p:spPr/>
        <p:txBody>
          <a:bodyPr/>
          <a:lstStyle/>
          <a:p>
            <a:pPr algn="just">
              <a:buFont typeface="+mj-lt"/>
              <a:buAutoNum type="arabicPeriod"/>
            </a:pPr>
            <a:r>
              <a:rPr lang="en-US" b="0" i="0" dirty="0">
                <a:solidFill>
                  <a:srgbClr val="000000"/>
                </a:solidFill>
                <a:effectLst/>
                <a:latin typeface="inter-regular"/>
              </a:rPr>
              <a:t>It can have external fragmentation.</a:t>
            </a:r>
          </a:p>
          <a:p>
            <a:pPr algn="just">
              <a:buFont typeface="+mj-lt"/>
              <a:buAutoNum type="arabicPeriod"/>
            </a:pPr>
            <a:r>
              <a:rPr lang="en-US" b="0" i="0" dirty="0">
                <a:solidFill>
                  <a:srgbClr val="000000"/>
                </a:solidFill>
                <a:effectLst/>
                <a:latin typeface="inter-regular"/>
              </a:rPr>
              <a:t>it is difficult to allocate contiguous memory to variable sized partition.</a:t>
            </a:r>
          </a:p>
          <a:p>
            <a:pPr algn="just">
              <a:buFont typeface="+mj-lt"/>
              <a:buAutoNum type="arabicPeriod"/>
            </a:pPr>
            <a:r>
              <a:rPr lang="en-US" b="0" i="0" dirty="0">
                <a:solidFill>
                  <a:srgbClr val="000000"/>
                </a:solidFill>
                <a:effectLst/>
                <a:latin typeface="inter-regular"/>
              </a:rPr>
              <a:t>Costly memory management algorithms.</a:t>
            </a:r>
          </a:p>
          <a:p>
            <a:endParaRPr lang="en-US" dirty="0"/>
          </a:p>
        </p:txBody>
      </p:sp>
    </p:spTree>
    <p:extLst>
      <p:ext uri="{BB962C8B-B14F-4D97-AF65-F5344CB8AC3E}">
        <p14:creationId xmlns:p14="http://schemas.microsoft.com/office/powerpoint/2010/main" val="2110281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aging vs Segmentation in Operating System - DataFlair">
            <a:extLst>
              <a:ext uri="{FF2B5EF4-FFF2-40B4-BE49-F238E27FC236}">
                <a16:creationId xmlns:a16="http://schemas.microsoft.com/office/drawing/2014/main" id="{ECC026DA-7581-690C-35BD-CE44A1C383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239" y="894735"/>
            <a:ext cx="10382864" cy="5073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263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u Chanti\Desktop\Thank you.jpg">
            <a:extLst>
              <a:ext uri="{FF2B5EF4-FFF2-40B4-BE49-F238E27FC236}">
                <a16:creationId xmlns:a16="http://schemas.microsoft.com/office/drawing/2014/main" id="{757CA6B6-CBD8-FB50-D40A-0400D1438B7D}"/>
              </a:ext>
            </a:extLst>
          </p:cNvPr>
          <p:cNvPicPr>
            <a:picLocks noChangeAspect="1" noChangeArrowheads="1"/>
          </p:cNvPicPr>
          <p:nvPr/>
        </p:nvPicPr>
        <p:blipFill>
          <a:blip r:embed="rId2" cstate="print"/>
          <a:srcRect/>
          <a:stretch>
            <a:fillRect/>
          </a:stretch>
        </p:blipFill>
        <p:spPr bwMode="auto">
          <a:xfrm>
            <a:off x="838201" y="1066800"/>
            <a:ext cx="10488560" cy="4724400"/>
          </a:xfrm>
          <a:prstGeom prst="rect">
            <a:avLst/>
          </a:prstGeom>
          <a:noFill/>
        </p:spPr>
      </p:pic>
    </p:spTree>
    <p:extLst>
      <p:ext uri="{BB962C8B-B14F-4D97-AF65-F5344CB8AC3E}">
        <p14:creationId xmlns:p14="http://schemas.microsoft.com/office/powerpoint/2010/main" val="42505147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