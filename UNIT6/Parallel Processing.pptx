
<file path=[Content_Types].xml><?xml version="1.0" encoding="utf-8"?>
<Types xmlns="http://schemas.openxmlformats.org/package/2006/content-types">
  <Default ContentType="image/jpeg" Extension="jpg"/>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y="6858000" cx="12192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7.xml"/><Relationship Id="rId11" Type="http://schemas.openxmlformats.org/officeDocument/2006/relationships/slide" Target="slides/slide8.xml"/><Relationship Id="rId10" Type="http://schemas.openxmlformats.org/officeDocument/2006/relationships/slide" Target="slides/slide7.xml"/><Relationship Id="rId21" Type="http://schemas.openxmlformats.org/officeDocument/2006/relationships/slide" Target="slides/slide18.xml"/><Relationship Id="rId13" Type="http://schemas.openxmlformats.org/officeDocument/2006/relationships/slide" Target="slides/slide10.xml"/><Relationship Id="rId12" Type="http://schemas.openxmlformats.org/officeDocument/2006/relationships/slide" Target="slides/slide9.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15" Type="http://schemas.openxmlformats.org/officeDocument/2006/relationships/slide" Target="slides/slide12.xml"/><Relationship Id="rId14" Type="http://schemas.openxmlformats.org/officeDocument/2006/relationships/slide" Target="slides/slide11.xml"/><Relationship Id="rId17" Type="http://schemas.openxmlformats.org/officeDocument/2006/relationships/slide" Target="slides/slide14.xml"/><Relationship Id="rId16" Type="http://schemas.openxmlformats.org/officeDocument/2006/relationships/slide" Target="slides/slide13.xml"/><Relationship Id="rId5" Type="http://schemas.openxmlformats.org/officeDocument/2006/relationships/slide" Target="slides/slide2.xml"/><Relationship Id="rId19" Type="http://schemas.openxmlformats.org/officeDocument/2006/relationships/slide" Target="slides/slide16.xml"/><Relationship Id="rId6" Type="http://schemas.openxmlformats.org/officeDocument/2006/relationships/slide" Target="slides/slide3.xml"/><Relationship Id="rId18" Type="http://schemas.openxmlformats.org/officeDocument/2006/relationships/slide" Target="slides/slide15.xml"/><Relationship Id="rId7" Type="http://schemas.openxmlformats.org/officeDocument/2006/relationships/slide" Target="slides/slide4.xml"/><Relationship Id="rId8"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4A89E1-2281-4DB2-9858-1FC9C1F34963}" type="datetimeFigureOut">
              <a:rPr lang="en-US" smtClean="0"/>
              <a:t>5/1/2024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74EBF1CD-F198-4328-9FE4-7BA72B1824FB}"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38680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4A89E1-2281-4DB2-9858-1FC9C1F34963}" type="datetimeFigureOut">
              <a:rPr lang="en-US" smtClean="0"/>
              <a:t>5/1/2024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BF1CD-F198-4328-9FE4-7BA72B1824FB}"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59039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4A89E1-2281-4DB2-9858-1FC9C1F34963}" type="datetimeFigureOut">
              <a:rPr lang="en-US" smtClean="0"/>
              <a:t>5/1/2024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BF1CD-F198-4328-9FE4-7BA72B1824FB}"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1182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4A89E1-2281-4DB2-9858-1FC9C1F34963}" type="datetimeFigureOut">
              <a:rPr lang="en-US" smtClean="0"/>
              <a:t>5/1/2024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EBF1CD-F198-4328-9FE4-7BA72B1824FB}"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7799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4A89E1-2281-4DB2-9858-1FC9C1F34963}" type="datetimeFigureOut">
              <a:rPr lang="en-US" smtClean="0"/>
              <a:t>5/1/2024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EBF1CD-F198-4328-9FE4-7BA72B1824FB}"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00783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4A89E1-2281-4DB2-9858-1FC9C1F34963}" type="datetimeFigureOut">
              <a:rPr lang="en-US" smtClean="0"/>
              <a:t>5/1/2024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EBF1CD-F198-4328-9FE4-7BA72B1824FB}"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36765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4A89E1-2281-4DB2-9858-1FC9C1F34963}" type="datetimeFigureOut">
              <a:rPr lang="en-US" smtClean="0"/>
              <a:t>5/1/2024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EBF1CD-F198-4328-9FE4-7BA72B1824FB}" type="slidenum">
              <a:rPr lang="en-US" smtClean="0"/>
              <a:t>‹#›</a:t>
            </a:fld>
            <a:endParaRPr lang="en-US"/>
          </a:p>
        </p:txBody>
      </p:sp>
    </p:spTree>
    <p:extLst>
      <p:ext uri="{BB962C8B-B14F-4D97-AF65-F5344CB8AC3E}">
        <p14:creationId xmlns:p14="http://schemas.microsoft.com/office/powerpoint/2010/main" val="3866476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94A89E1-2281-4DB2-9858-1FC9C1F34963}" type="datetimeFigureOut">
              <a:rPr lang="en-US" smtClean="0"/>
              <a:t>5/1/2024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EBF1CD-F198-4328-9FE4-7BA72B1824FB}"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9856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94A89E1-2281-4DB2-9858-1FC9C1F34963}" type="datetimeFigureOut">
              <a:rPr lang="en-US" smtClean="0"/>
              <a:t>5/1/2024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74EBF1CD-F198-4328-9FE4-7BA72B1824FB}"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45067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4A89E1-2281-4DB2-9858-1FC9C1F34963}" type="datetimeFigureOut">
              <a:rPr lang="en-US" smtClean="0"/>
              <a:t>5/1/2024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BF1CD-F198-4328-9FE4-7BA72B1824FB}"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19592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4A89E1-2281-4DB2-9858-1FC9C1F34963}" type="datetimeFigureOut">
              <a:rPr lang="en-US" smtClean="0"/>
              <a:t>5/1/2024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EBF1CD-F198-4328-9FE4-7BA72B1824FB}"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17018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94A89E1-2281-4DB2-9858-1FC9C1F34963}" type="datetimeFigureOut">
              <a:rPr lang="en-US" smtClean="0"/>
              <a:t>5/1/2024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4EBF1CD-F198-4328-9FE4-7BA72B1824FB}"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24808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CEF9F-1715-BD9E-0024-BE1FBEF08DA9}"/>
              </a:ext>
            </a:extLst>
          </p:cNvPr>
          <p:cNvSpPr>
            <a:spLocks noGrp="1"/>
          </p:cNvSpPr>
          <p:nvPr>
            <p:ph type="ctrTitle"/>
          </p:nvPr>
        </p:nvSpPr>
        <p:spPr>
          <a:xfrm>
            <a:off x="2417779" y="114300"/>
            <a:ext cx="8637073" cy="3229429"/>
          </a:xfrm>
        </p:spPr>
        <p:txBody>
          <a:bodyPr>
            <a:normAutofit/>
          </a:bodyPr>
          <a:lstStyle/>
          <a:p>
            <a:r>
              <a:rPr lang="en-US" sz="8000" b="0" i="0" dirty="0">
                <a:solidFill>
                  <a:srgbClr val="610B38"/>
                </a:solidFill>
                <a:effectLst/>
                <a:highlight>
                  <a:srgbClr val="FFFFFF"/>
                </a:highlight>
                <a:latin typeface="Cooper Black" panose="0208090404030B020404" pitchFamily="18" charset="0"/>
              </a:rPr>
              <a:t>Parallel Processing</a:t>
            </a:r>
            <a:br>
              <a:rPr lang="en-US" b="0" i="0" dirty="0">
                <a:solidFill>
                  <a:srgbClr val="610B38"/>
                </a:solidFill>
                <a:effectLst/>
                <a:highlight>
                  <a:srgbClr val="FFFFFF"/>
                </a:highlight>
                <a:latin typeface="erdana"/>
              </a:rPr>
            </a:br>
            <a:endParaRPr lang="en-US" dirty="0"/>
          </a:p>
        </p:txBody>
      </p:sp>
    </p:spTree>
    <p:extLst>
      <p:ext uri="{BB962C8B-B14F-4D97-AF65-F5344CB8AC3E}">
        <p14:creationId xmlns:p14="http://schemas.microsoft.com/office/powerpoint/2010/main" val="1624922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0706-F8DE-FA86-1B1A-A9783C55F6FA}"/>
              </a:ext>
            </a:extLst>
          </p:cNvPr>
          <p:cNvSpPr>
            <a:spLocks noGrp="1"/>
          </p:cNvSpPr>
          <p:nvPr>
            <p:ph type="title"/>
          </p:nvPr>
        </p:nvSpPr>
        <p:spPr/>
        <p:txBody>
          <a:bodyPr/>
          <a:lstStyle/>
          <a:p>
            <a:r>
              <a:rPr lang="en-US" b="0" i="0" dirty="0">
                <a:solidFill>
                  <a:srgbClr val="610B38"/>
                </a:solidFill>
                <a:effectLst/>
                <a:highlight>
                  <a:srgbClr val="FFFFFF"/>
                </a:highlight>
                <a:latin typeface="erdana"/>
              </a:rPr>
              <a:t>Parallel Processing :</a:t>
            </a:r>
            <a:br>
              <a:rPr lang="en-US" b="0" i="0" dirty="0">
                <a:solidFill>
                  <a:srgbClr val="610B38"/>
                </a:solidFill>
                <a:effectLst/>
                <a:highlight>
                  <a:srgbClr val="FFFFFF"/>
                </a:highlight>
                <a:latin typeface="erdana"/>
              </a:rPr>
            </a:br>
            <a:endParaRPr lang="en-US" dirty="0"/>
          </a:p>
        </p:txBody>
      </p:sp>
      <p:sp>
        <p:nvSpPr>
          <p:cNvPr id="3" name="Content Placeholder 2">
            <a:extLst>
              <a:ext uri="{FF2B5EF4-FFF2-40B4-BE49-F238E27FC236}">
                <a16:creationId xmlns:a16="http://schemas.microsoft.com/office/drawing/2014/main" id="{1619CC4E-1478-E644-0AB2-8AA7440C76F6}"/>
              </a:ext>
            </a:extLst>
          </p:cNvPr>
          <p:cNvSpPr>
            <a:spLocks noGrp="1"/>
          </p:cNvSpPr>
          <p:nvPr>
            <p:ph idx="1"/>
          </p:nvPr>
        </p:nvSpPr>
        <p:spPr/>
        <p:txBody>
          <a:bodyPr/>
          <a:lstStyle/>
          <a:p>
            <a:r>
              <a:rPr lang="en-US" sz="2400" dirty="0"/>
              <a:t>Parallel processing can be described as a class of techniques which enables the system to achieve simultaneous data-processing tasks to increase the computational speed of a computer system.</a:t>
            </a:r>
          </a:p>
          <a:p>
            <a:r>
              <a:rPr lang="en-US" sz="2400" dirty="0"/>
              <a:t>A parallel processing system can carry out simultaneous data-processing to achieve faster execution time. For instance, while an instruction is being processed in the ALU component of the CPU, the next instruction can be read from memory.</a:t>
            </a:r>
          </a:p>
          <a:p>
            <a:pPr marL="0" indent="0">
              <a:buNone/>
            </a:pPr>
            <a:endParaRPr lang="en-US" dirty="0"/>
          </a:p>
        </p:txBody>
      </p:sp>
    </p:spTree>
    <p:extLst>
      <p:ext uri="{BB962C8B-B14F-4D97-AF65-F5344CB8AC3E}">
        <p14:creationId xmlns:p14="http://schemas.microsoft.com/office/powerpoint/2010/main" val="2423809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81674-BDE3-F115-C48F-32411A49D742}"/>
              </a:ext>
            </a:extLst>
          </p:cNvPr>
          <p:cNvSpPr>
            <a:spLocks noGrp="1"/>
          </p:cNvSpPr>
          <p:nvPr>
            <p:ph type="title"/>
          </p:nvPr>
        </p:nvSpPr>
        <p:spPr/>
        <p:txBody>
          <a:bodyPr/>
          <a:lstStyle/>
          <a:p>
            <a:r>
              <a:rPr lang="en-US" dirty="0"/>
              <a:t>CONTINUED…</a:t>
            </a:r>
          </a:p>
        </p:txBody>
      </p:sp>
      <p:sp>
        <p:nvSpPr>
          <p:cNvPr id="3" name="Content Placeholder 2">
            <a:extLst>
              <a:ext uri="{FF2B5EF4-FFF2-40B4-BE49-F238E27FC236}">
                <a16:creationId xmlns:a16="http://schemas.microsoft.com/office/drawing/2014/main" id="{2354463B-A385-C0F7-ABBD-2C8C60F34B6A}"/>
              </a:ext>
            </a:extLst>
          </p:cNvPr>
          <p:cNvSpPr>
            <a:spLocks noGrp="1"/>
          </p:cNvSpPr>
          <p:nvPr>
            <p:ph idx="1"/>
          </p:nvPr>
        </p:nvSpPr>
        <p:spPr/>
        <p:txBody>
          <a:bodyPr/>
          <a:lstStyle/>
          <a:p>
            <a:r>
              <a:rPr lang="en-US" sz="2400" dirty="0"/>
              <a:t>The primary purpose of parallel processing is to enhance the computer processing capability and increase its throughput, i.e. the amount of processing that can be accomplished during a given interval of time.</a:t>
            </a:r>
          </a:p>
          <a:p>
            <a:r>
              <a:rPr lang="en-US" sz="2400" dirty="0"/>
              <a:t>A parallel processing system can be achieved by having a multiplicity of functional units that perform identical or different operations simultaneously. The data can be distributed among various multiple functional units.</a:t>
            </a:r>
          </a:p>
          <a:p>
            <a:pPr marL="0" indent="0">
              <a:buNone/>
            </a:pPr>
            <a:endParaRPr lang="en-US" dirty="0"/>
          </a:p>
        </p:txBody>
      </p:sp>
    </p:spTree>
    <p:extLst>
      <p:ext uri="{BB962C8B-B14F-4D97-AF65-F5344CB8AC3E}">
        <p14:creationId xmlns:p14="http://schemas.microsoft.com/office/powerpoint/2010/main" val="2212659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C0D2C-7FB3-BC2A-89EC-9730B45CD084}"/>
              </a:ext>
            </a:extLst>
          </p:cNvPr>
          <p:cNvSpPr>
            <a:spLocks noGrp="1"/>
          </p:cNvSpPr>
          <p:nvPr>
            <p:ph type="title"/>
          </p:nvPr>
        </p:nvSpPr>
        <p:spPr/>
        <p:txBody>
          <a:bodyPr/>
          <a:lstStyle/>
          <a:p>
            <a:r>
              <a:rPr lang="en-US" dirty="0"/>
              <a:t>PARALLEL PROCESSING : EXAMPLE</a:t>
            </a:r>
          </a:p>
        </p:txBody>
      </p:sp>
      <p:sp>
        <p:nvSpPr>
          <p:cNvPr id="3" name="Content Placeholder 2">
            <a:extLst>
              <a:ext uri="{FF2B5EF4-FFF2-40B4-BE49-F238E27FC236}">
                <a16:creationId xmlns:a16="http://schemas.microsoft.com/office/drawing/2014/main" id="{9788827F-019A-610D-C00B-A7E0774B7D44}"/>
              </a:ext>
            </a:extLst>
          </p:cNvPr>
          <p:cNvSpPr>
            <a:spLocks noGrp="1"/>
          </p:cNvSpPr>
          <p:nvPr>
            <p:ph idx="1"/>
          </p:nvPr>
        </p:nvSpPr>
        <p:spPr/>
        <p:txBody>
          <a:bodyPr/>
          <a:lstStyle/>
          <a:p>
            <a:r>
              <a:rPr lang="en-US" sz="2400" dirty="0"/>
              <a:t>The following diagram shows one possible way of separating the execution unit into eight functional units operating in parallel.</a:t>
            </a:r>
          </a:p>
          <a:p>
            <a:r>
              <a:rPr lang="en-US" sz="2400" dirty="0"/>
              <a:t>The operation performed in each functional unit is indicated in each block if the diagram:</a:t>
            </a:r>
          </a:p>
          <a:p>
            <a:pPr marL="0" indent="0">
              <a:buNone/>
            </a:pPr>
            <a:endParaRPr lang="en-US" dirty="0"/>
          </a:p>
        </p:txBody>
      </p:sp>
    </p:spTree>
    <p:extLst>
      <p:ext uri="{BB962C8B-B14F-4D97-AF65-F5344CB8AC3E}">
        <p14:creationId xmlns:p14="http://schemas.microsoft.com/office/powerpoint/2010/main" val="2777041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rallel Processing">
            <a:extLst>
              <a:ext uri="{FF2B5EF4-FFF2-40B4-BE49-F238E27FC236}">
                <a16:creationId xmlns:a16="http://schemas.microsoft.com/office/drawing/2014/main" id="{77B2015B-E3F8-5BBB-0EFA-095ECCD3B1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426" y="166255"/>
            <a:ext cx="11710555" cy="6587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6736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BD1FF-6ADD-6FA6-93D0-4291F424AA58}"/>
              </a:ext>
            </a:extLst>
          </p:cNvPr>
          <p:cNvSpPr>
            <a:spLocks noGrp="1"/>
          </p:cNvSpPr>
          <p:nvPr>
            <p:ph type="title"/>
          </p:nvPr>
        </p:nvSpPr>
        <p:spPr/>
        <p:txBody>
          <a:bodyPr/>
          <a:lstStyle/>
          <a:p>
            <a:r>
              <a:rPr lang="en-US" dirty="0"/>
              <a:t>CONTINUED…</a:t>
            </a:r>
          </a:p>
        </p:txBody>
      </p:sp>
      <p:sp>
        <p:nvSpPr>
          <p:cNvPr id="3" name="Content Placeholder 2">
            <a:extLst>
              <a:ext uri="{FF2B5EF4-FFF2-40B4-BE49-F238E27FC236}">
                <a16:creationId xmlns:a16="http://schemas.microsoft.com/office/drawing/2014/main" id="{695B1FD4-B212-0670-C6EB-84D4A3C32287}"/>
              </a:ext>
            </a:extLst>
          </p:cNvPr>
          <p:cNvSpPr>
            <a:spLocks noGrp="1"/>
          </p:cNvSpPr>
          <p:nvPr>
            <p:ph idx="1"/>
          </p:nvPr>
        </p:nvSpPr>
        <p:spPr/>
        <p:txBody>
          <a:bodyPr/>
          <a:lstStyle/>
          <a:p>
            <a:r>
              <a:rPr lang="en-US" sz="2400" dirty="0"/>
              <a:t>The adder and integer multiplier performs the arithmetic operation with integer numbers.</a:t>
            </a:r>
          </a:p>
          <a:p>
            <a:r>
              <a:rPr lang="en-US" sz="2400" dirty="0"/>
              <a:t>The floating-point operations are separated into three circuits operating in parallel.</a:t>
            </a:r>
          </a:p>
          <a:p>
            <a:r>
              <a:rPr lang="en-US" sz="2400" dirty="0"/>
              <a:t>The logic, shift, and increment operations can be performed concurrently on different data. All units are independent of each other, so one number can be shifted while another number is being incremented.</a:t>
            </a:r>
          </a:p>
          <a:p>
            <a:pPr marL="0" indent="0">
              <a:buNone/>
            </a:pPr>
            <a:endParaRPr lang="en-US" dirty="0"/>
          </a:p>
        </p:txBody>
      </p:sp>
    </p:spTree>
    <p:extLst>
      <p:ext uri="{BB962C8B-B14F-4D97-AF65-F5344CB8AC3E}">
        <p14:creationId xmlns:p14="http://schemas.microsoft.com/office/powerpoint/2010/main" val="1253203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8EFFB-D245-321B-46D8-8E1F90E55216}"/>
              </a:ext>
            </a:extLst>
          </p:cNvPr>
          <p:cNvSpPr>
            <a:spLocks noGrp="1"/>
          </p:cNvSpPr>
          <p:nvPr>
            <p:ph type="title"/>
          </p:nvPr>
        </p:nvSpPr>
        <p:spPr/>
        <p:txBody>
          <a:bodyPr>
            <a:noAutofit/>
          </a:bodyPr>
          <a:lstStyle/>
          <a:p>
            <a:r>
              <a:rPr lang="en-US" sz="3600" b="1" i="0" dirty="0">
                <a:solidFill>
                  <a:schemeClr val="accent1">
                    <a:lumMod val="75000"/>
                  </a:schemeClr>
                </a:solidFill>
                <a:effectLst/>
                <a:highlight>
                  <a:srgbClr val="FFFFFF"/>
                </a:highlight>
                <a:latin typeface="inherit"/>
              </a:rPr>
              <a:t>Advantages of parallel processing</a:t>
            </a:r>
            <a:r>
              <a:rPr lang="en-US" sz="3600" b="0" i="0" dirty="0">
                <a:solidFill>
                  <a:schemeClr val="accent1">
                    <a:lumMod val="75000"/>
                  </a:schemeClr>
                </a:solidFill>
                <a:effectLst/>
                <a:highlight>
                  <a:srgbClr val="FFFFFF"/>
                </a:highlight>
                <a:latin typeface="Poppins" panose="00000500000000000000" pitchFamily="2" charset="0"/>
              </a:rPr>
              <a:t>:</a:t>
            </a:r>
            <a:br>
              <a:rPr lang="en-US" sz="3600" b="0" i="0" dirty="0">
                <a:solidFill>
                  <a:schemeClr val="accent1">
                    <a:lumMod val="75000"/>
                  </a:schemeClr>
                </a:solidFill>
                <a:effectLst/>
                <a:highlight>
                  <a:srgbClr val="FFFFFF"/>
                </a:highlight>
                <a:latin typeface="Poppins" panose="00000500000000000000" pitchFamily="2" charset="0"/>
              </a:rPr>
            </a:br>
            <a:endParaRPr lang="en-US" sz="3600" dirty="0">
              <a:solidFill>
                <a:schemeClr val="accent1">
                  <a:lumMod val="75000"/>
                </a:schemeClr>
              </a:solidFill>
            </a:endParaRPr>
          </a:p>
        </p:txBody>
      </p:sp>
      <p:sp>
        <p:nvSpPr>
          <p:cNvPr id="3" name="Content Placeholder 2">
            <a:extLst>
              <a:ext uri="{FF2B5EF4-FFF2-40B4-BE49-F238E27FC236}">
                <a16:creationId xmlns:a16="http://schemas.microsoft.com/office/drawing/2014/main" id="{626194DF-B8D0-CF80-5B8A-FEB9B035F00C}"/>
              </a:ext>
            </a:extLst>
          </p:cNvPr>
          <p:cNvSpPr>
            <a:spLocks noGrp="1"/>
          </p:cNvSpPr>
          <p:nvPr>
            <p:ph idx="1"/>
          </p:nvPr>
        </p:nvSpPr>
        <p:spPr/>
        <p:txBody>
          <a:bodyPr/>
          <a:lstStyle/>
          <a:p>
            <a:r>
              <a:rPr lang="en-US" sz="2400" dirty="0"/>
              <a:t>Parallel processing systems has capability to perform multiple task simultaneously.</a:t>
            </a:r>
          </a:p>
          <a:p>
            <a:r>
              <a:rPr lang="en-US" sz="2400" dirty="0"/>
              <a:t>Parallel processing systems offer high performance.</a:t>
            </a:r>
          </a:p>
          <a:p>
            <a:r>
              <a:rPr lang="en-US" sz="2400" dirty="0"/>
              <a:t>Parallel processing architecture reduces the computer costs.</a:t>
            </a:r>
          </a:p>
          <a:p>
            <a:r>
              <a:rPr lang="en-US" sz="2400" dirty="0"/>
              <a:t>Parallel processing architecture offers sustained productivity.</a:t>
            </a:r>
          </a:p>
          <a:p>
            <a:endParaRPr lang="en-US" dirty="0"/>
          </a:p>
        </p:txBody>
      </p:sp>
    </p:spTree>
    <p:extLst>
      <p:ext uri="{BB962C8B-B14F-4D97-AF65-F5344CB8AC3E}">
        <p14:creationId xmlns:p14="http://schemas.microsoft.com/office/powerpoint/2010/main" val="962813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78DB2-E7D3-517D-D04F-51B86DC70AE7}"/>
              </a:ext>
            </a:extLst>
          </p:cNvPr>
          <p:cNvSpPr>
            <a:spLocks noGrp="1"/>
          </p:cNvSpPr>
          <p:nvPr>
            <p:ph type="title"/>
          </p:nvPr>
        </p:nvSpPr>
        <p:spPr/>
        <p:txBody>
          <a:bodyPr/>
          <a:lstStyle/>
          <a:p>
            <a:r>
              <a:rPr lang="en-US" dirty="0"/>
              <a:t>CONTINUED…</a:t>
            </a:r>
          </a:p>
        </p:txBody>
      </p:sp>
      <p:sp>
        <p:nvSpPr>
          <p:cNvPr id="3" name="Content Placeholder 2">
            <a:extLst>
              <a:ext uri="{FF2B5EF4-FFF2-40B4-BE49-F238E27FC236}">
                <a16:creationId xmlns:a16="http://schemas.microsoft.com/office/drawing/2014/main" id="{334F52FF-C813-F974-BF07-E49D2C32074A}"/>
              </a:ext>
            </a:extLst>
          </p:cNvPr>
          <p:cNvSpPr>
            <a:spLocks noGrp="1"/>
          </p:cNvSpPr>
          <p:nvPr>
            <p:ph idx="1"/>
          </p:nvPr>
        </p:nvSpPr>
        <p:spPr>
          <a:xfrm>
            <a:off x="1451579" y="2015732"/>
            <a:ext cx="9603275" cy="3834350"/>
          </a:xfrm>
        </p:spPr>
        <p:txBody>
          <a:bodyPr/>
          <a:lstStyle/>
          <a:p>
            <a:r>
              <a:rPr lang="en-US" sz="2400" dirty="0"/>
              <a:t>So along with the high performance, Parallel processing systems also helps in lower computer costs and sustained productivity.</a:t>
            </a:r>
          </a:p>
          <a:p>
            <a:endParaRPr lang="en-US" sz="2400" dirty="0"/>
          </a:p>
          <a:p>
            <a:r>
              <a:rPr lang="en-US" sz="2400" dirty="0"/>
              <a:t>Parallel computers architecture are categorized as:</a:t>
            </a:r>
          </a:p>
          <a:p>
            <a:r>
              <a:rPr lang="en-US" sz="2400" dirty="0"/>
              <a:t>Pipelined  computers</a:t>
            </a:r>
          </a:p>
          <a:p>
            <a:r>
              <a:rPr lang="en-US" sz="2400" dirty="0"/>
              <a:t>Array processors</a:t>
            </a:r>
          </a:p>
          <a:p>
            <a:r>
              <a:rPr lang="en-US" sz="2400" dirty="0"/>
              <a:t>Multiprocessor systems</a:t>
            </a:r>
          </a:p>
          <a:p>
            <a:endParaRPr lang="en-US" sz="2400" dirty="0"/>
          </a:p>
        </p:txBody>
      </p:sp>
    </p:spTree>
    <p:extLst>
      <p:ext uri="{BB962C8B-B14F-4D97-AF65-F5344CB8AC3E}">
        <p14:creationId xmlns:p14="http://schemas.microsoft.com/office/powerpoint/2010/main" val="1098443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7685C-EE79-3BCC-B778-1C9470CD66D6}"/>
              </a:ext>
            </a:extLst>
          </p:cNvPr>
          <p:cNvSpPr>
            <a:spLocks noGrp="1"/>
          </p:cNvSpPr>
          <p:nvPr>
            <p:ph type="title"/>
          </p:nvPr>
        </p:nvSpPr>
        <p:spPr/>
        <p:txBody>
          <a:bodyPr>
            <a:normAutofit/>
          </a:bodyPr>
          <a:lstStyle/>
          <a:p>
            <a:r>
              <a:rPr lang="en-US" sz="4400" b="0" i="0" dirty="0">
                <a:solidFill>
                  <a:srgbClr val="610B4B"/>
                </a:solidFill>
                <a:effectLst/>
                <a:highlight>
                  <a:srgbClr val="FFFFFF"/>
                </a:highlight>
                <a:latin typeface="erdana"/>
              </a:rPr>
              <a:t>Flynn's classification :</a:t>
            </a:r>
            <a:endParaRPr lang="en-US" sz="4400" dirty="0"/>
          </a:p>
        </p:txBody>
      </p:sp>
      <p:sp>
        <p:nvSpPr>
          <p:cNvPr id="3" name="Content Placeholder 2">
            <a:extLst>
              <a:ext uri="{FF2B5EF4-FFF2-40B4-BE49-F238E27FC236}">
                <a16:creationId xmlns:a16="http://schemas.microsoft.com/office/drawing/2014/main" id="{D5884B38-0031-E9D8-A261-F700A9820C9A}"/>
              </a:ext>
            </a:extLst>
          </p:cNvPr>
          <p:cNvSpPr>
            <a:spLocks noGrp="1"/>
          </p:cNvSpPr>
          <p:nvPr>
            <p:ph idx="1"/>
          </p:nvPr>
        </p:nvSpPr>
        <p:spPr/>
        <p:txBody>
          <a:bodyPr>
            <a:normAutofit/>
          </a:bodyPr>
          <a:lstStyle/>
          <a:p>
            <a:r>
              <a:rPr lang="en-US" sz="2400" dirty="0"/>
              <a:t>As computer technology has evolved, and as the cost of computer hardware has dropped, computer designers have sought more and more opportunities for parallelism, usual to enhance performance and, in some cases, to increase availability. </a:t>
            </a:r>
          </a:p>
          <a:p>
            <a:r>
              <a:rPr lang="en-US" sz="2400" dirty="0"/>
              <a:t>The taxonomy first introduced by Flynn is still the most common way of categorizing systems with parallel processing capability. Flynn proposed the following categories of computer system:</a:t>
            </a:r>
          </a:p>
        </p:txBody>
      </p:sp>
    </p:spTree>
    <p:extLst>
      <p:ext uri="{BB962C8B-B14F-4D97-AF65-F5344CB8AC3E}">
        <p14:creationId xmlns:p14="http://schemas.microsoft.com/office/powerpoint/2010/main" val="1261737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43B8-E171-B363-BA8D-A4CD798870C8}"/>
              </a:ext>
            </a:extLst>
          </p:cNvPr>
          <p:cNvSpPr>
            <a:spLocks noGrp="1"/>
          </p:cNvSpPr>
          <p:nvPr>
            <p:ph type="title"/>
          </p:nvPr>
        </p:nvSpPr>
        <p:spPr/>
        <p:txBody>
          <a:bodyPr>
            <a:normAutofit/>
          </a:bodyPr>
          <a:lstStyle/>
          <a:p>
            <a:r>
              <a:rPr lang="en-US" sz="4000" b="0" i="0" dirty="0">
                <a:solidFill>
                  <a:srgbClr val="610B4B"/>
                </a:solidFill>
                <a:effectLst/>
                <a:highlight>
                  <a:srgbClr val="FFFFFF"/>
                </a:highlight>
                <a:latin typeface="erdana"/>
              </a:rPr>
              <a:t>Flynn's classification :</a:t>
            </a:r>
            <a:endParaRPr lang="en-US" sz="4000" dirty="0"/>
          </a:p>
        </p:txBody>
      </p:sp>
      <p:sp>
        <p:nvSpPr>
          <p:cNvPr id="3" name="Content Placeholder 2">
            <a:extLst>
              <a:ext uri="{FF2B5EF4-FFF2-40B4-BE49-F238E27FC236}">
                <a16:creationId xmlns:a16="http://schemas.microsoft.com/office/drawing/2014/main" id="{44F4E417-BB5C-C9DE-7376-AE580E0AB251}"/>
              </a:ext>
            </a:extLst>
          </p:cNvPr>
          <p:cNvSpPr>
            <a:spLocks noGrp="1"/>
          </p:cNvSpPr>
          <p:nvPr>
            <p:ph idx="1"/>
          </p:nvPr>
        </p:nvSpPr>
        <p:spPr/>
        <p:txBody>
          <a:bodyPr>
            <a:normAutofit/>
          </a:bodyPr>
          <a:lstStyle/>
          <a:p>
            <a:pPr marL="0" indent="0">
              <a:buNone/>
            </a:pPr>
            <a:r>
              <a:rPr lang="en-US" sz="2400" dirty="0"/>
              <a:t>Flynn's classification divides computers into four major groups that are:</a:t>
            </a:r>
          </a:p>
          <a:p>
            <a:r>
              <a:rPr lang="en-US" sz="2400" dirty="0"/>
              <a:t>Single instruction stream, single data stream (SISD)</a:t>
            </a:r>
          </a:p>
          <a:p>
            <a:r>
              <a:rPr lang="en-US" sz="2400" dirty="0"/>
              <a:t>Single instruction stream, multiple data stream (SIMD)</a:t>
            </a:r>
          </a:p>
          <a:p>
            <a:r>
              <a:rPr lang="en-US" sz="2400" dirty="0"/>
              <a:t>Multiple instruction stream, single data stream (MISD)</a:t>
            </a:r>
          </a:p>
          <a:p>
            <a:r>
              <a:rPr lang="en-US" sz="2400" dirty="0"/>
              <a:t>Multiple instruction stream, multiple data stream (MIMD)</a:t>
            </a:r>
          </a:p>
          <a:p>
            <a:endParaRPr lang="en-US" dirty="0"/>
          </a:p>
        </p:txBody>
      </p:sp>
    </p:spTree>
    <p:extLst>
      <p:ext uri="{BB962C8B-B14F-4D97-AF65-F5344CB8AC3E}">
        <p14:creationId xmlns:p14="http://schemas.microsoft.com/office/powerpoint/2010/main" val="371981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lynn's Classification of Computers">
            <a:extLst>
              <a:ext uri="{FF2B5EF4-FFF2-40B4-BE49-F238E27FC236}">
                <a16:creationId xmlns:a16="http://schemas.microsoft.com/office/drawing/2014/main" id="{D15196EF-4497-32C6-D1B1-7632D5B223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936" y="332509"/>
            <a:ext cx="11201400" cy="5361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218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F48AD-A2FD-3E3E-E1D2-5B0D7F8899CF}"/>
              </a:ext>
            </a:extLst>
          </p:cNvPr>
          <p:cNvSpPr>
            <a:spLocks noGrp="1"/>
          </p:cNvSpPr>
          <p:nvPr>
            <p:ph type="title"/>
          </p:nvPr>
        </p:nvSpPr>
        <p:spPr/>
        <p:txBody>
          <a:bodyPr/>
          <a:lstStyle/>
          <a:p>
            <a:r>
              <a:rPr lang="en-US" dirty="0">
                <a:solidFill>
                  <a:srgbClr val="7030A0"/>
                </a:solidFill>
              </a:rPr>
              <a:t>Single instruction stream, single data stream (SISD)</a:t>
            </a:r>
          </a:p>
        </p:txBody>
      </p:sp>
      <p:sp>
        <p:nvSpPr>
          <p:cNvPr id="3" name="Content Placeholder 2">
            <a:extLst>
              <a:ext uri="{FF2B5EF4-FFF2-40B4-BE49-F238E27FC236}">
                <a16:creationId xmlns:a16="http://schemas.microsoft.com/office/drawing/2014/main" id="{0906842A-DA13-D70C-0BEC-2E81A143DE53}"/>
              </a:ext>
            </a:extLst>
          </p:cNvPr>
          <p:cNvSpPr>
            <a:spLocks noGrp="1"/>
          </p:cNvSpPr>
          <p:nvPr>
            <p:ph idx="1"/>
          </p:nvPr>
        </p:nvSpPr>
        <p:spPr/>
        <p:txBody>
          <a:bodyPr>
            <a:normAutofit/>
          </a:bodyPr>
          <a:lstStyle/>
          <a:p>
            <a:r>
              <a:rPr lang="en-US" sz="2400" dirty="0"/>
              <a:t>An SISD computing system is a </a:t>
            </a:r>
            <a:r>
              <a:rPr lang="en-US" sz="2400" b="1" dirty="0">
                <a:solidFill>
                  <a:srgbClr val="FF0000"/>
                </a:solidFill>
              </a:rPr>
              <a:t>uniprocessor machine which is capable of executing a single instruction, operating on a single data stream. </a:t>
            </a:r>
          </a:p>
          <a:p>
            <a:r>
              <a:rPr lang="en-US" sz="2400" dirty="0"/>
              <a:t>In SISD, machine instructions are processed in a sequential manner and computers adopting this model are popularly called sequential computers. </a:t>
            </a:r>
          </a:p>
          <a:p>
            <a:r>
              <a:rPr lang="en-US" sz="2400" dirty="0"/>
              <a:t>Most conventional computers have SISD architecture. All the instructions and data to be processed have to be stored in primary memory.</a:t>
            </a:r>
          </a:p>
        </p:txBody>
      </p:sp>
    </p:spTree>
    <p:extLst>
      <p:ext uri="{BB962C8B-B14F-4D97-AF65-F5344CB8AC3E}">
        <p14:creationId xmlns:p14="http://schemas.microsoft.com/office/powerpoint/2010/main" val="3847985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012FB-371F-0074-E55F-367E0677085F}"/>
              </a:ext>
            </a:extLst>
          </p:cNvPr>
          <p:cNvSpPr>
            <a:spLocks noGrp="1"/>
          </p:cNvSpPr>
          <p:nvPr>
            <p:ph type="title"/>
          </p:nvPr>
        </p:nvSpPr>
        <p:spPr/>
        <p:txBody>
          <a:bodyPr>
            <a:normAutofit/>
          </a:bodyPr>
          <a:lstStyle/>
          <a:p>
            <a:r>
              <a:rPr lang="en-US" dirty="0">
                <a:solidFill>
                  <a:srgbClr val="7030A0"/>
                </a:solidFill>
              </a:rPr>
              <a:t>Single-instruction, multiple-data (SIMD) systems –</a:t>
            </a:r>
          </a:p>
        </p:txBody>
      </p:sp>
      <p:sp>
        <p:nvSpPr>
          <p:cNvPr id="3" name="Content Placeholder 2">
            <a:extLst>
              <a:ext uri="{FF2B5EF4-FFF2-40B4-BE49-F238E27FC236}">
                <a16:creationId xmlns:a16="http://schemas.microsoft.com/office/drawing/2014/main" id="{22CA0B39-AA72-A709-0AAD-EBC372F70925}"/>
              </a:ext>
            </a:extLst>
          </p:cNvPr>
          <p:cNvSpPr>
            <a:spLocks noGrp="1"/>
          </p:cNvSpPr>
          <p:nvPr>
            <p:ph idx="1"/>
          </p:nvPr>
        </p:nvSpPr>
        <p:spPr/>
        <p:txBody>
          <a:bodyPr>
            <a:normAutofit fontScale="92500" lnSpcReduction="10000"/>
          </a:bodyPr>
          <a:lstStyle/>
          <a:p>
            <a:r>
              <a:rPr lang="en-US" sz="2400" dirty="0"/>
              <a:t>An SIMD system is a </a:t>
            </a:r>
            <a:r>
              <a:rPr lang="en-US" sz="2400" b="1" dirty="0">
                <a:solidFill>
                  <a:srgbClr val="FF0000"/>
                </a:solidFill>
              </a:rPr>
              <a:t>multiprocessor machine capable of executing the same instruction on all the CPUs but operating on different data streams. </a:t>
            </a:r>
          </a:p>
          <a:p>
            <a:r>
              <a:rPr lang="en-US" sz="2400" dirty="0"/>
              <a:t>Machines based on an </a:t>
            </a:r>
            <a:r>
              <a:rPr lang="en-US" sz="2400" b="1" dirty="0">
                <a:solidFill>
                  <a:srgbClr val="FF0000"/>
                </a:solidFill>
              </a:rPr>
              <a:t>SIMD model are well suited to scientific computing since they involve lots of vector and matrix operations. </a:t>
            </a:r>
          </a:p>
          <a:p>
            <a:r>
              <a:rPr lang="en-US" sz="2400" dirty="0"/>
              <a:t>So that the information can be passed to all the </a:t>
            </a:r>
            <a:r>
              <a:rPr lang="en-US" sz="2400" b="1" dirty="0">
                <a:solidFill>
                  <a:srgbClr val="00B0F0"/>
                </a:solidFill>
              </a:rPr>
              <a:t>processing elements (PEs) </a:t>
            </a:r>
            <a:r>
              <a:rPr lang="en-US" sz="2400" dirty="0"/>
              <a:t>organized data elements of vectors can be divided into multiple sets(N-sets for N PE systems) and each PE can process one data set.</a:t>
            </a:r>
          </a:p>
        </p:txBody>
      </p:sp>
    </p:spTree>
    <p:extLst>
      <p:ext uri="{BB962C8B-B14F-4D97-AF65-F5344CB8AC3E}">
        <p14:creationId xmlns:p14="http://schemas.microsoft.com/office/powerpoint/2010/main" val="2287886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797F-0A83-2C5F-2D93-84F8225DD824}"/>
              </a:ext>
            </a:extLst>
          </p:cNvPr>
          <p:cNvSpPr>
            <a:spLocks noGrp="1"/>
          </p:cNvSpPr>
          <p:nvPr>
            <p:ph type="title"/>
          </p:nvPr>
        </p:nvSpPr>
        <p:spPr/>
        <p:txBody>
          <a:bodyPr>
            <a:normAutofit/>
          </a:bodyPr>
          <a:lstStyle/>
          <a:p>
            <a:r>
              <a:rPr lang="en-US" dirty="0">
                <a:solidFill>
                  <a:srgbClr val="7030A0"/>
                </a:solidFill>
              </a:rPr>
              <a:t>Single-instruction, multiple-data (SIMD) systems –</a:t>
            </a:r>
            <a:endParaRPr lang="en-US" dirty="0"/>
          </a:p>
        </p:txBody>
      </p:sp>
      <p:sp>
        <p:nvSpPr>
          <p:cNvPr id="3" name="Content Placeholder 2">
            <a:extLst>
              <a:ext uri="{FF2B5EF4-FFF2-40B4-BE49-F238E27FC236}">
                <a16:creationId xmlns:a16="http://schemas.microsoft.com/office/drawing/2014/main" id="{50F77A3B-22F3-4DB6-133C-CE8EFEFBCCB3}"/>
              </a:ext>
            </a:extLst>
          </p:cNvPr>
          <p:cNvSpPr>
            <a:spLocks noGrp="1"/>
          </p:cNvSpPr>
          <p:nvPr>
            <p:ph idx="1"/>
          </p:nvPr>
        </p:nvSpPr>
        <p:spPr/>
        <p:txBody>
          <a:bodyPr>
            <a:normAutofit/>
          </a:bodyPr>
          <a:lstStyle/>
          <a:p>
            <a:r>
              <a:rPr lang="en-US" sz="2400" dirty="0"/>
              <a:t>Single Instruction, Multiple Data (SIMD) system: </a:t>
            </a:r>
            <a:r>
              <a:rPr lang="en-US" sz="2400" b="1" dirty="0">
                <a:solidFill>
                  <a:srgbClr val="FF0000"/>
                </a:solidFill>
              </a:rPr>
              <a:t>A single machine instruction controls the simultaneous execution of a number of processing elements on a lockstep basis.</a:t>
            </a:r>
          </a:p>
          <a:p>
            <a:r>
              <a:rPr lang="en-US" sz="2400" dirty="0"/>
              <a:t> Each processing element has an associated data memory, so that each instruction is executed on a different set of data by the different processors. Vector and array processors fall into this category</a:t>
            </a:r>
          </a:p>
        </p:txBody>
      </p:sp>
    </p:spTree>
    <p:extLst>
      <p:ext uri="{BB962C8B-B14F-4D97-AF65-F5344CB8AC3E}">
        <p14:creationId xmlns:p14="http://schemas.microsoft.com/office/powerpoint/2010/main" val="2161395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B80E8-0DFB-29CF-35A9-74D22915B7FF}"/>
              </a:ext>
            </a:extLst>
          </p:cNvPr>
          <p:cNvSpPr>
            <a:spLocks noGrp="1"/>
          </p:cNvSpPr>
          <p:nvPr>
            <p:ph type="title"/>
          </p:nvPr>
        </p:nvSpPr>
        <p:spPr/>
        <p:txBody>
          <a:bodyPr>
            <a:normAutofit/>
          </a:bodyPr>
          <a:lstStyle/>
          <a:p>
            <a:r>
              <a:rPr lang="en-US" dirty="0">
                <a:solidFill>
                  <a:srgbClr val="7030A0"/>
                </a:solidFill>
              </a:rPr>
              <a:t>Multiple-instruction, single-data (MISD) systems –</a:t>
            </a:r>
          </a:p>
        </p:txBody>
      </p:sp>
      <p:sp>
        <p:nvSpPr>
          <p:cNvPr id="3" name="Content Placeholder 2">
            <a:extLst>
              <a:ext uri="{FF2B5EF4-FFF2-40B4-BE49-F238E27FC236}">
                <a16:creationId xmlns:a16="http://schemas.microsoft.com/office/drawing/2014/main" id="{C40DB2F5-0242-9CC3-DFE3-20C142644A82}"/>
              </a:ext>
            </a:extLst>
          </p:cNvPr>
          <p:cNvSpPr>
            <a:spLocks noGrp="1"/>
          </p:cNvSpPr>
          <p:nvPr>
            <p:ph idx="1"/>
          </p:nvPr>
        </p:nvSpPr>
        <p:spPr/>
        <p:txBody>
          <a:bodyPr>
            <a:normAutofit/>
          </a:bodyPr>
          <a:lstStyle/>
          <a:p>
            <a:r>
              <a:rPr lang="en-US" sz="2400" b="1" dirty="0">
                <a:solidFill>
                  <a:srgbClr val="FF0000"/>
                </a:solidFill>
              </a:rPr>
              <a:t>A sequence of data is transmitted to a set of processors, each of which executes a different instruction sequence</a:t>
            </a:r>
            <a:r>
              <a:rPr lang="en-US" sz="2400" dirty="0"/>
              <a:t>. This structure has never been implemented.</a:t>
            </a:r>
          </a:p>
          <a:p>
            <a:r>
              <a:rPr lang="en-US" sz="2400" dirty="0"/>
              <a:t>An MISD computing system is a multiprocessor machine capable of executing different instructions on different PEs but all of them operating on the same dataset .</a:t>
            </a:r>
          </a:p>
        </p:txBody>
      </p:sp>
    </p:spTree>
    <p:extLst>
      <p:ext uri="{BB962C8B-B14F-4D97-AF65-F5344CB8AC3E}">
        <p14:creationId xmlns:p14="http://schemas.microsoft.com/office/powerpoint/2010/main" val="3936610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26D6B-D3EC-A0CD-A2F7-DD2D746EA993}"/>
              </a:ext>
            </a:extLst>
          </p:cNvPr>
          <p:cNvSpPr>
            <a:spLocks noGrp="1"/>
          </p:cNvSpPr>
          <p:nvPr>
            <p:ph type="title"/>
          </p:nvPr>
        </p:nvSpPr>
        <p:spPr/>
        <p:txBody>
          <a:bodyPr/>
          <a:lstStyle/>
          <a:p>
            <a:r>
              <a:rPr lang="en-US" dirty="0">
                <a:solidFill>
                  <a:srgbClr val="7030A0"/>
                </a:solidFill>
              </a:rPr>
              <a:t>Multiple-instruction, single-data (MISD) systems –</a:t>
            </a:r>
            <a:endParaRPr lang="en-US" dirty="0"/>
          </a:p>
        </p:txBody>
      </p:sp>
      <p:sp>
        <p:nvSpPr>
          <p:cNvPr id="3" name="Content Placeholder 2">
            <a:extLst>
              <a:ext uri="{FF2B5EF4-FFF2-40B4-BE49-F238E27FC236}">
                <a16:creationId xmlns:a16="http://schemas.microsoft.com/office/drawing/2014/main" id="{5DD41E46-5047-A7AA-53DD-AD5754CBE985}"/>
              </a:ext>
            </a:extLst>
          </p:cNvPr>
          <p:cNvSpPr>
            <a:spLocks noGrp="1"/>
          </p:cNvSpPr>
          <p:nvPr>
            <p:ph idx="1"/>
          </p:nvPr>
        </p:nvSpPr>
        <p:spPr/>
        <p:txBody>
          <a:bodyPr/>
          <a:lstStyle/>
          <a:p>
            <a:r>
              <a:rPr lang="en-US" sz="2400" dirty="0"/>
              <a:t>The system performs different operations on the same data set. </a:t>
            </a:r>
            <a:r>
              <a:rPr lang="en-US" sz="2400" b="1" dirty="0">
                <a:solidFill>
                  <a:srgbClr val="FF0000"/>
                </a:solidFill>
              </a:rPr>
              <a:t>Machines built using the MISD model are not useful in most of the application, a few machines are built, but none of them are available commercially.</a:t>
            </a:r>
          </a:p>
          <a:p>
            <a:endParaRPr lang="en-US" dirty="0"/>
          </a:p>
        </p:txBody>
      </p:sp>
    </p:spTree>
    <p:extLst>
      <p:ext uri="{BB962C8B-B14F-4D97-AF65-F5344CB8AC3E}">
        <p14:creationId xmlns:p14="http://schemas.microsoft.com/office/powerpoint/2010/main" val="2240543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CEA41-456D-45F1-E5BE-A600480F12C2}"/>
              </a:ext>
            </a:extLst>
          </p:cNvPr>
          <p:cNvSpPr>
            <a:spLocks noGrp="1"/>
          </p:cNvSpPr>
          <p:nvPr>
            <p:ph type="title"/>
          </p:nvPr>
        </p:nvSpPr>
        <p:spPr/>
        <p:txBody>
          <a:bodyPr>
            <a:normAutofit fontScale="90000"/>
          </a:bodyPr>
          <a:lstStyle/>
          <a:p>
            <a:r>
              <a:rPr lang="en-US" dirty="0">
                <a:solidFill>
                  <a:srgbClr val="7030A0"/>
                </a:solidFill>
              </a:rPr>
              <a:t>Multiple-instruction, multiple-data (MIMD) systems –</a:t>
            </a:r>
            <a:br>
              <a:rPr lang="en-US" dirty="0">
                <a:solidFill>
                  <a:srgbClr val="7030A0"/>
                </a:solidFill>
              </a:rPr>
            </a:br>
            <a:endParaRPr lang="en-US" dirty="0">
              <a:solidFill>
                <a:srgbClr val="7030A0"/>
              </a:solidFill>
            </a:endParaRPr>
          </a:p>
        </p:txBody>
      </p:sp>
      <p:sp>
        <p:nvSpPr>
          <p:cNvPr id="3" name="Content Placeholder 2">
            <a:extLst>
              <a:ext uri="{FF2B5EF4-FFF2-40B4-BE49-F238E27FC236}">
                <a16:creationId xmlns:a16="http://schemas.microsoft.com/office/drawing/2014/main" id="{D9E2FE60-5D92-BFD8-AF95-16CE48FCC251}"/>
              </a:ext>
            </a:extLst>
          </p:cNvPr>
          <p:cNvSpPr>
            <a:spLocks noGrp="1"/>
          </p:cNvSpPr>
          <p:nvPr>
            <p:ph idx="1"/>
          </p:nvPr>
        </p:nvSpPr>
        <p:spPr/>
        <p:txBody>
          <a:bodyPr>
            <a:normAutofit/>
          </a:bodyPr>
          <a:lstStyle/>
          <a:p>
            <a:r>
              <a:rPr lang="en-US" sz="2400" dirty="0"/>
              <a:t>An MIMD system is a </a:t>
            </a:r>
            <a:r>
              <a:rPr lang="en-US" sz="2400" b="1" dirty="0">
                <a:solidFill>
                  <a:srgbClr val="FF0000"/>
                </a:solidFill>
              </a:rPr>
              <a:t>multiprocessor machine which is capable of executing multiple instructions on multiple data sets. </a:t>
            </a:r>
          </a:p>
          <a:p>
            <a:r>
              <a:rPr lang="en-US" sz="2400" dirty="0"/>
              <a:t>Multiple Instruction, Multiple Data (MIMD) system: A set of processors simultaneously execute different instruction sequences on different data sets. </a:t>
            </a:r>
          </a:p>
          <a:p>
            <a:r>
              <a:rPr lang="en-US" sz="2400" b="1" dirty="0">
                <a:solidFill>
                  <a:srgbClr val="FF0000"/>
                </a:solidFill>
              </a:rPr>
              <a:t>Symmetric multiprocessor (SMPs), </a:t>
            </a:r>
            <a:r>
              <a:rPr lang="en-US" sz="2400" b="1" dirty="0" err="1">
                <a:solidFill>
                  <a:srgbClr val="FF0000"/>
                </a:solidFill>
              </a:rPr>
              <a:t>cluster.s</a:t>
            </a:r>
            <a:r>
              <a:rPr lang="en-US" sz="2400" b="1" dirty="0">
                <a:solidFill>
                  <a:srgbClr val="FF0000"/>
                </a:solidFill>
              </a:rPr>
              <a:t>, and Nonuniform memory access (NUMA) systems fits into this category.</a:t>
            </a:r>
          </a:p>
        </p:txBody>
      </p:sp>
    </p:spTree>
    <p:extLst>
      <p:ext uri="{BB962C8B-B14F-4D97-AF65-F5344CB8AC3E}">
        <p14:creationId xmlns:p14="http://schemas.microsoft.com/office/powerpoint/2010/main" val="987112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nu Chanti\Desktop\Thank you.jpg">
            <a:extLst>
              <a:ext uri="{FF2B5EF4-FFF2-40B4-BE49-F238E27FC236}">
                <a16:creationId xmlns:a16="http://schemas.microsoft.com/office/drawing/2014/main" id="{F4766176-0B7D-F85E-6D6E-C9ED8FA75E09}"/>
              </a:ext>
            </a:extLst>
          </p:cNvPr>
          <p:cNvPicPr>
            <a:picLocks noChangeAspect="1" noChangeArrowheads="1"/>
          </p:cNvPicPr>
          <p:nvPr/>
        </p:nvPicPr>
        <p:blipFill>
          <a:blip r:embed="rId2" cstate="print"/>
          <a:srcRect/>
          <a:stretch>
            <a:fillRect/>
          </a:stretch>
        </p:blipFill>
        <p:spPr bwMode="auto">
          <a:xfrm>
            <a:off x="533400" y="457200"/>
            <a:ext cx="11125200" cy="5216236"/>
          </a:xfrm>
          <a:prstGeom prst="rect">
            <a:avLst/>
          </a:prstGeom>
          <a:noFill/>
        </p:spPr>
      </p:pic>
    </p:spTree>
    <p:extLst>
      <p:ext uri="{BB962C8B-B14F-4D97-AF65-F5344CB8AC3E}">
        <p14:creationId xmlns:p14="http://schemas.microsoft.com/office/powerpoint/2010/main" val="118695437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