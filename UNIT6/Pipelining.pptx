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7" r:id="rId25"/>
    <p:sldId id="280" r:id="rId26"/>
    <p:sldId id="281" r:id="rId27"/>
    <p:sldId id="282" r:id="rId28"/>
    <p:sldId id="286" r:id="rId29"/>
    <p:sldId id="288" r:id="rId30"/>
    <p:sldId id="289" r:id="rId31"/>
    <p:sldId id="284" r:id="rId32"/>
    <p:sldId id="285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8/18/2022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8/18/2022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 smtClean="0"/>
              <a:t>Pipelining</a:t>
            </a:r>
            <a:endParaRPr lang="en-US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Pipelining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term Pipelining refers to a technique of decomposing a sequential process into sub-operations, with each sub-operation being executed in a dedicated segment that operates concurrently with all other segments.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44093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most important characteristic of a pipeline technique is that several computations can be in progress in distinct segments at the same time. </a:t>
            </a:r>
          </a:p>
          <a:p>
            <a:endParaRPr lang="en-US" dirty="0" smtClean="0"/>
          </a:p>
          <a:p>
            <a:r>
              <a:rPr lang="en-US" dirty="0" smtClean="0"/>
              <a:t>The overlapping of computation is made possible by associating a register with each segment in the pipeline.</a:t>
            </a:r>
          </a:p>
          <a:p>
            <a:endParaRPr lang="en-US" dirty="0" smtClean="0"/>
          </a:p>
          <a:p>
            <a:r>
              <a:rPr lang="en-US" dirty="0" smtClean="0"/>
              <a:t> The registers provide isolation between each segment so that each can operate on distinct data simultaneously.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structure of a pipeline organization can be represented simply by including an input register for each segment followed by a combinational circuit.</a:t>
            </a:r>
          </a:p>
          <a:p>
            <a:endParaRPr lang="en-US" dirty="0" smtClean="0"/>
          </a:p>
          <a:p>
            <a:r>
              <a:rPr lang="en-US" dirty="0" smtClean="0"/>
              <a:t>Let us consider an example of combined multiplication and addition operation to get a better understanding of the pipeline organization.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combined multiplication and addition operation is done with a stream of numbers such as:</a:t>
            </a:r>
          </a:p>
          <a:p>
            <a:pPr algn="ctr">
              <a:buNone/>
            </a:pPr>
            <a:r>
              <a:rPr lang="en-US" dirty="0" smtClean="0"/>
              <a:t>A</a:t>
            </a:r>
            <a:r>
              <a:rPr lang="en-US" baseline="-25000" dirty="0" smtClean="0"/>
              <a:t>i</a:t>
            </a:r>
            <a:r>
              <a:rPr lang="en-US" dirty="0" smtClean="0"/>
              <a:t>* B</a:t>
            </a:r>
            <a:r>
              <a:rPr lang="en-US" baseline="-25000" dirty="0" smtClean="0"/>
              <a:t>i</a:t>
            </a:r>
            <a:r>
              <a:rPr lang="en-US" dirty="0" smtClean="0"/>
              <a:t> + </a:t>
            </a:r>
            <a:r>
              <a:rPr lang="en-US" dirty="0" err="1" smtClean="0"/>
              <a:t>C</a:t>
            </a:r>
            <a:r>
              <a:rPr lang="en-US" baseline="-25000" dirty="0" err="1" smtClean="0"/>
              <a:t>i</a:t>
            </a:r>
            <a:r>
              <a:rPr lang="en-US" dirty="0" smtClean="0"/>
              <a:t> for </a:t>
            </a:r>
            <a:r>
              <a:rPr lang="en-US" dirty="0" err="1" smtClean="0"/>
              <a:t>i</a:t>
            </a:r>
            <a:r>
              <a:rPr lang="en-US" dirty="0" smtClean="0"/>
              <a:t> = 1, 2, 3, ......., 7 </a:t>
            </a:r>
          </a:p>
          <a:p>
            <a:pPr algn="ctr">
              <a:buNone/>
            </a:pPr>
            <a:endParaRPr lang="en-US" dirty="0" smtClean="0"/>
          </a:p>
          <a:p>
            <a:r>
              <a:rPr lang="en-US" dirty="0" smtClean="0"/>
              <a:t>The operation to be performed on the numbers is decomposed into sub-operations with each sub-operation to be implemented in a segment within a pipeline.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 sub-operations performed in each segment of the pipeline are defined as:</a:t>
            </a:r>
          </a:p>
          <a:p>
            <a:endParaRPr lang="en-US" dirty="0" smtClean="0"/>
          </a:p>
          <a:p>
            <a:r>
              <a:rPr lang="en-US" dirty="0" smtClean="0"/>
              <a:t>R1 ← A</a:t>
            </a:r>
            <a:r>
              <a:rPr lang="en-US" baseline="-25000" dirty="0" smtClean="0"/>
              <a:t>i</a:t>
            </a:r>
            <a:r>
              <a:rPr lang="en-US" dirty="0" smtClean="0"/>
              <a:t>, R2 ← B</a:t>
            </a:r>
            <a:r>
              <a:rPr lang="en-US" baseline="-25000" dirty="0" smtClean="0"/>
              <a:t>i                </a:t>
            </a:r>
            <a:r>
              <a:rPr lang="en-US" dirty="0" smtClean="0"/>
              <a:t> Input A</a:t>
            </a:r>
            <a:r>
              <a:rPr lang="en-US" baseline="-25000" dirty="0" smtClean="0"/>
              <a:t>i</a:t>
            </a:r>
            <a:r>
              <a:rPr lang="en-US" dirty="0" smtClean="0"/>
              <a:t> and B</a:t>
            </a:r>
            <a:r>
              <a:rPr lang="en-US" baseline="-25000" dirty="0" smtClean="0"/>
              <a:t>i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R3 ← R1 * R2, R4 ← </a:t>
            </a:r>
            <a:r>
              <a:rPr lang="en-US" dirty="0" err="1" smtClean="0"/>
              <a:t>C</a:t>
            </a:r>
            <a:r>
              <a:rPr lang="en-US" baseline="-25000" dirty="0" err="1" smtClean="0"/>
              <a:t>i</a:t>
            </a:r>
            <a:r>
              <a:rPr lang="en-US" baseline="-25000" dirty="0" smtClean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Multiply,and</a:t>
            </a:r>
            <a:r>
              <a:rPr lang="en-US" dirty="0" smtClean="0"/>
              <a:t> input </a:t>
            </a:r>
            <a:r>
              <a:rPr lang="en-US" dirty="0" err="1" smtClean="0"/>
              <a:t>C</a:t>
            </a:r>
            <a:r>
              <a:rPr lang="en-US" baseline="-25000" dirty="0" err="1" smtClean="0"/>
              <a:t>i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R5 ← R3 + R4 	                 Add </a:t>
            </a:r>
            <a:r>
              <a:rPr lang="en-US" dirty="0" err="1" smtClean="0"/>
              <a:t>C</a:t>
            </a:r>
            <a:r>
              <a:rPr lang="en-US" baseline="-25000" dirty="0" err="1" smtClean="0"/>
              <a:t>i</a:t>
            </a:r>
            <a:r>
              <a:rPr lang="en-US" dirty="0" smtClean="0"/>
              <a:t> to product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GUKT\Desktop\pipelinin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028364"/>
            <a:ext cx="7848600" cy="54486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44093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Registers R1, R2, R3, and R4 hold the data and the combinational circuits operate in a particular segment.</a:t>
            </a:r>
          </a:p>
          <a:p>
            <a:endParaRPr lang="en-US" dirty="0" smtClean="0"/>
          </a:p>
          <a:p>
            <a:r>
              <a:rPr lang="en-US" dirty="0" smtClean="0"/>
              <a:t>The output generated by the combinational circuit in a given segment is applied as an input register of the next segment. </a:t>
            </a:r>
          </a:p>
          <a:p>
            <a:endParaRPr lang="en-US" dirty="0" smtClean="0"/>
          </a:p>
          <a:p>
            <a:r>
              <a:rPr lang="en-US" dirty="0" smtClean="0"/>
              <a:t>For instance, from the block diagram, we can see that the register R3 is used as one of the input registers for the combinational adder circuit.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of Pipelining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general, the pipeline organization is applicable for two areas of computer design which includes: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Arithmetic Pipeline</a:t>
            </a:r>
          </a:p>
          <a:p>
            <a:r>
              <a:rPr lang="en-US" dirty="0" smtClean="0"/>
              <a:t>Instruction Pipeline</a:t>
            </a:r>
          </a:p>
          <a:p>
            <a:r>
              <a:rPr lang="en-US" dirty="0" smtClean="0"/>
              <a:t>RISC Pipeline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Arithmetic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Arithmetic Pipelines are mostly used in high-speed computers. </a:t>
            </a:r>
          </a:p>
          <a:p>
            <a:endParaRPr lang="en-US" dirty="0" smtClean="0"/>
          </a:p>
          <a:p>
            <a:r>
              <a:rPr lang="en-US" dirty="0" smtClean="0"/>
              <a:t>They are used to implement floating-point operations, multiplication of fixed-point numbers, and similar computations encountered in scientific problems.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understand the concepts of arithmetic pipeline in a more convenient way, let us consider an example of a pipeline unit for floating-point addition and subtraction.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inputs to the floating-point adder pipeline are two normalized floating-point binary numbers defined as: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X = A * 2</a:t>
            </a:r>
            <a:r>
              <a:rPr lang="en-US" baseline="30000" dirty="0" smtClean="0"/>
              <a:t>a</a:t>
            </a:r>
            <a:r>
              <a:rPr lang="en-US" dirty="0" smtClean="0"/>
              <a:t> = 0.9504 * 10</a:t>
            </a:r>
            <a:r>
              <a:rPr lang="en-US" baseline="30000" dirty="0" smtClean="0"/>
              <a:t>3</a:t>
            </a:r>
            <a:r>
              <a:rPr lang="en-US" dirty="0" smtClean="0"/>
              <a:t> </a:t>
            </a:r>
          </a:p>
          <a:p>
            <a:pPr algn="ctr">
              <a:buNone/>
            </a:pPr>
            <a:r>
              <a:rPr lang="en-US" dirty="0" smtClean="0"/>
              <a:t>Y = B * 2</a:t>
            </a:r>
            <a:r>
              <a:rPr lang="en-US" baseline="30000" dirty="0" smtClean="0"/>
              <a:t>b</a:t>
            </a:r>
            <a:r>
              <a:rPr lang="en-US" dirty="0" smtClean="0"/>
              <a:t> = 0.8200 * 10</a:t>
            </a:r>
            <a:r>
              <a:rPr lang="en-US" baseline="30000" dirty="0" smtClean="0"/>
              <a:t>2</a:t>
            </a:r>
          </a:p>
          <a:p>
            <a:pPr algn="ctr">
              <a:buNone/>
            </a:pPr>
            <a:endParaRPr lang="en-US" baseline="30000" dirty="0" smtClean="0"/>
          </a:p>
          <a:p>
            <a:pPr algn="ctr"/>
            <a:r>
              <a:rPr lang="en-US" dirty="0" smtClean="0"/>
              <a:t>Where </a:t>
            </a:r>
            <a:r>
              <a:rPr lang="en-US" b="1" dirty="0" smtClean="0"/>
              <a:t>A</a:t>
            </a:r>
            <a:r>
              <a:rPr lang="en-US" dirty="0" smtClean="0"/>
              <a:t> and </a:t>
            </a:r>
            <a:r>
              <a:rPr lang="en-US" b="1" dirty="0" smtClean="0"/>
              <a:t>B</a:t>
            </a:r>
            <a:r>
              <a:rPr lang="en-US" dirty="0" smtClean="0"/>
              <a:t> are two fractions that represent the mantissa and </a:t>
            </a:r>
            <a:r>
              <a:rPr lang="en-US" b="1" dirty="0" smtClean="0"/>
              <a:t>a</a:t>
            </a:r>
            <a:r>
              <a:rPr lang="en-US" dirty="0" smtClean="0"/>
              <a:t> and </a:t>
            </a:r>
            <a:r>
              <a:rPr lang="en-US" b="1" dirty="0" smtClean="0"/>
              <a:t>b</a:t>
            </a:r>
            <a:r>
              <a:rPr lang="en-US" dirty="0" smtClean="0"/>
              <a:t> are the exponents.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combined operation of floating-point addition and subtraction is divided into four segments.</a:t>
            </a:r>
          </a:p>
          <a:p>
            <a:endParaRPr lang="en-US" dirty="0" smtClean="0"/>
          </a:p>
          <a:p>
            <a:r>
              <a:rPr lang="en-US" dirty="0" smtClean="0"/>
              <a:t> Each segment contains the corresponding </a:t>
            </a:r>
            <a:r>
              <a:rPr lang="en-US" dirty="0" smtClean="0"/>
              <a:t>sub operation </a:t>
            </a:r>
            <a:r>
              <a:rPr lang="en-US" dirty="0" smtClean="0"/>
              <a:t>to be performed in the given pipeline.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/>
              <a:t>sub operations </a:t>
            </a:r>
            <a:r>
              <a:rPr lang="en-US" dirty="0" smtClean="0"/>
              <a:t>that are shown in the four segments are:</a:t>
            </a:r>
          </a:p>
          <a:p>
            <a:endParaRPr lang="en-US" dirty="0" smtClean="0"/>
          </a:p>
          <a:p>
            <a:r>
              <a:rPr lang="en-US" dirty="0" smtClean="0"/>
              <a:t>Compare the exponents by subtraction.</a:t>
            </a:r>
          </a:p>
          <a:p>
            <a:r>
              <a:rPr lang="en-US" dirty="0" smtClean="0"/>
              <a:t>Align the mantissas.</a:t>
            </a:r>
          </a:p>
          <a:p>
            <a:r>
              <a:rPr lang="en-US" dirty="0" smtClean="0"/>
              <a:t>Add or subtract the mantissas.</a:t>
            </a:r>
          </a:p>
          <a:p>
            <a:r>
              <a:rPr lang="en-US" dirty="0" smtClean="0"/>
              <a:t>Normalize the result.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RGUKT\Desktop\arithmetic-pipelin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9144000" cy="6629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762000"/>
          </a:xfrm>
        </p:spPr>
        <p:txBody>
          <a:bodyPr/>
          <a:lstStyle/>
          <a:p>
            <a:r>
              <a:rPr lang="en-US" dirty="0" smtClean="0"/>
              <a:t>Arithmetic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593336"/>
          </a:xfrm>
        </p:spPr>
        <p:txBody>
          <a:bodyPr>
            <a:normAutofit fontScale="92500" lnSpcReduction="20000"/>
          </a:bodyPr>
          <a:lstStyle/>
          <a:p>
            <a:pPr marL="624078" indent="-514350">
              <a:buAutoNum type="arabicPeriod"/>
            </a:pPr>
            <a:r>
              <a:rPr lang="en-US" b="1" dirty="0" smtClean="0">
                <a:solidFill>
                  <a:srgbClr val="C00000"/>
                </a:solidFill>
              </a:rPr>
              <a:t>Compare exponents by subtraction:</a:t>
            </a:r>
          </a:p>
          <a:p>
            <a:pPr marL="624078" indent="-514350">
              <a:buNone/>
            </a:pP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The exponents are compared by subtracting them to determine their difference. </a:t>
            </a:r>
          </a:p>
          <a:p>
            <a:endParaRPr lang="en-US" dirty="0" smtClean="0"/>
          </a:p>
          <a:p>
            <a:r>
              <a:rPr lang="en-US" dirty="0" smtClean="0"/>
              <a:t>The larger exponent is chosen as the exponent of the result.</a:t>
            </a:r>
          </a:p>
          <a:p>
            <a:endParaRPr lang="en-US" dirty="0" smtClean="0"/>
          </a:p>
          <a:p>
            <a:r>
              <a:rPr lang="en-US" dirty="0" smtClean="0"/>
              <a:t>The difference of the exponents, i.e., </a:t>
            </a:r>
            <a:r>
              <a:rPr lang="en-US" b="1" dirty="0" smtClean="0"/>
              <a:t>3</a:t>
            </a:r>
            <a:r>
              <a:rPr lang="en-US" dirty="0" smtClean="0"/>
              <a:t> - </a:t>
            </a:r>
            <a:r>
              <a:rPr lang="en-US" b="1" dirty="0" smtClean="0"/>
              <a:t>2</a:t>
            </a:r>
            <a:r>
              <a:rPr lang="en-US" dirty="0" smtClean="0"/>
              <a:t> = </a:t>
            </a:r>
            <a:r>
              <a:rPr lang="en-US" b="1" dirty="0" smtClean="0"/>
              <a:t>1</a:t>
            </a:r>
            <a:r>
              <a:rPr lang="en-US" dirty="0" smtClean="0"/>
              <a:t> determines how many times the mantissa associated with the smaller exponent must be shifted to the right.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2. Align the mantissas:</a:t>
            </a:r>
          </a:p>
          <a:p>
            <a:endParaRPr lang="en-US" dirty="0" smtClean="0"/>
          </a:p>
          <a:p>
            <a:r>
              <a:rPr lang="en-US" dirty="0" smtClean="0"/>
              <a:t>The mantissa associated with the smaller exponent is shifted according to the difference of exponents determined in segment one.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X = 0.9504 * 10</a:t>
            </a:r>
            <a:r>
              <a:rPr lang="en-US" baseline="30000" dirty="0" smtClean="0"/>
              <a:t>3</a:t>
            </a:r>
            <a:r>
              <a:rPr lang="en-US" dirty="0" smtClean="0"/>
              <a:t> </a:t>
            </a:r>
          </a:p>
          <a:p>
            <a:pPr algn="ctr">
              <a:buNone/>
            </a:pPr>
            <a:r>
              <a:rPr lang="en-US" dirty="0" smtClean="0"/>
              <a:t>Y = 0.08200 * 10</a:t>
            </a:r>
            <a:r>
              <a:rPr lang="en-US" baseline="30000" dirty="0" smtClean="0"/>
              <a:t>3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3. Add mantissas:</a:t>
            </a:r>
          </a:p>
          <a:p>
            <a:endParaRPr lang="en-US" dirty="0" smtClean="0"/>
          </a:p>
          <a:p>
            <a:r>
              <a:rPr lang="en-US" dirty="0" smtClean="0"/>
              <a:t>The two mantissas are added in segment three.</a:t>
            </a:r>
          </a:p>
          <a:p>
            <a:r>
              <a:rPr lang="en-US" dirty="0" smtClean="0"/>
              <a:t>Z = X + Y = 1.0324 * 10</a:t>
            </a:r>
            <a:r>
              <a:rPr lang="en-US" baseline="30000" dirty="0" smtClean="0"/>
              <a:t>3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4. Normalize the result:</a:t>
            </a:r>
          </a:p>
          <a:p>
            <a:endParaRPr lang="en-US" dirty="0" smtClean="0"/>
          </a:p>
          <a:p>
            <a:r>
              <a:rPr lang="en-US" dirty="0" smtClean="0"/>
              <a:t>After normalization, the result is written as:</a:t>
            </a:r>
          </a:p>
          <a:p>
            <a:r>
              <a:rPr lang="en-US" dirty="0" smtClean="0"/>
              <a:t>Z = 0.1324 * 10</a:t>
            </a:r>
            <a:r>
              <a:rPr lang="en-US" baseline="30000" dirty="0" smtClean="0"/>
              <a:t>4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Instruction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Pipeline processing can occur not only in the data stream but in the instruction stream as well.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Most of the digital computers with complex instructions require instruction pipeline to carry out operations like fetch, decode and execute instructions.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general, the computer needs to process each instruction with the following sequence of steps.</a:t>
            </a:r>
          </a:p>
          <a:p>
            <a:endParaRPr lang="en-US" dirty="0" smtClean="0"/>
          </a:p>
          <a:p>
            <a:r>
              <a:rPr lang="en-US" dirty="0" smtClean="0"/>
              <a:t>Fetch instruction from memory.</a:t>
            </a:r>
          </a:p>
          <a:p>
            <a:r>
              <a:rPr lang="en-US" dirty="0" smtClean="0"/>
              <a:t>Decode the instruction.</a:t>
            </a:r>
          </a:p>
          <a:p>
            <a:r>
              <a:rPr lang="en-US" dirty="0" smtClean="0"/>
              <a:t>Calculate the effective address.</a:t>
            </a:r>
          </a:p>
          <a:p>
            <a:r>
              <a:rPr lang="en-US" dirty="0" smtClean="0"/>
              <a:t>Fetch the operands from memory.</a:t>
            </a:r>
          </a:p>
          <a:p>
            <a:r>
              <a:rPr lang="en-US" dirty="0" smtClean="0"/>
              <a:t>Execute the instruction.</a:t>
            </a:r>
          </a:p>
          <a:p>
            <a:r>
              <a:rPr lang="en-US" dirty="0" smtClean="0"/>
              <a:t>Store the result in the proper place.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Each step is executed in a particular segment, and there are times when different segments may take different times to operate on the incoming information. </a:t>
            </a:r>
          </a:p>
          <a:p>
            <a:endParaRPr lang="en-US" dirty="0" smtClean="0"/>
          </a:p>
          <a:p>
            <a:r>
              <a:rPr lang="en-US" dirty="0" smtClean="0"/>
              <a:t>Moreover, there are times when two or more segments may require memory access at the same time, causing one segment to wait until another is finished with the memory.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organization of an instruction pipeline will be more efficient if the instruction cycle is divided into segments of equal duration. </a:t>
            </a:r>
          </a:p>
          <a:p>
            <a:endParaRPr lang="en-US" dirty="0" smtClean="0"/>
          </a:p>
          <a:p>
            <a:r>
              <a:rPr lang="en-US" dirty="0" smtClean="0"/>
              <a:t>One of the most common examples of this type of organization is a </a:t>
            </a:r>
            <a:r>
              <a:rPr lang="en-US" b="1" dirty="0" smtClean="0"/>
              <a:t>Four-segment instruction pipeline.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914400"/>
          </a:xfrm>
        </p:spPr>
        <p:txBody>
          <a:bodyPr>
            <a:normAutofit/>
          </a:bodyPr>
          <a:lstStyle/>
          <a:p>
            <a:r>
              <a:rPr lang="en-US" dirty="0" smtClean="0"/>
              <a:t>Instruction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669536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A </a:t>
            </a:r>
            <a:r>
              <a:rPr lang="en-US" b="1" dirty="0" smtClean="0"/>
              <a:t>four-segment instruction</a:t>
            </a:r>
            <a:r>
              <a:rPr lang="en-US" dirty="0" smtClean="0"/>
              <a:t> pipeline combines two or more different segments and makes it as a single one. </a:t>
            </a:r>
          </a:p>
          <a:p>
            <a:endParaRPr lang="en-US" dirty="0" smtClean="0"/>
          </a:p>
          <a:p>
            <a:r>
              <a:rPr lang="en-US" dirty="0" smtClean="0"/>
              <a:t>For instance, the decoding of the instruction can be combined with the calculation of the effective address into one segment.</a:t>
            </a:r>
          </a:p>
          <a:p>
            <a:endParaRPr lang="en-US" dirty="0" smtClean="0"/>
          </a:p>
          <a:p>
            <a:r>
              <a:rPr lang="en-US" dirty="0" smtClean="0"/>
              <a:t>The following block diagram shows a typical example of a four-segment instruction pipeline. The instruction cycle is completed in four segments.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Pipeline</a:t>
            </a:r>
            <a:endParaRPr lang="en-US" dirty="0"/>
          </a:p>
        </p:txBody>
      </p:sp>
      <p:pic>
        <p:nvPicPr>
          <p:cNvPr id="1026" name="Picture 2" descr="C:\Users\RGUKT\Desktop\ins. pipeline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514600"/>
            <a:ext cx="6248400" cy="396239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RGUKT\Desktop\images (1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447800"/>
            <a:ext cx="8153399" cy="4724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Segment 1:</a:t>
            </a:r>
          </a:p>
          <a:p>
            <a:r>
              <a:rPr lang="en-US" dirty="0" smtClean="0"/>
              <a:t>The instruction fetch segment can be implemented using first in, first out (FIFO) buffer.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Segment 2:</a:t>
            </a:r>
          </a:p>
          <a:p>
            <a:r>
              <a:rPr lang="en-US" dirty="0" smtClean="0"/>
              <a:t>The instruction fetched from memory is decoded in the second segment, and eventually, the effective address is calculated in a separate arithmetic circuit.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Segment 3:</a:t>
            </a:r>
          </a:p>
          <a:p>
            <a:r>
              <a:rPr lang="en-US" dirty="0" smtClean="0"/>
              <a:t>An operand from memory is fetched in the third segment.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Segment 4:</a:t>
            </a:r>
          </a:p>
          <a:p>
            <a:r>
              <a:rPr lang="en-US" dirty="0" smtClean="0"/>
              <a:t>The instructions are finally executed in the last segment of the pipeline organization.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RISC </a:t>
            </a:r>
            <a:r>
              <a:rPr lang="en-US" dirty="0" smtClean="0"/>
              <a:t>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RISC stands for Reduced Instruction Set Computers. It was introduced to execute as fast as one instruction per clock cycle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This RISC pipeline helps to simplify the computer architecture’s design.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RGUKT\Downloads\WhatsApp Image 2022-08-18 at 5.59.24 AM.jpe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838200"/>
            <a:ext cx="8534400" cy="586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RGUKT\Downloads\WhatsApp Image 2022-08-18 at 5.59.29 A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33401"/>
            <a:ext cx="9144000" cy="609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Advantages of Pipelining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/>
            <a:endParaRPr lang="en-US" b="1" dirty="0" smtClean="0"/>
          </a:p>
          <a:p>
            <a:pPr fontAlgn="base"/>
            <a:r>
              <a:rPr lang="en-US" dirty="0" smtClean="0"/>
              <a:t>Instruction throughput increases.</a:t>
            </a:r>
          </a:p>
          <a:p>
            <a:pPr fontAlgn="base"/>
            <a:r>
              <a:rPr lang="en-US" dirty="0" smtClean="0"/>
              <a:t>Increase in the number of pipeline stages increases the number of instructions executed simultaneously.</a:t>
            </a:r>
          </a:p>
          <a:p>
            <a:pPr fontAlgn="base"/>
            <a:r>
              <a:rPr lang="en-US" dirty="0" smtClean="0"/>
              <a:t>Faster ALU can be designed when pipelining is used.</a:t>
            </a:r>
          </a:p>
          <a:p>
            <a:pPr fontAlgn="base"/>
            <a:r>
              <a:rPr lang="en-US" dirty="0" smtClean="0"/>
              <a:t>Pipelined CPU’s works at higher clock frequencies than the RAM.</a:t>
            </a:r>
          </a:p>
          <a:p>
            <a:pPr fontAlgn="base"/>
            <a:r>
              <a:rPr lang="en-US" dirty="0" smtClean="0"/>
              <a:t>Pipelining increases the overall performance of the CPU.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Disadvantages of </a:t>
            </a:r>
            <a:r>
              <a:rPr lang="en-US" b="1" dirty="0" smtClean="0"/>
              <a:t>Pipelining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Designing </a:t>
            </a:r>
            <a:r>
              <a:rPr lang="en-US" dirty="0" smtClean="0"/>
              <a:t>of the pipelined processor is complex.</a:t>
            </a:r>
          </a:p>
          <a:p>
            <a:pPr fontAlgn="base"/>
            <a:r>
              <a:rPr lang="en-US" dirty="0" smtClean="0"/>
              <a:t>Instruction latency increases in pipelined processors.</a:t>
            </a:r>
          </a:p>
          <a:p>
            <a:pPr fontAlgn="base"/>
            <a:r>
              <a:rPr lang="en-US" dirty="0" smtClean="0"/>
              <a:t>The throughput of a pipelined processor is difficult to predict.</a:t>
            </a:r>
          </a:p>
          <a:p>
            <a:pPr fontAlgn="base"/>
            <a:r>
              <a:rPr lang="en-US" dirty="0" smtClean="0"/>
              <a:t>The longer the pipeline, worse the problem of hazard for branch instructions.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nu Chanti\Desktop\Thank yo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57200"/>
            <a:ext cx="8153399" cy="5867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63</TotalTime>
  <Words>1041</Words>
  <Application>Microsoft Office PowerPoint</Application>
  <PresentationFormat>On-screen Show (4:3)</PresentationFormat>
  <Paragraphs>143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Urban</vt:lpstr>
      <vt:lpstr>Pipelining</vt:lpstr>
      <vt:lpstr>Pipelining</vt:lpstr>
      <vt:lpstr>Pipelining</vt:lpstr>
      <vt:lpstr>Pipelining</vt:lpstr>
      <vt:lpstr>Pipelining</vt:lpstr>
      <vt:lpstr>Pipelining</vt:lpstr>
      <vt:lpstr>Slide 7</vt:lpstr>
      <vt:lpstr>Pipelining</vt:lpstr>
      <vt:lpstr>Implementation of Pipelining</vt:lpstr>
      <vt:lpstr>Arithmetic Pipeline</vt:lpstr>
      <vt:lpstr>Arithmetic Pipeline</vt:lpstr>
      <vt:lpstr>Arithmetic Pipeline</vt:lpstr>
      <vt:lpstr>Arithmetic Pipeline</vt:lpstr>
      <vt:lpstr>Arithmetic Pipeline</vt:lpstr>
      <vt:lpstr>Slide 15</vt:lpstr>
      <vt:lpstr>Arithmetic Pipeline</vt:lpstr>
      <vt:lpstr>Arithmetic Pipeline</vt:lpstr>
      <vt:lpstr>Arithmetic Pipeline</vt:lpstr>
      <vt:lpstr>Instruction Pipeline</vt:lpstr>
      <vt:lpstr>Instruction Pipeline</vt:lpstr>
      <vt:lpstr>Instruction Pipeline</vt:lpstr>
      <vt:lpstr>Instruction Pipeline</vt:lpstr>
      <vt:lpstr>Instruction Pipeline</vt:lpstr>
      <vt:lpstr>Instruction Pipeline</vt:lpstr>
      <vt:lpstr>Slide 25</vt:lpstr>
      <vt:lpstr>Instruction Pipeline</vt:lpstr>
      <vt:lpstr>Instruction Pipeline</vt:lpstr>
      <vt:lpstr>RISC Pipeline</vt:lpstr>
      <vt:lpstr>Slide 29</vt:lpstr>
      <vt:lpstr>Slide 30</vt:lpstr>
      <vt:lpstr>Advantages of Pipelining</vt:lpstr>
      <vt:lpstr>Disadvantages of Pipelining</vt:lpstr>
      <vt:lpstr>Slide 33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Pipelining</dc:title>
  <dc:creator>RGUKT</dc:creator>
  <cp:lastModifiedBy>RGUKT</cp:lastModifiedBy>
  <cp:revision>18</cp:revision>
  <dcterms:created xsi:type="dcterms:W3CDTF">2006-08-16T00:00:00Z</dcterms:created>
  <dcterms:modified xsi:type="dcterms:W3CDTF">2022-08-18T00:58:25Z</dcterms:modified>
</cp:coreProperties>
</file>