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3" r:id="rId6"/>
    <p:sldId id="259" r:id="rId7"/>
    <p:sldId id="260" r:id="rId8"/>
    <p:sldId id="262" r:id="rId9"/>
    <p:sldId id="261" r:id="rId10"/>
    <p:sldId id="264" r:id="rId11"/>
    <p:sldId id="265" r:id="rId12"/>
    <p:sldId id="266" r:id="rId13"/>
    <p:sldId id="267" r:id="rId14"/>
    <p:sldId id="268" r:id="rId15"/>
    <p:sldId id="269" r:id="rId16"/>
    <p:sldId id="271" r:id="rId17"/>
    <p:sldId id="273" r:id="rId18"/>
    <p:sldId id="272" r:id="rId19"/>
    <p:sldId id="274" r:id="rId20"/>
    <p:sldId id="276"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B3D70F7C-9895-478C-833A-A87AFB6D5EFC}" type="slidenum">
              <a:rPr lang="en-US" smtClean="0"/>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70F7C-9895-478C-833A-A87AFB6D5EF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70F7C-9895-478C-833A-A87AFB6D5EFC}" type="slidenum">
              <a:rPr lang="en-US" smtClean="0"/>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4BC69E7-F5E5-4D16-84BD-47AF91B1F68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70F7C-9895-478C-833A-A87AFB6D5EF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4BC69E7-F5E5-4D16-84BD-47AF91B1F68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D70F7C-9895-478C-833A-A87AFB6D5EFC}" type="slidenum">
              <a:rPr lang="en-US" smtClean="0"/>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BC69E7-F5E5-4D16-84BD-47AF91B1F68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D70F7C-9895-478C-833A-A87AFB6D5EFC}" type="slidenum">
              <a:rPr lang="en-US" smtClean="0"/>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BC69E7-F5E5-4D16-84BD-47AF91B1F68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D70F7C-9895-478C-833A-A87AFB6D5EF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4BC69E7-F5E5-4D16-84BD-47AF91B1F68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70F7C-9895-478C-833A-A87AFB6D5EFC}" type="slidenum">
              <a:rPr lang="en-US" smtClean="0"/>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4BC69E7-F5E5-4D16-84BD-47AF91B1F68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70F7C-9895-478C-833A-A87AFB6D5EF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4BC69E7-F5E5-4D16-84BD-47AF91B1F68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D70F7C-9895-478C-833A-A87AFB6D5EF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70F7C-9895-478C-833A-A87AFB6D5EFC}" type="slidenum">
              <a:rPr lang="en-US" smtClean="0"/>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70F7C-9895-478C-833A-A87AFB6D5EFC}" type="slidenum">
              <a:rPr lang="en-US" smtClean="0"/>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70F7C-9895-478C-833A-A87AFB6D5EFC}"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70F7C-9895-478C-833A-A87AFB6D5EFC}" type="slidenum">
              <a:rPr lang="en-US" smtClean="0"/>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70F7C-9895-478C-833A-A87AFB6D5EFC}" type="slidenum">
              <a:rPr lang="en-US" smtClean="0"/>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70F7C-9895-478C-833A-A87AFB6D5EFC}" type="slidenum">
              <a:rPr lang="en-US" smtClean="0"/>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4BC69E7-F5E5-4D16-84BD-47AF91B1F6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D70F7C-9895-478C-833A-A87AFB6D5EFC}" type="slidenum">
              <a:rPr lang="en-US" smtClean="0"/>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4BC69E7-F5E5-4D16-84BD-47AF91B1F682}" type="datetimeFigureOut">
              <a:rPr lang="en-US" smtClean="0"/>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3D70F7C-9895-478C-833A-A87AFB6D5EF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 Processors, SMP &amp; NUMA</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Processors</a:t>
            </a:r>
            <a:endParaRPr lang="en-US" dirty="0"/>
          </a:p>
        </p:txBody>
      </p:sp>
      <p:sp>
        <p:nvSpPr>
          <p:cNvPr id="3" name="Content Placeholder 2"/>
          <p:cNvSpPr>
            <a:spLocks noGrp="1"/>
          </p:cNvSpPr>
          <p:nvPr>
            <p:ph idx="1"/>
          </p:nvPr>
        </p:nvSpPr>
        <p:spPr/>
        <p:txBody>
          <a:bodyPr/>
          <a:lstStyle/>
          <a:p>
            <a:r>
              <a:rPr lang="en-US" dirty="0"/>
              <a:t>Array Processor performs computations on large array of data. There are two types of Array Processors: Attached Array Processor, and SIMD Array Processor. These are explained as following below. </a:t>
            </a:r>
            <a:endParaRPr lang="en-US" dirty="0"/>
          </a:p>
          <a:p>
            <a:pPr marL="0" indent="0">
              <a:buNone/>
            </a:pPr>
            <a:r>
              <a:rPr lang="en-US" dirty="0"/>
              <a:t>1. Attached Array Processor :</a:t>
            </a:r>
            <a:endParaRPr lang="en-US" dirty="0"/>
          </a:p>
          <a:p>
            <a:r>
              <a:rPr lang="en-US" dirty="0"/>
              <a:t>To improve the performance of the host computer in numerical computational tasks auxiliary processor is attached to it.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Attached Array Processor</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Attached array processor has two interfaces: </a:t>
            </a:r>
            <a:endParaRPr lang="en-US" dirty="0"/>
          </a:p>
          <a:p>
            <a:r>
              <a:rPr lang="en-US" dirty="0"/>
              <a:t>Input output interface to a common processor. </a:t>
            </a:r>
            <a:endParaRPr lang="en-US" dirty="0"/>
          </a:p>
          <a:p>
            <a:r>
              <a:rPr lang="en-US" dirty="0"/>
              <a:t>Interface with a local memory.  </a:t>
            </a:r>
            <a:endParaRPr lang="en-US" dirty="0"/>
          </a:p>
          <a:p>
            <a:r>
              <a:rPr lang="en-US" dirty="0"/>
              <a:t>Here local memory interconnects main memory. Host computer is general purpose computer. Attached processor is back end machine driven by the host computer. </a:t>
            </a:r>
            <a:endParaRPr lang="en-US" dirty="0"/>
          </a:p>
          <a:p>
            <a:endParaRPr lang="en-US" dirty="0"/>
          </a:p>
          <a:p>
            <a:r>
              <a:rPr lang="en-US" dirty="0"/>
              <a:t>The array processor is connected through an I/O controller to the computer &amp; the computer treats it as an external interface.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83327" y="997527"/>
            <a:ext cx="9206346" cy="5029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SIMD array processor : </a:t>
            </a:r>
            <a:endParaRPr lang="en-US" dirty="0"/>
          </a:p>
        </p:txBody>
      </p:sp>
      <p:sp>
        <p:nvSpPr>
          <p:cNvPr id="3" name="Content Placeholder 2"/>
          <p:cNvSpPr>
            <a:spLocks noGrp="1"/>
          </p:cNvSpPr>
          <p:nvPr>
            <p:ph idx="1"/>
          </p:nvPr>
        </p:nvSpPr>
        <p:spPr/>
        <p:txBody>
          <a:bodyPr/>
          <a:lstStyle/>
          <a:p>
            <a:r>
              <a:rPr lang="en-US" dirty="0"/>
              <a:t>This is computer with multiple processor units operating in parallel.</a:t>
            </a:r>
            <a:endParaRPr lang="en-US" dirty="0"/>
          </a:p>
          <a:p>
            <a:r>
              <a:rPr lang="en-US" dirty="0"/>
              <a:t> Both types of array processors, manipulate vectors but their internal organization is different. </a:t>
            </a:r>
            <a:endParaRPr lang="en-US" dirty="0"/>
          </a:p>
          <a:p>
            <a:r>
              <a:rPr lang="en-US" dirty="0"/>
              <a:t>SIMD is a computer with multiple processing units operating in parallel. </a:t>
            </a:r>
            <a:endParaRPr lang="en-US" dirty="0"/>
          </a:p>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SIMD array processor : </a:t>
            </a:r>
            <a:endParaRPr lang="en-US" dirty="0"/>
          </a:p>
        </p:txBody>
      </p:sp>
      <p:sp>
        <p:nvSpPr>
          <p:cNvPr id="3" name="Content Placeholder 2"/>
          <p:cNvSpPr>
            <a:spLocks noGrp="1"/>
          </p:cNvSpPr>
          <p:nvPr>
            <p:ph idx="1"/>
          </p:nvPr>
        </p:nvSpPr>
        <p:spPr/>
        <p:txBody>
          <a:bodyPr>
            <a:normAutofit/>
          </a:bodyPr>
          <a:lstStyle/>
          <a:p>
            <a:r>
              <a:rPr lang="en-US" dirty="0"/>
              <a:t>The processing units are synchronized to perform the same operation under the control of a common control unit. Thus providing a single instruction stream, multiple data stream (SIMD) organization. </a:t>
            </a:r>
            <a:endParaRPr lang="en-US" dirty="0"/>
          </a:p>
          <a:p>
            <a:r>
              <a:rPr lang="en-US" dirty="0"/>
              <a:t>As shown in figure, SIMD contains a set of identical processing elements (PES) each having a local memory M. </a:t>
            </a:r>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ghtbo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6554" y="997527"/>
            <a:ext cx="7242463" cy="48317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SIMD array processor : </a:t>
            </a:r>
            <a:endParaRPr lang="en-US" dirty="0"/>
          </a:p>
        </p:txBody>
      </p:sp>
      <p:sp>
        <p:nvSpPr>
          <p:cNvPr id="3" name="Content Placeholder 2"/>
          <p:cNvSpPr>
            <a:spLocks noGrp="1"/>
          </p:cNvSpPr>
          <p:nvPr>
            <p:ph idx="1"/>
          </p:nvPr>
        </p:nvSpPr>
        <p:spPr/>
        <p:txBody>
          <a:bodyPr/>
          <a:lstStyle/>
          <a:p>
            <a:pPr marL="0" indent="0">
              <a:buNone/>
            </a:pPr>
            <a:r>
              <a:rPr lang="en-US" dirty="0"/>
              <a:t>Each PE includes – </a:t>
            </a:r>
            <a:endParaRPr lang="en-US" dirty="0"/>
          </a:p>
          <a:p>
            <a:r>
              <a:rPr lang="en-US" dirty="0"/>
              <a:t>ALU </a:t>
            </a:r>
            <a:endParaRPr lang="en-US" dirty="0"/>
          </a:p>
          <a:p>
            <a:r>
              <a:rPr lang="en-US" dirty="0"/>
              <a:t>Floating point arithmetic unit  </a:t>
            </a:r>
            <a:endParaRPr lang="en-US" dirty="0"/>
          </a:p>
          <a:p>
            <a:r>
              <a:rPr lang="en-US" dirty="0"/>
              <a:t>Working registers </a:t>
            </a:r>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SIMD array processor : </a:t>
            </a:r>
            <a:endParaRPr lang="en-US" dirty="0"/>
          </a:p>
        </p:txBody>
      </p:sp>
      <p:sp>
        <p:nvSpPr>
          <p:cNvPr id="3" name="Content Placeholder 2"/>
          <p:cNvSpPr>
            <a:spLocks noGrp="1"/>
          </p:cNvSpPr>
          <p:nvPr>
            <p:ph idx="1"/>
          </p:nvPr>
        </p:nvSpPr>
        <p:spPr/>
        <p:txBody>
          <a:bodyPr/>
          <a:lstStyle/>
          <a:p>
            <a:r>
              <a:rPr lang="en-US" b="1" dirty="0">
                <a:solidFill>
                  <a:srgbClr val="FF0000"/>
                </a:solidFill>
              </a:rPr>
              <a:t>Master control unit controls the operation in the PEs</a:t>
            </a:r>
            <a:r>
              <a:rPr lang="en-US" dirty="0"/>
              <a:t>. The function of master control unit is to decode the instruction and determine how the instruction to be executed. If the instruction is scalar or program control instruction then it is directly executed within the master control unit. </a:t>
            </a:r>
            <a:endParaRPr lang="en-US" dirty="0"/>
          </a:p>
          <a:p>
            <a:r>
              <a:rPr lang="en-US" dirty="0"/>
              <a:t>Main memory is used for storage of the program while each PE uses operands stored in its local memory.</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SMP (Symmetric Multi-Processing)?</a:t>
            </a:r>
            <a:endParaRPr lang="en-US" dirty="0"/>
          </a:p>
        </p:txBody>
      </p:sp>
      <p:sp>
        <p:nvSpPr>
          <p:cNvPr id="3" name="Content Placeholder 2"/>
          <p:cNvSpPr>
            <a:spLocks noGrp="1"/>
          </p:cNvSpPr>
          <p:nvPr>
            <p:ph idx="1"/>
          </p:nvPr>
        </p:nvSpPr>
        <p:spPr/>
        <p:txBody>
          <a:bodyPr/>
          <a:lstStyle/>
          <a:p>
            <a:r>
              <a:rPr lang="en-US" dirty="0"/>
              <a:t>Multiprocessing(MP), involves computer hardware and software architecture where there are multiple(two or more) processing units executing programs for the single operating(computer) system.</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endParaRPr lang="en-US" dirty="0"/>
          </a:p>
        </p:txBody>
      </p:sp>
      <p:sp>
        <p:nvSpPr>
          <p:cNvPr id="3" name="Content Placeholder 2"/>
          <p:cNvSpPr>
            <a:spLocks noGrp="1"/>
          </p:cNvSpPr>
          <p:nvPr>
            <p:ph idx="1"/>
          </p:nvPr>
        </p:nvSpPr>
        <p:spPr/>
        <p:txBody>
          <a:bodyPr/>
          <a:lstStyle/>
          <a:p>
            <a:r>
              <a:rPr lang="en-US" dirty="0"/>
              <a:t>SMP i.e. symmetric multiprocessing, refers to the computer architecture where multiple identical processors are interconnected to a single shared main memory, with full accessibility to all the I/O devices, unlike asymmetric MP. </a:t>
            </a:r>
            <a:endParaRPr lang="en-US" dirty="0"/>
          </a:p>
          <a:p>
            <a:r>
              <a:rPr lang="en-US" dirty="0"/>
              <a:t>In other words, all the processors have common shared(common) memory and same data path or I/O bus as shown in the figure.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ightbo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810492"/>
            <a:ext cx="9144000" cy="51227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SMP</a:t>
            </a:r>
            <a:endParaRPr lang="en-US" dirty="0"/>
          </a:p>
        </p:txBody>
      </p:sp>
      <p:sp>
        <p:nvSpPr>
          <p:cNvPr id="3" name="Content Placeholder 2"/>
          <p:cNvSpPr>
            <a:spLocks noGrp="1"/>
          </p:cNvSpPr>
          <p:nvPr>
            <p:ph idx="1"/>
          </p:nvPr>
        </p:nvSpPr>
        <p:spPr/>
        <p:txBody>
          <a:bodyPr>
            <a:normAutofit fontScale="92500"/>
          </a:bodyPr>
          <a:lstStyle/>
          <a:p>
            <a:r>
              <a:rPr lang="en-US" dirty="0"/>
              <a:t>Identical: All the processors are treated equally i.e. all are identical.</a:t>
            </a:r>
            <a:endParaRPr lang="en-US" dirty="0"/>
          </a:p>
          <a:p>
            <a:r>
              <a:rPr lang="en-US" dirty="0"/>
              <a:t>Communication: Shared memory is the mode of communication among processors.</a:t>
            </a:r>
            <a:endParaRPr lang="en-US" dirty="0"/>
          </a:p>
          <a:p>
            <a:r>
              <a:rPr lang="en-US" dirty="0"/>
              <a:t>Complexity: Are complex in design, as all units share same memory and data bus.</a:t>
            </a:r>
            <a:endParaRPr lang="en-US" dirty="0"/>
          </a:p>
          <a:p>
            <a:r>
              <a:rPr lang="en-US" dirty="0"/>
              <a:t>Expensive: They are costlier in nature.</a:t>
            </a:r>
            <a:endParaRPr lang="en-US" dirty="0"/>
          </a:p>
          <a:p>
            <a:r>
              <a:rPr lang="en-US" dirty="0"/>
              <a:t>Unlike asymmetric where a task is done only by Master processor, here tasks of the operating system are handled individually by processors.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Non-uniform memory access (NUMA)</a:t>
            </a:r>
            <a:endParaRPr lang="en-US" dirty="0"/>
          </a:p>
        </p:txBody>
      </p:sp>
      <p:sp>
        <p:nvSpPr>
          <p:cNvPr id="3" name="Content Placeholder 2"/>
          <p:cNvSpPr>
            <a:spLocks noGrp="1"/>
          </p:cNvSpPr>
          <p:nvPr>
            <p:ph idx="1"/>
          </p:nvPr>
        </p:nvSpPr>
        <p:spPr/>
        <p:txBody>
          <a:bodyPr/>
          <a:lstStyle/>
          <a:p>
            <a:r>
              <a:rPr lang="en-US" dirty="0"/>
              <a:t>Non-uniform memory access (NUMA) is a computer memory design used in multiprocessing, </a:t>
            </a:r>
            <a:r>
              <a:rPr lang="en-US" b="1" dirty="0">
                <a:solidFill>
                  <a:srgbClr val="FF0000"/>
                </a:solidFill>
              </a:rPr>
              <a:t>where the memory access time depends on the memory location relative to the processor. </a:t>
            </a:r>
            <a:endParaRPr lang="en-US" b="1" dirty="0">
              <a:solidFill>
                <a:srgbClr val="FF0000"/>
              </a:solidFill>
            </a:endParaRPr>
          </a:p>
          <a:p>
            <a:r>
              <a:rPr lang="en-US" dirty="0"/>
              <a:t>Under NUMA, a processor can access its own local memory faster than non-local memory (memory local to another processor or memory shared between processors).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Non-uniform memory access (NUMA)</a:t>
            </a:r>
            <a:endParaRPr lang="en-US" dirty="0"/>
          </a:p>
        </p:txBody>
      </p:sp>
      <p:sp>
        <p:nvSpPr>
          <p:cNvPr id="3" name="Content Placeholder 2"/>
          <p:cNvSpPr>
            <a:spLocks noGrp="1"/>
          </p:cNvSpPr>
          <p:nvPr>
            <p:ph idx="1"/>
          </p:nvPr>
        </p:nvSpPr>
        <p:spPr/>
        <p:txBody>
          <a:bodyPr>
            <a:normAutofit fontScale="92500" lnSpcReduction="10000"/>
          </a:bodyPr>
          <a:lstStyle/>
          <a:p>
            <a:r>
              <a:rPr lang="en-US" dirty="0"/>
              <a:t>NUMA is a type of parallel processing architecture. </a:t>
            </a:r>
            <a:endParaRPr lang="en-US" dirty="0"/>
          </a:p>
          <a:p>
            <a:r>
              <a:rPr lang="en-US" dirty="0"/>
              <a:t>There are two types of parallel processing architectures – </a:t>
            </a:r>
            <a:r>
              <a:rPr lang="en-US" b="1" dirty="0">
                <a:solidFill>
                  <a:srgbClr val="7030A0"/>
                </a:solidFill>
              </a:rPr>
              <a:t>Shared Memory Architecture and Distributed Memory Architecture. </a:t>
            </a:r>
            <a:endParaRPr lang="en-US" b="1" dirty="0">
              <a:solidFill>
                <a:srgbClr val="7030A0"/>
              </a:solidFill>
            </a:endParaRPr>
          </a:p>
          <a:p>
            <a:r>
              <a:rPr lang="en-US" dirty="0"/>
              <a:t>Memory Architectures are of two types – Uniform Memory Access (UMA) and Non Uniform Memory Access (NUMA).</a:t>
            </a:r>
            <a:endParaRPr lang="en-US" dirty="0"/>
          </a:p>
          <a:p>
            <a:r>
              <a:rPr lang="en-US" dirty="0"/>
              <a:t>In Shared Memory Architecture all processors share a common memory. This architecture is also called as Symmetric Multiprocessing (SMP). </a:t>
            </a:r>
            <a:endParaRPr lang="en-US" dirty="0"/>
          </a:p>
          <a:p>
            <a:r>
              <a:rPr lang="en-US" b="1" dirty="0">
                <a:solidFill>
                  <a:srgbClr val="FF0000"/>
                </a:solidFill>
              </a:rPr>
              <a:t>Cache Coherency </a:t>
            </a:r>
            <a:r>
              <a:rPr lang="en-US" dirty="0"/>
              <a:t>is a challenge for this architecture.</a:t>
            </a:r>
            <a:endParaRPr lang="en-US" dirty="0"/>
          </a:p>
          <a:p>
            <a:endParaRPr lang="en-US"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0" i="0" dirty="0">
                <a:solidFill>
                  <a:srgbClr val="1C1C1C"/>
                </a:solidFill>
                <a:effectLst/>
                <a:highlight>
                  <a:srgbClr val="FFFFFF"/>
                </a:highlight>
                <a:latin typeface="Noto Sans" panose="020B0502040504020204" pitchFamily="34" charset="0"/>
              </a:rPr>
              <a:t>Uniform Memory Access (UMA) </a:t>
            </a:r>
            <a:endParaRPr lang="en-US" dirty="0"/>
          </a:p>
        </p:txBody>
      </p:sp>
      <p:sp>
        <p:nvSpPr>
          <p:cNvPr id="7" name="Content Placeholder 6"/>
          <p:cNvSpPr>
            <a:spLocks noGrp="1"/>
          </p:cNvSpPr>
          <p:nvPr>
            <p:ph idx="1"/>
          </p:nvPr>
        </p:nvSpPr>
        <p:spPr/>
        <p:txBody>
          <a:bodyPr/>
          <a:lstStyle/>
          <a:p>
            <a:r>
              <a:rPr lang="en-US" dirty="0"/>
              <a:t>In Uniform Memory Access (UMA) as shown in Figure 1, all processors have same latency to access memory. As shown in Figure 1, a hardware cache is usually present with each processor.</a:t>
            </a:r>
            <a:endParaRPr lang="en-US" dirty="0"/>
          </a:p>
          <a:p>
            <a:r>
              <a:rPr lang="en-US" dirty="0"/>
              <a:t>This architecture is scalable only for limited number of processors. Its scalability decreases beyond a certain number of processors.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PT - Introduction to Parallel Processing Ch. 12, Pg. 514-526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800101"/>
            <a:ext cx="9144000" cy="53513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Non-uniform memory access (NUMA)</a:t>
            </a:r>
            <a:endParaRPr lang="en-US" dirty="0"/>
          </a:p>
        </p:txBody>
      </p:sp>
      <p:sp>
        <p:nvSpPr>
          <p:cNvPr id="3" name="Content Placeholder 2"/>
          <p:cNvSpPr>
            <a:spLocks noGrp="1"/>
          </p:cNvSpPr>
          <p:nvPr>
            <p:ph idx="1"/>
          </p:nvPr>
        </p:nvSpPr>
        <p:spPr/>
        <p:txBody>
          <a:bodyPr/>
          <a:lstStyle/>
          <a:p>
            <a:r>
              <a:rPr lang="en-US" dirty="0"/>
              <a:t>In Non Uniform Memory Access (NUMA) as shown in Figure 2, </a:t>
            </a:r>
            <a:r>
              <a:rPr lang="en-US" b="1" dirty="0">
                <a:solidFill>
                  <a:srgbClr val="7030A0"/>
                </a:solidFill>
              </a:rPr>
              <a:t>each processor has its own local memory. </a:t>
            </a:r>
            <a:endParaRPr lang="en-US" b="1" dirty="0">
              <a:solidFill>
                <a:srgbClr val="7030A0"/>
              </a:solidFill>
            </a:endParaRPr>
          </a:p>
          <a:p>
            <a:r>
              <a:rPr lang="en-US" dirty="0"/>
              <a:t>A processor usually uses its local memory to store the data required for its processing. Accessing a local memory has least latency. It can also utilize the remote memory. </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370965" y="721360"/>
            <a:ext cx="9227185" cy="54146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nu Chanti\Desktop\Thank you.jpg"/>
          <p:cNvPicPr>
            <a:picLocks noChangeAspect="1" noChangeArrowheads="1"/>
          </p:cNvPicPr>
          <p:nvPr/>
        </p:nvPicPr>
        <p:blipFill>
          <a:blip r:embed="rId1" cstate="print"/>
          <a:srcRect/>
          <a:stretch>
            <a:fillRect/>
          </a:stretch>
        </p:blipFill>
        <p:spPr bwMode="auto">
          <a:xfrm>
            <a:off x="820881" y="762000"/>
            <a:ext cx="10692245" cy="5327073"/>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4451</Words>
  <Application>WPS Presentation</Application>
  <PresentationFormat>Widescreen</PresentationFormat>
  <Paragraphs>85</Paragraphs>
  <Slides>20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Arial</vt:lpstr>
      <vt:lpstr>Garamond</vt:lpstr>
      <vt:lpstr>Microsoft YaHei</vt:lpstr>
      <vt:lpstr>Arial Unicode MS</vt:lpstr>
      <vt:lpstr>Calibri</vt:lpstr>
      <vt:lpstr>Noto Sans</vt:lpstr>
      <vt:lpstr>Sans Serif Collection</vt:lpstr>
      <vt:lpstr>Organic</vt:lpstr>
      <vt:lpstr>Array Processors, SMP &amp; NUMA</vt:lpstr>
      <vt:lpstr>Array Processors</vt:lpstr>
      <vt:lpstr>Attached Array Processor</vt:lpstr>
      <vt:lpstr>PowerPoint 演示文稿</vt:lpstr>
      <vt:lpstr>SIMD array processor : </vt:lpstr>
      <vt:lpstr>SIMD array processor : </vt:lpstr>
      <vt:lpstr>PowerPoint 演示文稿</vt:lpstr>
      <vt:lpstr>SIMD array processor : </vt:lpstr>
      <vt:lpstr>SIMD array processor : </vt:lpstr>
      <vt:lpstr>What is SMP (Symmetric Multi-Processing)?</vt:lpstr>
      <vt:lpstr>CONTINUED…</vt:lpstr>
      <vt:lpstr>PowerPoint 演示文稿</vt:lpstr>
      <vt:lpstr>Characteristics of SMP</vt:lpstr>
      <vt:lpstr>Non-uniform memory access (NUMA)</vt:lpstr>
      <vt:lpstr>Non-uniform memory access (NUMA)</vt:lpstr>
      <vt:lpstr>Uniform Memory Access (UMA) </vt:lpstr>
      <vt:lpstr>PowerPoint 演示文稿</vt:lpstr>
      <vt:lpstr>Non-uniform memory access (NUMA)</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 Processors, SMP &amp; NUMA</dc:title>
  <dc:creator>anusha kasturi</dc:creator>
  <cp:lastModifiedBy>anush</cp:lastModifiedBy>
  <cp:revision>14</cp:revision>
  <dcterms:created xsi:type="dcterms:W3CDTF">2024-05-02T04:14:00Z</dcterms:created>
  <dcterms:modified xsi:type="dcterms:W3CDTF">2025-03-20T23:57:28Z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0FDC4D78D5E84E26A721DCC8A047D4EE_12</vt:lpwstr>
  </property>
  <property fmtid="{D5CDD505-2E9C-101B-9397-08002B2CF9AE}" pid="3" name="KSOProductBuildVer">
    <vt:lpwstr>1033-12.2.0.20326</vt:lpwstr>
  </property>
</Properties>
</file>