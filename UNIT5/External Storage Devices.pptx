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smtClean="0"/>
              <a:t>External Memory</a:t>
            </a:r>
            <a:endParaRPr lang="en-US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914400"/>
          </a:xfrm>
        </p:spPr>
        <p:txBody>
          <a:bodyPr/>
          <a:lstStyle/>
          <a:p>
            <a:r>
              <a:rPr lang="en-US" dirty="0" smtClean="0"/>
              <a:t>Introduction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main memory is made up of semiconductor device and by nature it is volatile. For permanent storage </a:t>
            </a:r>
            <a:r>
              <a:rPr lang="en-US" dirty="0" smtClean="0"/>
              <a:t>of information </a:t>
            </a:r>
            <a:r>
              <a:rPr lang="en-US" dirty="0" smtClean="0"/>
              <a:t>we need some non volatile memory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memory devices need to store information permanently </a:t>
            </a:r>
            <a:r>
              <a:rPr lang="en-US" dirty="0" smtClean="0"/>
              <a:t>are termed </a:t>
            </a:r>
            <a:r>
              <a:rPr lang="en-US" dirty="0" smtClean="0"/>
              <a:t>as </a:t>
            </a:r>
            <a:r>
              <a:rPr lang="en-US" i="1" dirty="0" smtClean="0"/>
              <a:t>external memory. While working, the information will be transferred from external memory to </a:t>
            </a:r>
            <a:r>
              <a:rPr lang="en-US" i="1" dirty="0" smtClean="0"/>
              <a:t>main </a:t>
            </a:r>
            <a:r>
              <a:rPr lang="en-US" dirty="0" smtClean="0"/>
              <a:t>memory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219200"/>
          </a:xfrm>
        </p:spPr>
        <p:txBody>
          <a:bodyPr/>
          <a:lstStyle/>
          <a:p>
            <a:r>
              <a:rPr lang="en-US" dirty="0" smtClean="0"/>
              <a:t>Categorizing External Memory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17136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/>
              <a:t>devices need to store information permanently are either magnetic or optical devices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400" b="1" dirty="0" smtClean="0"/>
              <a:t>Magnetic Devices</a:t>
            </a:r>
            <a:r>
              <a:rPr lang="en-US" sz="2400" b="1" dirty="0" smtClean="0"/>
              <a:t>:		 Optical </a:t>
            </a:r>
            <a:r>
              <a:rPr lang="en-US" sz="2400" b="1" dirty="0" smtClean="0"/>
              <a:t>Devices:</a:t>
            </a:r>
          </a:p>
          <a:p>
            <a:pPr>
              <a:buNone/>
            </a:pPr>
            <a:r>
              <a:rPr lang="en-US" sz="2400" dirty="0" smtClean="0"/>
              <a:t>Magnetic disk ( Hard disk </a:t>
            </a:r>
            <a:r>
              <a:rPr lang="en-US" sz="2400" dirty="0" smtClean="0"/>
              <a:t>)	CD- </a:t>
            </a:r>
            <a:r>
              <a:rPr lang="en-US" sz="2400" dirty="0" smtClean="0"/>
              <a:t>ROM</a:t>
            </a:r>
          </a:p>
          <a:p>
            <a:pPr>
              <a:buNone/>
            </a:pPr>
            <a:r>
              <a:rPr lang="en-US" sz="2400" dirty="0" err="1" smtClean="0"/>
              <a:t>Floopy</a:t>
            </a:r>
            <a:r>
              <a:rPr lang="en-US" sz="2400" dirty="0" smtClean="0"/>
              <a:t> disk </a:t>
            </a:r>
            <a:r>
              <a:rPr lang="en-US" sz="2400" dirty="0" smtClean="0"/>
              <a:t>				CD-Recordable</a:t>
            </a:r>
            <a:r>
              <a:rPr lang="en-US" sz="2400" dirty="0" smtClean="0"/>
              <a:t>( CD –R)</a:t>
            </a:r>
          </a:p>
          <a:p>
            <a:pPr>
              <a:buNone/>
            </a:pPr>
            <a:r>
              <a:rPr lang="en-US" sz="2400" dirty="0" smtClean="0"/>
              <a:t>Magnetic tape </a:t>
            </a:r>
            <a:r>
              <a:rPr lang="en-US" sz="2400" dirty="0" smtClean="0"/>
              <a:t>			CD-R/W</a:t>
            </a:r>
            <a:endParaRPr lang="en-US" sz="2400" dirty="0" smtClean="0"/>
          </a:p>
          <a:p>
            <a:pPr>
              <a:buNone/>
            </a:pPr>
            <a:r>
              <a:rPr lang="en-US" dirty="0" smtClean="0"/>
              <a:t>						</a:t>
            </a:r>
            <a:r>
              <a:rPr lang="en-US" dirty="0" smtClean="0"/>
              <a:t>DVD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Magnetic Disk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745736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/>
              <a:t>disk is a </a:t>
            </a:r>
            <a:r>
              <a:rPr lang="en-US" i="1" dirty="0" smtClean="0"/>
              <a:t>circular platter constructed of metal or of plastic coated with a </a:t>
            </a:r>
            <a:r>
              <a:rPr lang="en-US" i="1" dirty="0" err="1" smtClean="0"/>
              <a:t>magnetizable</a:t>
            </a:r>
            <a:r>
              <a:rPr lang="en-US" i="1" dirty="0" smtClean="0"/>
              <a:t> material</a:t>
            </a:r>
            <a:r>
              <a:rPr lang="en-US" i="1" dirty="0" smtClean="0"/>
              <a:t>.</a:t>
            </a:r>
          </a:p>
          <a:p>
            <a:endParaRPr lang="en-US" i="1" dirty="0" smtClean="0"/>
          </a:p>
          <a:p>
            <a:r>
              <a:rPr lang="en-US" dirty="0" smtClean="0"/>
              <a:t>Data are recorded on and later retrieved from the disk via a conducting coil named the </a:t>
            </a:r>
            <a:r>
              <a:rPr lang="en-US" i="1" dirty="0" smtClean="0"/>
              <a:t>head</a:t>
            </a:r>
            <a:r>
              <a:rPr lang="en-US" i="1" dirty="0" smtClean="0"/>
              <a:t>.</a:t>
            </a:r>
          </a:p>
          <a:p>
            <a:endParaRPr lang="en-US" i="1" dirty="0" smtClean="0"/>
          </a:p>
          <a:p>
            <a:r>
              <a:rPr lang="en-US" dirty="0" smtClean="0"/>
              <a:t>During a read or write operation, the head is stationary while the platter rotates beneath it.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Magnetic </a:t>
            </a:r>
            <a:r>
              <a:rPr lang="en-US" b="1" dirty="0" smtClean="0"/>
              <a:t>Disk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26736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The </a:t>
            </a:r>
            <a:r>
              <a:rPr lang="en-US" i="1" dirty="0" smtClean="0"/>
              <a:t>write mechanism is based on the fact that electricity flowing through a coil produces a magnetic field</a:t>
            </a:r>
            <a:r>
              <a:rPr lang="en-US" i="1" dirty="0" smtClean="0"/>
              <a:t>.</a:t>
            </a:r>
          </a:p>
          <a:p>
            <a:endParaRPr lang="en-US" i="1" dirty="0" smtClean="0"/>
          </a:p>
          <a:p>
            <a:r>
              <a:rPr lang="en-US" i="1" dirty="0" smtClean="0"/>
              <a:t>Pulses are </a:t>
            </a:r>
            <a:r>
              <a:rPr lang="en-US" dirty="0" smtClean="0"/>
              <a:t>sent </a:t>
            </a:r>
            <a:r>
              <a:rPr lang="en-US" dirty="0" smtClean="0"/>
              <a:t>to the head, and magnetic patterns are recorded on the surface below. The pattern depends on the </a:t>
            </a:r>
            <a:r>
              <a:rPr lang="en-US" i="1" dirty="0" smtClean="0"/>
              <a:t>positive </a:t>
            </a:r>
            <a:r>
              <a:rPr lang="en-US" i="1" dirty="0" smtClean="0"/>
              <a:t>or negative </a:t>
            </a:r>
            <a:r>
              <a:rPr lang="en-US" i="1" dirty="0" smtClean="0"/>
              <a:t>currents. 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The </a:t>
            </a:r>
            <a:r>
              <a:rPr lang="en-US" i="1" dirty="0" smtClean="0"/>
              <a:t>direction of current depends on the information stored , i.e., positive current depends on </a:t>
            </a:r>
            <a:r>
              <a:rPr lang="en-US" i="1" dirty="0" smtClean="0"/>
              <a:t>the </a:t>
            </a:r>
            <a:r>
              <a:rPr lang="en-US" dirty="0" smtClean="0"/>
              <a:t>information </a:t>
            </a:r>
            <a:r>
              <a:rPr lang="en-US" dirty="0" smtClean="0"/>
              <a:t>'1' and negative current for information '0'.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Magnetic Disk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124200"/>
            <a:ext cx="6553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609600" y="1828800"/>
            <a:ext cx="8229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Read/ Write head detail is shown in the figure</a:t>
            </a:r>
            <a:r>
              <a:rPr lang="en-US" sz="2400" dirty="0" smtClean="0"/>
              <a:t>: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Magnetic Disk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50536"/>
          </a:xfrm>
        </p:spPr>
        <p:txBody>
          <a:bodyPr>
            <a:normAutofit/>
          </a:bodyPr>
          <a:lstStyle/>
          <a:p>
            <a:r>
              <a:rPr lang="en-US" dirty="0" smtClean="0"/>
              <a:t>The head is a relatively small device capable of </a:t>
            </a:r>
            <a:r>
              <a:rPr lang="en-US" i="1" dirty="0" smtClean="0"/>
              <a:t>reading from or writing to a portion of the platter </a:t>
            </a:r>
            <a:r>
              <a:rPr lang="en-US" i="1" dirty="0" smtClean="0"/>
              <a:t>rotating </a:t>
            </a:r>
            <a:r>
              <a:rPr lang="en-US" dirty="0" smtClean="0"/>
              <a:t>beneath </a:t>
            </a:r>
            <a:r>
              <a:rPr lang="en-US" dirty="0" smtClean="0"/>
              <a:t>it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data on the disk are organized in a concentric set of rings, called </a:t>
            </a:r>
            <a:r>
              <a:rPr lang="en-US" i="1" dirty="0" smtClean="0"/>
              <a:t>track. Each track has the same </a:t>
            </a:r>
            <a:r>
              <a:rPr lang="en-US" i="1" dirty="0" smtClean="0"/>
              <a:t>width </a:t>
            </a:r>
            <a:r>
              <a:rPr lang="en-US" dirty="0" smtClean="0"/>
              <a:t>as </a:t>
            </a:r>
            <a:r>
              <a:rPr lang="en-US" dirty="0" smtClean="0"/>
              <a:t>the head.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Adjacent </a:t>
            </a:r>
            <a:r>
              <a:rPr lang="en-US" dirty="0" smtClean="0"/>
              <a:t>tracks are separated by gaps. This prevents error due to misalignment of the head </a:t>
            </a:r>
            <a:r>
              <a:rPr lang="en-US" dirty="0" smtClean="0"/>
              <a:t>or interference </a:t>
            </a:r>
            <a:r>
              <a:rPr lang="en-US" dirty="0" smtClean="0"/>
              <a:t>of magnetic fields.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Magnetic Disk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905000"/>
            <a:ext cx="63246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371600"/>
          </a:xfrm>
        </p:spPr>
        <p:txBody>
          <a:bodyPr/>
          <a:lstStyle/>
          <a:p>
            <a:r>
              <a:rPr lang="en-US" b="1" dirty="0" smtClean="0"/>
              <a:t>Magnetic Disk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669536"/>
          </a:xfrm>
        </p:spPr>
        <p:txBody>
          <a:bodyPr/>
          <a:lstStyle/>
          <a:p>
            <a:r>
              <a:rPr lang="en-US" dirty="0" smtClean="0"/>
              <a:t>Data are transferred to and from the disk in</a:t>
            </a:r>
          </a:p>
          <a:p>
            <a:pPr>
              <a:buNone/>
            </a:pPr>
            <a:r>
              <a:rPr lang="en-US" dirty="0" smtClean="0"/>
              <a:t>blocks. Usually, the block is smaller than the</a:t>
            </a:r>
          </a:p>
          <a:p>
            <a:pPr>
              <a:buNone/>
            </a:pPr>
            <a:r>
              <a:rPr lang="en-US" dirty="0" smtClean="0"/>
              <a:t>capacity of the track. Accordingly, data are</a:t>
            </a:r>
          </a:p>
          <a:p>
            <a:pPr>
              <a:buNone/>
            </a:pPr>
            <a:r>
              <a:rPr lang="en-US" dirty="0" smtClean="0"/>
              <a:t>stored in block-size regions known as sector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Since data density in the outermost track is less and data density is more in inner tracks so there are wastage </a:t>
            </a:r>
            <a:r>
              <a:rPr lang="en-US" dirty="0" smtClean="0"/>
              <a:t>of space </a:t>
            </a:r>
            <a:r>
              <a:rPr lang="en-US" dirty="0" smtClean="0"/>
              <a:t>on outer tracks.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Magnetic Disk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9813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To </a:t>
            </a:r>
            <a:r>
              <a:rPr lang="en-US" dirty="0" smtClean="0"/>
              <a:t>increase the capacity, the concept of </a:t>
            </a:r>
            <a:r>
              <a:rPr lang="en-US" i="1" dirty="0" smtClean="0"/>
              <a:t>zone is used instead of sectors. Each track is divided in zone of equal </a:t>
            </a:r>
            <a:r>
              <a:rPr lang="en-US" i="1" dirty="0" smtClean="0"/>
              <a:t>length </a:t>
            </a:r>
            <a:r>
              <a:rPr lang="en-US" dirty="0" smtClean="0"/>
              <a:t>and </a:t>
            </a:r>
            <a:r>
              <a:rPr lang="en-US" dirty="0" smtClean="0"/>
              <a:t>fix amount of data is stored in each zone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</a:p>
          <a:p>
            <a:r>
              <a:rPr lang="en-US" dirty="0" smtClean="0"/>
              <a:t>So </a:t>
            </a:r>
            <a:r>
              <a:rPr lang="en-US" dirty="0" smtClean="0"/>
              <a:t>the number of zones are less in innermost track and number </a:t>
            </a:r>
            <a:r>
              <a:rPr lang="en-US" dirty="0" smtClean="0"/>
              <a:t>of zones </a:t>
            </a:r>
            <a:r>
              <a:rPr lang="en-US" dirty="0" smtClean="0"/>
              <a:t>are more in the outermost track. Therefore, more number of bits are stored in outermost track.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disk capacity </a:t>
            </a:r>
            <a:r>
              <a:rPr lang="en-US" dirty="0" smtClean="0"/>
              <a:t>is increasing due to the use of zone, but the complexity of control circuitry is also more.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Magnetic Disk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2362200"/>
            <a:ext cx="8001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Physical characteristics of disk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17136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 smtClean="0"/>
              <a:t>head may be either fixed or movable with respect to the radial direction of the platter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a fixed-head disk, there is one read-write head per track. All of the heads are mounted on a rigid </a:t>
            </a:r>
            <a:r>
              <a:rPr lang="en-US" dirty="0" smtClean="0"/>
              <a:t>arm that </a:t>
            </a:r>
            <a:r>
              <a:rPr lang="en-US" dirty="0" smtClean="0"/>
              <a:t>extends across all tracks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In a movable-head disk, there is only one read-write head. Again the head is mounted on an arm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447800"/>
          </a:xfrm>
        </p:spPr>
        <p:txBody>
          <a:bodyPr/>
          <a:lstStyle/>
          <a:p>
            <a:r>
              <a:rPr lang="en-US" b="1" dirty="0" smtClean="0"/>
              <a:t>Physical characteristics of disk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21936"/>
          </a:xfrm>
        </p:spPr>
        <p:txBody>
          <a:bodyPr>
            <a:normAutofit/>
          </a:bodyPr>
          <a:lstStyle/>
          <a:p>
            <a:r>
              <a:rPr lang="en-US" dirty="0" smtClean="0"/>
              <a:t>Because the head must be able to be positioned above any track, the arm can be extended or </a:t>
            </a:r>
            <a:r>
              <a:rPr lang="en-US" dirty="0" smtClean="0"/>
              <a:t>retracted for </a:t>
            </a:r>
            <a:r>
              <a:rPr lang="en-US" dirty="0" smtClean="0"/>
              <a:t>this purpose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disk itself is mounted in a disk drive, which consists of the arm, the shaft that rotates the disk, </a:t>
            </a:r>
            <a:r>
              <a:rPr lang="en-US" dirty="0" smtClean="0"/>
              <a:t>and the </a:t>
            </a:r>
            <a:r>
              <a:rPr lang="en-US" dirty="0" smtClean="0"/>
              <a:t>electronics circuitry needed for input and output the binary data and to control the mechanism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447800"/>
          </a:xfrm>
        </p:spPr>
        <p:txBody>
          <a:bodyPr/>
          <a:lstStyle/>
          <a:p>
            <a:r>
              <a:rPr lang="en-US" dirty="0" smtClean="0"/>
              <a:t>Physical </a:t>
            </a:r>
            <a:r>
              <a:rPr lang="en-US" dirty="0" smtClean="0"/>
              <a:t>organization of </a:t>
            </a:r>
            <a:r>
              <a:rPr lang="en-US" dirty="0" smtClean="0"/>
              <a:t>disk :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09800"/>
            <a:ext cx="38100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6800" y="2133600"/>
            <a:ext cx="3810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914400"/>
          </a:xfrm>
        </p:spPr>
        <p:txBody>
          <a:bodyPr/>
          <a:lstStyle/>
          <a:p>
            <a:r>
              <a:rPr lang="en-US" dirty="0" smtClean="0"/>
              <a:t>Multiple platter disk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2057400"/>
            <a:ext cx="37719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1981200"/>
            <a:ext cx="40386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</a:t>
            </a:r>
            <a:r>
              <a:rPr lang="en-US" b="1" dirty="0" smtClean="0"/>
              <a:t>disk :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828800"/>
            <a:ext cx="7162800" cy="4876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17136"/>
          </a:xfrm>
        </p:spPr>
        <p:txBody>
          <a:bodyPr>
            <a:normAutofit/>
          </a:bodyPr>
          <a:lstStyle/>
          <a:p>
            <a:r>
              <a:rPr lang="en-US" dirty="0" smtClean="0"/>
              <a:t>Each surface is divided into concentric tracks and each track is divided into sectors.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set of corresponding </a:t>
            </a:r>
            <a:r>
              <a:rPr lang="en-US" dirty="0" smtClean="0"/>
              <a:t>tracks on </a:t>
            </a:r>
            <a:r>
              <a:rPr lang="en-US" dirty="0" smtClean="0"/>
              <a:t>all surfaces of a stack of disks form a logical cylinder. Data bits are stored serially on each track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Data on disks are addressed by specifying the surface number, the track number, and the sector number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93336"/>
          </a:xfrm>
        </p:spPr>
        <p:txBody>
          <a:bodyPr/>
          <a:lstStyle/>
          <a:p>
            <a:r>
              <a:rPr lang="en-US" dirty="0" smtClean="0"/>
              <a:t>In most disk systems, read and write operations always start at sector boundaries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If the number of words to </a:t>
            </a:r>
            <a:r>
              <a:rPr lang="en-US" dirty="0" smtClean="0"/>
              <a:t>be written </a:t>
            </a:r>
            <a:r>
              <a:rPr lang="en-US" dirty="0" smtClean="0"/>
              <a:t>is smaller than that required to fill a sector, the disk controller repeats the last bit of data for the remaining </a:t>
            </a:r>
            <a:r>
              <a:rPr lang="en-US" dirty="0" smtClean="0"/>
              <a:t>of the </a:t>
            </a:r>
            <a:r>
              <a:rPr lang="en-US" dirty="0" smtClean="0"/>
              <a:t>sector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93336"/>
          </a:xfrm>
        </p:spPr>
        <p:txBody>
          <a:bodyPr>
            <a:normAutofit/>
          </a:bodyPr>
          <a:lstStyle/>
          <a:p>
            <a:r>
              <a:rPr lang="en-US" dirty="0" smtClean="0"/>
              <a:t>During read and write operation, it is required to specify the starting address of the sector from where the </a:t>
            </a:r>
            <a:r>
              <a:rPr lang="en-US" dirty="0" smtClean="0"/>
              <a:t>operation will </a:t>
            </a:r>
            <a:r>
              <a:rPr lang="en-US" dirty="0" smtClean="0"/>
              <a:t>start, that is the </a:t>
            </a:r>
            <a:r>
              <a:rPr lang="en-US" i="1" dirty="0" smtClean="0"/>
              <a:t>read/write head must positioned to the correct track, sector and surface. 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Therefore </a:t>
            </a:r>
            <a:r>
              <a:rPr lang="en-US" i="1" dirty="0" smtClean="0"/>
              <a:t>the </a:t>
            </a:r>
            <a:r>
              <a:rPr lang="en-US" i="1" dirty="0" smtClean="0"/>
              <a:t>address </a:t>
            </a:r>
            <a:r>
              <a:rPr lang="en-US" dirty="0" smtClean="0"/>
              <a:t>of </a:t>
            </a:r>
            <a:r>
              <a:rPr lang="en-US" dirty="0" smtClean="0"/>
              <a:t>the disk contains </a:t>
            </a:r>
            <a:r>
              <a:rPr lang="en-US" i="1" dirty="0" smtClean="0"/>
              <a:t>track no., sector no., and surface no. If more than one drive is present, then drive number </a:t>
            </a:r>
            <a:r>
              <a:rPr lang="en-US" i="1" dirty="0" smtClean="0"/>
              <a:t>must </a:t>
            </a:r>
            <a:r>
              <a:rPr lang="en-US" dirty="0" smtClean="0"/>
              <a:t>also </a:t>
            </a:r>
            <a:r>
              <a:rPr lang="en-US" dirty="0" smtClean="0"/>
              <a:t>be specified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9333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format of the disk address word is shown in the figure. It contains the </a:t>
            </a:r>
            <a:r>
              <a:rPr lang="en-US" i="1" dirty="0" smtClean="0"/>
              <a:t>drive no, track no., surface no. and sector no</a:t>
            </a:r>
            <a:r>
              <a:rPr lang="en-US" i="1" dirty="0" smtClean="0"/>
              <a:t>.</a:t>
            </a:r>
          </a:p>
          <a:p>
            <a:endParaRPr lang="en-US" i="1" dirty="0" smtClean="0"/>
          </a:p>
          <a:p>
            <a:r>
              <a:rPr lang="en-US" dirty="0" smtClean="0"/>
              <a:t>The </a:t>
            </a:r>
            <a:r>
              <a:rPr lang="en-US" i="1" dirty="0" smtClean="0"/>
              <a:t>read/write head will first positioned to the correct track. In case of fixed head system, the correct head </a:t>
            </a:r>
            <a:r>
              <a:rPr lang="en-US" i="1" dirty="0" smtClean="0"/>
              <a:t>is </a:t>
            </a:r>
            <a:r>
              <a:rPr lang="en-US" dirty="0" smtClean="0"/>
              <a:t>selected </a:t>
            </a:r>
            <a:r>
              <a:rPr lang="en-US" dirty="0" smtClean="0"/>
              <a:t>by taking the </a:t>
            </a:r>
            <a:r>
              <a:rPr lang="en-US" i="1" dirty="0" smtClean="0"/>
              <a:t>track no. from the address</a:t>
            </a:r>
            <a:r>
              <a:rPr lang="en-US" i="1" dirty="0" smtClean="0"/>
              <a:t>.</a:t>
            </a:r>
          </a:p>
          <a:p>
            <a:r>
              <a:rPr lang="en-US" i="1" dirty="0" smtClean="0"/>
              <a:t> </a:t>
            </a:r>
          </a:p>
          <a:p>
            <a:r>
              <a:rPr lang="en-US" i="1" dirty="0" smtClean="0"/>
              <a:t>In </a:t>
            </a:r>
            <a:r>
              <a:rPr lang="en-US" i="1" dirty="0" smtClean="0"/>
              <a:t>case of movable head system, the head is moved so that it </a:t>
            </a:r>
            <a:r>
              <a:rPr lang="en-US" i="1" dirty="0" smtClean="0"/>
              <a:t>is </a:t>
            </a:r>
            <a:r>
              <a:rPr lang="en-US" dirty="0" smtClean="0"/>
              <a:t>positioned </a:t>
            </a:r>
            <a:r>
              <a:rPr lang="en-US" dirty="0" smtClean="0"/>
              <a:t>at the correct track.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517136"/>
          </a:xfrm>
        </p:spPr>
        <p:txBody>
          <a:bodyPr/>
          <a:lstStyle/>
          <a:p>
            <a:r>
              <a:rPr lang="en-US" dirty="0" smtClean="0"/>
              <a:t>Suppose that the disk system has 8 data recording surfaces with 4096 track per surface. Tracks </a:t>
            </a:r>
            <a:r>
              <a:rPr lang="en-US" dirty="0" smtClean="0"/>
              <a:t>are divided </a:t>
            </a:r>
            <a:r>
              <a:rPr lang="en-US" dirty="0" smtClean="0"/>
              <a:t>into 256 sectors. Then the format of disk address word is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 smtClean="0"/>
              <a:t>Suppose each sector of a track contains 512 bytes of disk recorded serially, then the total capacity </a:t>
            </a:r>
            <a:r>
              <a:rPr lang="en-US" dirty="0" smtClean="0"/>
              <a:t>of the </a:t>
            </a:r>
            <a:r>
              <a:rPr lang="en-US" dirty="0" smtClean="0"/>
              <a:t>disk is: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2514600"/>
            <a:ext cx="7620000" cy="1668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4648200"/>
            <a:ext cx="7162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593336"/>
          </a:xfrm>
        </p:spPr>
        <p:txBody>
          <a:bodyPr>
            <a:normAutofit/>
          </a:bodyPr>
          <a:lstStyle/>
          <a:p>
            <a:r>
              <a:rPr lang="en-US" dirty="0" smtClean="0"/>
              <a:t>For moving head system, there are two components involved in the time delay between receiving an address and </a:t>
            </a:r>
            <a:r>
              <a:rPr lang="en-US" dirty="0" smtClean="0"/>
              <a:t>the beginning </a:t>
            </a:r>
            <a:r>
              <a:rPr lang="en-US" dirty="0" smtClean="0"/>
              <a:t>of the actual data transfer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624078" indent="-514350">
              <a:buFont typeface="+mj-lt"/>
              <a:buAutoNum type="arabicPeriod"/>
            </a:pPr>
            <a:r>
              <a:rPr lang="en-US" b="1" dirty="0" smtClean="0"/>
              <a:t>Seek </a:t>
            </a:r>
            <a:r>
              <a:rPr lang="en-US" b="1" dirty="0" smtClean="0"/>
              <a:t>Time</a:t>
            </a:r>
          </a:p>
          <a:p>
            <a:pPr marL="624078" indent="-514350">
              <a:buFont typeface="+mj-lt"/>
              <a:buAutoNum type="arabicPeriod"/>
            </a:pPr>
            <a:r>
              <a:rPr lang="en-US" b="1" dirty="0" smtClean="0"/>
              <a:t>Rotational Delay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Seek Time</a:t>
            </a:r>
            <a:r>
              <a:rPr lang="en-US" b="1" dirty="0" smtClean="0"/>
              <a:t>: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i="1" dirty="0" smtClean="0"/>
              <a:t>Seek time is the time required to move the read/write head to the proper track. 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This </a:t>
            </a:r>
            <a:r>
              <a:rPr lang="en-US" i="1" dirty="0" smtClean="0"/>
              <a:t>depends on </a:t>
            </a:r>
            <a:r>
              <a:rPr lang="en-US" i="1" dirty="0" smtClean="0"/>
              <a:t>the </a:t>
            </a:r>
            <a:r>
              <a:rPr lang="en-US" dirty="0" smtClean="0"/>
              <a:t>initial </a:t>
            </a:r>
            <a:r>
              <a:rPr lang="en-US" dirty="0" smtClean="0"/>
              <a:t>position of the head relative to the track specified in the address.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Organization and accessing of data on a disk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Rotational Delay</a:t>
            </a:r>
            <a:r>
              <a:rPr lang="en-US" b="1" dirty="0" smtClean="0"/>
              <a:t>: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i="1" dirty="0" smtClean="0"/>
              <a:t>Rotational delay, also called the latency time is the amount of time that elapses after the head </a:t>
            </a:r>
            <a:r>
              <a:rPr lang="en-US" i="1" dirty="0" smtClean="0"/>
              <a:t>is </a:t>
            </a:r>
            <a:r>
              <a:rPr lang="en-US" dirty="0" smtClean="0"/>
              <a:t>positioned </a:t>
            </a:r>
            <a:r>
              <a:rPr lang="en-US" dirty="0" smtClean="0"/>
              <a:t>over the correct track until the starting position of the addressed sector comes under </a:t>
            </a:r>
            <a:r>
              <a:rPr lang="en-US" dirty="0" smtClean="0"/>
              <a:t>the Read/write </a:t>
            </a:r>
            <a:r>
              <a:rPr lang="en-US" dirty="0" smtClean="0"/>
              <a:t>head.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Disk Operation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3820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Communication </a:t>
            </a:r>
            <a:r>
              <a:rPr lang="en-US" dirty="0" smtClean="0"/>
              <a:t>between a disk and the main memory is done through DMA.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following information must </a:t>
            </a:r>
            <a:r>
              <a:rPr lang="en-US" dirty="0" smtClean="0"/>
              <a:t>be exchanged </a:t>
            </a:r>
            <a:r>
              <a:rPr lang="en-US" dirty="0" smtClean="0"/>
              <a:t>between the processor and the disk controller in order to specify a transfer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Main memory address :</a:t>
            </a:r>
          </a:p>
          <a:p>
            <a:r>
              <a:rPr lang="en-US" dirty="0" smtClean="0"/>
              <a:t>The address of the first main memory location of the block of words involved in the transfer.</a:t>
            </a:r>
          </a:p>
          <a:p>
            <a:pPr>
              <a:buNone/>
            </a:pPr>
            <a:r>
              <a:rPr lang="en-US" b="1" dirty="0" smtClean="0"/>
              <a:t>Disk address :</a:t>
            </a:r>
          </a:p>
          <a:p>
            <a:r>
              <a:rPr lang="en-US" dirty="0" smtClean="0"/>
              <a:t>The location of the sector containing the beginning of the </a:t>
            </a:r>
            <a:r>
              <a:rPr lang="en-US" dirty="0" err="1" smtClean="0"/>
              <a:t>the</a:t>
            </a:r>
            <a:r>
              <a:rPr lang="en-US" dirty="0" smtClean="0"/>
              <a:t> desired block of words.</a:t>
            </a:r>
          </a:p>
          <a:p>
            <a:pPr>
              <a:buNone/>
            </a:pPr>
            <a:r>
              <a:rPr lang="en-US" b="1" dirty="0" smtClean="0"/>
              <a:t>Word count :</a:t>
            </a:r>
          </a:p>
          <a:p>
            <a:r>
              <a:rPr lang="en-US" dirty="0" smtClean="0"/>
              <a:t>The number of words in the block to be transferred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Disk Operation</a:t>
            </a:r>
            <a:br>
              <a:rPr lang="en-US" b="1" dirty="0" smtClean="0"/>
            </a:b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4114800"/>
            <a:ext cx="70104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990600" y="2590800"/>
            <a:ext cx="6857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The disk address format is</a:t>
            </a:r>
            <a:r>
              <a:rPr lang="en-US" dirty="0" smtClean="0"/>
              <a:t>: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Disk Operation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66953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word count may corresponds to fewer or more bytes than that are contained in a sector. When the data block </a:t>
            </a:r>
            <a:r>
              <a:rPr lang="en-US" dirty="0" smtClean="0"/>
              <a:t>is longer </a:t>
            </a:r>
            <a:r>
              <a:rPr lang="en-US" dirty="0" smtClean="0"/>
              <a:t>than a track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 smtClean="0"/>
              <a:t>The disk address register is incremented as successive sectors are read or written. When one track is </a:t>
            </a:r>
            <a:r>
              <a:rPr lang="en-US" dirty="0" smtClean="0"/>
              <a:t>completed then </a:t>
            </a:r>
            <a:r>
              <a:rPr lang="en-US" dirty="0" smtClean="0"/>
              <a:t>the surface count is incremented by 1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Thus, long data blocks are laid out on cylinder surfaces as opposed to being laid out on successive tracks of a </a:t>
            </a:r>
            <a:r>
              <a:rPr lang="en-US" dirty="0" smtClean="0"/>
              <a:t>single disk </a:t>
            </a:r>
            <a:r>
              <a:rPr lang="en-US" dirty="0" smtClean="0"/>
              <a:t>surface.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914400"/>
          </a:xfrm>
        </p:spPr>
        <p:txBody>
          <a:bodyPr/>
          <a:lstStyle/>
          <a:p>
            <a:r>
              <a:rPr lang="en-US" b="1" dirty="0" smtClean="0"/>
              <a:t>Disk 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745736"/>
          </a:xfrm>
        </p:spPr>
        <p:txBody>
          <a:bodyPr/>
          <a:lstStyle/>
          <a:p>
            <a:r>
              <a:rPr lang="en-US" dirty="0" smtClean="0"/>
              <a:t>This is efficient for moving head systems, because successive sector areas of data storage on the disk can </a:t>
            </a:r>
            <a:r>
              <a:rPr lang="en-US" dirty="0" smtClean="0"/>
              <a:t>be accessed </a:t>
            </a:r>
            <a:r>
              <a:rPr lang="en-US" dirty="0" smtClean="0"/>
              <a:t>by electrically switching from one </a:t>
            </a:r>
            <a:r>
              <a:rPr lang="en-US" i="1" dirty="0" smtClean="0"/>
              <a:t>Read/Write head to the next rather than by mechanically moving the </a:t>
            </a:r>
            <a:r>
              <a:rPr lang="en-US" i="1" dirty="0" smtClean="0"/>
              <a:t>arm </a:t>
            </a:r>
            <a:r>
              <a:rPr lang="en-US" dirty="0" smtClean="0"/>
              <a:t>from </a:t>
            </a:r>
            <a:r>
              <a:rPr lang="en-US" dirty="0" smtClean="0"/>
              <a:t>track to track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i="1" dirty="0" smtClean="0"/>
              <a:t>track-to-track movement is required only at cylinder-to-cylinder boundaries.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Disk Performance Parameter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50536"/>
          </a:xfrm>
        </p:spPr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 smtClean="0"/>
              <a:t>a disk drive is operating, the disk is rotating at constant speed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To </a:t>
            </a:r>
            <a:r>
              <a:rPr lang="en-US" i="1" dirty="0" smtClean="0"/>
              <a:t>read or write, the head must be positioned at the desired tack and at the beginning of the desired </a:t>
            </a:r>
            <a:r>
              <a:rPr lang="en-US" i="1" dirty="0" smtClean="0"/>
              <a:t>sector </a:t>
            </a:r>
            <a:r>
              <a:rPr lang="en-US" dirty="0" smtClean="0"/>
              <a:t>on </a:t>
            </a:r>
            <a:r>
              <a:rPr lang="en-US" dirty="0" smtClean="0"/>
              <a:t>the </a:t>
            </a:r>
            <a:r>
              <a:rPr lang="en-US" i="1" dirty="0" smtClean="0"/>
              <a:t>track</a:t>
            </a:r>
            <a:r>
              <a:rPr lang="en-US" i="1" dirty="0" smtClean="0"/>
              <a:t>.</a:t>
            </a:r>
          </a:p>
          <a:p>
            <a:endParaRPr lang="en-US" i="1" dirty="0" smtClean="0"/>
          </a:p>
          <a:p>
            <a:r>
              <a:rPr lang="en-US" dirty="0" smtClean="0"/>
              <a:t>Track selection involves moving the head in a </a:t>
            </a:r>
            <a:r>
              <a:rPr lang="en-US" i="1" dirty="0" smtClean="0"/>
              <a:t>movable-head system or electronically selecting one head on </a:t>
            </a:r>
            <a:r>
              <a:rPr lang="en-US" i="1" dirty="0" smtClean="0"/>
              <a:t>a </a:t>
            </a:r>
            <a:r>
              <a:rPr lang="en-US" dirty="0" smtClean="0"/>
              <a:t>fixed </a:t>
            </a:r>
            <a:r>
              <a:rPr lang="en-US" dirty="0" smtClean="0"/>
              <a:t>head system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Disk Performance Parameter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2193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On a </a:t>
            </a:r>
            <a:r>
              <a:rPr lang="en-US" i="1" dirty="0" smtClean="0"/>
              <a:t>movable-head system, the time taken to position the head at the track is known a seek time.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Once the track is selected, the disk controller waits until the appropriate sector rotates to line up with the head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time it takes to reach the beginning of the desired sector is known as </a:t>
            </a:r>
            <a:r>
              <a:rPr lang="en-US" i="1" dirty="0" smtClean="0"/>
              <a:t>rotational delay or rotational latency.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Disk Performance Parameter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050536"/>
          </a:xfrm>
        </p:spPr>
        <p:txBody>
          <a:bodyPr/>
          <a:lstStyle/>
          <a:p>
            <a:r>
              <a:rPr lang="en-US" dirty="0" smtClean="0"/>
              <a:t>The sum of the </a:t>
            </a:r>
            <a:r>
              <a:rPr lang="en-US" i="1" dirty="0" smtClean="0"/>
              <a:t>seek time, (for movable head system) and the rotational delay is termed as </a:t>
            </a:r>
            <a:r>
              <a:rPr lang="en-US" b="1" i="1" dirty="0" smtClean="0"/>
              <a:t>access time </a:t>
            </a:r>
            <a:r>
              <a:rPr lang="en-US" b="1" i="1" dirty="0" smtClean="0"/>
              <a:t>of </a:t>
            </a:r>
            <a:r>
              <a:rPr lang="en-US" dirty="0" smtClean="0"/>
              <a:t>the </a:t>
            </a:r>
            <a:r>
              <a:rPr lang="en-US" dirty="0" smtClean="0"/>
              <a:t>disk, the time it takes to get into appropriate position (track &amp; sector) to read or write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Once the head is in position, the read or write operation is then performed as the sector moves under </a:t>
            </a:r>
            <a:r>
              <a:rPr lang="en-US" dirty="0" smtClean="0"/>
              <a:t>the head</a:t>
            </a:r>
            <a:r>
              <a:rPr lang="en-US" dirty="0" smtClean="0"/>
              <a:t>, and the data transfer takes place.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Seek Time: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669536"/>
          </a:xfrm>
        </p:spPr>
        <p:txBody>
          <a:bodyPr>
            <a:normAutofit/>
          </a:bodyPr>
          <a:lstStyle/>
          <a:p>
            <a:r>
              <a:rPr lang="en-US" dirty="0" smtClean="0"/>
              <a:t>Seek </a:t>
            </a:r>
            <a:r>
              <a:rPr lang="en-US" dirty="0" smtClean="0"/>
              <a:t>time is the time required to move the disk arm to the required track. The seek time is </a:t>
            </a:r>
            <a:r>
              <a:rPr lang="en-US" dirty="0" smtClean="0"/>
              <a:t>approximated as :</a:t>
            </a:r>
          </a:p>
          <a:p>
            <a:endParaRPr lang="en-US" dirty="0" smtClean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3810000"/>
            <a:ext cx="2590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219200" y="4572000"/>
            <a:ext cx="7543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Where,</a:t>
            </a:r>
            <a:endParaRPr lang="en-US" sz="2400" dirty="0" smtClean="0"/>
          </a:p>
          <a:p>
            <a:r>
              <a:rPr lang="en-US" sz="2400" dirty="0" smtClean="0"/>
              <a:t>   estimated </a:t>
            </a:r>
            <a:r>
              <a:rPr lang="en-US" sz="2400" dirty="0" smtClean="0"/>
              <a:t>seek time</a:t>
            </a:r>
          </a:p>
          <a:p>
            <a:r>
              <a:rPr lang="en-US" sz="2400" dirty="0" smtClean="0"/>
              <a:t>number of tracks </a:t>
            </a:r>
            <a:r>
              <a:rPr lang="en-US" sz="2400" dirty="0" smtClean="0"/>
              <a:t>traversed</a:t>
            </a:r>
            <a:endParaRPr lang="en-US" sz="2400" dirty="0" smtClean="0"/>
          </a:p>
          <a:p>
            <a:r>
              <a:rPr lang="en-US" sz="2400" dirty="0" smtClean="0"/>
              <a:t>constant that depends on the disk drive</a:t>
            </a:r>
          </a:p>
          <a:p>
            <a:r>
              <a:rPr lang="en-US" sz="2400" dirty="0" smtClean="0"/>
              <a:t>startup time</a:t>
            </a:r>
            <a:endParaRPr lang="en-US" sz="2400" dirty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4914900"/>
            <a:ext cx="8382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2128" y="5334000"/>
            <a:ext cx="517074" cy="441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8714" y="5715000"/>
            <a:ext cx="59191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9600" y="6096000"/>
            <a:ext cx="609600" cy="349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Rotational Delay: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669536"/>
          </a:xfrm>
        </p:spPr>
        <p:txBody>
          <a:bodyPr/>
          <a:lstStyle/>
          <a:p>
            <a:r>
              <a:rPr lang="en-US" dirty="0" smtClean="0"/>
              <a:t>Disk </a:t>
            </a:r>
            <a:r>
              <a:rPr lang="en-US" dirty="0" smtClean="0"/>
              <a:t>drive generally rotates at 3600 </a:t>
            </a:r>
            <a:r>
              <a:rPr lang="en-US" i="1" dirty="0" smtClean="0"/>
              <a:t>rpm, i.e., to make one revolution it takes around 16.7 </a:t>
            </a:r>
            <a:r>
              <a:rPr lang="en-US" i="1" dirty="0" err="1" smtClean="0"/>
              <a:t>ms.</a:t>
            </a:r>
            <a:r>
              <a:rPr lang="en-US" i="1" dirty="0" smtClean="0"/>
              <a:t> Thus </a:t>
            </a:r>
            <a:r>
              <a:rPr lang="en-US" i="1" dirty="0" smtClean="0"/>
              <a:t>on </a:t>
            </a:r>
            <a:r>
              <a:rPr lang="en-US" dirty="0" smtClean="0"/>
              <a:t>the </a:t>
            </a:r>
            <a:r>
              <a:rPr lang="en-US" dirty="0" smtClean="0"/>
              <a:t>average, the rotational delay will be 8.3 </a:t>
            </a:r>
            <a:r>
              <a:rPr lang="en-US" i="1" dirty="0" err="1" smtClean="0"/>
              <a:t>ms</a:t>
            </a:r>
            <a:r>
              <a:rPr lang="en-US" i="1" dirty="0" err="1" smtClean="0"/>
              <a:t>.</a:t>
            </a:r>
            <a:endParaRPr lang="en-US" i="1" dirty="0" smtClean="0"/>
          </a:p>
          <a:p>
            <a:r>
              <a:rPr lang="en-US" dirty="0" smtClean="0"/>
              <a:t>The transfer time to or from the disk depends on the rotational speed of the disk and it is estimated </a:t>
            </a:r>
            <a:r>
              <a:rPr lang="en-US" dirty="0" smtClean="0"/>
              <a:t>as :</a:t>
            </a:r>
            <a:endParaRPr lang="en-US" dirty="0" smtClean="0"/>
          </a:p>
          <a:p>
            <a:endParaRPr lang="en-US" i="1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8600" y="5181600"/>
            <a:ext cx="1905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Rotational Delay: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2193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Where,</a:t>
            </a:r>
            <a:endParaRPr lang="en-US" dirty="0" smtClean="0"/>
          </a:p>
          <a:p>
            <a:r>
              <a:rPr lang="en-US" dirty="0" smtClean="0"/>
              <a:t>T=Transfer </a:t>
            </a:r>
            <a:r>
              <a:rPr lang="en-US" dirty="0" smtClean="0"/>
              <a:t>time</a:t>
            </a:r>
          </a:p>
          <a:p>
            <a:r>
              <a:rPr lang="en-US" dirty="0" smtClean="0"/>
              <a:t>b</a:t>
            </a:r>
            <a:r>
              <a:rPr lang="en-US" dirty="0" smtClean="0"/>
              <a:t>=Number </a:t>
            </a:r>
            <a:r>
              <a:rPr lang="en-US" dirty="0" smtClean="0"/>
              <a:t>of bytes to be transferred.</a:t>
            </a:r>
          </a:p>
          <a:p>
            <a:r>
              <a:rPr lang="en-US" dirty="0" smtClean="0"/>
              <a:t>N</a:t>
            </a:r>
            <a:r>
              <a:rPr lang="en-US" dirty="0" smtClean="0"/>
              <a:t>=Numbers </a:t>
            </a:r>
            <a:r>
              <a:rPr lang="en-US" dirty="0" smtClean="0"/>
              <a:t>of bytes on a track</a:t>
            </a:r>
          </a:p>
          <a:p>
            <a:r>
              <a:rPr lang="en-US" dirty="0" smtClean="0"/>
              <a:t>r =Rotational </a:t>
            </a:r>
            <a:r>
              <a:rPr lang="en-US" dirty="0" smtClean="0"/>
              <a:t>speed, in revolution per second.</a:t>
            </a:r>
          </a:p>
          <a:p>
            <a:r>
              <a:rPr lang="en-US" dirty="0" err="1" smtClean="0"/>
              <a:t>Thus,the</a:t>
            </a:r>
            <a:r>
              <a:rPr lang="en-US" dirty="0" smtClean="0"/>
              <a:t> </a:t>
            </a:r>
            <a:r>
              <a:rPr lang="en-US" dirty="0" smtClean="0"/>
              <a:t>total </a:t>
            </a:r>
            <a:r>
              <a:rPr lang="en-US" b="1" i="1" dirty="0" smtClean="0"/>
              <a:t>average access time can be expressed </a:t>
            </a:r>
            <a:r>
              <a:rPr lang="en-US" b="1" i="1" dirty="0" smtClean="0"/>
              <a:t>as</a:t>
            </a:r>
            <a:endParaRPr lang="en-US" b="1" i="1" dirty="0" smtClean="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5334000"/>
            <a:ext cx="2209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762000"/>
            <a:ext cx="8153399" cy="556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