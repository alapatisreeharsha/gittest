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presentationml.viewProps+xml" PartName="/ppt/viewProps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Lst>
  <p:sldSz cy="6858000" cx="9144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1.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viewProps" Target="viewProps1.xml"/><Relationship Id="rId3" Type="http://schemas.openxmlformats.org/officeDocument/2006/relationships/presProps" Target="presProps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8" Type="http://schemas.openxmlformats.org/officeDocument/2006/relationships/slide" Target="slides/slide44.xml"/><Relationship Id="rId25" Type="http://schemas.openxmlformats.org/officeDocument/2006/relationships/slide" Target="slides/slide21.xml"/><Relationship Id="rId47" Type="http://schemas.openxmlformats.org/officeDocument/2006/relationships/slide" Target="slides/slide43.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8BD707-D9CF-40AE-B4C6-C98DA3205C09}" type="datetimeFigureOut">
              <a:rPr lang="en-US" smtClean="0"/>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panose="05020102010507070707"/>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panose="05020102010507070707"/>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panose="05020102010507070707"/>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52599"/>
            <a:ext cx="8229600" cy="914401"/>
          </a:xfrm>
        </p:spPr>
        <p:txBody>
          <a:bodyPr>
            <a:noAutofit/>
          </a:bodyPr>
          <a:lstStyle/>
          <a:p>
            <a:r>
              <a:rPr sz="6600" b="1" smtClean="0"/>
              <a:t>I/O </a:t>
            </a:r>
            <a:r>
              <a:rPr sz="6600" b="1" smtClean="0"/>
              <a:t>Organization (</a:t>
            </a:r>
            <a:r>
              <a:rPr sz="4400" b="1" smtClean="0"/>
              <a:t>Modes Of Transfer)</a:t>
            </a:r>
            <a:endParaRPr lang="en-US" sz="4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What are Peripheral Devices?</a:t>
            </a:r>
            <a:endParaRPr lang="en-US" b="1" dirty="0"/>
          </a:p>
        </p:txBody>
      </p:sp>
      <p:sp>
        <p:nvSpPr>
          <p:cNvPr id="3" name="Content Placeholder 2"/>
          <p:cNvSpPr>
            <a:spLocks noGrp="1"/>
          </p:cNvSpPr>
          <p:nvPr>
            <p:ph sz="quarter" idx="1"/>
          </p:nvPr>
        </p:nvSpPr>
        <p:spPr>
          <a:xfrm>
            <a:off x="914400" y="1447800"/>
            <a:ext cx="7772400" cy="4953000"/>
          </a:xfrm>
        </p:spPr>
        <p:txBody>
          <a:bodyPr>
            <a:noAutofit/>
          </a:bodyPr>
          <a:lstStyle/>
          <a:p>
            <a:r>
              <a:rPr lang="en-US" sz="2800" dirty="0" smtClean="0"/>
              <a:t>A peripheral device, also sometimes called an auxiliary device, is any connected device (internal or external) that provides a computer with additional functionality.</a:t>
            </a:r>
            <a:endParaRPr lang="en-US" sz="2800" dirty="0" smtClean="0"/>
          </a:p>
          <a:p>
            <a:r>
              <a:rPr lang="en-US" sz="2800" dirty="0" smtClean="0"/>
              <a:t>Peripheral devices fall into three main categories:</a:t>
            </a:r>
            <a:endParaRPr lang="en-US" sz="2800" dirty="0" smtClean="0"/>
          </a:p>
          <a:p>
            <a:pPr>
              <a:buNone/>
            </a:pPr>
            <a:endParaRPr lang="en-US" sz="2800" dirty="0" smtClean="0"/>
          </a:p>
          <a:p>
            <a:pPr marL="514350" indent="-514350">
              <a:buFont typeface="+mj-lt"/>
              <a:buAutoNum type="arabicPeriod"/>
            </a:pPr>
            <a:r>
              <a:rPr lang="en-US" sz="2800" b="1" dirty="0" smtClean="0"/>
              <a:t>Input devices</a:t>
            </a:r>
            <a:r>
              <a:rPr lang="en-US" sz="2800" dirty="0" smtClean="0"/>
              <a:t>, which send data to the computer.</a:t>
            </a:r>
            <a:endParaRPr lang="en-US" sz="2800" dirty="0" smtClean="0"/>
          </a:p>
          <a:p>
            <a:pPr marL="514350" indent="-514350">
              <a:buFont typeface="+mj-lt"/>
              <a:buAutoNum type="arabicPeriod"/>
            </a:pPr>
            <a:r>
              <a:rPr lang="en-US" sz="2800" b="1" dirty="0" smtClean="0"/>
              <a:t>Output devices,</a:t>
            </a:r>
            <a:r>
              <a:rPr lang="en-US" sz="2800" dirty="0" smtClean="0"/>
              <a:t> which receive data from the computer.</a:t>
            </a:r>
            <a:endParaRPr lang="en-US" sz="2800" dirty="0" smtClean="0"/>
          </a:p>
          <a:p>
            <a:pPr marL="514350" indent="-514350">
              <a:buFont typeface="+mj-lt"/>
              <a:buAutoNum type="arabicPeriod"/>
            </a:pPr>
            <a:r>
              <a:rPr lang="en-US" sz="2800" b="1" dirty="0" smtClean="0"/>
              <a:t>Input/output devices</a:t>
            </a:r>
            <a:r>
              <a:rPr lang="en-US" sz="2800" dirty="0" smtClean="0"/>
              <a:t>, such as storage devices.</a:t>
            </a:r>
            <a:endParaRPr lang="en-US" sz="2800" dirty="0" smtClean="0"/>
          </a:p>
          <a:p>
            <a:pPr marL="514350" indent="-514350">
              <a:buFont typeface="+mj-lt"/>
              <a:buAutoNum type="arabicPeriod"/>
            </a:pPr>
            <a:endParaRPr 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Classification of Peripheral devices:</a:t>
            </a:r>
            <a:endParaRPr lang="en-US" dirty="0"/>
          </a:p>
        </p:txBody>
      </p:sp>
      <p:sp>
        <p:nvSpPr>
          <p:cNvPr id="3" name="Content Placeholder 2"/>
          <p:cNvSpPr>
            <a:spLocks noGrp="1"/>
          </p:cNvSpPr>
          <p:nvPr>
            <p:ph sz="quarter" idx="1"/>
          </p:nvPr>
        </p:nvSpPr>
        <p:spPr>
          <a:xfrm>
            <a:off x="914400" y="1447800"/>
            <a:ext cx="7772400" cy="4953000"/>
          </a:xfrm>
        </p:spPr>
        <p:txBody>
          <a:bodyPr>
            <a:noAutofit/>
          </a:bodyPr>
          <a:lstStyle/>
          <a:p>
            <a:pPr fontAlgn="base">
              <a:buNone/>
            </a:pPr>
            <a:r>
              <a:rPr lang="en-US" sz="3200" b="1" dirty="0" smtClean="0"/>
              <a:t>Input Devices:</a:t>
            </a:r>
            <a:br>
              <a:rPr lang="en-US" sz="3200" dirty="0" smtClean="0"/>
            </a:br>
            <a:r>
              <a:rPr lang="en-US" sz="3200" dirty="0" smtClean="0"/>
              <a:t>The input devices is defined as it converts incoming data and instructions into a pattern of electrical signals in binary code that are comprehensible to a digital computer.</a:t>
            </a:r>
            <a:endParaRPr lang="en-US" sz="3200" dirty="0" smtClean="0"/>
          </a:p>
          <a:p>
            <a:pPr fontAlgn="base">
              <a:buNone/>
            </a:pPr>
            <a:br>
              <a:rPr lang="en-US" sz="3200" dirty="0" smtClean="0"/>
            </a:br>
            <a:r>
              <a:rPr lang="en-US" sz="3200" b="1" dirty="0" err="1" smtClean="0"/>
              <a:t>Example:</a:t>
            </a:r>
            <a:r>
              <a:rPr lang="en-US" sz="3200" dirty="0" err="1" smtClean="0"/>
              <a:t>Keyboard</a:t>
            </a:r>
            <a:r>
              <a:rPr lang="en-US" sz="3200" dirty="0" smtClean="0"/>
              <a:t>, mouse, scanner, microphone etc. </a:t>
            </a:r>
            <a:endParaRPr lang="en-US" sz="3200" dirty="0" smtClean="0"/>
          </a:p>
          <a:p>
            <a:endParaRPr 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Classification of Peripheral devices:</a:t>
            </a:r>
            <a:endParaRPr lang="en-US" dirty="0"/>
          </a:p>
        </p:txBody>
      </p:sp>
      <p:sp>
        <p:nvSpPr>
          <p:cNvPr id="3" name="Content Placeholder 2"/>
          <p:cNvSpPr>
            <a:spLocks noGrp="1"/>
          </p:cNvSpPr>
          <p:nvPr>
            <p:ph sz="quarter" idx="1"/>
          </p:nvPr>
        </p:nvSpPr>
        <p:spPr/>
        <p:txBody>
          <a:bodyPr>
            <a:normAutofit/>
          </a:bodyPr>
          <a:lstStyle/>
          <a:p>
            <a:pPr>
              <a:buNone/>
            </a:pPr>
            <a:r>
              <a:rPr lang="en-US" sz="2800" b="1" dirty="0" smtClean="0"/>
              <a:t>Output Devices:</a:t>
            </a:r>
            <a:br>
              <a:rPr lang="en-US" sz="2800" dirty="0" smtClean="0"/>
            </a:br>
            <a:r>
              <a:rPr lang="en-US" sz="2800" dirty="0" smtClean="0"/>
              <a:t>An output device is generally reverse of the input process and generally translating the digitized signals into a form intelligible to the user. </a:t>
            </a:r>
            <a:endParaRPr lang="en-US" sz="2800" dirty="0" smtClean="0"/>
          </a:p>
          <a:p>
            <a:r>
              <a:rPr lang="en-US" sz="2800" dirty="0" smtClean="0"/>
              <a:t>The output device is also performed for sending data from one computer system to another.</a:t>
            </a:r>
            <a:endParaRPr lang="en-US" sz="2800" dirty="0" smtClean="0"/>
          </a:p>
          <a:p>
            <a:pPr>
              <a:buNone/>
            </a:pPr>
            <a:br>
              <a:rPr lang="en-US" sz="2800" dirty="0" smtClean="0"/>
            </a:br>
            <a:r>
              <a:rPr lang="en-US" sz="2800" b="1" dirty="0" err="1" smtClean="0"/>
              <a:t>Example:</a:t>
            </a:r>
            <a:r>
              <a:rPr lang="en-US" sz="2800" dirty="0" err="1" smtClean="0"/>
              <a:t>Monitors</a:t>
            </a:r>
            <a:r>
              <a:rPr lang="en-US" sz="2800" dirty="0" smtClean="0"/>
              <a:t>, headphones, printers etc. </a:t>
            </a:r>
            <a:endParaRPr lang="en-US" sz="2800"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Classification of Peripheral devices:</a:t>
            </a:r>
            <a:endParaRPr lang="en-US" dirty="0"/>
          </a:p>
        </p:txBody>
      </p:sp>
      <p:sp>
        <p:nvSpPr>
          <p:cNvPr id="3" name="Content Placeholder 2"/>
          <p:cNvSpPr>
            <a:spLocks noGrp="1"/>
          </p:cNvSpPr>
          <p:nvPr>
            <p:ph sz="quarter" idx="1"/>
          </p:nvPr>
        </p:nvSpPr>
        <p:spPr/>
        <p:txBody>
          <a:bodyPr>
            <a:normAutofit/>
          </a:bodyPr>
          <a:lstStyle/>
          <a:p>
            <a:pPr>
              <a:buNone/>
            </a:pPr>
            <a:r>
              <a:rPr lang="en-US" sz="2800" b="1" dirty="0" smtClean="0"/>
              <a:t>Storage Devices:</a:t>
            </a:r>
            <a:br>
              <a:rPr lang="en-US" sz="2800" dirty="0" smtClean="0"/>
            </a:br>
            <a:r>
              <a:rPr lang="en-US" sz="2800" dirty="0" smtClean="0"/>
              <a:t>Storage devices are used to store data in the system which is required for performing any operation in the system. </a:t>
            </a:r>
            <a:endParaRPr lang="en-US" sz="2800" dirty="0" smtClean="0"/>
          </a:p>
          <a:p>
            <a:r>
              <a:rPr lang="en-US" sz="2800" dirty="0" smtClean="0"/>
              <a:t>The storage device is one of the most requirement devices and also provide better compatibility.</a:t>
            </a:r>
            <a:endParaRPr lang="en-US" sz="2800" dirty="0" smtClean="0"/>
          </a:p>
          <a:p>
            <a:pPr>
              <a:buNone/>
            </a:pPr>
            <a:br>
              <a:rPr lang="en-US" sz="2800" dirty="0" smtClean="0"/>
            </a:br>
            <a:r>
              <a:rPr lang="en-US" sz="2800" b="1" dirty="0" smtClean="0"/>
              <a:t>Example: </a:t>
            </a:r>
            <a:r>
              <a:rPr lang="en-US" sz="2800" dirty="0" smtClean="0"/>
              <a:t>Hard disk, magnetic tape, Flash memory etc. </a:t>
            </a:r>
            <a:endParaRPr lang="en-US" sz="2800" dirty="0" smtClean="0"/>
          </a:p>
          <a:p>
            <a:pPr>
              <a:buNone/>
            </a:pPr>
            <a:endParaRPr 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I/O Interface :</a:t>
            </a:r>
            <a:endParaRPr lang="en-US" b="1" dirty="0"/>
          </a:p>
        </p:txBody>
      </p:sp>
      <p:sp>
        <p:nvSpPr>
          <p:cNvPr id="3" name="Content Placeholder 2"/>
          <p:cNvSpPr>
            <a:spLocks noGrp="1"/>
          </p:cNvSpPr>
          <p:nvPr>
            <p:ph sz="quarter" idx="1"/>
          </p:nvPr>
        </p:nvSpPr>
        <p:spPr/>
        <p:txBody>
          <a:bodyPr>
            <a:normAutofit/>
          </a:bodyPr>
          <a:lstStyle/>
          <a:p>
            <a:r>
              <a:rPr lang="en-US" sz="3200" dirty="0" smtClean="0"/>
              <a:t>The method that is used to transfer information </a:t>
            </a:r>
            <a:r>
              <a:rPr lang="en-US" sz="3200" b="1" dirty="0" smtClean="0">
                <a:solidFill>
                  <a:srgbClr val="00B050"/>
                </a:solidFill>
              </a:rPr>
              <a:t>between internal storage and external I/O </a:t>
            </a:r>
            <a:r>
              <a:rPr lang="en-US" sz="3200" dirty="0" smtClean="0"/>
              <a:t>devices is known as I/O interface. </a:t>
            </a:r>
            <a:endParaRPr lang="en-US" sz="3200" dirty="0" smtClean="0"/>
          </a:p>
          <a:p>
            <a:r>
              <a:rPr lang="en-US" sz="3200" dirty="0" smtClean="0"/>
              <a:t>The CPU is interfaced using special communication links by the peripherals connected to any computer system. </a:t>
            </a:r>
            <a:endParaRPr lang="en-US" sz="3200" dirty="0" smtClean="0"/>
          </a:p>
          <a:p>
            <a:r>
              <a:rPr lang="en-US" sz="3200" dirty="0" smtClean="0"/>
              <a:t>These communication links are used to resolve the differences between CPU and peripheral.</a:t>
            </a:r>
            <a:endParaRPr lang="en-US" sz="32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I/O Bus and Interface Modules</a:t>
            </a:r>
            <a:endParaRPr lang="en-US" b="1" dirty="0"/>
          </a:p>
        </p:txBody>
      </p:sp>
      <p:sp>
        <p:nvSpPr>
          <p:cNvPr id="3" name="Content Placeholder 2"/>
          <p:cNvSpPr>
            <a:spLocks noGrp="1"/>
          </p:cNvSpPr>
          <p:nvPr>
            <p:ph sz="quarter" idx="1"/>
          </p:nvPr>
        </p:nvSpPr>
        <p:spPr>
          <a:xfrm>
            <a:off x="914400" y="1447800"/>
            <a:ext cx="7772400" cy="5105400"/>
          </a:xfrm>
        </p:spPr>
        <p:txBody>
          <a:bodyPr>
            <a:normAutofit lnSpcReduction="10000"/>
          </a:bodyPr>
          <a:lstStyle/>
          <a:p>
            <a:r>
              <a:rPr lang="en-US" dirty="0" smtClean="0"/>
              <a:t>The I/O bus is the route used for peripheral devices to interact with the computer processor. A typical connection of the I/O bus to I/O devices is shown in the figure.</a:t>
            </a:r>
            <a:endParaRPr lang="en-US" dirty="0" smtClean="0"/>
          </a:p>
          <a:p>
            <a:endParaRPr lang="en-US" dirty="0" smtClean="0"/>
          </a:p>
          <a:p>
            <a:r>
              <a:rPr lang="en-US" dirty="0" smtClean="0"/>
              <a:t>The I/O bus includes data lines, address lines, and control lines. In any general-purpose computer, the magnetic disk, printer, and keyboard, and display terminal are commonly employed. </a:t>
            </a:r>
            <a:endParaRPr lang="en-US" dirty="0" smtClean="0"/>
          </a:p>
          <a:p>
            <a:endParaRPr lang="en-US" dirty="0" smtClean="0"/>
          </a:p>
          <a:p>
            <a:r>
              <a:rPr lang="en-US" dirty="0" smtClean="0"/>
              <a:t>Each peripheral unit has an interface unit associated with it. Each interface decodes the control and address received from the I/O bus.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RGUKT\Desktop\interface_modules.jpg"/>
          <p:cNvPicPr>
            <a:picLocks noChangeAspect="1" noChangeArrowheads="1"/>
          </p:cNvPicPr>
          <p:nvPr/>
        </p:nvPicPr>
        <p:blipFill>
          <a:blip r:embed="rId1"/>
          <a:srcRect/>
          <a:stretch>
            <a:fillRect/>
          </a:stretch>
        </p:blipFill>
        <p:spPr bwMode="auto">
          <a:xfrm>
            <a:off x="762000" y="533400"/>
            <a:ext cx="7924800" cy="5819775"/>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I/O Bus and Interface Modules</a:t>
            </a:r>
            <a:endParaRPr lang="en-US" b="1" dirty="0"/>
          </a:p>
        </p:txBody>
      </p:sp>
      <p:sp>
        <p:nvSpPr>
          <p:cNvPr id="3" name="Content Placeholder 2"/>
          <p:cNvSpPr>
            <a:spLocks noGrp="1"/>
          </p:cNvSpPr>
          <p:nvPr>
            <p:ph sz="quarter" idx="1"/>
          </p:nvPr>
        </p:nvSpPr>
        <p:spPr/>
        <p:txBody>
          <a:bodyPr>
            <a:normAutofit/>
          </a:bodyPr>
          <a:lstStyle/>
          <a:p>
            <a:pPr>
              <a:buNone/>
            </a:pPr>
            <a:r>
              <a:rPr lang="en-US" dirty="0" smtClean="0"/>
              <a:t>An interface receives any of the following four commands −</a:t>
            </a:r>
            <a:endParaRPr lang="en-US" dirty="0" smtClean="0"/>
          </a:p>
          <a:p>
            <a:endParaRPr lang="en-US" b="1" dirty="0" smtClean="0"/>
          </a:p>
          <a:p>
            <a:r>
              <a:rPr lang="en-US" b="1" dirty="0" smtClean="0"/>
              <a:t>Control</a:t>
            </a:r>
            <a:r>
              <a:rPr lang="en-US" dirty="0" smtClean="0"/>
              <a:t> − A command control is given to activate the peripheral and to inform its next task. This control command depends on the peripheral, and each peripheral receives its sequence of control commands, depending on its mode of operation.</a:t>
            </a:r>
            <a:endParaRPr lang="en-US" dirty="0" smtClean="0"/>
          </a:p>
          <a:p>
            <a:endParaRPr lang="en-US" dirty="0" smtClean="0"/>
          </a:p>
          <a:p>
            <a:r>
              <a:rPr lang="en-US" b="1" dirty="0" smtClean="0"/>
              <a:t>Status</a:t>
            </a:r>
            <a:r>
              <a:rPr lang="en-US" dirty="0" smtClean="0"/>
              <a:t> − A status command can test multiple test conditions in the interface and the peripheral.</a:t>
            </a:r>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I/O Bus and Interface Modules</a:t>
            </a:r>
            <a:endParaRPr lang="en-US" b="1" dirty="0"/>
          </a:p>
        </p:txBody>
      </p:sp>
      <p:sp>
        <p:nvSpPr>
          <p:cNvPr id="3" name="Content Placeholder 2"/>
          <p:cNvSpPr>
            <a:spLocks noGrp="1"/>
          </p:cNvSpPr>
          <p:nvPr>
            <p:ph sz="quarter" idx="1"/>
          </p:nvPr>
        </p:nvSpPr>
        <p:spPr/>
        <p:txBody>
          <a:bodyPr/>
          <a:lstStyle/>
          <a:p>
            <a:endParaRPr lang="en-US" b="1" dirty="0" smtClean="0"/>
          </a:p>
          <a:p>
            <a:r>
              <a:rPr lang="en-US" b="1" dirty="0" smtClean="0"/>
              <a:t>Data Output</a:t>
            </a:r>
            <a:r>
              <a:rPr lang="en-US" dirty="0" smtClean="0"/>
              <a:t> − A data output command creates the interface counter to the command by sending data from the bus to one of its registers.</a:t>
            </a:r>
            <a:endParaRPr lang="en-US" dirty="0" smtClean="0"/>
          </a:p>
          <a:p>
            <a:endParaRPr lang="en-US" dirty="0" smtClean="0"/>
          </a:p>
          <a:p>
            <a:r>
              <a:rPr lang="en-US" b="1" dirty="0" smtClean="0"/>
              <a:t>Data Input</a:t>
            </a:r>
            <a:r>
              <a:rPr lang="en-US" dirty="0" smtClean="0"/>
              <a:t> − The data input command is opposite to the data output command. In data input, the interface gets an element of data from the peripheral and places it in its buffer register.</a:t>
            </a:r>
            <a:endParaRPr lang="en-US"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Mode of Transfer :</a:t>
            </a:r>
            <a:endParaRPr lang="en-US" dirty="0"/>
          </a:p>
        </p:txBody>
      </p:sp>
      <p:sp>
        <p:nvSpPr>
          <p:cNvPr id="3" name="Content Placeholder 2"/>
          <p:cNvSpPr>
            <a:spLocks noGrp="1"/>
          </p:cNvSpPr>
          <p:nvPr>
            <p:ph sz="quarter" idx="1"/>
          </p:nvPr>
        </p:nvSpPr>
        <p:spPr/>
        <p:txBody>
          <a:bodyPr/>
          <a:lstStyle/>
          <a:p>
            <a:pPr fontAlgn="base"/>
            <a:r>
              <a:rPr lang="en-US" sz="2800" dirty="0" smtClean="0"/>
              <a:t>The binary information that is received from an external device is usually stored in the memory unit. The information that is transferred from the CPU to the external device is originated from the memory unit. </a:t>
            </a:r>
            <a:endParaRPr lang="en-US" sz="2800" dirty="0" smtClean="0"/>
          </a:p>
          <a:p>
            <a:pPr fontAlgn="base"/>
            <a:endParaRPr lang="en-US" sz="2800" dirty="0" smtClean="0"/>
          </a:p>
          <a:p>
            <a:pPr fontAlgn="base"/>
            <a:r>
              <a:rPr lang="en-US" sz="2800" dirty="0" smtClean="0"/>
              <a:t>CPU merely processes the information but the source and target is always the memory unit. Data transfer between CPU and the I/O devices may be done in different modes.</a:t>
            </a:r>
            <a:endParaRPr lang="en-US" sz="2800" dirty="0" smtClean="0"/>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Mode of Transfer :</a:t>
            </a:r>
            <a:endParaRPr lang="en-US" dirty="0"/>
          </a:p>
        </p:txBody>
      </p:sp>
      <p:sp>
        <p:nvSpPr>
          <p:cNvPr id="3" name="Content Placeholder 2"/>
          <p:cNvSpPr>
            <a:spLocks noGrp="1"/>
          </p:cNvSpPr>
          <p:nvPr>
            <p:ph sz="quarter" idx="1"/>
          </p:nvPr>
        </p:nvSpPr>
        <p:spPr/>
        <p:txBody>
          <a:bodyPr/>
          <a:lstStyle/>
          <a:p>
            <a:pPr fontAlgn="base">
              <a:buNone/>
            </a:pPr>
            <a:r>
              <a:rPr lang="en-US" sz="2800" dirty="0" smtClean="0"/>
              <a:t>    Data transfer to and from the peripherals may be done in any of the three possible ways</a:t>
            </a:r>
            <a:endParaRPr lang="en-US" sz="2800" dirty="0" smtClean="0"/>
          </a:p>
          <a:p>
            <a:pPr fontAlgn="base">
              <a:buNone/>
            </a:pPr>
            <a:endParaRPr lang="en-US" sz="2800" dirty="0" smtClean="0"/>
          </a:p>
          <a:p>
            <a:pPr fontAlgn="base"/>
            <a:r>
              <a:rPr lang="en-US" sz="3200" b="1" dirty="0" smtClean="0">
                <a:solidFill>
                  <a:srgbClr val="C00000"/>
                </a:solidFill>
              </a:rPr>
              <a:t>Programmed I/O.</a:t>
            </a:r>
            <a:endParaRPr lang="en-US" sz="3200" b="1" dirty="0" smtClean="0">
              <a:solidFill>
                <a:srgbClr val="C00000"/>
              </a:solidFill>
            </a:endParaRPr>
          </a:p>
          <a:p>
            <a:pPr fontAlgn="base"/>
            <a:r>
              <a:rPr lang="en-US" sz="3200" b="1" dirty="0" smtClean="0">
                <a:solidFill>
                  <a:srgbClr val="C00000"/>
                </a:solidFill>
              </a:rPr>
              <a:t>Interrupt- initiated I/O.</a:t>
            </a:r>
            <a:endParaRPr lang="en-US" sz="3200" b="1" dirty="0" smtClean="0">
              <a:solidFill>
                <a:srgbClr val="C00000"/>
              </a:solidFill>
            </a:endParaRPr>
          </a:p>
          <a:p>
            <a:pPr fontAlgn="base"/>
            <a:r>
              <a:rPr lang="en-US" sz="3200" b="1" dirty="0" smtClean="0">
                <a:solidFill>
                  <a:srgbClr val="C00000"/>
                </a:solidFill>
              </a:rPr>
              <a:t>Direct memory access( DMA).</a:t>
            </a:r>
            <a:endParaRPr lang="en-US" sz="3200" b="1" dirty="0" smtClean="0">
              <a:solidFill>
                <a:srgbClr val="C00000"/>
              </a:solidFill>
            </a:endParaRP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Programmed I/O:</a:t>
            </a:r>
            <a:endParaRPr lang="en-US" dirty="0"/>
          </a:p>
        </p:txBody>
      </p:sp>
      <p:sp>
        <p:nvSpPr>
          <p:cNvPr id="3" name="Content Placeholder 2"/>
          <p:cNvSpPr>
            <a:spLocks noGrp="1"/>
          </p:cNvSpPr>
          <p:nvPr>
            <p:ph sz="quarter" idx="1"/>
          </p:nvPr>
        </p:nvSpPr>
        <p:spPr>
          <a:xfrm>
            <a:off x="914400" y="1447800"/>
            <a:ext cx="7772400" cy="4953000"/>
          </a:xfrm>
        </p:spPr>
        <p:txBody>
          <a:bodyPr>
            <a:normAutofit/>
          </a:bodyPr>
          <a:lstStyle/>
          <a:p>
            <a:r>
              <a:rPr lang="en-US" sz="3200" b="1" dirty="0" smtClean="0"/>
              <a:t>In the programmed I/O method</a:t>
            </a:r>
            <a:r>
              <a:rPr lang="en-US" sz="3200" dirty="0" smtClean="0"/>
              <a:t>, the I/O device does not have direct access to memory.</a:t>
            </a:r>
            <a:endParaRPr lang="en-US" sz="3200" dirty="0" smtClean="0"/>
          </a:p>
          <a:p>
            <a:pPr>
              <a:buNone/>
            </a:pPr>
            <a:endParaRPr lang="en-US" sz="3200" dirty="0" smtClean="0"/>
          </a:p>
          <a:p>
            <a:r>
              <a:rPr lang="en-US" sz="3200" b="1" dirty="0" smtClean="0"/>
              <a:t>A transfer from an I/O</a:t>
            </a:r>
            <a:r>
              <a:rPr lang="en-US" sz="3200" dirty="0" smtClean="0"/>
              <a:t> device to memory requires the execution of several instructions by the CPU, including an input instruction to transfer the data from the device to the CPU and a store instruction to transfer the data from the CPU to memory.</a:t>
            </a:r>
            <a:endParaRPr lang="en-US" sz="3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Programmed I/O:</a:t>
            </a:r>
            <a:endParaRPr lang="en-US" dirty="0"/>
          </a:p>
        </p:txBody>
      </p:sp>
      <p:pic>
        <p:nvPicPr>
          <p:cNvPr id="2050" name="Picture 2" descr="C:\Users\RGUKT\Desktop\programmed io.png"/>
          <p:cNvPicPr>
            <a:picLocks noGrp="1" noChangeAspect="1" noChangeArrowheads="1"/>
          </p:cNvPicPr>
          <p:nvPr>
            <p:ph sz="quarter" idx="1"/>
          </p:nvPr>
        </p:nvPicPr>
        <p:blipFill>
          <a:blip r:embed="rId1"/>
          <a:srcRect/>
          <a:stretch>
            <a:fillRect/>
          </a:stretch>
        </p:blipFill>
        <p:spPr bwMode="auto">
          <a:xfrm>
            <a:off x="914400" y="1828800"/>
            <a:ext cx="7848600" cy="419100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Programmed I/O:</a:t>
            </a:r>
            <a:endParaRPr lang="en-US" dirty="0"/>
          </a:p>
        </p:txBody>
      </p:sp>
      <p:sp>
        <p:nvSpPr>
          <p:cNvPr id="3" name="Content Placeholder 2"/>
          <p:cNvSpPr>
            <a:spLocks noGrp="1"/>
          </p:cNvSpPr>
          <p:nvPr>
            <p:ph sz="quarter" idx="1"/>
          </p:nvPr>
        </p:nvSpPr>
        <p:spPr>
          <a:xfrm>
            <a:off x="914400" y="1447800"/>
            <a:ext cx="7772400" cy="5105400"/>
          </a:xfrm>
        </p:spPr>
        <p:txBody>
          <a:bodyPr>
            <a:normAutofit lnSpcReduction="10000"/>
          </a:bodyPr>
          <a:lstStyle/>
          <a:p>
            <a:r>
              <a:rPr lang="en-US" dirty="0" smtClean="0"/>
              <a:t>CPU requests I/O operation</a:t>
            </a:r>
            <a:endParaRPr lang="en-US" dirty="0" smtClean="0"/>
          </a:p>
          <a:p>
            <a:r>
              <a:rPr lang="en-US" dirty="0" smtClean="0"/>
              <a:t>I/O module performs operations.</a:t>
            </a:r>
            <a:endParaRPr lang="en-US" dirty="0" smtClean="0"/>
          </a:p>
          <a:p>
            <a:r>
              <a:rPr lang="en-US" dirty="0" smtClean="0"/>
              <a:t>I/O module sets status bits</a:t>
            </a:r>
            <a:endParaRPr lang="en-US" dirty="0" smtClean="0"/>
          </a:p>
          <a:p>
            <a:r>
              <a:rPr lang="en-US" dirty="0" smtClean="0"/>
              <a:t>CPU checks status bits periodically</a:t>
            </a:r>
            <a:endParaRPr lang="en-US" dirty="0" smtClean="0"/>
          </a:p>
          <a:p>
            <a:r>
              <a:rPr lang="en-US" dirty="0" smtClean="0"/>
              <a:t>I/O module does not inform CPU directly</a:t>
            </a:r>
            <a:endParaRPr lang="en-US" dirty="0" smtClean="0"/>
          </a:p>
          <a:p>
            <a:r>
              <a:rPr lang="en-US" dirty="0" smtClean="0"/>
              <a:t>I/O module does not interrupt CPU</a:t>
            </a:r>
            <a:endParaRPr lang="en-US" dirty="0" smtClean="0"/>
          </a:p>
          <a:p>
            <a:r>
              <a:rPr lang="en-US" dirty="0" smtClean="0"/>
              <a:t>CPU may wait or come back later</a:t>
            </a:r>
            <a:endParaRPr lang="en-US" dirty="0" smtClean="0"/>
          </a:p>
          <a:p>
            <a:r>
              <a:rPr lang="en-US" dirty="0" smtClean="0"/>
              <a:t>Under programmed I/O data transfer is very like memory access (CPU viewpoint)</a:t>
            </a:r>
            <a:endParaRPr lang="en-US" dirty="0" smtClean="0"/>
          </a:p>
          <a:p>
            <a:r>
              <a:rPr lang="en-US" dirty="0" smtClean="0"/>
              <a:t>Each device is given an unique identifier</a:t>
            </a:r>
            <a:endParaRPr lang="en-US" dirty="0" smtClean="0"/>
          </a:p>
          <a:p>
            <a:r>
              <a:rPr lang="en-US" dirty="0" smtClean="0"/>
              <a:t>CPU commands contain identifier (address)</a:t>
            </a:r>
            <a:endParaRPr lang="en-US" dirty="0" smtClean="0"/>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RGUKT\Desktop\cpu-to-input-data.png"/>
          <p:cNvPicPr>
            <a:picLocks noChangeAspect="1" noChangeArrowheads="1"/>
          </p:cNvPicPr>
          <p:nvPr/>
        </p:nvPicPr>
        <p:blipFill>
          <a:blip r:embed="rId1"/>
          <a:srcRect/>
          <a:stretch>
            <a:fillRect/>
          </a:stretch>
        </p:blipFill>
        <p:spPr bwMode="auto">
          <a:xfrm>
            <a:off x="1828800" y="381000"/>
            <a:ext cx="6019800" cy="61722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of Programmed I/O:</a:t>
            </a:r>
            <a:endParaRPr lang="en-US" dirty="0"/>
          </a:p>
        </p:txBody>
      </p:sp>
      <p:sp>
        <p:nvSpPr>
          <p:cNvPr id="3" name="Content Placeholder 2"/>
          <p:cNvSpPr>
            <a:spLocks noGrp="1"/>
          </p:cNvSpPr>
          <p:nvPr>
            <p:ph sz="quarter" idx="1"/>
          </p:nvPr>
        </p:nvSpPr>
        <p:spPr/>
        <p:txBody>
          <a:bodyPr/>
          <a:lstStyle/>
          <a:p>
            <a:r>
              <a:rPr lang="en-US" dirty="0" smtClean="0"/>
              <a:t> </a:t>
            </a:r>
            <a:r>
              <a:rPr lang="en-US" sz="2800" dirty="0" smtClean="0"/>
              <a:t>In this case, the I/O device does not have direct access to the memory unit. </a:t>
            </a:r>
            <a:endParaRPr lang="en-US" sz="2800" dirty="0" smtClean="0"/>
          </a:p>
          <a:p>
            <a:endParaRPr lang="en-US" sz="2800" dirty="0" smtClean="0"/>
          </a:p>
          <a:p>
            <a:r>
              <a:rPr lang="en-US" sz="2800" dirty="0" smtClean="0"/>
              <a:t>A transfer from I/O device to memory requires the execution of several instructions by the CPU, including an input instruction to transfer the data from device to the CPU and store instruction to transfer the data from CPU to memory. </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 of Programmed I/O:</a:t>
            </a:r>
            <a:endParaRPr lang="en-US" dirty="0"/>
          </a:p>
        </p:txBody>
      </p:sp>
      <p:sp>
        <p:nvSpPr>
          <p:cNvPr id="3" name="Content Placeholder 2"/>
          <p:cNvSpPr>
            <a:spLocks noGrp="1"/>
          </p:cNvSpPr>
          <p:nvPr>
            <p:ph sz="quarter" idx="1"/>
          </p:nvPr>
        </p:nvSpPr>
        <p:spPr/>
        <p:txBody>
          <a:bodyPr>
            <a:normAutofit/>
          </a:bodyPr>
          <a:lstStyle/>
          <a:p>
            <a:r>
              <a:rPr lang="en-US" sz="2800" dirty="0" smtClean="0"/>
              <a:t>In programmed I/O, the CPU stays in the program loop until the I/O unit indicates that it is ready for data transfer. </a:t>
            </a:r>
            <a:endParaRPr lang="en-US" sz="2800" dirty="0" smtClean="0"/>
          </a:p>
          <a:p>
            <a:endParaRPr lang="en-US" sz="2800" dirty="0" smtClean="0"/>
          </a:p>
          <a:p>
            <a:r>
              <a:rPr lang="en-US" sz="2800" dirty="0" smtClean="0"/>
              <a:t>This is a time consuming process since it needlessly keeps the CPU busy. </a:t>
            </a:r>
            <a:endParaRPr lang="en-US" sz="2800" dirty="0" smtClean="0"/>
          </a:p>
          <a:p>
            <a:endParaRPr lang="en-US" sz="2800" dirty="0" smtClean="0"/>
          </a:p>
          <a:p>
            <a:r>
              <a:rPr lang="en-US" sz="2800" dirty="0" smtClean="0"/>
              <a:t>This situation can be avoided by using an interrupt facility. This is discussed below.</a:t>
            </a:r>
            <a:endParaRPr lang="en-US" sz="2800" dirty="0" smtClean="0"/>
          </a:p>
          <a:p>
            <a:endParaRPr 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err="1" smtClean="0"/>
              <a:t>Dis</a:t>
            </a:r>
            <a:r>
              <a:rPr lang="en-US" b="1" dirty="0" smtClean="0"/>
              <a:t>-advantage of Programmed I/O:</a:t>
            </a:r>
            <a:br>
              <a:rPr lang="en-US" dirty="0" smtClean="0"/>
            </a:br>
            <a:endParaRPr lang="en-US" dirty="0"/>
          </a:p>
        </p:txBody>
      </p:sp>
      <p:sp>
        <p:nvSpPr>
          <p:cNvPr id="3" name="Content Placeholder 2"/>
          <p:cNvSpPr>
            <a:spLocks noGrp="1"/>
          </p:cNvSpPr>
          <p:nvPr>
            <p:ph sz="quarter" idx="1"/>
          </p:nvPr>
        </p:nvSpPr>
        <p:spPr>
          <a:xfrm>
            <a:off x="914400" y="1219200"/>
            <a:ext cx="7772400" cy="5257800"/>
          </a:xfrm>
        </p:spPr>
        <p:txBody>
          <a:bodyPr>
            <a:normAutofit fontScale="92500" lnSpcReduction="10000"/>
          </a:bodyPr>
          <a:lstStyle/>
          <a:p>
            <a:pPr>
              <a:buNone/>
            </a:pPr>
            <a:endParaRPr lang="en-US" dirty="0" smtClean="0"/>
          </a:p>
          <a:p>
            <a:r>
              <a:rPr lang="en-US" sz="3200" dirty="0" smtClean="0"/>
              <a:t>The problem with programmed I/O is that the processor has to wait a long time for the I/O module of concern to be ready for either reception or transmission of data.</a:t>
            </a:r>
            <a:endParaRPr lang="en-US" sz="3200" dirty="0" smtClean="0"/>
          </a:p>
          <a:p>
            <a:endParaRPr lang="en-US" sz="3200" dirty="0" smtClean="0"/>
          </a:p>
          <a:p>
            <a:r>
              <a:rPr lang="en-US" sz="3200" dirty="0" smtClean="0"/>
              <a:t>The processor, while waiting, must repeatedly interrogate the status of the I/O module.</a:t>
            </a:r>
            <a:endParaRPr lang="en-US" sz="3200" dirty="0" smtClean="0"/>
          </a:p>
          <a:p>
            <a:endParaRPr lang="en-US" sz="3200" dirty="0" smtClean="0"/>
          </a:p>
          <a:p>
            <a:r>
              <a:rPr lang="en-US" sz="3200" dirty="0" smtClean="0"/>
              <a:t>Performance of the entire system is severely degraded.</a:t>
            </a:r>
            <a:endParaRPr lang="en-US" sz="3200" dirty="0" smtClean="0"/>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Interrupt- initiated I/O:</a:t>
            </a:r>
            <a:endParaRPr lang="en-US" dirty="0"/>
          </a:p>
        </p:txBody>
      </p:sp>
      <p:sp>
        <p:nvSpPr>
          <p:cNvPr id="3" name="Content Placeholder 2"/>
          <p:cNvSpPr>
            <a:spLocks noGrp="1"/>
          </p:cNvSpPr>
          <p:nvPr>
            <p:ph sz="quarter" idx="1"/>
          </p:nvPr>
        </p:nvSpPr>
        <p:spPr>
          <a:xfrm>
            <a:off x="914400" y="1447800"/>
            <a:ext cx="7772400" cy="5029200"/>
          </a:xfrm>
        </p:spPr>
        <p:txBody>
          <a:bodyPr>
            <a:normAutofit/>
          </a:bodyPr>
          <a:lstStyle/>
          <a:p>
            <a:r>
              <a:rPr lang="en-US" sz="2800" dirty="0" smtClean="0"/>
              <a:t> Since in the above case we saw the CPU is kept busy unnecessarily. This situation can very well be avoided by using an interrupt driven method for data transfer. </a:t>
            </a:r>
            <a:endParaRPr lang="en-US" sz="2800" dirty="0" smtClean="0"/>
          </a:p>
          <a:p>
            <a:endParaRPr lang="en-US" sz="2800" dirty="0" smtClean="0"/>
          </a:p>
          <a:p>
            <a:r>
              <a:rPr lang="en-US" sz="2800" dirty="0" smtClean="0"/>
              <a:t>By using interrupt facility and special commands to inform the interface to issue an interrupt request signal whenever data is available from any device. </a:t>
            </a:r>
            <a:endParaRPr lang="en-US" sz="2800" dirty="0" smtClean="0"/>
          </a:p>
          <a:p>
            <a:endParaRPr lang="en-US" sz="2800" dirty="0" smtClean="0"/>
          </a:p>
          <a:p>
            <a:r>
              <a:rPr lang="en-US" sz="2800" dirty="0" smtClean="0"/>
              <a:t>In the meantime the CPU can proceed for any other program execution. </a:t>
            </a:r>
            <a:endParaRPr 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Interrupt- initiated I/O:</a:t>
            </a:r>
            <a:endParaRPr lang="en-US" dirty="0"/>
          </a:p>
        </p:txBody>
      </p:sp>
      <p:sp>
        <p:nvSpPr>
          <p:cNvPr id="3" name="Content Placeholder 2"/>
          <p:cNvSpPr>
            <a:spLocks noGrp="1"/>
          </p:cNvSpPr>
          <p:nvPr>
            <p:ph sz="quarter" idx="1"/>
          </p:nvPr>
        </p:nvSpPr>
        <p:spPr>
          <a:xfrm>
            <a:off x="914400" y="1447800"/>
            <a:ext cx="7772400" cy="5029200"/>
          </a:xfrm>
        </p:spPr>
        <p:txBody>
          <a:bodyPr>
            <a:normAutofit/>
          </a:bodyPr>
          <a:lstStyle/>
          <a:p>
            <a:r>
              <a:rPr lang="en-US" sz="2800" dirty="0" smtClean="0"/>
              <a:t>The interface meanwhile keeps monitoring the device. Whenever it is determined that the device is ready for data transfer it initiates an interrupt request signal to the computer. </a:t>
            </a:r>
            <a:endParaRPr lang="en-US" sz="2800" dirty="0" smtClean="0"/>
          </a:p>
          <a:p>
            <a:endParaRPr lang="en-US" sz="2800" dirty="0" smtClean="0"/>
          </a:p>
          <a:p>
            <a:r>
              <a:rPr lang="en-US" sz="2800" dirty="0" smtClean="0"/>
              <a:t>Upon detection of an external interrupt signal the CPU stops momentarily the task that it was already performing, branches to the service program to process the I/O transfer, and then return to the task it was originally performing.</a:t>
            </a:r>
            <a:endParaRPr lang="en-US" sz="2800" dirty="0" smtClean="0"/>
          </a:p>
          <a:p>
            <a:endParaRPr lang="en-US" sz="280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Interrupt Driven I/O Basic Operation:</a:t>
            </a:r>
            <a:endParaRPr lang="en-US" dirty="0"/>
          </a:p>
        </p:txBody>
      </p:sp>
      <p:sp>
        <p:nvSpPr>
          <p:cNvPr id="3" name="Content Placeholder 2"/>
          <p:cNvSpPr>
            <a:spLocks noGrp="1"/>
          </p:cNvSpPr>
          <p:nvPr>
            <p:ph sz="quarter" idx="1"/>
          </p:nvPr>
        </p:nvSpPr>
        <p:spPr/>
        <p:txBody>
          <a:bodyPr/>
          <a:lstStyle/>
          <a:p>
            <a:pPr>
              <a:buNone/>
            </a:pPr>
            <a:endParaRPr lang="en-US" dirty="0" smtClean="0"/>
          </a:p>
          <a:p>
            <a:r>
              <a:rPr lang="en-US" sz="3200" dirty="0" smtClean="0"/>
              <a:t>CPU issues read command</a:t>
            </a:r>
            <a:endParaRPr lang="en-US" sz="3200" dirty="0" smtClean="0"/>
          </a:p>
          <a:p>
            <a:r>
              <a:rPr lang="en-US" sz="3200" dirty="0" smtClean="0"/>
              <a:t>I/O module gets data from peripheral while CPU does other work</a:t>
            </a:r>
            <a:endParaRPr lang="en-US" sz="3200" dirty="0" smtClean="0"/>
          </a:p>
          <a:p>
            <a:r>
              <a:rPr lang="en-US" sz="3200" dirty="0" smtClean="0"/>
              <a:t>I/O module interrupts CPU</a:t>
            </a:r>
            <a:endParaRPr lang="en-US" sz="3200" dirty="0" smtClean="0"/>
          </a:p>
          <a:p>
            <a:r>
              <a:rPr lang="en-US" sz="3200" dirty="0" smtClean="0"/>
              <a:t>CPU requests data</a:t>
            </a:r>
            <a:endParaRPr lang="en-US" sz="3200" dirty="0" smtClean="0"/>
          </a:p>
          <a:p>
            <a:r>
              <a:rPr lang="en-US" sz="3200" dirty="0" smtClean="0"/>
              <a:t>I/O module transfers data</a:t>
            </a:r>
            <a:endParaRPr lang="en-US" dirty="0" smtClean="0"/>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RGUKT\Desktop\interrupt driven io.png"/>
          <p:cNvPicPr>
            <a:picLocks noChangeAspect="1" noChangeArrowheads="1"/>
          </p:cNvPicPr>
          <p:nvPr/>
        </p:nvPicPr>
        <p:blipFill>
          <a:blip r:embed="rId1"/>
          <a:srcRect/>
          <a:stretch>
            <a:fillRect/>
          </a:stretch>
        </p:blipFill>
        <p:spPr bwMode="auto">
          <a:xfrm>
            <a:off x="2209800" y="304800"/>
            <a:ext cx="5029200" cy="617220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Interrupt- initiated I/O:</a:t>
            </a:r>
            <a:endParaRPr lang="en-US" dirty="0"/>
          </a:p>
        </p:txBody>
      </p:sp>
      <p:sp>
        <p:nvSpPr>
          <p:cNvPr id="3" name="Content Placeholder 2"/>
          <p:cNvSpPr>
            <a:spLocks noGrp="1"/>
          </p:cNvSpPr>
          <p:nvPr>
            <p:ph sz="quarter" idx="1"/>
          </p:nvPr>
        </p:nvSpPr>
        <p:spPr/>
        <p:txBody>
          <a:bodyPr>
            <a:normAutofit/>
          </a:bodyPr>
          <a:lstStyle/>
          <a:p>
            <a:pPr>
              <a:buNone/>
            </a:pPr>
            <a:r>
              <a:rPr lang="en-US" sz="3200" b="1" dirty="0" smtClean="0"/>
              <a:t>Multiple Interrupts:</a:t>
            </a:r>
            <a:endParaRPr lang="en-US" sz="3200" b="1" dirty="0" smtClean="0"/>
          </a:p>
          <a:p>
            <a:pPr>
              <a:buNone/>
            </a:pPr>
            <a:endParaRPr lang="en-US" sz="3200" dirty="0" smtClean="0"/>
          </a:p>
          <a:p>
            <a:r>
              <a:rPr lang="en-US" sz="3200" dirty="0" smtClean="0"/>
              <a:t>Each interrupt line has a priority.</a:t>
            </a:r>
            <a:endParaRPr lang="en-US" sz="3200" dirty="0" smtClean="0"/>
          </a:p>
          <a:p>
            <a:r>
              <a:rPr lang="en-US" sz="3200" dirty="0" smtClean="0"/>
              <a:t>Higher priority lines can interrupt lower priority lines.</a:t>
            </a:r>
            <a:endParaRPr lang="en-US" sz="3200" dirty="0" smtClean="0"/>
          </a:p>
          <a:p>
            <a:pPr>
              <a:buNone/>
            </a:pPr>
            <a:br>
              <a:rPr lang="en-US" dirty="0" smtClean="0"/>
            </a:br>
            <a:endParaRPr lang="en-US"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Priority Interrupt :</a:t>
            </a:r>
            <a:endParaRPr lang="en-US" dirty="0"/>
          </a:p>
        </p:txBody>
      </p:sp>
      <p:sp>
        <p:nvSpPr>
          <p:cNvPr id="3" name="Content Placeholder 2"/>
          <p:cNvSpPr>
            <a:spLocks noGrp="1"/>
          </p:cNvSpPr>
          <p:nvPr>
            <p:ph sz="quarter" idx="1"/>
          </p:nvPr>
        </p:nvSpPr>
        <p:spPr>
          <a:xfrm>
            <a:off x="914400" y="1676400"/>
            <a:ext cx="7772400" cy="4800600"/>
          </a:xfrm>
        </p:spPr>
        <p:txBody>
          <a:bodyPr>
            <a:normAutofit fontScale="92500" lnSpcReduction="20000"/>
          </a:bodyPr>
          <a:lstStyle/>
          <a:p>
            <a:r>
              <a:rPr lang="en-US" sz="3300" b="1" dirty="0" smtClean="0"/>
              <a:t>Devices with high speed</a:t>
            </a:r>
            <a:r>
              <a:rPr lang="en-US" sz="3300" dirty="0" smtClean="0"/>
              <a:t> transfers such as magnetic disks are given high priority, and slow devices such as keyboards receive low priority.</a:t>
            </a:r>
            <a:endParaRPr lang="en-US" sz="3300" dirty="0" smtClean="0"/>
          </a:p>
          <a:p>
            <a:br>
              <a:rPr lang="en-US" sz="3300" dirty="0" smtClean="0"/>
            </a:br>
            <a:r>
              <a:rPr lang="en-US" sz="3300" b="1" dirty="0" smtClean="0"/>
              <a:t>When two devices</a:t>
            </a:r>
            <a:r>
              <a:rPr lang="en-US" sz="3300" dirty="0" smtClean="0"/>
              <a:t> interrupt the computer at the same time, the computer services the device, with the higher priority first.</a:t>
            </a:r>
            <a:endParaRPr lang="en-US" sz="3300" dirty="0" smtClean="0"/>
          </a:p>
          <a:p>
            <a:br>
              <a:rPr lang="en-US" sz="3300" dirty="0" smtClean="0"/>
            </a:br>
            <a:r>
              <a:rPr lang="en-US" sz="3300" b="1" dirty="0" smtClean="0"/>
              <a:t>Establishing the priority</a:t>
            </a:r>
            <a:r>
              <a:rPr lang="en-US" sz="3300" dirty="0" smtClean="0"/>
              <a:t> of simultaneous interrupts can be done by software or hardware.</a:t>
            </a:r>
            <a:br>
              <a:rPr lang="en-US" dirty="0" smtClean="0"/>
            </a:br>
            <a:br>
              <a:rPr lang="en-US" dirty="0" smtClean="0"/>
            </a:b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Priority Interrupt :</a:t>
            </a:r>
            <a:endParaRPr lang="en-US" b="1" dirty="0"/>
          </a:p>
        </p:txBody>
      </p:sp>
      <p:sp>
        <p:nvSpPr>
          <p:cNvPr id="3" name="Content Placeholder 2"/>
          <p:cNvSpPr>
            <a:spLocks noGrp="1"/>
          </p:cNvSpPr>
          <p:nvPr>
            <p:ph sz="quarter" idx="1"/>
          </p:nvPr>
        </p:nvSpPr>
        <p:spPr/>
        <p:txBody>
          <a:bodyPr>
            <a:normAutofit/>
          </a:bodyPr>
          <a:lstStyle/>
          <a:p>
            <a:r>
              <a:rPr lang="en-US" sz="3200" dirty="0" smtClean="0"/>
              <a:t>Identify the source of the interrupt when several sources will request service simultaneously.</a:t>
            </a:r>
            <a:endParaRPr lang="en-US" sz="3200" dirty="0" smtClean="0"/>
          </a:p>
          <a:p>
            <a:r>
              <a:rPr lang="en-US" sz="3200" dirty="0" smtClean="0"/>
              <a:t>Determine which condition is to be serviced first when two or more requests arrive simultaneously.</a:t>
            </a:r>
            <a:endParaRPr lang="en-US" sz="3200" dirty="0" smtClean="0"/>
          </a:p>
          <a:p>
            <a:pPr>
              <a:buNone/>
            </a:pPr>
            <a:r>
              <a:rPr lang="en-US" sz="3200" b="1" dirty="0" smtClean="0">
                <a:solidFill>
                  <a:srgbClr val="FF0000"/>
                </a:solidFill>
              </a:rPr>
              <a:t>1) Software : Polling </a:t>
            </a:r>
            <a:endParaRPr lang="en-US" sz="3200" b="1" dirty="0" smtClean="0">
              <a:solidFill>
                <a:srgbClr val="FF0000"/>
              </a:solidFill>
            </a:endParaRPr>
          </a:p>
          <a:p>
            <a:pPr>
              <a:buNone/>
            </a:pPr>
            <a:r>
              <a:rPr lang="en-US" sz="3200" b="1" dirty="0" smtClean="0">
                <a:solidFill>
                  <a:srgbClr val="FF0000"/>
                </a:solidFill>
              </a:rPr>
              <a:t>2) Hardware : Daisy chain, Parallel priority</a:t>
            </a:r>
            <a:endParaRPr lang="en-US" b="1"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Polling :</a:t>
            </a:r>
            <a:endParaRPr lang="en-US" b="1" dirty="0"/>
          </a:p>
        </p:txBody>
      </p:sp>
      <p:sp>
        <p:nvSpPr>
          <p:cNvPr id="3" name="Content Placeholder 2"/>
          <p:cNvSpPr>
            <a:spLocks noGrp="1"/>
          </p:cNvSpPr>
          <p:nvPr>
            <p:ph sz="quarter" idx="1"/>
          </p:nvPr>
        </p:nvSpPr>
        <p:spPr>
          <a:xfrm>
            <a:off x="914400" y="1447800"/>
            <a:ext cx="7772400" cy="5181600"/>
          </a:xfrm>
        </p:spPr>
        <p:txBody>
          <a:bodyPr>
            <a:normAutofit/>
          </a:bodyPr>
          <a:lstStyle/>
          <a:p>
            <a:pPr>
              <a:buNone/>
            </a:pPr>
            <a:r>
              <a:rPr lang="en-US" sz="3200" dirty="0" smtClean="0"/>
              <a:t>Identify the highest-priority source by software </a:t>
            </a:r>
            <a:endParaRPr lang="en-US" sz="3200" dirty="0" smtClean="0"/>
          </a:p>
          <a:p>
            <a:pPr>
              <a:buNone/>
            </a:pPr>
            <a:r>
              <a:rPr lang="en-US" sz="3200" dirty="0" smtClean="0"/>
              <a:t>means :</a:t>
            </a:r>
            <a:endParaRPr lang="en-US" sz="3200" dirty="0" smtClean="0"/>
          </a:p>
          <a:p>
            <a:r>
              <a:rPr lang="en-US" sz="3200" dirty="0" smtClean="0"/>
              <a:t>One common branch address is used for all </a:t>
            </a:r>
            <a:endParaRPr lang="en-US" sz="3200" dirty="0" smtClean="0"/>
          </a:p>
          <a:p>
            <a:pPr>
              <a:buNone/>
            </a:pPr>
            <a:r>
              <a:rPr lang="en-US" sz="3200" dirty="0" smtClean="0"/>
              <a:t>Interrupts.</a:t>
            </a:r>
            <a:endParaRPr lang="en-US" sz="3200" dirty="0" smtClean="0"/>
          </a:p>
          <a:p>
            <a:r>
              <a:rPr lang="en-US" sz="3200" dirty="0" smtClean="0"/>
              <a:t> Program polls the interrupt sources in sequence.</a:t>
            </a:r>
            <a:endParaRPr lang="en-US" sz="3200" dirty="0" smtClean="0"/>
          </a:p>
          <a:p>
            <a:r>
              <a:rPr lang="en-US" sz="3200" dirty="0" smtClean="0"/>
              <a:t>The highest-priority source is tested first.</a:t>
            </a:r>
            <a:endParaRPr lang="en-US" sz="3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Polling : Disadvantage</a:t>
            </a:r>
            <a:endParaRPr lang="en-US" dirty="0"/>
          </a:p>
        </p:txBody>
      </p:sp>
      <p:sp>
        <p:nvSpPr>
          <p:cNvPr id="3" name="Content Placeholder 2"/>
          <p:cNvSpPr>
            <a:spLocks noGrp="1"/>
          </p:cNvSpPr>
          <p:nvPr>
            <p:ph sz="quarter" idx="1"/>
          </p:nvPr>
        </p:nvSpPr>
        <p:spPr/>
        <p:txBody>
          <a:bodyPr>
            <a:normAutofit fontScale="92500"/>
          </a:bodyPr>
          <a:lstStyle/>
          <a:p>
            <a:r>
              <a:rPr lang="en-US" sz="3600" b="1" dirty="0" smtClean="0"/>
              <a:t>The disadvantage</a:t>
            </a:r>
            <a:r>
              <a:rPr lang="en-US" sz="3600" dirty="0" smtClean="0"/>
              <a:t> of the software method is that if there are many interrupts, the time required to poll them can exceed the time available to service the I/O device. </a:t>
            </a:r>
            <a:endParaRPr lang="en-US" sz="3600" dirty="0" smtClean="0"/>
          </a:p>
          <a:p>
            <a:endParaRPr lang="en-US" sz="3600" dirty="0" smtClean="0"/>
          </a:p>
          <a:p>
            <a:r>
              <a:rPr lang="en-US" sz="3600" dirty="0" smtClean="0"/>
              <a:t>In this situation a hardware priority-interrupt unit can be used to speed up the operation.</a:t>
            </a:r>
            <a:endParaRPr lang="en-US" sz="3600" dirty="0" smtClean="0"/>
          </a:p>
          <a:p>
            <a:pPr>
              <a:buNone/>
            </a:pPr>
            <a:br>
              <a:rPr lang="en-US" dirty="0" smtClean="0"/>
            </a:b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Daisy-Chaining Priority :</a:t>
            </a:r>
            <a:endParaRPr lang="en-US" b="1" dirty="0"/>
          </a:p>
        </p:txBody>
      </p:sp>
      <p:sp>
        <p:nvSpPr>
          <p:cNvPr id="3" name="Content Placeholder 2"/>
          <p:cNvSpPr>
            <a:spLocks noGrp="1"/>
          </p:cNvSpPr>
          <p:nvPr>
            <p:ph sz="quarter" idx="1"/>
          </p:nvPr>
        </p:nvSpPr>
        <p:spPr/>
        <p:txBody>
          <a:bodyPr>
            <a:normAutofit/>
          </a:bodyPr>
          <a:lstStyle/>
          <a:p>
            <a:r>
              <a:rPr lang="en-US" sz="3200" b="1" dirty="0" smtClean="0"/>
              <a:t>The daisy-chaining</a:t>
            </a:r>
            <a:r>
              <a:rPr lang="en-US" sz="3200" dirty="0" smtClean="0"/>
              <a:t> method of establishing priority consists of a serial connection of all devices that request an interrupt.</a:t>
            </a:r>
            <a:endParaRPr lang="en-US" sz="3200" dirty="0" smtClean="0"/>
          </a:p>
          <a:p>
            <a:pPr>
              <a:buNone/>
            </a:pPr>
            <a:endParaRPr lang="en-US" sz="3200" dirty="0" smtClean="0"/>
          </a:p>
          <a:p>
            <a:r>
              <a:rPr lang="en-US" sz="3200" b="1" dirty="0" smtClean="0"/>
              <a:t>The device</a:t>
            </a:r>
            <a:r>
              <a:rPr lang="en-US" sz="3200" dirty="0" smtClean="0"/>
              <a:t> with the highest priority is placed in the first position, followed by lower-priority devices up to the device with the lowest priority, which is placed last in the chain.</a:t>
            </a:r>
            <a:endParaRPr lang="en-US" sz="3200"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GUKT\Desktop\daisy-chain-priority-interrupt.png"/>
          <p:cNvPicPr>
            <a:picLocks noChangeAspect="1" noChangeArrowheads="1"/>
          </p:cNvPicPr>
          <p:nvPr/>
        </p:nvPicPr>
        <p:blipFill>
          <a:blip r:embed="rId1"/>
          <a:srcRect/>
          <a:stretch>
            <a:fillRect/>
          </a:stretch>
        </p:blipFill>
        <p:spPr bwMode="auto">
          <a:xfrm>
            <a:off x="642389" y="304800"/>
            <a:ext cx="7859222" cy="60198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Parallel Priority Interrupt :</a:t>
            </a:r>
            <a:endParaRPr lang="en-US" b="1" dirty="0"/>
          </a:p>
        </p:txBody>
      </p:sp>
      <p:sp>
        <p:nvSpPr>
          <p:cNvPr id="3" name="Content Placeholder 2"/>
          <p:cNvSpPr>
            <a:spLocks noGrp="1"/>
          </p:cNvSpPr>
          <p:nvPr>
            <p:ph sz="quarter" idx="1"/>
          </p:nvPr>
        </p:nvSpPr>
        <p:spPr/>
        <p:txBody>
          <a:bodyPr/>
          <a:lstStyle/>
          <a:p>
            <a:r>
              <a:rPr lang="en-US" b="1" dirty="0" smtClean="0"/>
              <a:t>The parallel priority</a:t>
            </a:r>
            <a:r>
              <a:rPr lang="en-US" dirty="0" smtClean="0"/>
              <a:t> interrupt method uses a register whose bits are set separately by the interrupt signal from each device.</a:t>
            </a:r>
            <a:endParaRPr lang="en-US" dirty="0" smtClean="0"/>
          </a:p>
          <a:p>
            <a:pPr>
              <a:buNone/>
            </a:pPr>
            <a:endParaRPr lang="en-US" dirty="0" smtClean="0"/>
          </a:p>
          <a:p>
            <a:r>
              <a:rPr lang="en-US" b="1" dirty="0" smtClean="0"/>
              <a:t>Priority</a:t>
            </a:r>
            <a:r>
              <a:rPr lang="en-US" dirty="0" smtClean="0"/>
              <a:t> is established according to the position of the bits in the register.</a:t>
            </a:r>
            <a:endParaRPr lang="en-US" dirty="0" smtClean="0"/>
          </a:p>
          <a:p>
            <a:br>
              <a:rPr lang="en-US" dirty="0" smtClean="0"/>
            </a:b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RGUKT\Desktop\priority-interrupt-hardware.png"/>
          <p:cNvPicPr>
            <a:picLocks noChangeAspect="1" noChangeArrowheads="1"/>
          </p:cNvPicPr>
          <p:nvPr/>
        </p:nvPicPr>
        <p:blipFill>
          <a:blip r:embed="rId1"/>
          <a:srcRect/>
          <a:stretch>
            <a:fillRect/>
          </a:stretch>
        </p:blipFill>
        <p:spPr bwMode="auto">
          <a:xfrm>
            <a:off x="914400" y="718758"/>
            <a:ext cx="7391400" cy="5758241"/>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Priority Encoder Parallel Priority : </a:t>
            </a:r>
            <a:endParaRPr lang="en-US" b="1" dirty="0"/>
          </a:p>
        </p:txBody>
      </p:sp>
      <p:sp>
        <p:nvSpPr>
          <p:cNvPr id="3" name="Content Placeholder 2"/>
          <p:cNvSpPr>
            <a:spLocks noGrp="1"/>
          </p:cNvSpPr>
          <p:nvPr>
            <p:ph sz="quarter" idx="1"/>
          </p:nvPr>
        </p:nvSpPr>
        <p:spPr/>
        <p:txBody>
          <a:bodyPr>
            <a:normAutofit/>
          </a:bodyPr>
          <a:lstStyle/>
          <a:p>
            <a:r>
              <a:rPr lang="en-US" sz="3200" dirty="0" smtClean="0"/>
              <a:t>Interrupt Enable F/F (IEN) : set or cleared by the program.</a:t>
            </a:r>
            <a:endParaRPr lang="en-US" sz="3200" dirty="0" smtClean="0"/>
          </a:p>
          <a:p>
            <a:r>
              <a:rPr lang="en-US" sz="3200" dirty="0" smtClean="0"/>
              <a:t>Interrupt Status F/F (IST) : set or cleared by the encoder output.</a:t>
            </a:r>
            <a:endParaRPr lang="en-US" sz="3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4" name="Content Placeholder 3" descr="WhatsApp Image 2025-02-27 at 06.08.08_25464be3"/>
          <p:cNvPicPr>
            <a:picLocks noChangeAspect="1"/>
          </p:cNvPicPr>
          <p:nvPr>
            <p:ph sz="quarter" idx="1"/>
          </p:nvPr>
        </p:nvPicPr>
        <p:blipFill>
          <a:blip r:embed="rId1"/>
          <a:srcRect l="6642" t="23131" r="10796" b="-382"/>
          <a:stretch>
            <a:fillRect/>
          </a:stretch>
        </p:blipFill>
        <p:spPr>
          <a:xfrm rot="16200000">
            <a:off x="1208405" y="-1205865"/>
            <a:ext cx="6858000" cy="927036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IN" altLang="en-US" b="1"/>
              <a:t>Microoperations performed by the CPU during interrupt cycle </a:t>
            </a:r>
            <a:endParaRPr lang="en-IN" altLang="en-US" b="1"/>
          </a:p>
        </p:txBody>
      </p:sp>
      <p:sp>
        <p:nvSpPr>
          <p:cNvPr id="3" name="Content Placeholder 2"/>
          <p:cNvSpPr>
            <a:spLocks noGrp="1"/>
          </p:cNvSpPr>
          <p:nvPr>
            <p:ph sz="quarter" idx="1"/>
          </p:nvPr>
        </p:nvSpPr>
        <p:spPr>
          <a:xfrm>
            <a:off x="457200" y="1447800"/>
            <a:ext cx="8347710" cy="5146675"/>
          </a:xfrm>
        </p:spPr>
        <p:txBody>
          <a:bodyPr/>
          <a:p>
            <a:pPr marL="868680" lvl="3" indent="457200">
              <a:buNone/>
            </a:pPr>
            <a:endParaRPr lang="en-IN" altLang="en-US" sz="2400">
              <a:sym typeface="+mn-ea"/>
            </a:endParaRPr>
          </a:p>
          <a:p>
            <a:pPr marL="868680" lvl="3" indent="457200">
              <a:buNone/>
            </a:pPr>
            <a:r>
              <a:rPr lang="en-IN" altLang="en-US" sz="2400">
                <a:sym typeface="+mn-ea"/>
              </a:rPr>
              <a:t>SP &lt;-- SP - 1 (Decrement stack pointer)</a:t>
            </a:r>
            <a:endParaRPr lang="en-IN" altLang="en-US" sz="2400"/>
          </a:p>
          <a:p>
            <a:pPr marL="868680" lvl="3" indent="457200">
              <a:buNone/>
            </a:pPr>
            <a:r>
              <a:rPr lang="en-IN" altLang="en-US" sz="2400">
                <a:sym typeface="+mn-ea"/>
              </a:rPr>
              <a:t>M[SP] &lt;-- PC  (push PC into stack)</a:t>
            </a:r>
            <a:endParaRPr lang="en-IN" altLang="en-US" sz="2400"/>
          </a:p>
          <a:p>
            <a:pPr marL="868680" lvl="3" indent="457200">
              <a:buNone/>
            </a:pPr>
            <a:r>
              <a:rPr lang="en-IN" altLang="en-US" sz="2400">
                <a:sym typeface="+mn-ea"/>
              </a:rPr>
              <a:t>INTACK &lt;-- 1  (Enable interrupt 						acknowledge)</a:t>
            </a:r>
            <a:endParaRPr lang="en-IN" altLang="en-US" sz="2400"/>
          </a:p>
          <a:p>
            <a:pPr marL="868680" lvl="3" indent="457200">
              <a:buNone/>
            </a:pPr>
            <a:r>
              <a:rPr lang="en-IN" altLang="en-US" sz="2400">
                <a:sym typeface="+mn-ea"/>
              </a:rPr>
              <a:t>PC &lt;-- VAD    (Transfer vector 						  address to PC)</a:t>
            </a:r>
            <a:endParaRPr lang="en-IN" altLang="en-US" sz="2400"/>
          </a:p>
          <a:p>
            <a:pPr marL="868680" lvl="3" indent="457200">
              <a:buNone/>
            </a:pPr>
            <a:r>
              <a:rPr lang="en-IN" altLang="en-US" sz="2400">
                <a:sym typeface="+mn-ea"/>
              </a:rPr>
              <a:t>IEN &lt;-- 0	     (Disable further 						interrupts)</a:t>
            </a:r>
            <a:endParaRPr lang="en-IN" altLang="en-US" sz="2400"/>
          </a:p>
          <a:p>
            <a:pPr marL="868680" lvl="3" indent="457200">
              <a:buNone/>
            </a:pPr>
            <a:r>
              <a:rPr lang="en-IN" altLang="en-US" sz="2400">
                <a:sym typeface="+mn-ea"/>
              </a:rPr>
              <a:t>Go to fetch next instruction</a:t>
            </a:r>
            <a:endParaRPr lang="en-IN" altLang="en-US" sz="2400"/>
          </a:p>
          <a:p>
            <a:pPr marL="868680" lvl="3" indent="457200">
              <a:buNone/>
            </a:pPr>
            <a:endParaRPr lang="en-IN" altLang="en-US" sz="2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Memory Access</a:t>
            </a:r>
            <a:r>
              <a:rPr lang="en-US" dirty="0" smtClean="0"/>
              <a:t>:</a:t>
            </a:r>
            <a:endParaRPr lang="en-US" dirty="0"/>
          </a:p>
        </p:txBody>
      </p:sp>
      <p:sp>
        <p:nvSpPr>
          <p:cNvPr id="3" name="Content Placeholder 2"/>
          <p:cNvSpPr>
            <a:spLocks noGrp="1"/>
          </p:cNvSpPr>
          <p:nvPr>
            <p:ph sz="quarter" idx="1"/>
          </p:nvPr>
        </p:nvSpPr>
        <p:spPr>
          <a:xfrm>
            <a:off x="914400" y="1447800"/>
            <a:ext cx="7772400" cy="5029200"/>
          </a:xfrm>
        </p:spPr>
        <p:txBody>
          <a:bodyPr/>
          <a:lstStyle/>
          <a:p>
            <a:r>
              <a:rPr lang="en-US" sz="2800" dirty="0" smtClean="0"/>
              <a:t>The data transfer between a fast storage media such as magnetic disk and memory unit is limited by the speed of the CPU. </a:t>
            </a:r>
            <a:endParaRPr lang="en-US" sz="2800" dirty="0" smtClean="0"/>
          </a:p>
          <a:p>
            <a:endParaRPr lang="en-US" sz="2800" dirty="0" smtClean="0"/>
          </a:p>
          <a:p>
            <a:r>
              <a:rPr lang="en-US" sz="2800" dirty="0" smtClean="0"/>
              <a:t>Thus we can allow the peripherals directly communicate with each other using the memory buses, removing the intervention of the CPU. </a:t>
            </a:r>
            <a:endParaRPr lang="en-US" sz="2800" dirty="0" smtClean="0"/>
          </a:p>
          <a:p>
            <a:endParaRPr lang="en-US" sz="2800" dirty="0" smtClean="0"/>
          </a:p>
          <a:p>
            <a:r>
              <a:rPr lang="en-US" sz="2800" dirty="0" smtClean="0"/>
              <a:t>This type of data transfer technique is known as DMA or direct memory access. </a:t>
            </a:r>
            <a:endParaRPr lang="en-US" sz="2800" dirty="0" smtClean="0"/>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Memory Access</a:t>
            </a:r>
            <a:r>
              <a:rPr lang="en-US" dirty="0" smtClean="0"/>
              <a:t>:</a:t>
            </a:r>
            <a:endParaRPr lang="en-US" dirty="0"/>
          </a:p>
        </p:txBody>
      </p:sp>
      <p:sp>
        <p:nvSpPr>
          <p:cNvPr id="3" name="Content Placeholder 2"/>
          <p:cNvSpPr>
            <a:spLocks noGrp="1"/>
          </p:cNvSpPr>
          <p:nvPr>
            <p:ph sz="quarter" idx="1"/>
          </p:nvPr>
        </p:nvSpPr>
        <p:spPr/>
        <p:txBody>
          <a:bodyPr/>
          <a:lstStyle/>
          <a:p>
            <a:r>
              <a:rPr lang="en-US" dirty="0" smtClean="0"/>
              <a:t>During DMA the CPU is idle and it has no control over the memory buses. </a:t>
            </a:r>
            <a:endParaRPr lang="en-US" dirty="0" smtClean="0"/>
          </a:p>
          <a:p>
            <a:endParaRPr lang="en-US" dirty="0" smtClean="0"/>
          </a:p>
          <a:p>
            <a:r>
              <a:rPr lang="en-US" dirty="0" smtClean="0"/>
              <a:t>The DMA controller takes over the buses to manage the transfer directly between the I/O devices and the memory unit.</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Memory Access</a:t>
            </a:r>
            <a:r>
              <a:rPr lang="en-US" dirty="0" smtClean="0"/>
              <a:t>:</a:t>
            </a:r>
            <a:endParaRPr lang="en-US" dirty="0"/>
          </a:p>
        </p:txBody>
      </p:sp>
      <p:sp>
        <p:nvSpPr>
          <p:cNvPr id="3" name="Content Placeholder 2"/>
          <p:cNvSpPr>
            <a:spLocks noGrp="1"/>
          </p:cNvSpPr>
          <p:nvPr>
            <p:ph sz="quarter" idx="1"/>
          </p:nvPr>
        </p:nvSpPr>
        <p:spPr>
          <a:xfrm>
            <a:off x="914400" y="1447800"/>
            <a:ext cx="7772400" cy="5105400"/>
          </a:xfrm>
        </p:spPr>
        <p:txBody>
          <a:bodyPr>
            <a:noAutofit/>
          </a:bodyPr>
          <a:lstStyle/>
          <a:p>
            <a:r>
              <a:rPr lang="en-US" sz="3200" dirty="0" smtClean="0"/>
              <a:t>Interrupt driven and programmed I/O require active CPU intervention</a:t>
            </a:r>
            <a:endParaRPr lang="en-US" sz="3200" dirty="0" smtClean="0"/>
          </a:p>
          <a:p>
            <a:r>
              <a:rPr lang="en-US" sz="3200" dirty="0" smtClean="0"/>
              <a:t>Transfer rate is limited (processor to test and service the device)          </a:t>
            </a:r>
            <a:endParaRPr lang="en-US" sz="3200" dirty="0" smtClean="0"/>
          </a:p>
          <a:p>
            <a:r>
              <a:rPr lang="en-US" sz="3200" dirty="0" smtClean="0"/>
              <a:t>CPU is tied up for managing I/O transfer.</a:t>
            </a:r>
            <a:endParaRPr lang="en-US" sz="3200" dirty="0" smtClean="0"/>
          </a:p>
          <a:p>
            <a:r>
              <a:rPr lang="en-US" sz="3200" dirty="0" smtClean="0"/>
              <a:t>Additional Module (hardware) on bus</a:t>
            </a:r>
            <a:endParaRPr lang="en-US" sz="3200" dirty="0" smtClean="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Memory Access</a:t>
            </a:r>
            <a:r>
              <a:rPr lang="en-US" dirty="0" smtClean="0"/>
              <a:t>:</a:t>
            </a:r>
            <a:endParaRPr lang="en-US" dirty="0"/>
          </a:p>
        </p:txBody>
      </p:sp>
      <p:sp>
        <p:nvSpPr>
          <p:cNvPr id="3" name="Content Placeholder 2"/>
          <p:cNvSpPr>
            <a:spLocks noGrp="1"/>
          </p:cNvSpPr>
          <p:nvPr>
            <p:ph sz="quarter" idx="1"/>
          </p:nvPr>
        </p:nvSpPr>
        <p:spPr/>
        <p:txBody>
          <a:bodyPr/>
          <a:lstStyle/>
          <a:p>
            <a:endParaRPr lang="en-US" sz="2400" dirty="0" smtClean="0"/>
          </a:p>
          <a:p>
            <a:r>
              <a:rPr lang="en-US" sz="3200" dirty="0" smtClean="0"/>
              <a:t>DMA controller takes over from CPU for I/ODMA is the answer.</a:t>
            </a:r>
            <a:endParaRPr lang="en-US" sz="3200" dirty="0" smtClean="0"/>
          </a:p>
          <a:p>
            <a:r>
              <a:rPr lang="en-US" sz="3200" dirty="0" smtClean="0"/>
              <a:t>DMA module must use the bus only when the processor does not need it,</a:t>
            </a:r>
            <a:endParaRPr lang="en-US" sz="3200" dirty="0" smtClean="0"/>
          </a:p>
          <a:p>
            <a:r>
              <a:rPr lang="en-US" sz="3200" dirty="0" smtClean="0"/>
              <a:t>It must force the processor to suspend operation temporarily. This technique is called cycle stealing</a:t>
            </a:r>
            <a:br>
              <a:rPr lang="en-US" sz="2800" dirty="0" smtClean="0"/>
            </a:br>
            <a:endParaRPr lang="en-US" sz="2800" dirty="0" smtClean="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AutoShape 2" descr="https://i1.faceprep.in/fp/articles/img/51828_1580121700.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4099" name="Picture 3" descr="C:\Users\RGUKT\Desktop\dma.png"/>
          <p:cNvPicPr>
            <a:picLocks noChangeAspect="1" noChangeArrowheads="1"/>
          </p:cNvPicPr>
          <p:nvPr/>
        </p:nvPicPr>
        <p:blipFill>
          <a:blip r:embed="rId1"/>
          <a:srcRect/>
          <a:stretch>
            <a:fillRect/>
          </a:stretch>
        </p:blipFill>
        <p:spPr bwMode="auto">
          <a:xfrm>
            <a:off x="762000" y="532131"/>
            <a:ext cx="7391400" cy="5793738"/>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Memory Access</a:t>
            </a:r>
            <a:r>
              <a:rPr lang="en-US" dirty="0" smtClean="0"/>
              <a:t>:</a:t>
            </a:r>
            <a:endParaRPr lang="en-US" dirty="0"/>
          </a:p>
        </p:txBody>
      </p:sp>
      <p:sp>
        <p:nvSpPr>
          <p:cNvPr id="3" name="Content Placeholder 2"/>
          <p:cNvSpPr>
            <a:spLocks noGrp="1"/>
          </p:cNvSpPr>
          <p:nvPr>
            <p:ph sz="quarter" idx="1"/>
          </p:nvPr>
        </p:nvSpPr>
        <p:spPr>
          <a:xfrm>
            <a:off x="914400" y="1447800"/>
            <a:ext cx="7772400" cy="5029200"/>
          </a:xfrm>
        </p:spPr>
        <p:txBody>
          <a:bodyPr>
            <a:normAutofit/>
          </a:bodyPr>
          <a:lstStyle/>
          <a:p>
            <a:pPr>
              <a:buNone/>
            </a:pPr>
            <a:r>
              <a:rPr lang="en-US" sz="2800" b="1" dirty="0" smtClean="0"/>
              <a:t>DMA Operation:</a:t>
            </a:r>
            <a:endParaRPr lang="en-US" sz="2800" dirty="0" smtClean="0"/>
          </a:p>
          <a:p>
            <a:r>
              <a:rPr lang="en-US" sz="2800" dirty="0" smtClean="0"/>
              <a:t>CPU tells DMA controller:-</a:t>
            </a:r>
            <a:endParaRPr lang="en-US" sz="2800" dirty="0" smtClean="0"/>
          </a:p>
          <a:p>
            <a:pPr>
              <a:buNone/>
            </a:pPr>
            <a:r>
              <a:rPr lang="en-US" sz="2800" dirty="0" smtClean="0"/>
              <a:t>–Read/Write</a:t>
            </a:r>
            <a:endParaRPr lang="en-US" sz="2800" dirty="0" smtClean="0"/>
          </a:p>
          <a:p>
            <a:pPr>
              <a:buNone/>
            </a:pPr>
            <a:r>
              <a:rPr lang="en-US" sz="2800" dirty="0" smtClean="0"/>
              <a:t>–Device address</a:t>
            </a:r>
            <a:endParaRPr lang="en-US" sz="2800" dirty="0" smtClean="0"/>
          </a:p>
          <a:p>
            <a:pPr>
              <a:buNone/>
            </a:pPr>
            <a:r>
              <a:rPr lang="en-US" sz="2800" dirty="0" smtClean="0"/>
              <a:t>–Starting address of memory block for data</a:t>
            </a:r>
            <a:endParaRPr lang="en-US" sz="2800" dirty="0" smtClean="0"/>
          </a:p>
          <a:p>
            <a:pPr>
              <a:buNone/>
            </a:pPr>
            <a:r>
              <a:rPr lang="en-US" sz="2800" dirty="0" smtClean="0"/>
              <a:t>–Amount of data to be transferred</a:t>
            </a:r>
            <a:endParaRPr lang="en-US" sz="2800" dirty="0" smtClean="0"/>
          </a:p>
          <a:p>
            <a:pPr lvl="1"/>
            <a:r>
              <a:rPr lang="en-US" sz="2800" dirty="0" smtClean="0"/>
              <a:t>CPU carries on with other work</a:t>
            </a:r>
            <a:endParaRPr lang="en-US" sz="2800" dirty="0" smtClean="0"/>
          </a:p>
          <a:p>
            <a:pPr lvl="1"/>
            <a:r>
              <a:rPr lang="en-US" sz="2800" dirty="0" smtClean="0"/>
              <a:t>DMA controller deals with transfer</a:t>
            </a:r>
            <a:endParaRPr lang="en-US" sz="2800" dirty="0" smtClean="0"/>
          </a:p>
          <a:p>
            <a:pPr lvl="1"/>
            <a:r>
              <a:rPr lang="en-US" sz="2800" dirty="0" smtClean="0"/>
              <a:t>DMA controller sends interrupt when finished</a:t>
            </a:r>
            <a:endParaRPr lang="en-US" sz="2800" dirty="0" smtClean="0"/>
          </a:p>
          <a:p>
            <a:endParaRPr lang="en-US" sz="2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Memory Access</a:t>
            </a:r>
            <a:r>
              <a:rPr lang="en-US" dirty="0" smtClean="0"/>
              <a:t>:</a:t>
            </a:r>
            <a:endParaRPr lang="en-US" dirty="0"/>
          </a:p>
        </p:txBody>
      </p:sp>
      <p:pic>
        <p:nvPicPr>
          <p:cNvPr id="38914" name="Picture 2" descr="C:\Users\RGUKT\Desktop\164_1580121700.png"/>
          <p:cNvPicPr>
            <a:picLocks noGrp="1" noChangeAspect="1" noChangeArrowheads="1"/>
          </p:cNvPicPr>
          <p:nvPr>
            <p:ph sz="quarter" idx="1"/>
          </p:nvPr>
        </p:nvPicPr>
        <p:blipFill>
          <a:blip r:embed="rId1"/>
          <a:srcRect/>
          <a:stretch>
            <a:fillRect/>
          </a:stretch>
        </p:blipFill>
        <p:spPr bwMode="auto">
          <a:xfrm>
            <a:off x="1524000" y="1676400"/>
            <a:ext cx="6324600" cy="44196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Direct Memory Access</a:t>
            </a:r>
            <a:r>
              <a:rPr lang="en-US" dirty="0" smtClean="0"/>
              <a:t>:</a:t>
            </a:r>
            <a:endParaRPr lang="en-US" dirty="0"/>
          </a:p>
        </p:txBody>
      </p:sp>
      <p:sp>
        <p:nvSpPr>
          <p:cNvPr id="3" name="Content Placeholder 2"/>
          <p:cNvSpPr>
            <a:spLocks noGrp="1"/>
          </p:cNvSpPr>
          <p:nvPr>
            <p:ph sz="quarter" idx="1"/>
          </p:nvPr>
        </p:nvSpPr>
        <p:spPr/>
        <p:txBody>
          <a:bodyPr/>
          <a:lstStyle/>
          <a:p>
            <a:pPr>
              <a:buNone/>
            </a:pPr>
            <a:endParaRPr lang="en-US" b="1" dirty="0" smtClean="0"/>
          </a:p>
          <a:p>
            <a:pPr>
              <a:buNone/>
            </a:pPr>
            <a:r>
              <a:rPr lang="en-US" b="1" dirty="0" smtClean="0"/>
              <a:t>Cyclic Stealing :</a:t>
            </a:r>
            <a:endParaRPr lang="en-US" dirty="0" smtClean="0"/>
          </a:p>
          <a:p>
            <a:r>
              <a:rPr lang="en-US" dirty="0" smtClean="0"/>
              <a:t>In this DMA controller transfers one word at a time after which it must return the control of the buses to the CPU. The CPU merely delays its operation for one memory cycle to allow the direct memory I/O transfer to “steal” one memory cycle.</a:t>
            </a:r>
            <a:endParaRPr lang="en-US" dirty="0" smtClean="0"/>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C:\Users\Anu Chanti\Desktop\Thank you.jpg"/>
          <p:cNvPicPr>
            <a:picLocks noChangeAspect="1" noChangeArrowheads="1"/>
          </p:cNvPicPr>
          <p:nvPr/>
        </p:nvPicPr>
        <p:blipFill>
          <a:blip r:embed="rId1" cstate="print"/>
          <a:srcRect/>
          <a:stretch>
            <a:fillRect/>
          </a:stretch>
        </p:blipFill>
        <p:spPr bwMode="auto">
          <a:xfrm>
            <a:off x="533400" y="457200"/>
            <a:ext cx="8153399" cy="5867400"/>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