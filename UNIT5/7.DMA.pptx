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1D8BD707-D9CF-40AE-B4C6-C98DA3205C09}" type="datetimeFigureOut">
              <a:rPr lang="en-US" smtClean="0"/>
              <a:pPr/>
              <a:t>8/4/2022</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1D8BD707-D9CF-40AE-B4C6-C98DA3205C09}" type="datetimeFigureOut">
              <a:rPr lang="en-US" smtClean="0"/>
              <a:pPr/>
              <a:t>8/4/2022</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1D8BD707-D9CF-40AE-B4C6-C98DA3205C09}" type="datetimeFigureOut">
              <a:rPr lang="en-US" smtClean="0"/>
              <a:pPr/>
              <a:t>8/4/2022</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D8BD707-D9CF-40AE-B4C6-C98DA3205C09}" type="datetimeFigureOut">
              <a:rPr lang="en-US" smtClean="0"/>
              <a:pPr/>
              <a:t>8/4/2022</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elprocus.com/arm7-based-lpc2148-microcontroller-pin-configur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www.elprocus.com/8086-assembly-language-programs-explana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43001"/>
            <a:ext cx="8458200" cy="2728912"/>
          </a:xfrm>
        </p:spPr>
        <p:txBody>
          <a:bodyPr>
            <a:noAutofit/>
          </a:bodyPr>
          <a:lstStyle/>
          <a:p>
            <a:r>
              <a:rPr lang="en-US" sz="8800" b="1" dirty="0" smtClean="0"/>
              <a:t>Direct memory access</a:t>
            </a:r>
            <a:r>
              <a:rPr lang="en-US" sz="8800" dirty="0" smtClean="0"/>
              <a:t> (</a:t>
            </a:r>
            <a:r>
              <a:rPr lang="en-US" sz="8800" b="1" dirty="0" smtClean="0"/>
              <a:t>DMA</a:t>
            </a:r>
            <a:r>
              <a:rPr lang="en-US" sz="8800" dirty="0" smtClean="0"/>
              <a:t>)</a:t>
            </a:r>
            <a:endParaRPr lang="en-US" sz="8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p:txBody>
          <a:bodyPr/>
          <a:lstStyle/>
          <a:p>
            <a:r>
              <a:rPr lang="en-US" b="1" dirty="0" smtClean="0"/>
              <a:t>Direct memory access</a:t>
            </a:r>
            <a:r>
              <a:rPr lang="en-US" dirty="0" smtClean="0"/>
              <a:t> (</a:t>
            </a:r>
            <a:r>
              <a:rPr lang="en-US" b="1" dirty="0" smtClean="0"/>
              <a:t>DMA</a:t>
            </a:r>
            <a:r>
              <a:rPr lang="en-US" dirty="0" smtClean="0"/>
              <a:t>) is a feature of computer systems and allows certain hardware </a:t>
            </a:r>
            <a:r>
              <a:rPr lang="en-US" dirty="0" smtClean="0"/>
              <a:t>devices </a:t>
            </a:r>
            <a:r>
              <a:rPr lang="en-US" dirty="0" smtClean="0"/>
              <a:t>to access </a:t>
            </a:r>
            <a:r>
              <a:rPr lang="en-US" dirty="0" smtClean="0"/>
              <a:t>main memory </a:t>
            </a:r>
            <a:r>
              <a:rPr lang="en-US" dirty="0" smtClean="0"/>
              <a:t> independently </a:t>
            </a:r>
            <a:r>
              <a:rPr lang="en-US" dirty="0" smtClean="0"/>
              <a:t>without using CPU.</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534400" cy="1066800"/>
          </a:xfrm>
        </p:spPr>
        <p:txBody>
          <a:bodyPr>
            <a:normAutofit fontScale="90000"/>
          </a:bodyPr>
          <a:lstStyle/>
          <a:p>
            <a:r>
              <a:rPr lang="en-US" b="1" dirty="0" smtClean="0"/>
              <a:t>How Does Direct Memory Access Work</a:t>
            </a:r>
            <a:r>
              <a:rPr lang="en-US" b="1" dirty="0" smtClean="0"/>
              <a:t>?</a:t>
            </a:r>
            <a:endParaRPr lang="en-US" dirty="0"/>
          </a:p>
        </p:txBody>
      </p:sp>
      <p:sp>
        <p:nvSpPr>
          <p:cNvPr id="3" name="Content Placeholder 2"/>
          <p:cNvSpPr>
            <a:spLocks noGrp="1"/>
          </p:cNvSpPr>
          <p:nvPr>
            <p:ph idx="1"/>
          </p:nvPr>
        </p:nvSpPr>
        <p:spPr/>
        <p:txBody>
          <a:bodyPr/>
          <a:lstStyle/>
          <a:p>
            <a:r>
              <a:rPr lang="en-US" dirty="0" smtClean="0"/>
              <a:t>DMA adopts </a:t>
            </a:r>
            <a:r>
              <a:rPr lang="en-US" dirty="0" smtClean="0"/>
              <a:t>a DMA controller. The DMA controller can produce memory addresses and launch memory read or write cycles</a:t>
            </a:r>
            <a:r>
              <a:rPr lang="en-US" dirty="0" smtClean="0"/>
              <a:t>.</a:t>
            </a:r>
          </a:p>
          <a:p>
            <a:endParaRPr lang="en-US" dirty="0" smtClean="0"/>
          </a:p>
          <a:p>
            <a:r>
              <a:rPr lang="en-US" dirty="0" smtClean="0"/>
              <a:t> </a:t>
            </a:r>
            <a:r>
              <a:rPr lang="en-US" dirty="0" smtClean="0"/>
              <a:t>It covers multiple hardware registers that can be read and written by the CPU.</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a DMA Controller</a:t>
            </a:r>
            <a:r>
              <a:rPr lang="en-US" b="1" dirty="0" smtClean="0"/>
              <a:t>?</a:t>
            </a:r>
            <a:endParaRPr lang="en-US" dirty="0"/>
          </a:p>
        </p:txBody>
      </p:sp>
      <p:sp>
        <p:nvSpPr>
          <p:cNvPr id="3" name="Content Placeholder 2"/>
          <p:cNvSpPr>
            <a:spLocks noGrp="1"/>
          </p:cNvSpPr>
          <p:nvPr>
            <p:ph idx="1"/>
          </p:nvPr>
        </p:nvSpPr>
        <p:spPr/>
        <p:txBody>
          <a:bodyPr/>
          <a:lstStyle/>
          <a:p>
            <a:r>
              <a:rPr lang="en-US" dirty="0" smtClean="0"/>
              <a:t>The hardware device used for direct memory access is called the DMA controller. </a:t>
            </a:r>
            <a:endParaRPr lang="en-US" dirty="0" smtClean="0"/>
          </a:p>
          <a:p>
            <a:pPr>
              <a:buNone/>
            </a:pPr>
            <a:endParaRPr lang="en-US" dirty="0" smtClean="0"/>
          </a:p>
          <a:p>
            <a:r>
              <a:rPr lang="en-US" dirty="0" smtClean="0"/>
              <a:t>DMA</a:t>
            </a:r>
            <a:r>
              <a:rPr lang="en-US" dirty="0" smtClean="0"/>
              <a:t> </a:t>
            </a:r>
            <a:r>
              <a:rPr lang="en-US" dirty="0" smtClean="0">
                <a:hlinkClick r:id="rId2"/>
              </a:rPr>
              <a:t>controller is a control unit</a:t>
            </a:r>
            <a:r>
              <a:rPr lang="en-US" dirty="0" smtClean="0"/>
              <a:t>, </a:t>
            </a:r>
            <a:r>
              <a:rPr lang="en-US" dirty="0" smtClean="0"/>
              <a:t>which </a:t>
            </a:r>
            <a:r>
              <a:rPr lang="en-US" dirty="0" smtClean="0"/>
              <a:t>can transfer blocks of data between I/O devices and main memory with minimal intervention from the processor.</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DMA Controller </a:t>
            </a:r>
            <a:r>
              <a:rPr lang="en-US" b="1" dirty="0" smtClean="0"/>
              <a:t>in </a:t>
            </a:r>
            <a:r>
              <a:rPr lang="en-US" b="1" dirty="0" smtClean="0"/>
              <a:t>Computer Architecture</a:t>
            </a:r>
            <a:br>
              <a:rPr lang="en-US" b="1" dirty="0" smtClean="0"/>
            </a:br>
            <a:endParaRPr lang="en-US" dirty="0"/>
          </a:p>
        </p:txBody>
      </p:sp>
      <p:sp>
        <p:nvSpPr>
          <p:cNvPr id="3" name="Content Placeholder 2"/>
          <p:cNvSpPr>
            <a:spLocks noGrp="1"/>
          </p:cNvSpPr>
          <p:nvPr>
            <p:ph idx="1"/>
          </p:nvPr>
        </p:nvSpPr>
        <p:spPr>
          <a:xfrm>
            <a:off x="457200" y="2209800"/>
            <a:ext cx="8229600" cy="4364736"/>
          </a:xfrm>
        </p:spPr>
        <p:txBody>
          <a:bodyPr>
            <a:normAutofit/>
          </a:bodyPr>
          <a:lstStyle/>
          <a:p>
            <a:r>
              <a:rPr lang="en-US" dirty="0" smtClean="0"/>
              <a:t>DMA controller provides an interface between the bus and the input-output devices</a:t>
            </a:r>
            <a:r>
              <a:rPr lang="en-US" dirty="0" smtClean="0"/>
              <a:t>.</a:t>
            </a:r>
          </a:p>
          <a:p>
            <a:endParaRPr lang="en-US" dirty="0" smtClean="0"/>
          </a:p>
          <a:p>
            <a:r>
              <a:rPr lang="en-US" dirty="0" smtClean="0"/>
              <a:t> </a:t>
            </a:r>
            <a:r>
              <a:rPr lang="en-US" dirty="0" smtClean="0"/>
              <a:t>Although it transfers data without intervention of processor, it is controlled by the processor. </a:t>
            </a:r>
            <a:endParaRPr lang="en-US" dirty="0" smtClean="0"/>
          </a:p>
          <a:p>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 in Computer Architecture</a:t>
            </a:r>
            <a:endParaRPr lang="en-US" dirty="0"/>
          </a:p>
        </p:txBody>
      </p:sp>
      <p:sp>
        <p:nvSpPr>
          <p:cNvPr id="3" name="Content Placeholder 2"/>
          <p:cNvSpPr>
            <a:spLocks noGrp="1"/>
          </p:cNvSpPr>
          <p:nvPr>
            <p:ph idx="1"/>
          </p:nvPr>
        </p:nvSpPr>
        <p:spPr/>
        <p:txBody>
          <a:bodyPr/>
          <a:lstStyle/>
          <a:p>
            <a:r>
              <a:rPr lang="en-US" dirty="0" smtClean="0"/>
              <a:t>The processor initiates the DMA controller by sending the starting address, Number of words in the data block and direction of transfer of data .i.e. from I/O devices to the memory or from main memory to I/O devices. </a:t>
            </a:r>
            <a:endParaRPr lang="en-US" dirty="0" smtClean="0"/>
          </a:p>
          <a:p>
            <a:endParaRPr lang="en-US" dirty="0" smtClean="0"/>
          </a:p>
          <a:p>
            <a:r>
              <a:rPr lang="en-US" dirty="0" smtClean="0"/>
              <a:t>More </a:t>
            </a:r>
            <a:r>
              <a:rPr lang="en-US" dirty="0" smtClean="0"/>
              <a:t>than one external device can be connected to the DMA controller.</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 in Computer Architecture</a:t>
            </a:r>
            <a:endParaRPr lang="en-US" dirty="0"/>
          </a:p>
        </p:txBody>
      </p:sp>
      <p:pic>
        <p:nvPicPr>
          <p:cNvPr id="1026" name="Picture 2" descr="C:\Users\RGUKT\Desktop\download.jpg"/>
          <p:cNvPicPr>
            <a:picLocks noGrp="1" noChangeAspect="1" noChangeArrowheads="1"/>
          </p:cNvPicPr>
          <p:nvPr>
            <p:ph idx="1"/>
          </p:nvPr>
        </p:nvPicPr>
        <p:blipFill>
          <a:blip r:embed="rId2"/>
          <a:srcRect/>
          <a:stretch>
            <a:fillRect/>
          </a:stretch>
        </p:blipFill>
        <p:spPr bwMode="auto">
          <a:xfrm>
            <a:off x="1600200" y="2667000"/>
            <a:ext cx="6781800" cy="37338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 in Computer Architecture</a:t>
            </a:r>
            <a:endParaRPr lang="en-US" dirty="0"/>
          </a:p>
        </p:txBody>
      </p:sp>
      <p:sp>
        <p:nvSpPr>
          <p:cNvPr id="3" name="Content Placeholder 2"/>
          <p:cNvSpPr>
            <a:spLocks noGrp="1"/>
          </p:cNvSpPr>
          <p:nvPr>
            <p:ph idx="1"/>
          </p:nvPr>
        </p:nvSpPr>
        <p:spPr/>
        <p:txBody>
          <a:bodyPr>
            <a:normAutofit/>
          </a:bodyPr>
          <a:lstStyle/>
          <a:p>
            <a:r>
              <a:rPr lang="en-US" dirty="0" smtClean="0"/>
              <a:t>DMA controller contains an address unit, for generating addresses and selecting I/O device for transfer</a:t>
            </a:r>
            <a:r>
              <a:rPr lang="en-US" dirty="0" smtClean="0"/>
              <a:t>.</a:t>
            </a:r>
          </a:p>
          <a:p>
            <a:endParaRPr lang="en-US" dirty="0" smtClean="0"/>
          </a:p>
          <a:p>
            <a:r>
              <a:rPr lang="en-US" dirty="0" smtClean="0"/>
              <a:t> </a:t>
            </a:r>
            <a:r>
              <a:rPr lang="en-US" dirty="0" smtClean="0"/>
              <a:t>It also contains the control unit and data count for keeping counts of the number of blocks transferred and indicating the direction of transfer of </a:t>
            </a:r>
            <a:r>
              <a:rPr lang="en-US" dirty="0" smtClean="0"/>
              <a:t>data</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 in Computer Architecture</a:t>
            </a:r>
            <a:endParaRPr lang="en-US" dirty="0"/>
          </a:p>
        </p:txBody>
      </p:sp>
      <p:sp>
        <p:nvSpPr>
          <p:cNvPr id="3" name="Content Placeholder 2"/>
          <p:cNvSpPr>
            <a:spLocks noGrp="1"/>
          </p:cNvSpPr>
          <p:nvPr>
            <p:ph idx="1"/>
          </p:nvPr>
        </p:nvSpPr>
        <p:spPr/>
        <p:txBody>
          <a:bodyPr/>
          <a:lstStyle/>
          <a:p>
            <a:r>
              <a:rPr lang="en-US" dirty="0" smtClean="0"/>
              <a:t>. When the transfer is completed, DMA informs the processor by raising an interrupt</a:t>
            </a:r>
            <a:r>
              <a:rPr lang="en-US" dirty="0" smtClean="0"/>
              <a:t>.</a:t>
            </a:r>
          </a:p>
          <a:p>
            <a:endParaRPr lang="en-US" dirty="0" smtClean="0"/>
          </a:p>
          <a:p>
            <a:r>
              <a:rPr lang="en-US" dirty="0" smtClean="0"/>
              <a:t> </a:t>
            </a:r>
            <a:r>
              <a:rPr lang="en-US" dirty="0" smtClean="0"/>
              <a:t>The typical block diagram of the DMA controller </a:t>
            </a:r>
            <a:r>
              <a:rPr lang="en-US" dirty="0" smtClean="0"/>
              <a:t>is </a:t>
            </a:r>
            <a:r>
              <a:rPr lang="en-US" dirty="0" smtClean="0"/>
              <a:t>shown in the figure below.</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GUKT\Desktop\dfd-660x395.png"/>
          <p:cNvPicPr>
            <a:picLocks noChangeAspect="1" noChangeArrowheads="1"/>
          </p:cNvPicPr>
          <p:nvPr/>
        </p:nvPicPr>
        <p:blipFill>
          <a:blip r:embed="rId2"/>
          <a:srcRect/>
          <a:stretch>
            <a:fillRect/>
          </a:stretch>
        </p:blipFill>
        <p:spPr bwMode="auto">
          <a:xfrm>
            <a:off x="381000" y="762000"/>
            <a:ext cx="8763000" cy="56388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Working of DMA </a:t>
            </a:r>
            <a:r>
              <a:rPr lang="en-US" b="1" dirty="0" smtClean="0"/>
              <a:t>Controller</a:t>
            </a:r>
            <a:endParaRPr lang="en-US" dirty="0"/>
          </a:p>
        </p:txBody>
      </p:sp>
      <p:sp>
        <p:nvSpPr>
          <p:cNvPr id="3" name="Content Placeholder 2"/>
          <p:cNvSpPr>
            <a:spLocks noGrp="1"/>
          </p:cNvSpPr>
          <p:nvPr>
            <p:ph idx="1"/>
          </p:nvPr>
        </p:nvSpPr>
        <p:spPr/>
        <p:txBody>
          <a:bodyPr>
            <a:normAutofit/>
          </a:bodyPr>
          <a:lstStyle/>
          <a:p>
            <a:r>
              <a:rPr lang="en-US" dirty="0" smtClean="0"/>
              <a:t>DMA controller has to share the bus with the processor to make the data transfer. </a:t>
            </a:r>
            <a:endParaRPr lang="en-US" dirty="0" smtClean="0"/>
          </a:p>
          <a:p>
            <a:endParaRPr lang="en-US" dirty="0" smtClean="0"/>
          </a:p>
          <a:p>
            <a:r>
              <a:rPr lang="en-US" dirty="0" smtClean="0"/>
              <a:t>The </a:t>
            </a:r>
            <a:r>
              <a:rPr lang="en-US" dirty="0" smtClean="0"/>
              <a:t>device that holds the bus at a given time is called bus master. </a:t>
            </a: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RGUKT\Desktop\transfer-of-data-by-DMA-in-computer-by-DMA.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DMA Controller</a:t>
            </a:r>
            <a:endParaRPr lang="en-US" dirty="0"/>
          </a:p>
        </p:txBody>
      </p:sp>
      <p:sp>
        <p:nvSpPr>
          <p:cNvPr id="3" name="Content Placeholder 2"/>
          <p:cNvSpPr>
            <a:spLocks noGrp="1"/>
          </p:cNvSpPr>
          <p:nvPr>
            <p:ph idx="1"/>
          </p:nvPr>
        </p:nvSpPr>
        <p:spPr/>
        <p:txBody>
          <a:bodyPr/>
          <a:lstStyle/>
          <a:p>
            <a:r>
              <a:rPr lang="en-US" dirty="0" smtClean="0"/>
              <a:t>When a transfer from I/O device to the memory or vice verse has to be made, the processor stops the execution of the current program, increments </a:t>
            </a:r>
            <a:r>
              <a:rPr lang="en-US" dirty="0" smtClean="0">
                <a:hlinkClick r:id="rId2"/>
              </a:rPr>
              <a:t>the program</a:t>
            </a:r>
            <a:r>
              <a:rPr lang="en-US" dirty="0" smtClean="0"/>
              <a:t> counter, moves data over stack then sends a DMA select signal to DMA controller over the address bus.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DMA Controller</a:t>
            </a:r>
            <a:endParaRPr lang="en-US" dirty="0"/>
          </a:p>
        </p:txBody>
      </p:sp>
      <p:sp>
        <p:nvSpPr>
          <p:cNvPr id="3" name="Content Placeholder 2"/>
          <p:cNvSpPr>
            <a:spLocks noGrp="1"/>
          </p:cNvSpPr>
          <p:nvPr>
            <p:ph idx="1"/>
          </p:nvPr>
        </p:nvSpPr>
        <p:spPr/>
        <p:txBody>
          <a:bodyPr>
            <a:normAutofit/>
          </a:bodyPr>
          <a:lstStyle/>
          <a:p>
            <a:r>
              <a:rPr lang="en-US" dirty="0" smtClean="0"/>
              <a:t>If the DMA controller is free, it requests the control of bus from the processor by raising the bus request signal. </a:t>
            </a:r>
            <a:endParaRPr lang="en-US" dirty="0" smtClean="0"/>
          </a:p>
          <a:p>
            <a:endParaRPr lang="en-US" dirty="0" smtClean="0"/>
          </a:p>
          <a:p>
            <a:r>
              <a:rPr lang="en-US" dirty="0" smtClean="0"/>
              <a:t>Processor </a:t>
            </a:r>
            <a:r>
              <a:rPr lang="en-US" dirty="0" smtClean="0"/>
              <a:t>grants the bus to the controller by raising the bus grant signal, now DMA controller is the bus master.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DMA Controller</a:t>
            </a:r>
            <a:endParaRPr lang="en-US" dirty="0"/>
          </a:p>
        </p:txBody>
      </p:sp>
      <p:sp>
        <p:nvSpPr>
          <p:cNvPr id="3" name="Content Placeholder 2"/>
          <p:cNvSpPr>
            <a:spLocks noGrp="1"/>
          </p:cNvSpPr>
          <p:nvPr>
            <p:ph idx="1"/>
          </p:nvPr>
        </p:nvSpPr>
        <p:spPr>
          <a:xfrm>
            <a:off x="457200" y="2249424"/>
            <a:ext cx="8382000" cy="4325112"/>
          </a:xfrm>
        </p:spPr>
        <p:txBody>
          <a:bodyPr>
            <a:normAutofit lnSpcReduction="10000"/>
          </a:bodyPr>
          <a:lstStyle/>
          <a:p>
            <a:r>
              <a:rPr lang="en-US" dirty="0" smtClean="0"/>
              <a:t>The processor initiates the DMA controller by sending the memory addresses, number of blocks of data to be transferred and direction of data transfer</a:t>
            </a:r>
            <a:r>
              <a:rPr lang="en-US" dirty="0" smtClean="0"/>
              <a:t>.</a:t>
            </a:r>
          </a:p>
          <a:p>
            <a:endParaRPr lang="en-US" dirty="0" smtClean="0"/>
          </a:p>
          <a:p>
            <a:r>
              <a:rPr lang="en-US" dirty="0" smtClean="0"/>
              <a:t> </a:t>
            </a:r>
            <a:r>
              <a:rPr lang="en-US" dirty="0" smtClean="0"/>
              <a:t>After assigning the data transfer task to the DMA controller, instead of waiting ideally till completion of data transfer, the processor resumes the execution of the program after retrieving instructions from the stack.</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DMA Controller</a:t>
            </a:r>
            <a:endParaRPr lang="en-US" dirty="0"/>
          </a:p>
        </p:txBody>
      </p:sp>
      <p:sp>
        <p:nvSpPr>
          <p:cNvPr id="3" name="Content Placeholder 2"/>
          <p:cNvSpPr>
            <a:spLocks noGrp="1"/>
          </p:cNvSpPr>
          <p:nvPr>
            <p:ph idx="1"/>
          </p:nvPr>
        </p:nvSpPr>
        <p:spPr/>
        <p:txBody>
          <a:bodyPr>
            <a:normAutofit fontScale="92500"/>
          </a:bodyPr>
          <a:lstStyle/>
          <a:p>
            <a:r>
              <a:rPr lang="en-US" dirty="0" smtClean="0"/>
              <a:t>DMA controller now has the full control of buses and can interact directly with memory and I/O devices independent of CPU</a:t>
            </a:r>
            <a:r>
              <a:rPr lang="en-US" dirty="0" smtClean="0"/>
              <a:t>.</a:t>
            </a:r>
          </a:p>
          <a:p>
            <a:endParaRPr lang="en-US" dirty="0" smtClean="0"/>
          </a:p>
          <a:p>
            <a:r>
              <a:rPr lang="en-US" dirty="0" smtClean="0"/>
              <a:t> </a:t>
            </a:r>
            <a:r>
              <a:rPr lang="en-US" dirty="0" smtClean="0"/>
              <a:t>It makes the data transfer according to the control instructions received by the processor</a:t>
            </a:r>
            <a:r>
              <a:rPr lang="en-US" dirty="0" smtClean="0"/>
              <a:t>.</a:t>
            </a:r>
          </a:p>
          <a:p>
            <a:endParaRPr lang="en-US" dirty="0" smtClean="0"/>
          </a:p>
          <a:p>
            <a:r>
              <a:rPr lang="en-US" dirty="0" smtClean="0"/>
              <a:t> </a:t>
            </a:r>
            <a:r>
              <a:rPr lang="en-US" dirty="0" smtClean="0"/>
              <a:t>After completion of data transfer, it disables the bus request signal and CPU disables the bus grant signal thereby moving control of buses to the CPU.</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DMA Controller</a:t>
            </a:r>
            <a:endParaRPr lang="en-US" dirty="0"/>
          </a:p>
        </p:txBody>
      </p:sp>
      <p:sp>
        <p:nvSpPr>
          <p:cNvPr id="3" name="Content Placeholder 2"/>
          <p:cNvSpPr>
            <a:spLocks noGrp="1"/>
          </p:cNvSpPr>
          <p:nvPr>
            <p:ph idx="1"/>
          </p:nvPr>
        </p:nvSpPr>
        <p:spPr/>
        <p:txBody>
          <a:bodyPr>
            <a:normAutofit/>
          </a:bodyPr>
          <a:lstStyle/>
          <a:p>
            <a:r>
              <a:rPr lang="en-US" dirty="0" smtClean="0"/>
              <a:t>When an I/O device wants to initiate the transfer then it sends a DMA request signal to the DMA controller, for which the controller acknowledges if it is free. </a:t>
            </a:r>
            <a:endParaRPr lang="en-US" dirty="0" smtClean="0"/>
          </a:p>
          <a:p>
            <a:endParaRPr lang="en-US" dirty="0" smtClean="0"/>
          </a:p>
          <a:p>
            <a:r>
              <a:rPr lang="en-US" dirty="0" smtClean="0"/>
              <a:t>Then </a:t>
            </a:r>
            <a:r>
              <a:rPr lang="en-US" dirty="0" smtClean="0"/>
              <a:t>the controller requests the processor for the bus, raising the bus request signal. After receiving the bus grant signal it transfers the data from the device. </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Modes of </a:t>
            </a:r>
            <a:r>
              <a:rPr lang="en-US" b="1" dirty="0" smtClean="0"/>
              <a:t>Operation</a:t>
            </a:r>
            <a:endParaRPr lang="en-US" dirty="0"/>
          </a:p>
        </p:txBody>
      </p:sp>
      <p:sp>
        <p:nvSpPr>
          <p:cNvPr id="3" name="Content Placeholder 2"/>
          <p:cNvSpPr>
            <a:spLocks noGrp="1"/>
          </p:cNvSpPr>
          <p:nvPr>
            <p:ph idx="1"/>
          </p:nvPr>
        </p:nvSpPr>
        <p:spPr/>
        <p:txBody>
          <a:bodyPr/>
          <a:lstStyle/>
          <a:p>
            <a:pPr fontAlgn="base"/>
            <a:r>
              <a:rPr lang="en-US" dirty="0" smtClean="0"/>
              <a:t>The DMA transfers the data in three modes which include the following</a:t>
            </a:r>
            <a:r>
              <a:rPr lang="en-US" dirty="0" smtClean="0"/>
              <a:t>.</a:t>
            </a:r>
          </a:p>
          <a:p>
            <a:pPr fontAlgn="base">
              <a:buNone/>
            </a:pPr>
            <a:endParaRPr lang="en-US" dirty="0" smtClean="0"/>
          </a:p>
          <a:p>
            <a:pPr fontAlgn="base">
              <a:buNone/>
            </a:pPr>
            <a:r>
              <a:rPr lang="en-US" dirty="0" smtClean="0"/>
              <a:t>a) </a:t>
            </a:r>
            <a:r>
              <a:rPr lang="en-US" b="1" dirty="0" smtClean="0"/>
              <a:t>Burst Mode</a:t>
            </a:r>
            <a:r>
              <a:rPr lang="en-US" dirty="0" smtClean="0"/>
              <a:t>: In this mode DMA handover the buses to CPU only after completion of whole data transfer</a:t>
            </a:r>
            <a:r>
              <a:rPr lang="en-US" dirty="0" smtClean="0"/>
              <a:t>.</a:t>
            </a:r>
          </a:p>
          <a:p>
            <a:pPr fontAlgn="base"/>
            <a:r>
              <a:rPr lang="en-US" dirty="0" smtClean="0"/>
              <a:t> </a:t>
            </a:r>
            <a:r>
              <a:rPr lang="en-US" dirty="0" smtClean="0"/>
              <a:t>Meanwhile, if the CPU requires the bus it has to stay ideal and wait for data transfer.</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Modes of Operation</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b) </a:t>
            </a:r>
            <a:r>
              <a:rPr lang="en-US" b="1" dirty="0" smtClean="0"/>
              <a:t>Cycle Stealing Mode</a:t>
            </a:r>
            <a:r>
              <a:rPr lang="en-US" dirty="0" smtClean="0"/>
              <a:t>: In this mode, DMA gives control of buses to CPU after transfer of every byte</a:t>
            </a:r>
            <a:r>
              <a:rPr lang="en-US" dirty="0" smtClean="0"/>
              <a:t>.</a:t>
            </a:r>
          </a:p>
          <a:p>
            <a:pPr>
              <a:buNone/>
            </a:pPr>
            <a:endParaRPr lang="en-US" dirty="0" smtClean="0"/>
          </a:p>
          <a:p>
            <a:r>
              <a:rPr lang="en-US" dirty="0" smtClean="0"/>
              <a:t> </a:t>
            </a:r>
            <a:r>
              <a:rPr lang="en-US" dirty="0" smtClean="0"/>
              <a:t>It continuously issues a request for bus control, makes the transfer of one byte and returns the bus</a:t>
            </a:r>
            <a:r>
              <a:rPr lang="en-US" dirty="0" smtClean="0"/>
              <a:t>.</a:t>
            </a:r>
          </a:p>
          <a:p>
            <a:endParaRPr lang="en-US" dirty="0" smtClean="0"/>
          </a:p>
          <a:p>
            <a:r>
              <a:rPr lang="en-US" dirty="0" smtClean="0"/>
              <a:t> </a:t>
            </a:r>
            <a:r>
              <a:rPr lang="en-US" dirty="0" smtClean="0"/>
              <a:t>By this CPU doesn’t have to wait for a long time if it needs a bus for higher priority task.</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u Chanti\Desktop\Thank you.jpg"/>
          <p:cNvPicPr>
            <a:picLocks noChangeAspect="1" noChangeArrowheads="1"/>
          </p:cNvPicPr>
          <p:nvPr/>
        </p:nvPicPr>
        <p:blipFill>
          <a:blip r:embed="rId2" cstate="print"/>
          <a:srcRect/>
          <a:stretch>
            <a:fillRect/>
          </a:stretch>
        </p:blipFill>
        <p:spPr bwMode="auto">
          <a:xfrm>
            <a:off x="533400" y="762000"/>
            <a:ext cx="8153399" cy="55626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74</TotalTime>
  <Words>597</Words>
  <Application>Microsoft Office PowerPoint</Application>
  <PresentationFormat>On-screen Show (4:3)</PresentationFormat>
  <Paragraphs>63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Urban</vt:lpstr>
      <vt:lpstr>Direct memory access (DMA)</vt:lpstr>
      <vt:lpstr>Introduction :</vt:lpstr>
      <vt:lpstr>How Does Direct Memory Access Work?</vt:lpstr>
      <vt:lpstr>What is a DMA Controller?</vt:lpstr>
      <vt:lpstr>DMA Controller in Computer Architecture </vt:lpstr>
      <vt:lpstr>DMA in Computer Architecture</vt:lpstr>
      <vt:lpstr>DMA in Computer Architecture</vt:lpstr>
      <vt:lpstr>DMA in Computer Architecture</vt:lpstr>
      <vt:lpstr>DMA in Computer Architecture</vt:lpstr>
      <vt:lpstr>Slide 10</vt:lpstr>
      <vt:lpstr>Working of DMA Controller</vt:lpstr>
      <vt:lpstr>Slide 12</vt:lpstr>
      <vt:lpstr>Working of DMA Controller</vt:lpstr>
      <vt:lpstr>Working of DMA Controller</vt:lpstr>
      <vt:lpstr>Working of DMA Controller</vt:lpstr>
      <vt:lpstr>Working of DMA Controller</vt:lpstr>
      <vt:lpstr>Working of DMA Controller</vt:lpstr>
      <vt:lpstr>Modes of Operation</vt:lpstr>
      <vt:lpstr>Modes of Operation</vt:lpstr>
      <vt:lpstr>Slide 20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RGUKT</dc:creator>
  <cp:lastModifiedBy>RGUKT</cp:lastModifiedBy>
  <cp:revision>14</cp:revision>
  <dcterms:created xsi:type="dcterms:W3CDTF">2006-08-16T00:00:00Z</dcterms:created>
  <dcterms:modified xsi:type="dcterms:W3CDTF">2022-08-04T00:44:37Z</dcterms:modified>
</cp:coreProperties>
</file>