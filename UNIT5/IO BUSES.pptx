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1D8BD707-D9CF-40AE-B4C6-C98DA3205C09}" type="datetimeFigureOut">
              <a:rPr lang="en-US" smtClean="0"/>
              <a:pPr/>
              <a:t>8/5/2022</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8/5/2022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1D8BD707-D9CF-40AE-B4C6-C98DA3205C09}" type="datetimeFigureOut">
              <a:rPr lang="en-US" smtClean="0"/>
              <a:pPr/>
              <a:t>8/5/2022</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8/5/2022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8/5/2022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8/5/2022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D8BD707-D9CF-40AE-B4C6-C98DA3205C09}" type="datetimeFigureOut">
              <a:rPr lang="en-US" smtClean="0"/>
              <a:pPr/>
              <a:t>8/5/2022</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8/5/2022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8/5/2022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8/5/2022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1D8BD707-D9CF-40AE-B4C6-C98DA3205C09}" type="datetimeFigureOut">
              <a:rPr lang="en-US" smtClean="0"/>
              <a:pPr/>
              <a:t>8/5/2022</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1D8BD707-D9CF-40AE-B4C6-C98DA3205C09}" type="datetimeFigureOut">
              <a:rPr lang="en-US" smtClean="0"/>
              <a:pPr/>
              <a:t>8/5/2022</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19400" y="533400"/>
            <a:ext cx="6172200" cy="3124200"/>
          </a:xfrm>
        </p:spPr>
        <p:txBody>
          <a:bodyPr/>
          <a:lstStyle/>
          <a:p>
            <a:r>
              <a:rPr lang="en-US" sz="9600" dirty="0" smtClean="0"/>
              <a:t>I/O BUSES</a:t>
            </a:r>
            <a:endParaRPr lang="en-US" sz="9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BUS ?</a:t>
            </a:r>
            <a:endParaRPr lang="en-US" dirty="0"/>
          </a:p>
        </p:txBody>
      </p:sp>
      <p:sp>
        <p:nvSpPr>
          <p:cNvPr id="3" name="Content Placeholder 2"/>
          <p:cNvSpPr>
            <a:spLocks noGrp="1"/>
          </p:cNvSpPr>
          <p:nvPr>
            <p:ph idx="1"/>
          </p:nvPr>
        </p:nvSpPr>
        <p:spPr/>
        <p:txBody>
          <a:bodyPr/>
          <a:lstStyle/>
          <a:p>
            <a:r>
              <a:rPr lang="en-US" dirty="0" smtClean="0"/>
              <a:t>Processor, main memory, and I/O devices are interconnected by means of a bus</a:t>
            </a:r>
            <a:r>
              <a:rPr lang="en-US" dirty="0" smtClean="0"/>
              <a:t>.</a:t>
            </a:r>
          </a:p>
          <a:p>
            <a:endParaRPr lang="en-US" dirty="0" smtClean="0"/>
          </a:p>
          <a:p>
            <a:r>
              <a:rPr lang="en-US" dirty="0" smtClean="0"/>
              <a:t>Bus provides a communication path for the transfer of data. </a:t>
            </a:r>
            <a:endParaRPr lang="en-US" dirty="0" smtClean="0"/>
          </a:p>
          <a:p>
            <a:endParaRPr lang="en-US" dirty="0" smtClean="0"/>
          </a:p>
          <a:p>
            <a:r>
              <a:rPr lang="en-US" dirty="0" smtClean="0"/>
              <a:t>A bus protocol is the set of rules that govern the behavior of various devices connected to the bus, as to when to place information on the bus, when to assert control signals, etc.</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22960"/>
          </a:xfrm>
        </p:spPr>
        <p:txBody>
          <a:bodyPr/>
          <a:lstStyle/>
          <a:p>
            <a:r>
              <a:rPr lang="en-US" dirty="0" smtClean="0"/>
              <a:t>I/O </a:t>
            </a:r>
            <a:r>
              <a:rPr lang="en-US" dirty="0" smtClean="0"/>
              <a:t>Buses :</a:t>
            </a:r>
            <a:endParaRPr lang="en-US" dirty="0"/>
          </a:p>
        </p:txBody>
      </p:sp>
      <p:sp>
        <p:nvSpPr>
          <p:cNvPr id="3" name="Content Placeholder 2"/>
          <p:cNvSpPr>
            <a:spLocks noGrp="1"/>
          </p:cNvSpPr>
          <p:nvPr>
            <p:ph idx="1"/>
          </p:nvPr>
        </p:nvSpPr>
        <p:spPr>
          <a:xfrm>
            <a:off x="457200" y="1447800"/>
            <a:ext cx="7620000" cy="5181600"/>
          </a:xfrm>
        </p:spPr>
        <p:txBody>
          <a:bodyPr>
            <a:normAutofit fontScale="92500" lnSpcReduction="20000"/>
          </a:bodyPr>
          <a:lstStyle/>
          <a:p>
            <a:pPr>
              <a:buNone/>
            </a:pPr>
            <a:r>
              <a:rPr lang="en-US" dirty="0" smtClean="0"/>
              <a:t>Bus lines may be grouped into three types:</a:t>
            </a:r>
          </a:p>
          <a:p>
            <a:pPr marL="514350" indent="-514350">
              <a:buFont typeface="+mj-lt"/>
              <a:buAutoNum type="arabicPeriod"/>
            </a:pPr>
            <a:r>
              <a:rPr lang="en-US" b="1" dirty="0" smtClean="0">
                <a:solidFill>
                  <a:srgbClr val="002060"/>
                </a:solidFill>
              </a:rPr>
              <a:t>Data </a:t>
            </a:r>
          </a:p>
          <a:p>
            <a:pPr marL="514350" indent="-514350">
              <a:buFont typeface="+mj-lt"/>
              <a:buAutoNum type="arabicPeriod"/>
            </a:pPr>
            <a:r>
              <a:rPr lang="en-US" b="1" dirty="0" smtClean="0">
                <a:solidFill>
                  <a:srgbClr val="002060"/>
                </a:solidFill>
              </a:rPr>
              <a:t>Address</a:t>
            </a:r>
          </a:p>
          <a:p>
            <a:pPr marL="514350" indent="-514350">
              <a:buFont typeface="+mj-lt"/>
              <a:buAutoNum type="arabicPeriod"/>
            </a:pPr>
            <a:r>
              <a:rPr lang="en-US" b="1" dirty="0" smtClean="0">
                <a:solidFill>
                  <a:srgbClr val="002060"/>
                </a:solidFill>
              </a:rPr>
              <a:t>Control </a:t>
            </a:r>
            <a:endParaRPr lang="en-US" b="1" dirty="0" smtClean="0">
              <a:solidFill>
                <a:srgbClr val="002060"/>
              </a:solidFill>
            </a:endParaRPr>
          </a:p>
          <a:p>
            <a:pPr marL="514350" indent="-514350">
              <a:buNone/>
            </a:pPr>
            <a:endParaRPr lang="en-US" b="1" dirty="0" smtClean="0">
              <a:solidFill>
                <a:srgbClr val="002060"/>
              </a:solidFill>
            </a:endParaRPr>
          </a:p>
          <a:p>
            <a:pPr>
              <a:buNone/>
            </a:pPr>
            <a:r>
              <a:rPr lang="en-US" b="1" dirty="0" smtClean="0">
                <a:solidFill>
                  <a:srgbClr val="C00000"/>
                </a:solidFill>
              </a:rPr>
              <a:t>Control signals specify: </a:t>
            </a:r>
          </a:p>
          <a:p>
            <a:r>
              <a:rPr lang="en-US" dirty="0" smtClean="0"/>
              <a:t>Whether it is a read or a write operation. </a:t>
            </a:r>
            <a:endParaRPr lang="en-US" dirty="0" smtClean="0"/>
          </a:p>
          <a:p>
            <a:endParaRPr lang="en-US" dirty="0" smtClean="0"/>
          </a:p>
          <a:p>
            <a:r>
              <a:rPr lang="en-US" dirty="0" smtClean="0"/>
              <a:t>Required size of the data, when several operand sizes (byte, word, long word) are possible</a:t>
            </a:r>
            <a:r>
              <a:rPr lang="en-US" dirty="0" smtClean="0"/>
              <a:t>.</a:t>
            </a:r>
          </a:p>
          <a:p>
            <a:endParaRPr lang="en-US" dirty="0" smtClean="0"/>
          </a:p>
          <a:p>
            <a:r>
              <a:rPr lang="en-US" dirty="0" smtClean="0"/>
              <a:t>Timing information to indicate when the processor and I/O devices may place data or receive data from the bus.</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t>
            </a:r>
            <a:r>
              <a:rPr lang="en-US" dirty="0" err="1" smtClean="0"/>
              <a:t>io</a:t>
            </a:r>
            <a:r>
              <a:rPr lang="en-US" dirty="0" smtClean="0"/>
              <a:t> buses :</a:t>
            </a:r>
            <a:endParaRPr lang="en-US" dirty="0"/>
          </a:p>
        </p:txBody>
      </p:sp>
      <p:sp>
        <p:nvSpPr>
          <p:cNvPr id="3" name="Content Placeholder 2"/>
          <p:cNvSpPr>
            <a:spLocks noGrp="1"/>
          </p:cNvSpPr>
          <p:nvPr>
            <p:ph idx="1"/>
          </p:nvPr>
        </p:nvSpPr>
        <p:spPr/>
        <p:txBody>
          <a:bodyPr>
            <a:normAutofit/>
          </a:bodyPr>
          <a:lstStyle/>
          <a:p>
            <a:pPr>
              <a:buNone/>
            </a:pPr>
            <a:r>
              <a:rPr lang="en-US" sz="3200" dirty="0" smtClean="0"/>
              <a:t>Schemes for timing of data transfers over a bus can be classified into:</a:t>
            </a:r>
          </a:p>
          <a:p>
            <a:pPr>
              <a:buNone/>
            </a:pPr>
            <a:r>
              <a:rPr lang="en-US" sz="3200" dirty="0" smtClean="0"/>
              <a:t> </a:t>
            </a:r>
          </a:p>
          <a:p>
            <a:r>
              <a:rPr lang="en-US" sz="3200" b="1" dirty="0" smtClean="0">
                <a:solidFill>
                  <a:srgbClr val="C00000"/>
                </a:solidFill>
              </a:rPr>
              <a:t>Synchronous Bus</a:t>
            </a:r>
          </a:p>
          <a:p>
            <a:r>
              <a:rPr lang="en-US" sz="3200" b="1" dirty="0" smtClean="0">
                <a:solidFill>
                  <a:srgbClr val="C00000"/>
                </a:solidFill>
              </a:rPr>
              <a:t>Asynchronous Bus</a:t>
            </a:r>
            <a:endParaRPr lang="en-US" sz="3200" b="1" dirty="0">
              <a:solidFill>
                <a:srgbClr val="C0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Synchronous Bus :</a:t>
            </a:r>
            <a:br>
              <a:rPr lang="en-US" dirty="0" smtClean="0"/>
            </a:br>
            <a:endParaRPr lang="en-US" dirty="0"/>
          </a:p>
        </p:txBody>
      </p:sp>
      <p:sp>
        <p:nvSpPr>
          <p:cNvPr id="3" name="Content Placeholder 2"/>
          <p:cNvSpPr>
            <a:spLocks noGrp="1"/>
          </p:cNvSpPr>
          <p:nvPr>
            <p:ph idx="1"/>
          </p:nvPr>
        </p:nvSpPr>
        <p:spPr>
          <a:xfrm>
            <a:off x="457200" y="1219200"/>
            <a:ext cx="7620000" cy="5236536"/>
          </a:xfrm>
        </p:spPr>
        <p:txBody>
          <a:bodyPr>
            <a:normAutofit/>
          </a:bodyPr>
          <a:lstStyle/>
          <a:p>
            <a:r>
              <a:rPr lang="en-US" dirty="0" smtClean="0"/>
              <a:t>In a synchronous bus, all the devices are </a:t>
            </a:r>
            <a:r>
              <a:rPr lang="en-US" dirty="0" err="1" smtClean="0"/>
              <a:t>synchronised</a:t>
            </a:r>
            <a:r>
              <a:rPr lang="en-US" dirty="0" smtClean="0"/>
              <a:t> by a common clock, so all devices derive timing information from a common clock line of the bus. </a:t>
            </a:r>
          </a:p>
          <a:p>
            <a:endParaRPr lang="en-US" dirty="0" smtClean="0"/>
          </a:p>
          <a:p>
            <a:r>
              <a:rPr lang="en-US" dirty="0" smtClean="0"/>
              <a:t>A clock pulse on this common clock line defines equal time intervals.</a:t>
            </a:r>
          </a:p>
          <a:p>
            <a:endParaRPr lang="en-US" dirty="0" smtClean="0"/>
          </a:p>
          <a:p>
            <a:r>
              <a:rPr lang="en-US" dirty="0" smtClean="0"/>
              <a:t>In the simplest form of a synchronous bus, each of these clock pulse constitutes a bus cycle during which one data transfer can take place.</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Synchronous Bus :</a:t>
            </a:r>
            <a:br>
              <a:rPr lang="en-US" dirty="0" smtClean="0"/>
            </a:b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457200" y="1371600"/>
            <a:ext cx="7391400" cy="525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Synchronous Bus </a:t>
            </a:r>
            <a:r>
              <a:rPr lang="en-US" dirty="0" smtClean="0"/>
              <a:t>:</a:t>
            </a:r>
            <a:endParaRPr lang="en-US" dirty="0"/>
          </a:p>
        </p:txBody>
      </p:sp>
      <p:sp>
        <p:nvSpPr>
          <p:cNvPr id="3" name="Content Placeholder 2"/>
          <p:cNvSpPr>
            <a:spLocks noGrp="1"/>
          </p:cNvSpPr>
          <p:nvPr>
            <p:ph idx="1"/>
          </p:nvPr>
        </p:nvSpPr>
        <p:spPr>
          <a:xfrm>
            <a:off x="457200" y="1609416"/>
            <a:ext cx="7543800" cy="4846320"/>
          </a:xfrm>
        </p:spPr>
        <p:txBody>
          <a:bodyPr/>
          <a:lstStyle/>
          <a:p>
            <a:pPr>
              <a:buNone/>
            </a:pPr>
            <a:r>
              <a:rPr lang="en-US" dirty="0" smtClean="0"/>
              <a:t>Let us consider the sequence of events during an input (read) operation.</a:t>
            </a:r>
          </a:p>
          <a:p>
            <a:r>
              <a:rPr lang="en-US" dirty="0" smtClean="0"/>
              <a:t>At time </a:t>
            </a:r>
            <a:r>
              <a:rPr lang="en-US" i="1" dirty="0" smtClean="0"/>
              <a:t>t0, the master places the device address on the address lines and sends an appropriate </a:t>
            </a:r>
            <a:r>
              <a:rPr lang="en-US" i="1" dirty="0" smtClean="0"/>
              <a:t>command</a:t>
            </a:r>
            <a:r>
              <a:rPr lang="en-US" dirty="0" smtClean="0"/>
              <a:t>(read </a:t>
            </a:r>
            <a:r>
              <a:rPr lang="en-US" dirty="0" smtClean="0"/>
              <a:t>in case of input) on the command lines</a:t>
            </a:r>
            <a:r>
              <a:rPr lang="en-US" dirty="0" smtClean="0"/>
              <a:t>.</a:t>
            </a:r>
          </a:p>
          <a:p>
            <a:endParaRPr lang="en-US" dirty="0" smtClean="0"/>
          </a:p>
          <a:p>
            <a:r>
              <a:rPr lang="en-US" dirty="0" smtClean="0"/>
              <a:t>In any data transfer operation, one device plays the role of a master, which initiates data transfer by </a:t>
            </a:r>
            <a:r>
              <a:rPr lang="en-US" dirty="0" smtClean="0"/>
              <a:t>issuing read </a:t>
            </a:r>
            <a:r>
              <a:rPr lang="en-US" dirty="0" smtClean="0"/>
              <a:t>or write commands on the bus</a:t>
            </a:r>
            <a:r>
              <a:rPr lang="en-US" dirty="0" smtClean="0"/>
              <a:t>.</a:t>
            </a:r>
            <a:endParaRPr lang="en-US"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Synchronous Bus :</a:t>
            </a:r>
            <a:br>
              <a:rPr lang="en-US" dirty="0" smtClean="0"/>
            </a:br>
            <a:endParaRPr lang="en-US" dirty="0"/>
          </a:p>
        </p:txBody>
      </p:sp>
      <p:sp>
        <p:nvSpPr>
          <p:cNvPr id="3" name="Content Placeholder 2"/>
          <p:cNvSpPr>
            <a:spLocks noGrp="1"/>
          </p:cNvSpPr>
          <p:nvPr>
            <p:ph idx="1"/>
          </p:nvPr>
        </p:nvSpPr>
        <p:spPr>
          <a:xfrm>
            <a:off x="457200" y="1295400"/>
            <a:ext cx="7239000" cy="5160336"/>
          </a:xfrm>
        </p:spPr>
        <p:txBody>
          <a:bodyPr/>
          <a:lstStyle/>
          <a:p>
            <a:r>
              <a:rPr lang="en-US" dirty="0" smtClean="0"/>
              <a:t>Normally, the processor acts as the master, but other device with DMA capability may also becomes </a:t>
            </a:r>
            <a:r>
              <a:rPr lang="en-US" dirty="0" smtClean="0"/>
              <a:t>bus master</a:t>
            </a:r>
            <a:r>
              <a:rPr lang="en-US" dirty="0" smtClean="0"/>
              <a:t>. </a:t>
            </a:r>
            <a:endParaRPr lang="en-US" dirty="0" smtClean="0"/>
          </a:p>
          <a:p>
            <a:endParaRPr lang="en-US" dirty="0" smtClean="0"/>
          </a:p>
          <a:p>
            <a:r>
              <a:rPr lang="en-US" dirty="0" smtClean="0"/>
              <a:t>The </a:t>
            </a:r>
            <a:r>
              <a:rPr lang="en-US" dirty="0" smtClean="0"/>
              <a:t>device addressed by the master is referred to as a slave or target device</a:t>
            </a:r>
            <a:r>
              <a:rPr lang="en-US" dirty="0" smtClean="0"/>
              <a:t>.</a:t>
            </a:r>
          </a:p>
          <a:p>
            <a:pPr>
              <a:buNone/>
            </a:pPr>
            <a:endParaRPr lang="en-US" dirty="0" smtClean="0"/>
          </a:p>
          <a:p>
            <a:r>
              <a:rPr lang="en-US" dirty="0" smtClean="0"/>
              <a:t>The command also indicates the length of the operand to be read, if necessary.</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Synchronous Bus :</a:t>
            </a:r>
            <a:br>
              <a:rPr lang="en-US" dirty="0" smtClean="0"/>
            </a:br>
            <a:endParaRPr lang="en-US" dirty="0"/>
          </a:p>
        </p:txBody>
      </p:sp>
      <p:sp>
        <p:nvSpPr>
          <p:cNvPr id="3" name="Content Placeholder 2"/>
          <p:cNvSpPr>
            <a:spLocks noGrp="1"/>
          </p:cNvSpPr>
          <p:nvPr>
            <p:ph idx="1"/>
          </p:nvPr>
        </p:nvSpPr>
        <p:spPr>
          <a:xfrm>
            <a:off x="457200" y="1219200"/>
            <a:ext cx="7239000" cy="5236536"/>
          </a:xfrm>
        </p:spPr>
        <p:txBody>
          <a:bodyPr/>
          <a:lstStyle/>
          <a:p>
            <a:r>
              <a:rPr lang="en-US" dirty="0" smtClean="0"/>
              <a:t>The clock pulse width, </a:t>
            </a:r>
            <a:r>
              <a:rPr lang="en-US" i="1" dirty="0" smtClean="0"/>
              <a:t>t1 - t0, must be longer than the maximum propagation delay between two </a:t>
            </a:r>
            <a:r>
              <a:rPr lang="en-US" i="1" dirty="0" smtClean="0"/>
              <a:t>devices </a:t>
            </a:r>
            <a:r>
              <a:rPr lang="en-US" dirty="0" smtClean="0"/>
              <a:t>connected </a:t>
            </a:r>
            <a:r>
              <a:rPr lang="en-US" dirty="0" smtClean="0"/>
              <a:t>to the bus</a:t>
            </a:r>
            <a:r>
              <a:rPr lang="en-US" dirty="0" smtClean="0"/>
              <a:t>.</a:t>
            </a:r>
          </a:p>
          <a:p>
            <a:endParaRPr lang="en-US" dirty="0" smtClean="0"/>
          </a:p>
          <a:p>
            <a:r>
              <a:rPr lang="en-US" dirty="0" smtClean="0"/>
              <a:t>After decoding the information on address and control lines by </a:t>
            </a:r>
            <a:r>
              <a:rPr lang="en-US" dirty="0" smtClean="0"/>
              <a:t>slave, </a:t>
            </a:r>
            <a:r>
              <a:rPr lang="en-US" dirty="0" smtClean="0"/>
              <a:t>the slave device of that </a:t>
            </a:r>
            <a:r>
              <a:rPr lang="en-US" dirty="0" smtClean="0"/>
              <a:t>particular address </a:t>
            </a:r>
            <a:r>
              <a:rPr lang="en-US" dirty="0" smtClean="0"/>
              <a:t>responds at time </a:t>
            </a:r>
            <a:r>
              <a:rPr lang="en-US" i="1" dirty="0" smtClean="0"/>
              <a:t>t1.</a:t>
            </a:r>
          </a:p>
          <a:p>
            <a:endParaRPr lang="en-US" i="1" dirty="0" smtClean="0"/>
          </a:p>
          <a:p>
            <a:r>
              <a:rPr lang="en-US" dirty="0" smtClean="0"/>
              <a:t>The </a:t>
            </a:r>
            <a:r>
              <a:rPr lang="en-US" dirty="0" smtClean="0"/>
              <a:t>addressed slave device places the required input data on the data line at </a:t>
            </a:r>
            <a:r>
              <a:rPr lang="en-US" dirty="0" smtClean="0"/>
              <a:t>time.</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Synchronous Bus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At the end of the clock cycle, at time t2, the master strobes the data on the data lines into its input buffer. </a:t>
            </a:r>
            <a:endParaRPr lang="en-US" dirty="0" smtClean="0"/>
          </a:p>
          <a:p>
            <a:endParaRPr lang="en-US" dirty="0" smtClean="0"/>
          </a:p>
          <a:p>
            <a:r>
              <a:rPr lang="en-US" dirty="0" smtClean="0"/>
              <a:t>The period </a:t>
            </a:r>
            <a:r>
              <a:rPr lang="en-US" dirty="0" smtClean="0"/>
              <a:t>t2- t1 must be greater than the maximum propagation delay on the bus plus the set up time of the input </a:t>
            </a:r>
            <a:r>
              <a:rPr lang="en-US" dirty="0" smtClean="0"/>
              <a:t>buffer register </a:t>
            </a:r>
            <a:r>
              <a:rPr lang="en-US" dirty="0" smtClean="0"/>
              <a:t>of the master.</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Synchronous Bus :</a:t>
            </a:r>
            <a:br>
              <a:rPr lang="en-US" dirty="0" smtClean="0"/>
            </a:br>
            <a:endParaRPr lang="en-US" dirty="0"/>
          </a:p>
        </p:txBody>
      </p:sp>
      <p:sp>
        <p:nvSpPr>
          <p:cNvPr id="3" name="Content Placeholder 2"/>
          <p:cNvSpPr>
            <a:spLocks noGrp="1"/>
          </p:cNvSpPr>
          <p:nvPr>
            <p:ph idx="1"/>
          </p:nvPr>
        </p:nvSpPr>
        <p:spPr>
          <a:xfrm>
            <a:off x="457200" y="1295400"/>
            <a:ext cx="7239000" cy="5160336"/>
          </a:xfrm>
        </p:spPr>
        <p:txBody>
          <a:bodyPr>
            <a:normAutofit/>
          </a:bodyPr>
          <a:lstStyle/>
          <a:p>
            <a:r>
              <a:rPr lang="en-US" dirty="0" smtClean="0"/>
              <a:t>A similar procedure is followed for an output operation. The master places the output data on the data lines when it transmits the address and command information. </a:t>
            </a:r>
            <a:endParaRPr lang="en-US" dirty="0" smtClean="0"/>
          </a:p>
          <a:p>
            <a:endParaRPr lang="en-US" dirty="0" smtClean="0"/>
          </a:p>
          <a:p>
            <a:r>
              <a:rPr lang="en-US" dirty="0" smtClean="0"/>
              <a:t>At </a:t>
            </a:r>
            <a:r>
              <a:rPr lang="en-US" dirty="0" smtClean="0"/>
              <a:t>time t2, the addressed device strobe the data lines and load </a:t>
            </a:r>
            <a:r>
              <a:rPr lang="en-US" dirty="0" smtClean="0"/>
              <a:t>the data </a:t>
            </a:r>
            <a:r>
              <a:rPr lang="en-US" dirty="0" smtClean="0"/>
              <a:t>into its data buffer.</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Multiple Cycle </a:t>
            </a:r>
            <a:r>
              <a:rPr lang="en-US" dirty="0" smtClean="0"/>
              <a:t>Transfer :</a:t>
            </a:r>
            <a:r>
              <a:rPr lang="en-US" dirty="0" smtClean="0"/>
              <a:t/>
            </a:r>
            <a:br>
              <a:rPr lang="en-US" dirty="0" smtClean="0"/>
            </a:br>
            <a:endParaRPr lang="en-US" dirty="0"/>
          </a:p>
        </p:txBody>
      </p:sp>
      <p:sp>
        <p:nvSpPr>
          <p:cNvPr id="3" name="Content Placeholder 2"/>
          <p:cNvSpPr>
            <a:spLocks noGrp="1"/>
          </p:cNvSpPr>
          <p:nvPr>
            <p:ph idx="1"/>
          </p:nvPr>
        </p:nvSpPr>
        <p:spPr>
          <a:xfrm>
            <a:off x="457200" y="1219200"/>
            <a:ext cx="7239000" cy="5236536"/>
          </a:xfrm>
        </p:spPr>
        <p:txBody>
          <a:bodyPr>
            <a:normAutofit/>
          </a:bodyPr>
          <a:lstStyle/>
          <a:p>
            <a:r>
              <a:rPr lang="en-US" dirty="0" smtClean="0"/>
              <a:t>The </a:t>
            </a:r>
            <a:r>
              <a:rPr lang="en-US" dirty="0" smtClean="0"/>
              <a:t>simple design of device interface by synchronous bus has some limitations</a:t>
            </a:r>
            <a:r>
              <a:rPr lang="en-US" dirty="0" smtClean="0"/>
              <a:t>.</a:t>
            </a:r>
          </a:p>
          <a:p>
            <a:endParaRPr lang="en-US" dirty="0" smtClean="0"/>
          </a:p>
          <a:p>
            <a:r>
              <a:rPr lang="en-US" dirty="0" smtClean="0"/>
              <a:t>A </a:t>
            </a:r>
            <a:r>
              <a:rPr lang="en-US" dirty="0" smtClean="0"/>
              <a:t>transfer has to be completed within one clock cycle. The clock period, must be long enough to </a:t>
            </a:r>
            <a:r>
              <a:rPr lang="en-US" dirty="0" smtClean="0"/>
              <a:t>accommodate the </a:t>
            </a:r>
            <a:r>
              <a:rPr lang="en-US" dirty="0" smtClean="0"/>
              <a:t>slowest device to interface. </a:t>
            </a:r>
            <a:endParaRPr lang="en-US" dirty="0" smtClean="0"/>
          </a:p>
          <a:p>
            <a:endParaRPr lang="en-US" dirty="0" smtClean="0"/>
          </a:p>
          <a:p>
            <a:r>
              <a:rPr lang="en-US" dirty="0" smtClean="0"/>
              <a:t>This </a:t>
            </a:r>
            <a:r>
              <a:rPr lang="en-US" dirty="0" smtClean="0"/>
              <a:t>forces all devices to operate at the speed of slowest device</a:t>
            </a:r>
            <a:r>
              <a:rPr lang="en-US" dirty="0" smtClean="0"/>
              <a:t>.</a:t>
            </a:r>
            <a:endParaRPr lang="en-US"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Multiple Cycle Transfer :</a:t>
            </a:r>
            <a:br>
              <a:rPr lang="en-US" dirty="0" smtClean="0"/>
            </a:br>
            <a:endParaRPr lang="en-US" dirty="0"/>
          </a:p>
        </p:txBody>
      </p:sp>
      <p:sp>
        <p:nvSpPr>
          <p:cNvPr id="3" name="Content Placeholder 2"/>
          <p:cNvSpPr>
            <a:spLocks noGrp="1"/>
          </p:cNvSpPr>
          <p:nvPr>
            <p:ph idx="1"/>
          </p:nvPr>
        </p:nvSpPr>
        <p:spPr>
          <a:xfrm>
            <a:off x="457200" y="1219200"/>
            <a:ext cx="7239000" cy="5236536"/>
          </a:xfrm>
        </p:spPr>
        <p:txBody>
          <a:bodyPr/>
          <a:lstStyle/>
          <a:p>
            <a:r>
              <a:rPr lang="en-US" dirty="0" smtClean="0"/>
              <a:t>The processor or the master has no way to determine whether the addressed device has actually responded. </a:t>
            </a:r>
            <a:endParaRPr lang="en-US" dirty="0" smtClean="0"/>
          </a:p>
          <a:p>
            <a:endParaRPr lang="en-US" dirty="0" smtClean="0"/>
          </a:p>
          <a:p>
            <a:r>
              <a:rPr lang="en-US" dirty="0" smtClean="0"/>
              <a:t>It simply </a:t>
            </a:r>
            <a:r>
              <a:rPr lang="en-US" dirty="0" smtClean="0"/>
              <a:t>assumes that, the output data have been received by the device or the input data are available on </a:t>
            </a:r>
            <a:r>
              <a:rPr lang="en-US" dirty="0" smtClean="0"/>
              <a:t>the data </a:t>
            </a:r>
            <a:r>
              <a:rPr lang="en-US" dirty="0" smtClean="0"/>
              <a:t>lines</a:t>
            </a:r>
            <a:r>
              <a:rPr lang="en-US" dirty="0" smtClean="0"/>
              <a:t>.</a:t>
            </a:r>
          </a:p>
          <a:p>
            <a:endParaRPr lang="en-US" i="1" dirty="0" smtClean="0"/>
          </a:p>
          <a:p>
            <a:r>
              <a:rPr lang="en-US" dirty="0" smtClean="0"/>
              <a:t>To solve these problems, most buses incorporate control signals that represent a response from the device.</a:t>
            </a:r>
            <a:endParaRPr lang="en-US" i="1" dirty="0" smtClean="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Multiple Cycle Transfer :</a:t>
            </a:r>
            <a:br>
              <a:rPr lang="en-US" dirty="0" smtClean="0"/>
            </a:br>
            <a:endParaRPr lang="en-US" dirty="0"/>
          </a:p>
        </p:txBody>
      </p:sp>
      <p:sp>
        <p:nvSpPr>
          <p:cNvPr id="3" name="Content Placeholder 2"/>
          <p:cNvSpPr>
            <a:spLocks noGrp="1"/>
          </p:cNvSpPr>
          <p:nvPr>
            <p:ph idx="1"/>
          </p:nvPr>
        </p:nvSpPr>
        <p:spPr>
          <a:xfrm>
            <a:off x="457200" y="1219200"/>
            <a:ext cx="7239000" cy="5638800"/>
          </a:xfrm>
        </p:spPr>
        <p:txBody>
          <a:bodyPr>
            <a:normAutofit lnSpcReduction="10000"/>
          </a:bodyPr>
          <a:lstStyle/>
          <a:p>
            <a:r>
              <a:rPr lang="en-US" dirty="0" smtClean="0"/>
              <a:t>These signals </a:t>
            </a:r>
            <a:r>
              <a:rPr lang="en-US" dirty="0" smtClean="0"/>
              <a:t>inform the master that the target device has recognized its address and it is ready to participate in the </a:t>
            </a:r>
            <a:r>
              <a:rPr lang="en-US" dirty="0" smtClean="0"/>
              <a:t>data transfer </a:t>
            </a:r>
            <a:r>
              <a:rPr lang="en-US" dirty="0" smtClean="0"/>
              <a:t>operation</a:t>
            </a:r>
            <a:r>
              <a:rPr lang="en-US" dirty="0" smtClean="0"/>
              <a:t>.</a:t>
            </a:r>
          </a:p>
          <a:p>
            <a:endParaRPr lang="en-US" dirty="0" smtClean="0"/>
          </a:p>
          <a:p>
            <a:r>
              <a:rPr lang="en-US" dirty="0" smtClean="0"/>
              <a:t>They also adjust the duration of the data transfer period to suit the needs of the participating devices</a:t>
            </a:r>
            <a:r>
              <a:rPr lang="en-US" dirty="0" smtClean="0"/>
              <a:t>.</a:t>
            </a:r>
          </a:p>
          <a:p>
            <a:endParaRPr lang="en-US" dirty="0" smtClean="0"/>
          </a:p>
          <a:p>
            <a:r>
              <a:rPr lang="en-US" dirty="0" smtClean="0"/>
              <a:t>A high frequency clock pulse is used so that a complete data transfer operation span over several clock cycles. </a:t>
            </a:r>
            <a:r>
              <a:rPr lang="en-US" dirty="0" smtClean="0"/>
              <a:t>The numbers </a:t>
            </a:r>
            <a:r>
              <a:rPr lang="en-US" dirty="0" smtClean="0"/>
              <a:t>of clock cycles involved can vary from device to </a:t>
            </a:r>
            <a:r>
              <a:rPr lang="en-US" dirty="0" smtClean="0"/>
              <a:t>device.</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04800" y="304800"/>
            <a:ext cx="7620000" cy="5715000"/>
          </a:xfrm>
          <a:prstGeom prst="rect">
            <a:avLst/>
          </a:prstGeom>
          <a:noFill/>
          <a:ln w="9525">
            <a:noFill/>
            <a:miter lim="800000"/>
            <a:headEnd/>
            <a:tailEnd/>
          </a:ln>
          <a:effectLst/>
        </p:spPr>
      </p:pic>
      <p:sp>
        <p:nvSpPr>
          <p:cNvPr id="5" name="Rectangle 4"/>
          <p:cNvSpPr/>
          <p:nvPr/>
        </p:nvSpPr>
        <p:spPr>
          <a:xfrm>
            <a:off x="1600200" y="5410200"/>
            <a:ext cx="5257800" cy="369332"/>
          </a:xfrm>
          <a:prstGeom prst="rect">
            <a:avLst/>
          </a:prstGeom>
        </p:spPr>
        <p:txBody>
          <a:bodyPr wrap="square">
            <a:spAutoFit/>
          </a:bodyPr>
          <a:lstStyle/>
          <a:p>
            <a:r>
              <a:rPr lang="en-US" b="1" dirty="0" smtClean="0"/>
              <a:t>An input transfer using multiple clock cycle</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In </a:t>
            </a:r>
            <a:r>
              <a:rPr lang="en-US" i="1" dirty="0" smtClean="0"/>
              <a:t>clock cycle 1, the master sends address and command on the bus requesting a read operation</a:t>
            </a:r>
            <a:r>
              <a:rPr lang="en-US" i="1" dirty="0" smtClean="0"/>
              <a:t>.</a:t>
            </a:r>
          </a:p>
          <a:p>
            <a:endParaRPr lang="en-US" i="1" dirty="0" smtClean="0"/>
          </a:p>
          <a:p>
            <a:r>
              <a:rPr lang="en-US" dirty="0" smtClean="0"/>
              <a:t>The target device responded at </a:t>
            </a:r>
            <a:r>
              <a:rPr lang="en-US" i="1" dirty="0" smtClean="0"/>
              <a:t>clock cycle 3 by indicating that it is ready to participate in the data transfer </a:t>
            </a:r>
            <a:r>
              <a:rPr lang="en-US" i="1" dirty="0" smtClean="0"/>
              <a:t>by </a:t>
            </a:r>
            <a:r>
              <a:rPr lang="en-US" dirty="0" smtClean="0"/>
              <a:t>making </a:t>
            </a:r>
            <a:r>
              <a:rPr lang="en-US" dirty="0" smtClean="0"/>
              <a:t>the slave ready signal high</a:t>
            </a:r>
            <a:r>
              <a:rPr lang="en-US" dirty="0" smtClean="0"/>
              <a:t>.</a:t>
            </a:r>
          </a:p>
          <a:p>
            <a:endParaRPr lang="en-US" dirty="0" smtClean="0"/>
          </a:p>
          <a:p>
            <a:r>
              <a:rPr lang="en-US" dirty="0" smtClean="0"/>
              <a:t>Then the target device places the data on the data line</a:t>
            </a:r>
            <a:r>
              <a:rPr lang="en-US" dirty="0" smtClean="0"/>
              <a:t>.</a:t>
            </a:r>
            <a:endParaRPr lang="en-US"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Multiple Cycle Transfer :</a:t>
            </a:r>
            <a:br>
              <a:rPr lang="en-US" dirty="0" smtClean="0"/>
            </a:br>
            <a:endParaRPr lang="en-US" dirty="0"/>
          </a:p>
        </p:txBody>
      </p:sp>
      <p:sp>
        <p:nvSpPr>
          <p:cNvPr id="3" name="Content Placeholder 2"/>
          <p:cNvSpPr>
            <a:spLocks noGrp="1"/>
          </p:cNvSpPr>
          <p:nvPr>
            <p:ph idx="1"/>
          </p:nvPr>
        </p:nvSpPr>
        <p:spPr>
          <a:xfrm>
            <a:off x="457200" y="1219200"/>
            <a:ext cx="7239000" cy="5236536"/>
          </a:xfrm>
        </p:spPr>
        <p:txBody>
          <a:bodyPr>
            <a:normAutofit fontScale="92500" lnSpcReduction="10000"/>
          </a:bodyPr>
          <a:lstStyle/>
          <a:p>
            <a:r>
              <a:rPr lang="en-US" dirty="0" smtClean="0"/>
              <a:t>The target device is a slower device and it needs two clock cycle to transfer the information. </a:t>
            </a:r>
            <a:endParaRPr lang="en-US" dirty="0" smtClean="0"/>
          </a:p>
          <a:p>
            <a:endParaRPr lang="en-US" dirty="0" smtClean="0"/>
          </a:p>
          <a:p>
            <a:r>
              <a:rPr lang="en-US" dirty="0" smtClean="0"/>
              <a:t>After </a:t>
            </a:r>
            <a:r>
              <a:rPr lang="en-US" dirty="0" smtClean="0"/>
              <a:t>two </a:t>
            </a:r>
            <a:r>
              <a:rPr lang="en-US" dirty="0" smtClean="0"/>
              <a:t>clock cycle</a:t>
            </a:r>
            <a:r>
              <a:rPr lang="en-US" dirty="0" smtClean="0"/>
              <a:t>, that is at </a:t>
            </a:r>
            <a:r>
              <a:rPr lang="en-US" i="1" dirty="0" smtClean="0"/>
              <a:t>clock cycle 5, it pulls down the slave ready signal down</a:t>
            </a:r>
            <a:r>
              <a:rPr lang="en-US" i="1" dirty="0" smtClean="0"/>
              <a:t>.</a:t>
            </a:r>
          </a:p>
          <a:p>
            <a:endParaRPr lang="en-US" i="1" dirty="0" smtClean="0"/>
          </a:p>
          <a:p>
            <a:r>
              <a:rPr lang="en-US" dirty="0" smtClean="0"/>
              <a:t>When the slave ready signal goes down, the master strobes the data from the data bus into its input buffer</a:t>
            </a:r>
            <a:r>
              <a:rPr lang="en-US" dirty="0" smtClean="0"/>
              <a:t>.</a:t>
            </a:r>
          </a:p>
          <a:p>
            <a:endParaRPr lang="en-US" dirty="0" smtClean="0"/>
          </a:p>
          <a:p>
            <a:r>
              <a:rPr lang="en-US" dirty="0" smtClean="0"/>
              <a:t>If the addressed device does not respond at all, the master waits for some predefined maximum number </a:t>
            </a:r>
            <a:r>
              <a:rPr lang="en-US" dirty="0" smtClean="0"/>
              <a:t>of clock </a:t>
            </a:r>
            <a:r>
              <a:rPr lang="en-US" dirty="0" smtClean="0"/>
              <a:t>cycles, then aborts the operation.</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Asynchronous Bus</a:t>
            </a:r>
            <a:br>
              <a:rPr lang="en-US" dirty="0" smtClean="0"/>
            </a:br>
            <a:endParaRPr lang="en-US" dirty="0"/>
          </a:p>
        </p:txBody>
      </p:sp>
      <p:sp>
        <p:nvSpPr>
          <p:cNvPr id="3" name="Content Placeholder 2"/>
          <p:cNvSpPr>
            <a:spLocks noGrp="1"/>
          </p:cNvSpPr>
          <p:nvPr>
            <p:ph idx="1"/>
          </p:nvPr>
        </p:nvSpPr>
        <p:spPr>
          <a:xfrm>
            <a:off x="457200" y="1143000"/>
            <a:ext cx="7239000" cy="5312736"/>
          </a:xfrm>
        </p:spPr>
        <p:txBody>
          <a:bodyPr>
            <a:normAutofit lnSpcReduction="10000"/>
          </a:bodyPr>
          <a:lstStyle/>
          <a:p>
            <a:r>
              <a:rPr lang="en-US" dirty="0" smtClean="0"/>
              <a:t>In </a:t>
            </a:r>
            <a:r>
              <a:rPr lang="en-US" dirty="0" smtClean="0"/>
              <a:t>asynchronous mode of transfer, a </a:t>
            </a:r>
            <a:r>
              <a:rPr lang="en-US" i="1" dirty="0" smtClean="0"/>
              <a:t>handshake signal is used between master and slave</a:t>
            </a:r>
            <a:r>
              <a:rPr lang="en-US" i="1" dirty="0" smtClean="0"/>
              <a:t>.</a:t>
            </a:r>
          </a:p>
          <a:p>
            <a:endParaRPr lang="en-US" i="1" dirty="0" smtClean="0"/>
          </a:p>
          <a:p>
            <a:r>
              <a:rPr lang="en-US" dirty="0" smtClean="0"/>
              <a:t>In </a:t>
            </a:r>
            <a:r>
              <a:rPr lang="en-US" i="1" dirty="0" smtClean="0"/>
              <a:t>asynchronous bus, there is no common clock, and the common clock signal is replaced by two </a:t>
            </a:r>
            <a:r>
              <a:rPr lang="en-US" i="1" dirty="0" smtClean="0"/>
              <a:t>timing </a:t>
            </a:r>
            <a:r>
              <a:rPr lang="en-US" dirty="0" smtClean="0"/>
              <a:t>control </a:t>
            </a:r>
            <a:r>
              <a:rPr lang="en-US" dirty="0" smtClean="0"/>
              <a:t>signals: </a:t>
            </a:r>
            <a:r>
              <a:rPr lang="en-US" i="1" dirty="0" smtClean="0"/>
              <a:t>master-ready and slave-ready</a:t>
            </a:r>
            <a:r>
              <a:rPr lang="en-US" i="1" dirty="0" smtClean="0"/>
              <a:t>.</a:t>
            </a:r>
          </a:p>
          <a:p>
            <a:endParaRPr lang="en-US" i="1" dirty="0" smtClean="0"/>
          </a:p>
          <a:p>
            <a:r>
              <a:rPr lang="en-US" dirty="0" smtClean="0"/>
              <a:t>Master-ready signal is assured by the master to indicate that it is ready for a transaction, and </a:t>
            </a:r>
            <a:r>
              <a:rPr lang="en-US" dirty="0" err="1" smtClean="0"/>
              <a:t>slaveready</a:t>
            </a:r>
            <a:r>
              <a:rPr lang="en-US" dirty="0" smtClean="0"/>
              <a:t> signal </a:t>
            </a:r>
            <a:r>
              <a:rPr lang="en-US" dirty="0" smtClean="0"/>
              <a:t>is a response from the slave</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Asynchronous Bus</a:t>
            </a:r>
            <a:br>
              <a:rPr lang="en-US" dirty="0" smtClean="0"/>
            </a:br>
            <a:endParaRPr lang="en-US" dirty="0"/>
          </a:p>
        </p:txBody>
      </p:sp>
      <p:sp>
        <p:nvSpPr>
          <p:cNvPr id="3" name="Content Placeholder 2"/>
          <p:cNvSpPr>
            <a:spLocks noGrp="1"/>
          </p:cNvSpPr>
          <p:nvPr>
            <p:ph idx="1"/>
          </p:nvPr>
        </p:nvSpPr>
        <p:spPr>
          <a:xfrm>
            <a:off x="457200" y="1219200"/>
            <a:ext cx="7239000" cy="5236536"/>
          </a:xfrm>
        </p:spPr>
        <p:txBody>
          <a:bodyPr>
            <a:normAutofit/>
          </a:bodyPr>
          <a:lstStyle/>
          <a:p>
            <a:pPr>
              <a:buNone/>
            </a:pPr>
            <a:r>
              <a:rPr lang="en-US" dirty="0" smtClean="0"/>
              <a:t>The handshaking protocol proceeds as follows:</a:t>
            </a:r>
          </a:p>
          <a:p>
            <a:r>
              <a:rPr lang="en-US" dirty="0" smtClean="0"/>
              <a:t>The </a:t>
            </a:r>
            <a:r>
              <a:rPr lang="en-US" dirty="0" smtClean="0"/>
              <a:t>master places the address and command information on the bus</a:t>
            </a:r>
            <a:r>
              <a:rPr lang="en-US" dirty="0" smtClean="0"/>
              <a:t>.</a:t>
            </a:r>
          </a:p>
          <a:p>
            <a:endParaRPr lang="en-US" dirty="0" smtClean="0"/>
          </a:p>
          <a:p>
            <a:r>
              <a:rPr lang="en-US" dirty="0" smtClean="0"/>
              <a:t> </a:t>
            </a:r>
            <a:r>
              <a:rPr lang="en-US" dirty="0" smtClean="0"/>
              <a:t>Then it indicates to all devices that it </a:t>
            </a:r>
            <a:r>
              <a:rPr lang="en-US" dirty="0" smtClean="0"/>
              <a:t>has done </a:t>
            </a:r>
            <a:r>
              <a:rPr lang="en-US" dirty="0" smtClean="0"/>
              <a:t>so by activating the master-ready signal</a:t>
            </a:r>
            <a:r>
              <a:rPr lang="en-US" dirty="0" smtClean="0"/>
              <a:t>.</a:t>
            </a:r>
          </a:p>
          <a:p>
            <a:endParaRPr lang="en-US" dirty="0" smtClean="0"/>
          </a:p>
          <a:p>
            <a:r>
              <a:rPr lang="en-US" dirty="0" smtClean="0"/>
              <a:t>This </a:t>
            </a:r>
            <a:r>
              <a:rPr lang="en-US" dirty="0" smtClean="0"/>
              <a:t>causes all devices on the bus to decode the address</a:t>
            </a:r>
            <a:r>
              <a:rPr lang="en-US" dirty="0" smtClean="0"/>
              <a:t>.</a:t>
            </a:r>
            <a:endParaRPr lang="en-US"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Asynchronous Bus</a:t>
            </a:r>
            <a:br>
              <a:rPr lang="en-US" dirty="0" smtClean="0"/>
            </a:br>
            <a:endParaRPr lang="en-US" dirty="0"/>
          </a:p>
        </p:txBody>
      </p:sp>
      <p:sp>
        <p:nvSpPr>
          <p:cNvPr id="3" name="Content Placeholder 2"/>
          <p:cNvSpPr>
            <a:spLocks noGrp="1"/>
          </p:cNvSpPr>
          <p:nvPr>
            <p:ph idx="1"/>
          </p:nvPr>
        </p:nvSpPr>
        <p:spPr>
          <a:xfrm>
            <a:off x="457200" y="1219200"/>
            <a:ext cx="7543800" cy="5236536"/>
          </a:xfrm>
        </p:spPr>
        <p:txBody>
          <a:bodyPr>
            <a:normAutofit lnSpcReduction="10000"/>
          </a:bodyPr>
          <a:lstStyle/>
          <a:p>
            <a:r>
              <a:rPr lang="en-US" dirty="0" smtClean="0"/>
              <a:t>The selected target device performs the required operation and inform the processor (or master) by activating the slave-ready line</a:t>
            </a:r>
            <a:r>
              <a:rPr lang="en-US" dirty="0" smtClean="0"/>
              <a:t>.</a:t>
            </a:r>
          </a:p>
          <a:p>
            <a:endParaRPr lang="en-US" dirty="0" smtClean="0"/>
          </a:p>
          <a:p>
            <a:r>
              <a:rPr lang="en-US" dirty="0" smtClean="0"/>
              <a:t>The master waits for slave-ready to become asserted before it remove its signals from the bus</a:t>
            </a:r>
            <a:r>
              <a:rPr lang="en-US" dirty="0" smtClean="0"/>
              <a:t>.</a:t>
            </a:r>
          </a:p>
          <a:p>
            <a:endParaRPr lang="en-US" dirty="0" smtClean="0"/>
          </a:p>
          <a:p>
            <a:r>
              <a:rPr lang="en-US" dirty="0" smtClean="0"/>
              <a:t>In case of a read operation, it also strobes the data into its input buffer</a:t>
            </a:r>
            <a:r>
              <a:rPr lang="en-US" dirty="0" smtClean="0"/>
              <a:t>.</a:t>
            </a:r>
          </a:p>
          <a:p>
            <a:endParaRPr lang="en-US" dirty="0" smtClean="0"/>
          </a:p>
          <a:p>
            <a:r>
              <a:rPr lang="en-US" dirty="0" smtClean="0"/>
              <a:t>The timing of an input data transfer using the handshake scheme is shown in the figure.</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81000" y="609600"/>
            <a:ext cx="7696200" cy="5257800"/>
          </a:xfrm>
          <a:prstGeom prst="rect">
            <a:avLst/>
          </a:prstGeom>
          <a:noFill/>
          <a:ln w="9525">
            <a:noFill/>
            <a:miter lim="800000"/>
            <a:headEnd/>
            <a:tailEnd/>
          </a:ln>
          <a:effectLst/>
        </p:spPr>
      </p:pic>
      <p:sp>
        <p:nvSpPr>
          <p:cNvPr id="5" name="Rectangle 4"/>
          <p:cNvSpPr/>
          <p:nvPr/>
        </p:nvSpPr>
        <p:spPr>
          <a:xfrm>
            <a:off x="609600" y="6096000"/>
            <a:ext cx="7467600" cy="369332"/>
          </a:xfrm>
          <a:prstGeom prst="rect">
            <a:avLst/>
          </a:prstGeom>
        </p:spPr>
        <p:txBody>
          <a:bodyPr wrap="square">
            <a:spAutoFit/>
          </a:bodyPr>
          <a:lstStyle/>
          <a:p>
            <a:r>
              <a:rPr lang="en-US" b="1" dirty="0" smtClean="0"/>
              <a:t>Handshake control of data transfer during an input operation</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228600" y="1295400"/>
            <a:ext cx="7848600" cy="4724400"/>
          </a:xfrm>
          <a:prstGeom prst="rect">
            <a:avLst/>
          </a:prstGeom>
          <a:noFill/>
          <a:ln w="9525">
            <a:noFill/>
            <a:miter lim="800000"/>
            <a:headEnd/>
            <a:tailEnd/>
          </a:ln>
          <a:effectLst/>
        </p:spPr>
      </p:pic>
      <p:sp>
        <p:nvSpPr>
          <p:cNvPr id="3" name="Rectangle 2"/>
          <p:cNvSpPr/>
          <p:nvPr/>
        </p:nvSpPr>
        <p:spPr>
          <a:xfrm>
            <a:off x="381000" y="381000"/>
            <a:ext cx="7543800" cy="646331"/>
          </a:xfrm>
          <a:prstGeom prst="rect">
            <a:avLst/>
          </a:prstGeom>
        </p:spPr>
        <p:txBody>
          <a:bodyPr wrap="square">
            <a:spAutoFit/>
          </a:bodyPr>
          <a:lstStyle/>
          <a:p>
            <a:r>
              <a:rPr lang="en-US" b="1" dirty="0" smtClean="0"/>
              <a:t>The timing of an output operation using handshaking scheme is shown in the figure.</a:t>
            </a:r>
            <a:endParaRPr lang="en-US" b="1" dirty="0"/>
          </a:p>
        </p:txBody>
      </p:sp>
      <p:sp>
        <p:nvSpPr>
          <p:cNvPr id="4" name="Rectangle 3"/>
          <p:cNvSpPr/>
          <p:nvPr/>
        </p:nvSpPr>
        <p:spPr>
          <a:xfrm>
            <a:off x="381000" y="6248400"/>
            <a:ext cx="7543800" cy="369332"/>
          </a:xfrm>
          <a:prstGeom prst="rect">
            <a:avLst/>
          </a:prstGeom>
        </p:spPr>
        <p:txBody>
          <a:bodyPr wrap="square">
            <a:spAutoFit/>
          </a:bodyPr>
          <a:lstStyle/>
          <a:p>
            <a:r>
              <a:rPr lang="en-US" b="1" dirty="0" smtClean="0"/>
              <a:t>Handshake control of data transfer during an output operation</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nu Chanti\Desktop\Thank you.jpg"/>
          <p:cNvPicPr>
            <a:picLocks noChangeAspect="1" noChangeArrowheads="1"/>
          </p:cNvPicPr>
          <p:nvPr/>
        </p:nvPicPr>
        <p:blipFill>
          <a:blip r:embed="rId2" cstate="print"/>
          <a:srcRect/>
          <a:stretch>
            <a:fillRect/>
          </a:stretch>
        </p:blipFill>
        <p:spPr bwMode="auto">
          <a:xfrm>
            <a:off x="533401" y="762000"/>
            <a:ext cx="7391400" cy="556260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70</TotalTime>
  <Words>1143</Words>
  <Application>Microsoft Office PowerPoint</Application>
  <PresentationFormat>On-screen Show (4:3)</PresentationFormat>
  <Paragraphs>112</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Opulent</vt:lpstr>
      <vt:lpstr>I/O BUSES</vt:lpstr>
      <vt:lpstr>WHAT IS A BUS ?</vt:lpstr>
      <vt:lpstr>I/O Buses :</vt:lpstr>
      <vt:lpstr>Types of io buses :</vt:lpstr>
      <vt:lpstr>Synchronous Bus : </vt:lpstr>
      <vt:lpstr>Synchronous Bus : </vt:lpstr>
      <vt:lpstr>Synchronous Bus :</vt:lpstr>
      <vt:lpstr>Synchronous Bus : </vt:lpstr>
      <vt:lpstr>Synchronous Bus : </vt:lpstr>
      <vt:lpstr>Synchronous Bus : </vt:lpstr>
      <vt:lpstr>Synchronous Bus : </vt:lpstr>
      <vt:lpstr>Multiple Cycle Transfer : </vt:lpstr>
      <vt:lpstr>Multiple Cycle Transfer : </vt:lpstr>
      <vt:lpstr>Multiple Cycle Transfer : </vt:lpstr>
      <vt:lpstr>Slide 15</vt:lpstr>
      <vt:lpstr>Slide 16</vt:lpstr>
      <vt:lpstr>Multiple Cycle Transfer : </vt:lpstr>
      <vt:lpstr>Asynchronous Bus </vt:lpstr>
      <vt:lpstr>Asynchronous Bus </vt:lpstr>
      <vt:lpstr>Asynchronous Bus </vt:lpstr>
      <vt:lpstr>Slide 21</vt:lpstr>
      <vt:lpstr>Slide 22</vt:lpstr>
      <vt:lpstr>Slide 23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 BUSES</dc:title>
  <dc:creator>RGUKT</dc:creator>
  <cp:lastModifiedBy>RGUKT</cp:lastModifiedBy>
  <cp:revision>24</cp:revision>
  <dcterms:created xsi:type="dcterms:W3CDTF">2006-08-16T00:00:00Z</dcterms:created>
  <dcterms:modified xsi:type="dcterms:W3CDTF">2022-08-05T00:57:37Z</dcterms:modified>
</cp:coreProperties>
</file>