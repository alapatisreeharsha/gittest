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4" r:id="rId3"/>
    <p:sldId id="265" r:id="rId4"/>
    <p:sldId id="257" r:id="rId5"/>
    <p:sldId id="267" r:id="rId6"/>
    <p:sldId id="258" r:id="rId7"/>
    <p:sldId id="259" r:id="rId8"/>
    <p:sldId id="270" r:id="rId9"/>
    <p:sldId id="260" r:id="rId10"/>
    <p:sldId id="261" r:id="rId11"/>
    <p:sldId id="262" r:id="rId12"/>
    <p:sldId id="266" r:id="rId13"/>
    <p:sldId id="271" r:id="rId14"/>
    <p:sldId id="273" r:id="rId15"/>
    <p:sldId id="263" r:id="rId16"/>
    <p:sldId id="268" r:id="rId17"/>
    <p:sldId id="269" r:id="rId18"/>
    <p:sldId id="272"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013"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9D537973-3B5D-4D16-B21B-7FB1E106B813}" type="datetimeFigureOut">
              <a:rPr lang="en-US" smtClean="0"/>
              <a:t>4/2/2024</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C2745C9F-105A-4873-BE95-2F1FE2EBF720}"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00704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537973-3B5D-4D16-B21B-7FB1E106B813}" type="datetimeFigureOut">
              <a:rPr lang="en-US" smtClean="0"/>
              <a:t>4/2/2024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745C9F-105A-4873-BE95-2F1FE2EBF720}" type="slidenum">
              <a:rPr lang="en-US" smtClean="0"/>
              <a:t>‹#›</a:t>
            </a:fld>
            <a:endParaRPr lang="en-US"/>
          </a:p>
        </p:txBody>
      </p:sp>
    </p:spTree>
    <p:extLst>
      <p:ext uri="{BB962C8B-B14F-4D97-AF65-F5344CB8AC3E}">
        <p14:creationId xmlns:p14="http://schemas.microsoft.com/office/powerpoint/2010/main" val="1338559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537973-3B5D-4D16-B21B-7FB1E106B813}" type="datetimeFigureOut">
              <a:rPr lang="en-US" smtClean="0"/>
              <a:t>4/2/2024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745C9F-105A-4873-BE95-2F1FE2EBF720}"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67992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D537973-3B5D-4D16-B21B-7FB1E106B813}" type="datetimeFigureOut">
              <a:rPr lang="en-US" smtClean="0"/>
              <a:t>4/2/2024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745C9F-105A-4873-BE95-2F1FE2EBF720}" type="slidenum">
              <a:rPr lang="en-US" smtClean="0"/>
              <a:t>‹#›</a:t>
            </a:fld>
            <a:endParaRPr lang="en-US"/>
          </a:p>
        </p:txBody>
      </p:sp>
    </p:spTree>
    <p:extLst>
      <p:ext uri="{BB962C8B-B14F-4D97-AF65-F5344CB8AC3E}">
        <p14:creationId xmlns:p14="http://schemas.microsoft.com/office/powerpoint/2010/main" val="32580736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D537973-3B5D-4D16-B21B-7FB1E106B813}" type="datetimeFigureOut">
              <a:rPr lang="en-US" smtClean="0"/>
              <a:t>4/2/2024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2745C9F-105A-4873-BE95-2F1FE2EBF720}"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342120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D537973-3B5D-4D16-B21B-7FB1E106B813}" type="datetimeFigureOut">
              <a:rPr lang="en-US" smtClean="0"/>
              <a:t>4/2/2024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2745C9F-105A-4873-BE95-2F1FE2EBF720}"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561330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537973-3B5D-4D16-B21B-7FB1E106B813}" type="datetimeFigureOut">
              <a:rPr lang="en-US" smtClean="0"/>
              <a:t>4/2/2024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2745C9F-105A-4873-BE95-2F1FE2EBF720}" type="slidenum">
              <a:rPr lang="en-US" smtClean="0"/>
              <a:t>‹#›</a:t>
            </a:fld>
            <a:endParaRPr lang="en-US"/>
          </a:p>
        </p:txBody>
      </p:sp>
    </p:spTree>
    <p:extLst>
      <p:ext uri="{BB962C8B-B14F-4D97-AF65-F5344CB8AC3E}">
        <p14:creationId xmlns:p14="http://schemas.microsoft.com/office/powerpoint/2010/main" val="1517255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D537973-3B5D-4D16-B21B-7FB1E106B813}" type="datetimeFigureOut">
              <a:rPr lang="en-US" smtClean="0"/>
              <a:t>4/2/2024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745C9F-105A-4873-BE95-2F1FE2EBF720}"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18494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D537973-3B5D-4D16-B21B-7FB1E106B813}" type="datetimeFigureOut">
              <a:rPr lang="en-US" smtClean="0"/>
              <a:t>4/2/2024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745C9F-105A-4873-BE95-2F1FE2EBF720}" type="slidenum">
              <a:rPr lang="en-US" smtClean="0"/>
              <a:t>‹#›</a:t>
            </a:fld>
            <a:endParaRPr lang="en-US"/>
          </a:p>
        </p:txBody>
      </p:sp>
    </p:spTree>
    <p:extLst>
      <p:ext uri="{BB962C8B-B14F-4D97-AF65-F5344CB8AC3E}">
        <p14:creationId xmlns:p14="http://schemas.microsoft.com/office/powerpoint/2010/main" val="2962781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D537973-3B5D-4D16-B21B-7FB1E106B813}" type="datetimeFigureOut">
              <a:rPr lang="en-US" smtClean="0"/>
              <a:t>4/2/2024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2745C9F-105A-4873-BE95-2F1FE2EBF720}" type="slidenum">
              <a:rPr lang="en-US" smtClean="0"/>
              <a:t>‹#›</a:t>
            </a:fld>
            <a:endParaRPr lang="en-US"/>
          </a:p>
        </p:txBody>
      </p:sp>
    </p:spTree>
    <p:extLst>
      <p:ext uri="{BB962C8B-B14F-4D97-AF65-F5344CB8AC3E}">
        <p14:creationId xmlns:p14="http://schemas.microsoft.com/office/powerpoint/2010/main" val="16668629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537973-3B5D-4D16-B21B-7FB1E106B813}" type="datetimeFigureOut">
              <a:rPr lang="en-US" smtClean="0"/>
              <a:t>4/2/2024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745C9F-105A-4873-BE95-2F1FE2EBF720}"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860006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537973-3B5D-4D16-B21B-7FB1E106B813}" type="datetimeFigureOut">
              <a:rPr lang="en-US" smtClean="0"/>
              <a:t>4/2/2024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745C9F-105A-4873-BE95-2F1FE2EBF720}"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256599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537973-3B5D-4D16-B21B-7FB1E106B813}" type="datetimeFigureOut">
              <a:rPr lang="en-US" smtClean="0"/>
              <a:t>4/2/2024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745C9F-105A-4873-BE95-2F1FE2EBF720}" type="slidenum">
              <a:rPr lang="en-US" smtClean="0"/>
              <a:t>‹#›</a:t>
            </a:fld>
            <a:endParaRPr lang="en-US"/>
          </a:p>
        </p:txBody>
      </p:sp>
    </p:spTree>
    <p:extLst>
      <p:ext uri="{BB962C8B-B14F-4D97-AF65-F5344CB8AC3E}">
        <p14:creationId xmlns:p14="http://schemas.microsoft.com/office/powerpoint/2010/main" val="1836878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537973-3B5D-4D16-B21B-7FB1E106B813}" type="datetimeFigureOut">
              <a:rPr lang="en-US" smtClean="0"/>
              <a:t>4/2/2024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745C9F-105A-4873-BE95-2F1FE2EBF720}"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184580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537973-3B5D-4D16-B21B-7FB1E106B813}" type="datetimeFigureOut">
              <a:rPr lang="en-US" smtClean="0"/>
              <a:t>4/2/2024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745C9F-105A-4873-BE95-2F1FE2EBF720}"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312643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537973-3B5D-4D16-B21B-7FB1E106B813}" type="datetimeFigureOut">
              <a:rPr lang="en-US" smtClean="0"/>
              <a:t>4/2/2024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745C9F-105A-4873-BE95-2F1FE2EBF720}"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357972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D537973-3B5D-4D16-B21B-7FB1E106B813}" type="datetimeFigureOut">
              <a:rPr lang="en-US" smtClean="0"/>
              <a:t>4/2/2024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2745C9F-105A-4873-BE95-2F1FE2EBF720}"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658744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D537973-3B5D-4D16-B21B-7FB1E106B813}" type="datetimeFigureOut">
              <a:rPr lang="en-US" smtClean="0"/>
              <a:t>4/2/2024</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2745C9F-105A-4873-BE95-2F1FE2EBF720}" type="slidenum">
              <a:rPr lang="en-US" smtClean="0"/>
              <a:t>‹#›</a:t>
            </a:fld>
            <a:endParaRPr lang="en-US"/>
          </a:p>
        </p:txBody>
      </p:sp>
    </p:spTree>
    <p:extLst>
      <p:ext uri="{BB962C8B-B14F-4D97-AF65-F5344CB8AC3E}">
        <p14:creationId xmlns:p14="http://schemas.microsoft.com/office/powerpoint/2010/main" val="26678398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CB5EB-7061-08A8-E938-43F918354CF8}"/>
              </a:ext>
            </a:extLst>
          </p:cNvPr>
          <p:cNvSpPr>
            <a:spLocks noGrp="1"/>
          </p:cNvSpPr>
          <p:nvPr>
            <p:ph type="ctrTitle"/>
          </p:nvPr>
        </p:nvSpPr>
        <p:spPr>
          <a:xfrm>
            <a:off x="2743200" y="1537855"/>
            <a:ext cx="6764867" cy="3553690"/>
          </a:xfrm>
        </p:spPr>
        <p:txBody>
          <a:bodyPr>
            <a:normAutofit/>
          </a:bodyPr>
          <a:lstStyle/>
          <a:p>
            <a:r>
              <a:rPr lang="en-US" b="1" dirty="0">
                <a:solidFill>
                  <a:schemeClr val="accent2">
                    <a:lumMod val="50000"/>
                  </a:schemeClr>
                </a:solidFill>
                <a:latin typeface="Times New Roman" panose="02020603050405020304" pitchFamily="18" charset="0"/>
                <a:cs typeface="Times New Roman" panose="02020603050405020304" pitchFamily="18" charset="0"/>
              </a:rPr>
              <a:t>IMPLEMENTATION OF MICRO PROGRAMMED CONTROL UNIT</a:t>
            </a:r>
          </a:p>
        </p:txBody>
      </p:sp>
    </p:spTree>
    <p:extLst>
      <p:ext uri="{BB962C8B-B14F-4D97-AF65-F5344CB8AC3E}">
        <p14:creationId xmlns:p14="http://schemas.microsoft.com/office/powerpoint/2010/main" val="21755329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ECF3F-EE9E-6483-15EE-3E751822C48F}"/>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FA9F3E8E-DA9B-DA83-EEC4-E1239A32AF3E}"/>
              </a:ext>
            </a:extLst>
          </p:cNvPr>
          <p:cNvSpPr>
            <a:spLocks noGrp="1"/>
          </p:cNvSpPr>
          <p:nvPr>
            <p:ph idx="1"/>
          </p:nvPr>
        </p:nvSpPr>
        <p:spPr/>
        <p:txBody>
          <a:bodyPr/>
          <a:lstStyle/>
          <a:p>
            <a:r>
              <a:rPr lang="en-US" dirty="0"/>
              <a:t>Microprogram consists of microinstructions which are nothing but the strings of 0's and 1's. In a particular instance, we read the contents of one location of microprogram memory, which is nothing but a microinstruction. </a:t>
            </a:r>
          </a:p>
          <a:p>
            <a:r>
              <a:rPr lang="en-US" dirty="0"/>
              <a:t>Each output line ( data line ) of microprogram memory corresponds to one control signal. If the contents of the memory cell is 0, it indicates that the signal is not generated and if the contents of memory cell is 1, it indicates to generate that control signal at that instant of time. </a:t>
            </a:r>
          </a:p>
        </p:txBody>
      </p:sp>
    </p:spTree>
    <p:extLst>
      <p:ext uri="{BB962C8B-B14F-4D97-AF65-F5344CB8AC3E}">
        <p14:creationId xmlns:p14="http://schemas.microsoft.com/office/powerpoint/2010/main" val="13319907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CC1BE-A39A-F674-72E1-3144D0ACBBBF}"/>
              </a:ext>
            </a:extLst>
          </p:cNvPr>
          <p:cNvSpPr>
            <a:spLocks noGrp="1"/>
          </p:cNvSpPr>
          <p:nvPr>
            <p:ph type="title"/>
          </p:nvPr>
        </p:nvSpPr>
        <p:spPr/>
        <p:txBody>
          <a:bodyPr/>
          <a:lstStyle/>
          <a:p>
            <a:r>
              <a:rPr lang="en-US" dirty="0"/>
              <a:t>CONTINUED…</a:t>
            </a:r>
          </a:p>
        </p:txBody>
      </p:sp>
      <p:sp>
        <p:nvSpPr>
          <p:cNvPr id="3" name="Content Placeholder 2">
            <a:extLst>
              <a:ext uri="{FF2B5EF4-FFF2-40B4-BE49-F238E27FC236}">
                <a16:creationId xmlns:a16="http://schemas.microsoft.com/office/drawing/2014/main" id="{AE4A5E30-624B-0DCC-A45C-D1BF660A9B9A}"/>
              </a:ext>
            </a:extLst>
          </p:cNvPr>
          <p:cNvSpPr>
            <a:spLocks noGrp="1"/>
          </p:cNvSpPr>
          <p:nvPr>
            <p:ph idx="1"/>
          </p:nvPr>
        </p:nvSpPr>
        <p:spPr>
          <a:xfrm>
            <a:off x="1295401" y="2556931"/>
            <a:ext cx="9601196" cy="3552923"/>
          </a:xfrm>
        </p:spPr>
        <p:txBody>
          <a:bodyPr>
            <a:normAutofit fontScale="92500" lnSpcReduction="10000"/>
          </a:bodyPr>
          <a:lstStyle/>
          <a:p>
            <a:r>
              <a:rPr lang="en-US" dirty="0"/>
              <a:t>Control Word (CW) : Control word is defined as a word whose individual bits represent the various control signal. Therefore each of the control steps in the control sequence of an instruction defines a unique combination of 0s and 1s in the CW. </a:t>
            </a:r>
          </a:p>
          <a:p>
            <a:r>
              <a:rPr lang="en-US" dirty="0"/>
              <a:t>A sequence of control words (CWs) corresponding to the control sequence of a machine instruction constitutes the microprogram for that instruction. The individual control words in this microprogram are referred to as microinstructions. </a:t>
            </a:r>
          </a:p>
          <a:p>
            <a:r>
              <a:rPr lang="en-US" dirty="0"/>
              <a:t>The microprograms corresponding to the instruction set of a computer are stored </a:t>
            </a:r>
            <a:r>
              <a:rPr lang="en-US" dirty="0" err="1"/>
              <a:t>ina</a:t>
            </a:r>
            <a:r>
              <a:rPr lang="en-US" dirty="0"/>
              <a:t> a special memory which will be referred to as the microprogram memory. The control words related to an instructions are stored in microprogram memory.</a:t>
            </a:r>
          </a:p>
        </p:txBody>
      </p:sp>
    </p:spTree>
    <p:extLst>
      <p:ext uri="{BB962C8B-B14F-4D97-AF65-F5344CB8AC3E}">
        <p14:creationId xmlns:p14="http://schemas.microsoft.com/office/powerpoint/2010/main" val="1357516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6B200-B43F-510A-F844-8A2B1A8EB925}"/>
              </a:ext>
            </a:extLst>
          </p:cNvPr>
          <p:cNvSpPr>
            <a:spLocks noGrp="1"/>
          </p:cNvSpPr>
          <p:nvPr>
            <p:ph type="title"/>
          </p:nvPr>
        </p:nvSpPr>
        <p:spPr/>
        <p:txBody>
          <a:bodyPr/>
          <a:lstStyle/>
          <a:p>
            <a:r>
              <a:rPr lang="en-US" dirty="0"/>
              <a:t>CONTINUED…</a:t>
            </a:r>
          </a:p>
        </p:txBody>
      </p:sp>
      <p:sp>
        <p:nvSpPr>
          <p:cNvPr id="3" name="Content Placeholder 2">
            <a:extLst>
              <a:ext uri="{FF2B5EF4-FFF2-40B4-BE49-F238E27FC236}">
                <a16:creationId xmlns:a16="http://schemas.microsoft.com/office/drawing/2014/main" id="{45CDE73F-B443-9320-F19C-4119BCA4CF93}"/>
              </a:ext>
            </a:extLst>
          </p:cNvPr>
          <p:cNvSpPr>
            <a:spLocks noGrp="1"/>
          </p:cNvSpPr>
          <p:nvPr>
            <p:ph idx="1"/>
          </p:nvPr>
        </p:nvSpPr>
        <p:spPr/>
        <p:txBody>
          <a:bodyPr/>
          <a:lstStyle/>
          <a:p>
            <a:r>
              <a:rPr lang="en-US" dirty="0"/>
              <a:t>Let us examine the contents of microprogram memory and how the microprogram of each instruction is stored or organized in microprogram memory. </a:t>
            </a:r>
          </a:p>
          <a:p>
            <a:r>
              <a:rPr lang="en-US" dirty="0"/>
              <a:t>Consider the two example that are used in our previous lecture . First example is the control sequence for execution of the instruction "Add contents of memory location addressed in memory direct mode to register R1.</a:t>
            </a:r>
          </a:p>
        </p:txBody>
      </p:sp>
    </p:spTree>
    <p:extLst>
      <p:ext uri="{BB962C8B-B14F-4D97-AF65-F5344CB8AC3E}">
        <p14:creationId xmlns:p14="http://schemas.microsoft.com/office/powerpoint/2010/main" val="4057813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6A30A42-3B93-3493-5032-087EDE928C26}"/>
              </a:ext>
            </a:extLst>
          </p:cNvPr>
          <p:cNvSpPr txBox="1"/>
          <p:nvPr/>
        </p:nvSpPr>
        <p:spPr>
          <a:xfrm>
            <a:off x="914400" y="862445"/>
            <a:ext cx="10484427" cy="4832092"/>
          </a:xfrm>
          <a:prstGeom prst="rect">
            <a:avLst/>
          </a:prstGeom>
          <a:noFill/>
        </p:spPr>
        <p:txBody>
          <a:bodyPr wrap="square">
            <a:spAutoFit/>
          </a:bodyPr>
          <a:lstStyle/>
          <a:p>
            <a:pPr marL="457200" indent="-457200">
              <a:buFont typeface="Arial" panose="020B0604020202020204" pitchFamily="34" charset="0"/>
              <a:buChar char="•"/>
            </a:pPr>
            <a:r>
              <a:rPr lang="en-US" sz="2800" dirty="0"/>
              <a:t>If more number of resources can be accessed simultaneously, than most of the contents of control store is 0. Since the machine architecture does not provide the parallel access of resources, so simultaneously we cannot generate the control signal. </a:t>
            </a:r>
          </a:p>
          <a:p>
            <a:endParaRPr lang="en-US" sz="2800" dirty="0"/>
          </a:p>
          <a:p>
            <a:pPr marL="457200" indent="-457200">
              <a:buFont typeface="Arial" panose="020B0604020202020204" pitchFamily="34" charset="0"/>
              <a:buChar char="•"/>
            </a:pPr>
            <a:r>
              <a:rPr lang="en-US" sz="2800" dirty="0"/>
              <a:t>In such situation, we can combine some control signals and group them together. This will reduce the size of control word. </a:t>
            </a:r>
          </a:p>
          <a:p>
            <a:endParaRPr lang="en-US" sz="2800" dirty="0"/>
          </a:p>
          <a:p>
            <a:pPr marL="457200" indent="-457200">
              <a:buFont typeface="Arial" panose="020B0604020202020204" pitchFamily="34" charset="0"/>
              <a:buChar char="•"/>
            </a:pPr>
            <a:r>
              <a:rPr lang="en-US" sz="2800" dirty="0"/>
              <a:t>If we use compact code to specify only a </a:t>
            </a:r>
            <a:r>
              <a:rPr lang="en-US" sz="2800" b="1" dirty="0">
                <a:solidFill>
                  <a:srgbClr val="FF0000"/>
                </a:solidFill>
              </a:rPr>
              <a:t>small number of control functions in each microinstruction, then it is known as vertical organization of microinstruction. </a:t>
            </a:r>
          </a:p>
        </p:txBody>
      </p:sp>
    </p:spTree>
    <p:extLst>
      <p:ext uri="{BB962C8B-B14F-4D97-AF65-F5344CB8AC3E}">
        <p14:creationId xmlns:p14="http://schemas.microsoft.com/office/powerpoint/2010/main" val="2662491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CF2E1E1-BD9D-45ED-3398-40E3C4C33E6B}"/>
              </a:ext>
            </a:extLst>
          </p:cNvPr>
          <p:cNvPicPr>
            <a:picLocks noGrp="1" noChangeAspect="1"/>
          </p:cNvPicPr>
          <p:nvPr>
            <p:ph idx="4294967295"/>
          </p:nvPr>
        </p:nvPicPr>
        <p:blipFill>
          <a:blip r:embed="rId2"/>
          <a:stretch>
            <a:fillRect/>
          </a:stretch>
        </p:blipFill>
        <p:spPr>
          <a:xfrm>
            <a:off x="1132609" y="945574"/>
            <a:ext cx="9840191" cy="5040024"/>
          </a:xfrm>
        </p:spPr>
      </p:pic>
    </p:spTree>
    <p:extLst>
      <p:ext uri="{BB962C8B-B14F-4D97-AF65-F5344CB8AC3E}">
        <p14:creationId xmlns:p14="http://schemas.microsoft.com/office/powerpoint/2010/main" val="9846060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81B8191-47AA-7945-29E1-4E2A601135CF}"/>
              </a:ext>
            </a:extLst>
          </p:cNvPr>
          <p:cNvPicPr>
            <a:picLocks noGrp="1" noChangeAspect="1"/>
          </p:cNvPicPr>
          <p:nvPr>
            <p:ph idx="4294967295"/>
          </p:nvPr>
        </p:nvPicPr>
        <p:blipFill>
          <a:blip r:embed="rId2"/>
          <a:stretch>
            <a:fillRect/>
          </a:stretch>
        </p:blipFill>
        <p:spPr>
          <a:xfrm>
            <a:off x="1257301" y="872836"/>
            <a:ext cx="9216736" cy="5226628"/>
          </a:xfrm>
        </p:spPr>
      </p:pic>
    </p:spTree>
    <p:extLst>
      <p:ext uri="{BB962C8B-B14F-4D97-AF65-F5344CB8AC3E}">
        <p14:creationId xmlns:p14="http://schemas.microsoft.com/office/powerpoint/2010/main" val="25773487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5D40399-B493-DF41-6FC1-DDE6175253E0}"/>
              </a:ext>
            </a:extLst>
          </p:cNvPr>
          <p:cNvPicPr>
            <a:picLocks noChangeAspect="1"/>
          </p:cNvPicPr>
          <p:nvPr/>
        </p:nvPicPr>
        <p:blipFill>
          <a:blip r:embed="rId2"/>
          <a:stretch>
            <a:fillRect/>
          </a:stretch>
        </p:blipFill>
        <p:spPr>
          <a:xfrm>
            <a:off x="820881" y="685801"/>
            <a:ext cx="10505209" cy="5569526"/>
          </a:xfrm>
          <a:prstGeom prst="rect">
            <a:avLst/>
          </a:prstGeom>
        </p:spPr>
      </p:pic>
    </p:spTree>
    <p:extLst>
      <p:ext uri="{BB962C8B-B14F-4D97-AF65-F5344CB8AC3E}">
        <p14:creationId xmlns:p14="http://schemas.microsoft.com/office/powerpoint/2010/main" val="3383446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943853-1285-3E48-11BF-F00616553842}"/>
              </a:ext>
            </a:extLst>
          </p:cNvPr>
          <p:cNvSpPr>
            <a:spLocks noGrp="1"/>
          </p:cNvSpPr>
          <p:nvPr>
            <p:ph idx="4294967295"/>
          </p:nvPr>
        </p:nvSpPr>
        <p:spPr>
          <a:xfrm>
            <a:off x="893618" y="924791"/>
            <a:ext cx="10463646" cy="4950547"/>
          </a:xfrm>
        </p:spPr>
        <p:txBody>
          <a:bodyPr/>
          <a:lstStyle/>
          <a:p>
            <a:endParaRPr lang="en-US" dirty="0"/>
          </a:p>
          <a:p>
            <a:r>
              <a:rPr lang="en-US" sz="2400" dirty="0"/>
              <a:t>In case of </a:t>
            </a:r>
            <a:r>
              <a:rPr lang="en-US" sz="2400" b="1" dirty="0">
                <a:solidFill>
                  <a:srgbClr val="0070C0"/>
                </a:solidFill>
              </a:rPr>
              <a:t>horizontal organization, the size of control word is longer, which is in one extreme point and in case of vertical organization, the size of control word is smaller, which is in other extreme</a:t>
            </a:r>
            <a:r>
              <a:rPr lang="en-US" sz="2400" dirty="0"/>
              <a:t>.</a:t>
            </a:r>
          </a:p>
          <a:p>
            <a:endParaRPr lang="en-US" dirty="0"/>
          </a:p>
          <a:p>
            <a:r>
              <a:rPr lang="en-US" dirty="0"/>
              <a:t>First consider the control signal required for fetch instruction , which is same for all the instruction, we are listing them in a particular order.</a:t>
            </a:r>
          </a:p>
          <a:p>
            <a:endParaRPr lang="en-US" dirty="0"/>
          </a:p>
        </p:txBody>
      </p:sp>
    </p:spTree>
    <p:extLst>
      <p:ext uri="{BB962C8B-B14F-4D97-AF65-F5344CB8AC3E}">
        <p14:creationId xmlns:p14="http://schemas.microsoft.com/office/powerpoint/2010/main" val="1720475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0D80933-6B8F-82FD-A470-92812CF69BA3}"/>
              </a:ext>
            </a:extLst>
          </p:cNvPr>
          <p:cNvPicPr>
            <a:picLocks noChangeAspect="1"/>
          </p:cNvPicPr>
          <p:nvPr/>
        </p:nvPicPr>
        <p:blipFill>
          <a:blip r:embed="rId2"/>
          <a:stretch>
            <a:fillRect/>
          </a:stretch>
        </p:blipFill>
        <p:spPr>
          <a:xfrm>
            <a:off x="706582" y="685800"/>
            <a:ext cx="10661073" cy="5527964"/>
          </a:xfrm>
          <a:prstGeom prst="rect">
            <a:avLst/>
          </a:prstGeom>
        </p:spPr>
      </p:pic>
    </p:spTree>
    <p:extLst>
      <p:ext uri="{BB962C8B-B14F-4D97-AF65-F5344CB8AC3E}">
        <p14:creationId xmlns:p14="http://schemas.microsoft.com/office/powerpoint/2010/main" val="793819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05A7952-868C-8CB2-CC69-8749A6C1E265}"/>
              </a:ext>
            </a:extLst>
          </p:cNvPr>
          <p:cNvPicPr>
            <a:picLocks noChangeAspect="1"/>
          </p:cNvPicPr>
          <p:nvPr/>
        </p:nvPicPr>
        <p:blipFill>
          <a:blip r:embed="rId2"/>
          <a:stretch>
            <a:fillRect/>
          </a:stretch>
        </p:blipFill>
        <p:spPr>
          <a:xfrm>
            <a:off x="810491" y="738187"/>
            <a:ext cx="10609117" cy="5381625"/>
          </a:xfrm>
          <a:prstGeom prst="rect">
            <a:avLst/>
          </a:prstGeom>
        </p:spPr>
      </p:pic>
    </p:spTree>
    <p:extLst>
      <p:ext uri="{BB962C8B-B14F-4D97-AF65-F5344CB8AC3E}">
        <p14:creationId xmlns:p14="http://schemas.microsoft.com/office/powerpoint/2010/main" val="6901838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739F18-43C1-34FF-B39C-64886040F828}"/>
              </a:ext>
            </a:extLst>
          </p:cNvPr>
          <p:cNvSpPr>
            <a:spLocks noGrp="1"/>
          </p:cNvSpPr>
          <p:nvPr>
            <p:ph idx="4294967295"/>
          </p:nvPr>
        </p:nvSpPr>
        <p:spPr>
          <a:xfrm>
            <a:off x="561108" y="727364"/>
            <a:ext cx="10868891" cy="5486399"/>
          </a:xfrm>
        </p:spPr>
        <p:txBody>
          <a:bodyPr>
            <a:normAutofit/>
          </a:bodyPr>
          <a:lstStyle/>
          <a:p>
            <a:r>
              <a:rPr lang="en-US" b="1" dirty="0">
                <a:solidFill>
                  <a:schemeClr val="accent2">
                    <a:lumMod val="50000"/>
                  </a:schemeClr>
                </a:solidFill>
              </a:rPr>
              <a:t>Grouping of control signals: </a:t>
            </a:r>
            <a:r>
              <a:rPr lang="en-US" dirty="0"/>
              <a:t>It is observed that we need to store the information of each control signal in control store. The status of a particular control signal is either high or low at a particular instant of time. It is possible to reserve one bit position for each control signal. </a:t>
            </a:r>
          </a:p>
          <a:p>
            <a:r>
              <a:rPr lang="en-US" dirty="0"/>
              <a:t>If there </a:t>
            </a:r>
            <a:r>
              <a:rPr lang="en-US" b="1" dirty="0"/>
              <a:t>are n control signals in a CPU, them the length of each control signal is n . </a:t>
            </a:r>
            <a:r>
              <a:rPr lang="en-US" dirty="0"/>
              <a:t>Since we have one bit for each control signal, so a large number of resources can be controlled with a single microinstruction. </a:t>
            </a:r>
          </a:p>
          <a:p>
            <a:r>
              <a:rPr lang="en-US" b="1" dirty="0">
                <a:solidFill>
                  <a:srgbClr val="FF0000"/>
                </a:solidFill>
              </a:rPr>
              <a:t>This organization of microinstruction is known as horizontal organization</a:t>
            </a:r>
            <a:r>
              <a:rPr lang="en-US" dirty="0"/>
              <a:t>. If the machine structure allows parallel uses of a number of resources, then horizontal organization has got advantage. </a:t>
            </a:r>
          </a:p>
          <a:p>
            <a:r>
              <a:rPr lang="en-US" dirty="0"/>
              <a:t>Since more number of resources can be accessed parallel, the operating speed is also more in such organization. In this situation, horizontal organization of control store has got advantage.</a:t>
            </a:r>
          </a:p>
        </p:txBody>
      </p:sp>
    </p:spTree>
    <p:extLst>
      <p:ext uri="{BB962C8B-B14F-4D97-AF65-F5344CB8AC3E}">
        <p14:creationId xmlns:p14="http://schemas.microsoft.com/office/powerpoint/2010/main" val="3083502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18B61D-FA1E-1618-48B4-3809179A6EEC}"/>
              </a:ext>
            </a:extLst>
          </p:cNvPr>
          <p:cNvSpPr txBox="1"/>
          <p:nvPr/>
        </p:nvSpPr>
        <p:spPr>
          <a:xfrm>
            <a:off x="675409" y="675409"/>
            <a:ext cx="10775373" cy="4708981"/>
          </a:xfrm>
          <a:prstGeom prst="rect">
            <a:avLst/>
          </a:prstGeom>
          <a:noFill/>
        </p:spPr>
        <p:txBody>
          <a:bodyPr wrap="square">
            <a:spAutoFit/>
          </a:bodyPr>
          <a:lstStyle/>
          <a:p>
            <a:pPr marL="342900" indent="-342900">
              <a:buFont typeface="Arial" panose="020B0604020202020204" pitchFamily="34" charset="0"/>
              <a:buChar char="•"/>
            </a:pPr>
            <a:r>
              <a:rPr lang="en-US" sz="2800" dirty="0"/>
              <a:t>In case of horizontal organization, the implementation is simple, but in case of vertical organization, implementation complexity increases due to the required decoder circuits. Also the complexity of decoder depends on the level of grouping and encoding of the control signal. </a:t>
            </a:r>
          </a:p>
          <a:p>
            <a:pPr marL="342900" indent="-342900">
              <a:buFont typeface="Arial" panose="020B0604020202020204" pitchFamily="34" charset="0"/>
              <a:buChar char="•"/>
            </a:pPr>
            <a:endParaRPr lang="en-US" sz="2800" dirty="0"/>
          </a:p>
          <a:p>
            <a:pPr marL="342900" indent="-342900">
              <a:buFont typeface="Arial" panose="020B0604020202020204" pitchFamily="34" charset="0"/>
              <a:buChar char="•"/>
            </a:pPr>
            <a:r>
              <a:rPr lang="en-US" sz="2800" b="1" dirty="0"/>
              <a:t>Horizontal and Vertical organization represent the two organizational extremes in microprogrammed control. </a:t>
            </a:r>
            <a:r>
              <a:rPr lang="en-US" sz="2800" dirty="0"/>
              <a:t>Many intermediate schemes are also possible, where the degree of encoding is a design parameter. We will explain the grouping of control signal with the help of an example. </a:t>
            </a:r>
          </a:p>
          <a:p>
            <a:pPr marL="342900" indent="-342900">
              <a:buFont typeface="Arial" panose="020B0604020202020204" pitchFamily="34" charset="0"/>
              <a:buChar char="•"/>
            </a:pPr>
            <a:endParaRPr lang="en-US" sz="2000" dirty="0"/>
          </a:p>
        </p:txBody>
      </p:sp>
    </p:spTree>
    <p:extLst>
      <p:ext uri="{BB962C8B-B14F-4D97-AF65-F5344CB8AC3E}">
        <p14:creationId xmlns:p14="http://schemas.microsoft.com/office/powerpoint/2010/main" val="41936251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46B28FC-067E-1FB5-5795-C90D7E5BE4FE}"/>
              </a:ext>
            </a:extLst>
          </p:cNvPr>
          <p:cNvSpPr txBox="1"/>
          <p:nvPr/>
        </p:nvSpPr>
        <p:spPr>
          <a:xfrm>
            <a:off x="758536" y="852055"/>
            <a:ext cx="10629900" cy="3416320"/>
          </a:xfrm>
          <a:prstGeom prst="rect">
            <a:avLst/>
          </a:prstGeom>
          <a:noFill/>
        </p:spPr>
        <p:txBody>
          <a:bodyPr wrap="square">
            <a:spAutoFit/>
          </a:bodyPr>
          <a:lstStyle/>
          <a:p>
            <a:pPr marL="342900" indent="-342900">
              <a:buFont typeface="Arial" panose="020B0604020202020204" pitchFamily="34" charset="0"/>
              <a:buChar char="•"/>
            </a:pPr>
            <a:r>
              <a:rPr lang="en-US" sz="2400" b="1" dirty="0"/>
              <a:t>Grouping of control signals depends on the internal organization of CPU</a:t>
            </a:r>
            <a:r>
              <a:rPr lang="en-US" sz="2400" dirty="0"/>
              <a:t>. Assigning individual bits to each control signal is certain to lead to long microinstruction, since the number of required control signals is normally large.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However, only a few bits are set to 1 and therefore used for active gating in any given microinstructions. This obviously results in low utilization of the available bit space.</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b="1" dirty="0"/>
              <a:t> If we group the control signal in some non-over lapping group then the size of control word reduces</a:t>
            </a:r>
            <a:r>
              <a:rPr lang="en-US" sz="2400" dirty="0"/>
              <a:t>. </a:t>
            </a:r>
          </a:p>
        </p:txBody>
      </p:sp>
    </p:spTree>
    <p:extLst>
      <p:ext uri="{BB962C8B-B14F-4D97-AF65-F5344CB8AC3E}">
        <p14:creationId xmlns:p14="http://schemas.microsoft.com/office/powerpoint/2010/main" val="35381273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FD2312-387C-F073-F4B8-DBDFDEEC5A60}"/>
              </a:ext>
            </a:extLst>
          </p:cNvPr>
          <p:cNvPicPr>
            <a:picLocks noChangeAspect="1"/>
          </p:cNvPicPr>
          <p:nvPr/>
        </p:nvPicPr>
        <p:blipFill>
          <a:blip r:embed="rId2"/>
          <a:stretch>
            <a:fillRect/>
          </a:stretch>
        </p:blipFill>
        <p:spPr>
          <a:xfrm>
            <a:off x="675409" y="623455"/>
            <a:ext cx="10879282" cy="5652653"/>
          </a:xfrm>
          <a:prstGeom prst="rect">
            <a:avLst/>
          </a:prstGeom>
        </p:spPr>
      </p:pic>
    </p:spTree>
    <p:extLst>
      <p:ext uri="{BB962C8B-B14F-4D97-AF65-F5344CB8AC3E}">
        <p14:creationId xmlns:p14="http://schemas.microsoft.com/office/powerpoint/2010/main" val="36871964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E58D7DE-B2C9-234E-A941-3D986448E85A}"/>
              </a:ext>
            </a:extLst>
          </p:cNvPr>
          <p:cNvPicPr>
            <a:picLocks noChangeAspect="1"/>
          </p:cNvPicPr>
          <p:nvPr/>
        </p:nvPicPr>
        <p:blipFill>
          <a:blip r:embed="rId2"/>
          <a:stretch>
            <a:fillRect/>
          </a:stretch>
        </p:blipFill>
        <p:spPr>
          <a:xfrm>
            <a:off x="831273" y="1007918"/>
            <a:ext cx="10027227" cy="3440257"/>
          </a:xfrm>
          <a:prstGeom prst="rect">
            <a:avLst/>
          </a:prstGeom>
        </p:spPr>
      </p:pic>
    </p:spTree>
    <p:extLst>
      <p:ext uri="{BB962C8B-B14F-4D97-AF65-F5344CB8AC3E}">
        <p14:creationId xmlns:p14="http://schemas.microsoft.com/office/powerpoint/2010/main" val="9325950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136EAA3-5F46-8256-BE47-7CA6374E436A}"/>
              </a:ext>
            </a:extLst>
          </p:cNvPr>
          <p:cNvSpPr txBox="1"/>
          <p:nvPr/>
        </p:nvSpPr>
        <p:spPr>
          <a:xfrm>
            <a:off x="727364" y="800101"/>
            <a:ext cx="10671463" cy="3970318"/>
          </a:xfrm>
          <a:prstGeom prst="rect">
            <a:avLst/>
          </a:prstGeom>
          <a:noFill/>
        </p:spPr>
        <p:txBody>
          <a:bodyPr wrap="square">
            <a:spAutoFit/>
          </a:bodyPr>
          <a:lstStyle/>
          <a:p>
            <a:pPr marL="457200" indent="-457200">
              <a:buFont typeface="Arial" panose="020B0604020202020204" pitchFamily="34" charset="0"/>
              <a:buChar char="•"/>
            </a:pPr>
            <a:r>
              <a:rPr lang="en-US" sz="2800" dirty="0"/>
              <a:t>In this grouping, 46 control signals are grouped into 10 different groups ( F1 , F2 ,………., F10 ) and the size of control word is 21.</a:t>
            </a:r>
          </a:p>
          <a:p>
            <a:endParaRPr lang="en-US" sz="2800" dirty="0"/>
          </a:p>
          <a:p>
            <a:pPr marL="457200" indent="-457200">
              <a:buFont typeface="Arial" panose="020B0604020202020204" pitchFamily="34" charset="0"/>
              <a:buChar char="•"/>
            </a:pPr>
            <a:r>
              <a:rPr lang="en-US" sz="2800" dirty="0"/>
              <a:t> So, the size of control word is reduced from 46 to 21, which is more than 50%. For the proper decoding, we need the following decoder: </a:t>
            </a:r>
          </a:p>
          <a:p>
            <a:endParaRPr lang="en-US" sz="2800" dirty="0"/>
          </a:p>
          <a:p>
            <a:pPr marL="457200" indent="-457200">
              <a:buFont typeface="Arial" panose="020B0604020202020204" pitchFamily="34" charset="0"/>
              <a:buChar char="•"/>
            </a:pPr>
            <a:r>
              <a:rPr lang="en-US" sz="2800" dirty="0"/>
              <a:t>For group F1 &amp; F5 : 4 X 16 decoder,</a:t>
            </a:r>
          </a:p>
          <a:p>
            <a:pPr marL="457200" indent="-457200">
              <a:buFont typeface="Arial" panose="020B0604020202020204" pitchFamily="34" charset="0"/>
              <a:buChar char="•"/>
            </a:pPr>
            <a:r>
              <a:rPr lang="en-US" sz="2800" dirty="0"/>
              <a:t> group F2 : 3 X 8 decoder</a:t>
            </a:r>
          </a:p>
          <a:p>
            <a:pPr marL="457200" indent="-457200">
              <a:buFont typeface="Arial" panose="020B0604020202020204" pitchFamily="34" charset="0"/>
              <a:buChar char="•"/>
            </a:pPr>
            <a:r>
              <a:rPr lang="en-US" sz="2800" dirty="0"/>
              <a:t>group F3,F4 &amp; F6 : 2 X 4 decoder </a:t>
            </a:r>
            <a:endParaRPr lang="en-US" dirty="0"/>
          </a:p>
        </p:txBody>
      </p:sp>
    </p:spTree>
    <p:extLst>
      <p:ext uri="{BB962C8B-B14F-4D97-AF65-F5344CB8AC3E}">
        <p14:creationId xmlns:p14="http://schemas.microsoft.com/office/powerpoint/2010/main" val="17727317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C:\Users\Anu Chanti\Desktop\Thank you.jpg">
            <a:extLst>
              <a:ext uri="{FF2B5EF4-FFF2-40B4-BE49-F238E27FC236}">
                <a16:creationId xmlns:a16="http://schemas.microsoft.com/office/drawing/2014/main" id="{B08B3549-4F8F-5468-CB74-6DEF02A503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399" y="997526"/>
            <a:ext cx="10567555" cy="52508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48117529"/>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75</TotalTime>
  <Words>889</Words>
  <Application>Microsoft Office PowerPoint</Application>
  <PresentationFormat>Widescreen</PresentationFormat>
  <Paragraphs>39</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Garamond</vt:lpstr>
      <vt:lpstr>Times New Roman</vt:lpstr>
      <vt:lpstr>Organic</vt:lpstr>
      <vt:lpstr>IMPLEMENTATION OF MICRO PROGRAMMED CONTROL UNIT</vt:lpstr>
      <vt:lpstr>INTRODUCTION:</vt:lpstr>
      <vt:lpstr>CONTINUED…</vt:lpstr>
      <vt:lpstr>CONTINUED…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IMPLEMENTATION OF MICRO PROGRAMMED CONTROL UNIT</dc:title>
  <dc:creator>anusha kasturi</dc:creator>
  <cp:lastModifiedBy>anusha kasturi</cp:lastModifiedBy>
  <cp:revision>18</cp:revision>
  <dcterms:created xsi:type="dcterms:W3CDTF">2024-03-29T05:55:46Z</dcterms:created>
  <dcterms:modified xsi:type="dcterms:W3CDTF">2024-04-02T04:52:03Z</dcterms:modified>
</cp:coreProperties>
</file>