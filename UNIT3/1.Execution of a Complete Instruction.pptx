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5" r:id="rId3"/>
    <p:sldId id="257" r:id="rId4"/>
    <p:sldId id="258" r:id="rId5"/>
    <p:sldId id="274" r:id="rId6"/>
    <p:sldId id="276" r:id="rId7"/>
    <p:sldId id="275" r:id="rId8"/>
    <p:sldId id="260" r:id="rId9"/>
    <p:sldId id="262" r:id="rId10"/>
    <p:sldId id="261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3200" b="1" smtClean="0"/>
              <a:t/>
            </a:r>
            <a:br>
              <a:rPr sz="3200" b="1" smtClean="0"/>
            </a:br>
            <a:r>
              <a:rPr sz="5400" b="1" smtClean="0">
                <a:latin typeface="Algerian" pitchFamily="82" charset="0"/>
              </a:rPr>
              <a:t>Execution </a:t>
            </a:r>
            <a:r>
              <a:rPr sz="5400" b="1" smtClean="0">
                <a:latin typeface="Algerian" pitchFamily="82" charset="0"/>
              </a:rPr>
              <a:t>of a Complete </a:t>
            </a:r>
            <a:r>
              <a:rPr sz="5400" b="1" smtClean="0">
                <a:latin typeface="Algerian" pitchFamily="82" charset="0"/>
              </a:rPr>
              <a:t>Instruction</a:t>
            </a:r>
            <a:r>
              <a:rPr sz="6000" smtClean="0"/>
              <a:t/>
            </a:r>
            <a:br>
              <a:rPr sz="6000" smtClean="0"/>
            </a:b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 smtClean="0"/>
              <a:t>Fetch </a:t>
            </a:r>
            <a:r>
              <a:rPr lang="en-US" sz="3200" dirty="0" smtClean="0"/>
              <a:t>information from memory to CPU.</a:t>
            </a:r>
          </a:p>
          <a:p>
            <a:r>
              <a:rPr lang="en-US" sz="3200" dirty="0" smtClean="0"/>
              <a:t>Store information to CPU register to memory.</a:t>
            </a:r>
          </a:p>
          <a:p>
            <a:r>
              <a:rPr lang="en-US" sz="3200" dirty="0" smtClean="0"/>
              <a:t>Transfer of data between CPU registers.</a:t>
            </a:r>
          </a:p>
          <a:p>
            <a:r>
              <a:rPr lang="en-US" sz="3200" dirty="0" smtClean="0"/>
              <a:t>Perform arithmetic or logic operation and store the result in CPU registers.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dirty="0" smtClean="0"/>
              <a:t>To </a:t>
            </a:r>
            <a:r>
              <a:rPr lang="en-US" sz="3200" dirty="0" smtClean="0"/>
              <a:t>execute an instruction, processor has to perform following 3 steps: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1</a:t>
            </a:r>
            <a:r>
              <a:rPr lang="en-US" sz="3200" dirty="0" smtClean="0"/>
              <a:t>) Fetch contents of memory-location pointed to by PC. Content of this location is an instruction to be executed. The instructions are loaded into IR,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Symbolically, this operation can be written as </a:t>
            </a:r>
          </a:p>
          <a:p>
            <a:pPr>
              <a:buNone/>
            </a:pPr>
            <a:r>
              <a:rPr lang="en-US" sz="3200" dirty="0" smtClean="0"/>
              <a:t>IR</a:t>
            </a:r>
            <a:r>
              <a:rPr lang="en-US" sz="3200" dirty="0" smtClean="0">
                <a:sym typeface="Wingdings" pitchFamily="2" charset="2"/>
              </a:rPr>
              <a:t></a:t>
            </a:r>
            <a:r>
              <a:rPr lang="en-US" sz="3200" dirty="0" smtClean="0"/>
              <a:t>[[PC]]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3200" dirty="0" smtClean="0"/>
              <a:t>2</a:t>
            </a:r>
            <a:r>
              <a:rPr lang="en-US" sz="3200" dirty="0" smtClean="0"/>
              <a:t>) Increment </a:t>
            </a:r>
            <a:r>
              <a:rPr lang="en-US" sz="3200" dirty="0" smtClean="0"/>
              <a:t>the contents of PC.</a:t>
            </a:r>
          </a:p>
          <a:p>
            <a:pPr>
              <a:buNone/>
            </a:pPr>
            <a:r>
              <a:rPr lang="en-US" sz="3200" dirty="0" smtClean="0"/>
              <a:t>PC</a:t>
            </a:r>
            <a:r>
              <a:rPr lang="en-US" sz="3200" dirty="0" smtClean="0">
                <a:sym typeface="Wingdings" pitchFamily="2" charset="2"/>
              </a:rPr>
              <a:t> </a:t>
            </a:r>
            <a:r>
              <a:rPr lang="en-US" sz="3200" dirty="0" smtClean="0"/>
              <a:t>[PC</a:t>
            </a:r>
            <a:r>
              <a:rPr lang="en-US" sz="3200" dirty="0" smtClean="0"/>
              <a:t>] </a:t>
            </a:r>
            <a:r>
              <a:rPr lang="en-US" sz="3200" dirty="0" smtClean="0"/>
              <a:t>+4</a:t>
            </a:r>
          </a:p>
          <a:p>
            <a:pPr>
              <a:buNone/>
            </a:pPr>
            <a:r>
              <a:rPr lang="en-US" sz="3200" dirty="0" smtClean="0"/>
              <a:t>3</a:t>
            </a:r>
            <a:r>
              <a:rPr lang="en-US" sz="3200" dirty="0" smtClean="0"/>
              <a:t>) Carry out the actions specified by instruction (in the IR</a:t>
            </a:r>
            <a:r>
              <a:rPr lang="en-US" sz="3200" dirty="0" smtClean="0"/>
              <a:t>).</a:t>
            </a:r>
          </a:p>
          <a:p>
            <a:pPr>
              <a:buNone/>
            </a:pPr>
            <a:r>
              <a:rPr lang="en-US" sz="3200" dirty="0" smtClean="0"/>
              <a:t> </a:t>
            </a:r>
            <a:r>
              <a:rPr lang="en-US" sz="3200" dirty="0" smtClean="0"/>
              <a:t>• The first 2 steps are referred to as fetch phase; Step 3 is referred to as execution phase.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GUKT\Desktop\image0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3600" b="1" dirty="0" smtClean="0"/>
              <a:t>• </a:t>
            </a:r>
            <a:r>
              <a:rPr lang="en-US" sz="3500" b="1" dirty="0" smtClean="0"/>
              <a:t>The control-sequence is written as follows </a:t>
            </a:r>
            <a:endParaRPr lang="en-US" sz="3500" b="1" dirty="0" smtClean="0"/>
          </a:p>
          <a:p>
            <a:pPr>
              <a:buNone/>
            </a:pPr>
            <a:r>
              <a:rPr lang="en-US" sz="3500" dirty="0" smtClean="0"/>
              <a:t>1</a:t>
            </a:r>
            <a:r>
              <a:rPr lang="en-US" sz="3500" dirty="0" smtClean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PCout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MARin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, Read, Select4, Add,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Zin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sz="35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Zout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PCin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, Yin, WMFC </a:t>
            </a:r>
            <a:endParaRPr lang="en-US" sz="35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MDRout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IRin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sz="35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) Rs,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MARin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, Read </a:t>
            </a:r>
            <a:endParaRPr lang="en-US" sz="35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MDRinE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, WMFC </a:t>
            </a:r>
            <a:endParaRPr lang="en-US" sz="35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sz="3500" b="1" dirty="0" err="1" smtClean="0">
                <a:solidFill>
                  <a:schemeClr val="accent1">
                    <a:lumMod val="75000"/>
                  </a:schemeClr>
                </a:solidFill>
              </a:rPr>
              <a:t>MDRout</a:t>
            </a:r>
            <a:r>
              <a:rPr lang="en-US" sz="3500" b="1" dirty="0" smtClean="0">
                <a:solidFill>
                  <a:schemeClr val="accent1">
                    <a:lumMod val="75000"/>
                  </a:schemeClr>
                </a:solidFill>
              </a:rPr>
              <a:t>, Rd, End</a:t>
            </a:r>
          </a:p>
          <a:p>
            <a:pPr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RGUKT\Desktop\image-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6629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MDR has 2 inputs and 2 outputs. </a:t>
            </a:r>
            <a:r>
              <a:rPr lang="en-US" sz="3200" dirty="0" smtClean="0"/>
              <a:t>Data </a:t>
            </a:r>
            <a:r>
              <a:rPr lang="en-US" sz="3200" dirty="0" smtClean="0"/>
              <a:t>may be loaded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→ </a:t>
            </a:r>
            <a:r>
              <a:rPr lang="en-US" sz="3200" dirty="0" smtClean="0"/>
              <a:t>into MDR either from memory-bus (external) </a:t>
            </a:r>
            <a:r>
              <a:rPr lang="en-US" sz="3200" dirty="0" smtClean="0"/>
              <a:t>or</a:t>
            </a:r>
          </a:p>
          <a:p>
            <a:pPr>
              <a:buNone/>
            </a:pPr>
            <a:r>
              <a:rPr lang="en-US" sz="3200" dirty="0" smtClean="0"/>
              <a:t> </a:t>
            </a:r>
            <a:r>
              <a:rPr lang="en-US" sz="3200" dirty="0" smtClean="0"/>
              <a:t>→ from processor-bus (internal). </a:t>
            </a:r>
            <a:endParaRPr lang="en-US" sz="3200" dirty="0" smtClean="0"/>
          </a:p>
          <a:p>
            <a:r>
              <a:rPr lang="en-US" sz="3200" dirty="0" smtClean="0"/>
              <a:t>MAR‟s </a:t>
            </a:r>
            <a:r>
              <a:rPr lang="en-US" sz="3200" dirty="0" smtClean="0"/>
              <a:t>input is connected to internal-bus, </a:t>
            </a:r>
            <a:r>
              <a:rPr lang="en-US" sz="3200" dirty="0" smtClean="0"/>
              <a:t>and MAR‟s </a:t>
            </a:r>
            <a:r>
              <a:rPr lang="en-US" sz="3200" dirty="0" smtClean="0"/>
              <a:t>output is connected to external-bus. </a:t>
            </a:r>
            <a:endParaRPr lang="en-US" sz="32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 smtClean="0"/>
              <a:t>Instruction-decoder &amp; control-unit is responsible for </a:t>
            </a:r>
            <a:endParaRPr lang="en-US" sz="3200" dirty="0" smtClean="0"/>
          </a:p>
          <a:p>
            <a:pPr>
              <a:buNone/>
            </a:pP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→ issuing the signals that control the operation of all the units inside the processor (and for interacting with memory bus</a:t>
            </a:r>
            <a:r>
              <a:rPr lang="en-US" sz="3200" dirty="0" smtClean="0"/>
              <a:t>).</a:t>
            </a:r>
          </a:p>
          <a:p>
            <a:pPr>
              <a:buNone/>
            </a:pP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→ </a:t>
            </a:r>
            <a:r>
              <a:rPr lang="en-US" sz="3200" dirty="0" smtClean="0"/>
              <a:t>implementing the actions specified by the instruction (loaded in the IR)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Registers </a:t>
            </a:r>
            <a:r>
              <a:rPr lang="en-US" sz="3200" dirty="0" smtClean="0"/>
              <a:t>R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sz="2000" dirty="0" smtClean="0"/>
              <a:t> </a:t>
            </a:r>
            <a:r>
              <a:rPr lang="en-US" sz="3200" dirty="0" smtClean="0"/>
              <a:t>through </a:t>
            </a:r>
            <a:r>
              <a:rPr lang="en-US" sz="3200" dirty="0" smtClean="0"/>
              <a:t>R</a:t>
            </a:r>
            <a:r>
              <a:rPr lang="en-US" sz="1800" dirty="0" smtClean="0"/>
              <a:t>n-1</a:t>
            </a:r>
            <a:r>
              <a:rPr lang="en-US" sz="3200" dirty="0" smtClean="0"/>
              <a:t> </a:t>
            </a:r>
            <a:r>
              <a:rPr lang="en-US" sz="3200" dirty="0" smtClean="0"/>
              <a:t>are provided for general purpose use by programmer. </a:t>
            </a:r>
            <a:endParaRPr lang="en-US" sz="3200" dirty="0" smtClean="0"/>
          </a:p>
          <a:p>
            <a:r>
              <a:rPr lang="en-US" sz="3200" dirty="0" smtClean="0"/>
              <a:t>Three </a:t>
            </a:r>
            <a:r>
              <a:rPr lang="en-US" sz="3200" dirty="0" smtClean="0"/>
              <a:t>registers Y, Z &amp; TEMP are used by processor for temporary storage during execution of some instructions. </a:t>
            </a:r>
            <a:endParaRPr lang="en-US" sz="3200" dirty="0" smtClean="0"/>
          </a:p>
          <a:p>
            <a:r>
              <a:rPr lang="en-US" sz="3200" dirty="0" smtClean="0"/>
              <a:t>These </a:t>
            </a:r>
            <a:r>
              <a:rPr lang="en-US" sz="3200" dirty="0" smtClean="0"/>
              <a:t>are transparent to the programmer i.e. programmer need not be concerned with them because they are never referenced explicitly by any </a:t>
            </a:r>
            <a:r>
              <a:rPr lang="en-US" sz="3200" dirty="0" smtClean="0"/>
              <a:t>instruction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• </a:t>
            </a:r>
            <a:r>
              <a:rPr lang="en-US" sz="3200" dirty="0" smtClean="0"/>
              <a:t>MUX(Multiplexer) selects either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→ </a:t>
            </a:r>
            <a:r>
              <a:rPr lang="en-US" sz="3200" dirty="0" smtClean="0"/>
              <a:t>output of Y or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→ </a:t>
            </a:r>
            <a:r>
              <a:rPr lang="en-US" sz="3200" dirty="0" smtClean="0"/>
              <a:t>constant-value 4(is used to increment PC content</a:t>
            </a:r>
            <a:r>
              <a:rPr lang="en-US" sz="3200" dirty="0" smtClean="0"/>
              <a:t>).</a:t>
            </a:r>
          </a:p>
          <a:p>
            <a:pPr>
              <a:buNone/>
            </a:pPr>
            <a:r>
              <a:rPr lang="en-US" sz="3200" dirty="0" smtClean="0"/>
              <a:t>This </a:t>
            </a:r>
            <a:r>
              <a:rPr lang="en-US" sz="3200" dirty="0" smtClean="0"/>
              <a:t>is provided as input A of ALU.</a:t>
            </a:r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B input of ALU is obtained directly from processor-bus. </a:t>
            </a:r>
            <a:endParaRPr lang="en-US" sz="3200" dirty="0" smtClean="0"/>
          </a:p>
          <a:p>
            <a:r>
              <a:rPr lang="en-US" sz="3200" dirty="0" smtClean="0"/>
              <a:t>As </a:t>
            </a:r>
            <a:r>
              <a:rPr lang="en-US" sz="3200" dirty="0" smtClean="0"/>
              <a:t>instruction execution progresses, data are transferred from one register to another, often passing through ALU to perform arithmetic or logic operation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8229600" cy="5410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200" dirty="0" smtClean="0"/>
              <a:t>An </a:t>
            </a:r>
            <a:r>
              <a:rPr lang="en-US" sz="3200" dirty="0" smtClean="0"/>
              <a:t>instruction can be executed by performing one or more of the following operations</a:t>
            </a:r>
            <a:r>
              <a:rPr lang="en-US" sz="3200" dirty="0" smtClean="0"/>
              <a:t>:</a:t>
            </a:r>
          </a:p>
          <a:p>
            <a:pPr>
              <a:buNone/>
            </a:pPr>
            <a:r>
              <a:rPr lang="en-US" sz="3200" dirty="0" smtClean="0"/>
              <a:t> </a:t>
            </a:r>
            <a:r>
              <a:rPr lang="en-US" sz="3200" dirty="0" smtClean="0"/>
              <a:t>1</a:t>
            </a:r>
            <a:r>
              <a:rPr lang="en-US" sz="2800" dirty="0" smtClean="0"/>
              <a:t>) Transfer a word of data from one processor-register to another or to the ALU. 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2</a:t>
            </a:r>
            <a:r>
              <a:rPr lang="en-US" sz="2800" dirty="0" smtClean="0"/>
              <a:t>) Perform arithmetic or a logic operation and store the result in a processor-register. 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3</a:t>
            </a:r>
            <a:r>
              <a:rPr lang="en-US" sz="2800" dirty="0" smtClean="0"/>
              <a:t>) Fetch the contents of a given memory-location and load them into a processor-register. 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4</a:t>
            </a:r>
            <a:r>
              <a:rPr lang="en-US" sz="2800" dirty="0" smtClean="0"/>
              <a:t>) Store a word of data from a processor-register into a given memory-location.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3200" dirty="0" smtClean="0">
                <a:solidFill>
                  <a:srgbClr val="FF0000"/>
                </a:solidFill>
              </a:rPr>
              <a:t>REGISTER TRANSFERS </a:t>
            </a:r>
            <a:endParaRPr lang="en-US" sz="32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3200" dirty="0" smtClean="0"/>
              <a:t>• </a:t>
            </a:r>
            <a:r>
              <a:rPr lang="en-US" sz="3200" dirty="0" smtClean="0"/>
              <a:t>Instruction execution involves a sequence of steps in which data are transferred from one register to another</a:t>
            </a:r>
            <a:r>
              <a:rPr lang="en-US" sz="3200" dirty="0" smtClean="0"/>
              <a:t>.</a:t>
            </a:r>
          </a:p>
          <a:p>
            <a:pPr>
              <a:buNone/>
            </a:pPr>
            <a:r>
              <a:rPr lang="en-US" sz="3200" dirty="0" smtClean="0"/>
              <a:t> </a:t>
            </a:r>
            <a:r>
              <a:rPr lang="en-US" sz="3200" dirty="0" smtClean="0"/>
              <a:t>• Input &amp; output of register </a:t>
            </a:r>
            <a:r>
              <a:rPr lang="en-US" sz="3200" dirty="0" err="1" smtClean="0"/>
              <a:t>Ri</a:t>
            </a:r>
            <a:r>
              <a:rPr lang="en-US" sz="3200" dirty="0" smtClean="0"/>
              <a:t> is connected to bus via switches controlled by 2 control-signals: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	</a:t>
            </a:r>
            <a:r>
              <a:rPr lang="en-US" sz="3200" dirty="0" err="1" smtClean="0"/>
              <a:t>Riin</a:t>
            </a:r>
            <a:r>
              <a:rPr lang="en-US" sz="3200" dirty="0" smtClean="0"/>
              <a:t> </a:t>
            </a:r>
            <a:r>
              <a:rPr lang="en-US" sz="3200" dirty="0" smtClean="0"/>
              <a:t>&amp; </a:t>
            </a:r>
            <a:r>
              <a:rPr lang="en-US" sz="3200" dirty="0" err="1" smtClean="0"/>
              <a:t>Riout</a:t>
            </a:r>
            <a:r>
              <a:rPr lang="en-US" sz="3200" dirty="0" smtClean="0"/>
              <a:t>.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These </a:t>
            </a:r>
            <a:r>
              <a:rPr lang="en-US" sz="3200" dirty="0" smtClean="0"/>
              <a:t>are called gating </a:t>
            </a:r>
            <a:r>
              <a:rPr lang="en-US" sz="3200" dirty="0" smtClean="0"/>
              <a:t>signals.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 smtClean="0"/>
              <a:t>When </a:t>
            </a:r>
            <a:r>
              <a:rPr lang="en-US" sz="3200" dirty="0" err="1" smtClean="0"/>
              <a:t>Riin</a:t>
            </a:r>
            <a:r>
              <a:rPr lang="en-US" sz="3200" dirty="0" smtClean="0"/>
              <a:t>=1, data on bus is loaded into </a:t>
            </a:r>
            <a:r>
              <a:rPr lang="en-US" sz="3200" dirty="0" err="1" smtClean="0"/>
              <a:t>Ri</a:t>
            </a:r>
            <a:r>
              <a:rPr lang="en-US" sz="3200" dirty="0" smtClean="0"/>
              <a:t>. Similarly, when </a:t>
            </a:r>
            <a:r>
              <a:rPr lang="en-US" sz="3200" dirty="0" err="1" smtClean="0"/>
              <a:t>Riout</a:t>
            </a:r>
            <a:r>
              <a:rPr lang="en-US" sz="3200" dirty="0" smtClean="0"/>
              <a:t>=1, content of </a:t>
            </a:r>
            <a:r>
              <a:rPr lang="en-US" sz="3200" dirty="0" err="1" smtClean="0"/>
              <a:t>Ri</a:t>
            </a:r>
            <a:r>
              <a:rPr lang="en-US" sz="3200" dirty="0" smtClean="0"/>
              <a:t> is placed on bus. </a:t>
            </a:r>
            <a:endParaRPr lang="en-US" sz="3200" dirty="0" smtClean="0"/>
          </a:p>
          <a:p>
            <a:r>
              <a:rPr lang="en-US" sz="3200" dirty="0" smtClean="0"/>
              <a:t>When </a:t>
            </a:r>
            <a:r>
              <a:rPr lang="en-US" sz="3200" dirty="0" err="1" smtClean="0"/>
              <a:t>Riout</a:t>
            </a:r>
            <a:r>
              <a:rPr lang="en-US" sz="3200" dirty="0" smtClean="0"/>
              <a:t>=0, bus can be used for transferring data from other registers.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dirty="0" smtClean="0">
                <a:solidFill>
                  <a:srgbClr val="FF0000"/>
                </a:solidFill>
              </a:rPr>
              <a:t>PERFORMING AN ARITHMETIC OR </a:t>
            </a:r>
            <a:r>
              <a:rPr lang="en-US" sz="3200" dirty="0" smtClean="0">
                <a:solidFill>
                  <a:srgbClr val="FF0000"/>
                </a:solidFill>
              </a:rPr>
              <a:t>LOGIC OPERATION </a:t>
            </a:r>
          </a:p>
          <a:p>
            <a:pPr>
              <a:buNone/>
            </a:pPr>
            <a:r>
              <a:rPr lang="en-US" sz="3200" dirty="0" smtClean="0"/>
              <a:t>• </a:t>
            </a:r>
            <a:r>
              <a:rPr lang="en-US" sz="3200" dirty="0" smtClean="0"/>
              <a:t>The ALU performs arithmetic operations on the 2 operands applied to its A and B inputs</a:t>
            </a:r>
            <a:r>
              <a:rPr lang="en-US" sz="3200" dirty="0" smtClean="0"/>
              <a:t>.</a:t>
            </a:r>
          </a:p>
          <a:p>
            <a:pPr>
              <a:buNone/>
            </a:pPr>
            <a:r>
              <a:rPr lang="en-US" sz="3200" dirty="0" smtClean="0"/>
              <a:t> </a:t>
            </a:r>
            <a:r>
              <a:rPr lang="en-US" sz="3200" dirty="0" smtClean="0"/>
              <a:t>• One of the operands is output of MUX &amp; the other operand is obtained directly from bus.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• </a:t>
            </a:r>
            <a:r>
              <a:rPr lang="en-US" sz="3200" dirty="0" smtClean="0"/>
              <a:t>The result (produced by the ALU) is stored temporarily in register </a:t>
            </a:r>
            <a:r>
              <a:rPr lang="en-US" sz="3200" dirty="0" smtClean="0"/>
              <a:t>Z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3200" dirty="0" smtClean="0"/>
              <a:t>The sequence of operations for [R3</a:t>
            </a:r>
            <a:r>
              <a:rPr lang="en-US" sz="3200" dirty="0" smtClean="0"/>
              <a:t>]</a:t>
            </a:r>
            <a:r>
              <a:rPr lang="en-US" sz="3200" dirty="0" smtClean="0">
                <a:sym typeface="Wingdings" pitchFamily="2" charset="2"/>
              </a:rPr>
              <a:t></a:t>
            </a:r>
            <a:r>
              <a:rPr lang="en-US" sz="3200" dirty="0" smtClean="0"/>
              <a:t>[</a:t>
            </a:r>
            <a:r>
              <a:rPr lang="en-US" sz="3200" dirty="0" smtClean="0"/>
              <a:t>R1]+[R2] is as follows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1</a:t>
            </a:r>
            <a:r>
              <a:rPr lang="en-US" sz="3200" dirty="0" smtClean="0"/>
              <a:t>) R1out, Yin //transfer the contents of R1 to Y register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2</a:t>
            </a:r>
            <a:r>
              <a:rPr lang="en-US" sz="3200" dirty="0" smtClean="0"/>
              <a:t>) R2out, </a:t>
            </a:r>
            <a:r>
              <a:rPr lang="en-US" sz="3200" dirty="0" err="1" smtClean="0"/>
              <a:t>SelectY</a:t>
            </a:r>
            <a:r>
              <a:rPr lang="en-US" sz="3200" dirty="0" smtClean="0"/>
              <a:t>, Add, </a:t>
            </a:r>
            <a:r>
              <a:rPr lang="en-US" sz="3200" dirty="0" err="1" smtClean="0"/>
              <a:t>Zin</a:t>
            </a:r>
            <a:r>
              <a:rPr lang="en-US" sz="3200" dirty="0" smtClean="0"/>
              <a:t> //R2 contents are transferred directly to B input of ALU. // The numbers of added. Sum stored in register Z 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3</a:t>
            </a:r>
            <a:r>
              <a:rPr lang="en-US" sz="3200" dirty="0" smtClean="0"/>
              <a:t>) </a:t>
            </a:r>
            <a:r>
              <a:rPr lang="en-US" sz="3200" dirty="0" err="1" smtClean="0"/>
              <a:t>Zout</a:t>
            </a:r>
            <a:r>
              <a:rPr lang="en-US" sz="3200" dirty="0" smtClean="0"/>
              <a:t>, R3in //sum is transferred to register R3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Execution of a Complete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24800" cy="5410200"/>
          </a:xfrm>
        </p:spPr>
        <p:txBody>
          <a:bodyPr>
            <a:noAutofit/>
          </a:bodyPr>
          <a:lstStyle/>
          <a:p>
            <a:r>
              <a:rPr lang="en-US" sz="3200" dirty="0" smtClean="0"/>
              <a:t>Write the complete control sequence for the instruction : Move (Rs),Rd </a:t>
            </a:r>
            <a:endParaRPr lang="en-US" sz="3200" dirty="0" smtClean="0"/>
          </a:p>
          <a:p>
            <a:r>
              <a:rPr lang="en-US" sz="3200" dirty="0" smtClean="0"/>
              <a:t>• </a:t>
            </a:r>
            <a:r>
              <a:rPr lang="en-US" sz="3200" dirty="0" smtClean="0"/>
              <a:t>This instruction copies the contents of memory-location pointed to by Rs into Rd. This is a memory read operation. This requires the following actions </a:t>
            </a:r>
            <a:endParaRPr lang="en-US" sz="3200" dirty="0" smtClean="0"/>
          </a:p>
          <a:p>
            <a:r>
              <a:rPr lang="en-US" sz="3200" dirty="0" smtClean="0"/>
              <a:t>→ </a:t>
            </a:r>
            <a:r>
              <a:rPr lang="en-US" sz="3200" dirty="0" smtClean="0"/>
              <a:t>fetch the </a:t>
            </a:r>
            <a:r>
              <a:rPr lang="en-US" sz="3200" dirty="0" smtClean="0"/>
              <a:t>instruction</a:t>
            </a:r>
          </a:p>
          <a:p>
            <a:r>
              <a:rPr lang="en-US" sz="3200" dirty="0" smtClean="0"/>
              <a:t> </a:t>
            </a:r>
            <a:r>
              <a:rPr lang="en-US" sz="3200" dirty="0" smtClean="0"/>
              <a:t>→ fetch the operand (i.e. the contents of the memory-location pointed by Rs). </a:t>
            </a:r>
            <a:endParaRPr lang="en-US" sz="3200" dirty="0" smtClean="0"/>
          </a:p>
          <a:p>
            <a:r>
              <a:rPr lang="en-US" sz="3200" dirty="0" smtClean="0"/>
              <a:t>→ </a:t>
            </a:r>
            <a:r>
              <a:rPr lang="en-US" sz="3200" dirty="0" smtClean="0"/>
              <a:t>transfer the data to Rd. 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1" y="381000"/>
            <a:ext cx="7924800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72</TotalTime>
  <Words>837</Words>
  <Application>Microsoft Office PowerPoint</Application>
  <PresentationFormat>On-screen Show (4:3)</PresentationFormat>
  <Paragraphs>78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Equity</vt:lpstr>
      <vt:lpstr> Execution of a Complete Instruction </vt:lpstr>
      <vt:lpstr>Execution of a Complete Instruction</vt:lpstr>
      <vt:lpstr>Execution of a Complete Instruction</vt:lpstr>
      <vt:lpstr>Execution of a Complete Instruction</vt:lpstr>
      <vt:lpstr>Slide 5</vt:lpstr>
      <vt:lpstr>Execution of a Complete Instruction</vt:lpstr>
      <vt:lpstr>Slide 7</vt:lpstr>
      <vt:lpstr>Execution of a Complete Instruction</vt:lpstr>
      <vt:lpstr>Execution of a Complete Instruction</vt:lpstr>
      <vt:lpstr>Execution of a Complete Instruction</vt:lpstr>
      <vt:lpstr>Execution of a Complete Instruction</vt:lpstr>
      <vt:lpstr>Execution of a Complete Instruction</vt:lpstr>
      <vt:lpstr>Execution of a Complete Instruction</vt:lpstr>
      <vt:lpstr>Execution of a Complete Instruction</vt:lpstr>
      <vt:lpstr>Execution of a Complete Instruction</vt:lpstr>
      <vt:lpstr>Execution of a Complete Instruction</vt:lpstr>
      <vt:lpstr>Execution of a Complete Instruction</vt:lpstr>
      <vt:lpstr>Execution of a Complete Instruction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RGUKT</dc:creator>
  <cp:lastModifiedBy>RGUKT</cp:lastModifiedBy>
  <cp:revision>24</cp:revision>
  <dcterms:created xsi:type="dcterms:W3CDTF">2006-08-16T00:00:00Z</dcterms:created>
  <dcterms:modified xsi:type="dcterms:W3CDTF">2022-07-04T01:49:07Z</dcterms:modified>
</cp:coreProperties>
</file>