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7" r:id="rId6"/>
    <p:sldId id="268" r:id="rId7"/>
    <p:sldId id="262" r:id="rId8"/>
    <p:sldId id="263" r:id="rId9"/>
    <p:sldId id="266" r:id="rId10"/>
    <p:sldId id="269" r:id="rId11"/>
    <p:sldId id="275" r:id="rId12"/>
    <p:sldId id="272" r:id="rId13"/>
    <p:sldId id="273" r:id="rId14"/>
    <p:sldId id="270" r:id="rId15"/>
    <p:sldId id="274"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34559" autoAdjust="0"/>
    <p:restoredTop sz="86380" autoAdjust="0"/>
  </p:normalViewPr>
  <p:slideViewPr>
    <p:cSldViewPr>
      <p:cViewPr varScale="1">
        <p:scale>
          <a:sx n="73" d="100"/>
          <a:sy n="73" d="100"/>
        </p:scale>
        <p:origin x="-1932" y="-102"/>
      </p:cViewPr>
      <p:guideLst>
        <p:guide orient="horz" pos="2160"/>
        <p:guide pos="2880"/>
      </p:guideLst>
    </p:cSldViewPr>
  </p:slideViewPr>
  <p:outlineViewPr>
    <p:cViewPr>
      <p:scale>
        <a:sx n="33" d="100"/>
        <a:sy n="33" d="100"/>
      </p:scale>
      <p:origin x="246" y="254274"/>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pPr/>
              <a:t>7/14/2022</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pPr/>
              <a:t>7/14/2022</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7/14/2022</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D8BD707-D9CF-40AE-B4C6-C98DA3205C09}" type="datetimeFigureOut">
              <a:rPr lang="en-US" smtClean="0"/>
              <a:pPr/>
              <a:t>7/14/2022</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pPr/>
              <a:t>7/14/2022</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4200" y="1066800"/>
            <a:ext cx="5348068" cy="3886200"/>
          </a:xfrm>
        </p:spPr>
        <p:txBody>
          <a:bodyPr/>
          <a:lstStyle/>
          <a:p>
            <a:r>
              <a:rPr lang="en-US" sz="5400" dirty="0" smtClean="0"/>
              <a:t>Hardwired Control Unit</a:t>
            </a:r>
            <a:br>
              <a:rPr lang="en-US" sz="5400" dirty="0" smtClean="0"/>
            </a:br>
            <a:endParaRPr lang="en-US" sz="5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Hardwired Control Unit</a:t>
            </a:r>
            <a:endParaRPr lang="en-US" dirty="0"/>
          </a:p>
        </p:txBody>
      </p:sp>
      <p:sp>
        <p:nvSpPr>
          <p:cNvPr id="3" name="Content Placeholder 2"/>
          <p:cNvSpPr>
            <a:spLocks noGrp="1"/>
          </p:cNvSpPr>
          <p:nvPr>
            <p:ph idx="1"/>
          </p:nvPr>
        </p:nvSpPr>
        <p:spPr/>
        <p:txBody>
          <a:bodyPr/>
          <a:lstStyle/>
          <a:p>
            <a:r>
              <a:rPr lang="en-US" dirty="0" smtClean="0"/>
              <a:t>A hardwired control is a method of generating control signals with the help of Finite State Machines (FSM).</a:t>
            </a:r>
          </a:p>
          <a:p>
            <a:endParaRPr lang="en-US" dirty="0" smtClean="0"/>
          </a:p>
          <a:p>
            <a:r>
              <a:rPr lang="en-US" dirty="0" smtClean="0"/>
              <a:t> It’s made in the form of a sequential logic circuit by physically connecting components such as flip-flops, gates, etc that result in the finished circuit. As a result, it’s known as a hardwired controller.</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Hardwired Control Unit</a:t>
            </a:r>
            <a:endParaRPr lang="en-US" dirty="0"/>
          </a:p>
        </p:txBody>
      </p:sp>
      <p:sp>
        <p:nvSpPr>
          <p:cNvPr id="3" name="Content Placeholder 2"/>
          <p:cNvSpPr>
            <a:spLocks noGrp="1"/>
          </p:cNvSpPr>
          <p:nvPr>
            <p:ph idx="1"/>
          </p:nvPr>
        </p:nvSpPr>
        <p:spPr/>
        <p:txBody>
          <a:bodyPr/>
          <a:lstStyle/>
          <a:p>
            <a:r>
              <a:rPr lang="en-US" dirty="0" smtClean="0"/>
              <a:t>The control signals that are necessary for instruction execution control in the Hardwired Control Unit are generated by specially built hardware logical circuits, and we can’t change the signal production mechanism without physically changing the circuit structure.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RGUKT\Desktop\hardwired1.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Hardwired Control Unit</a:t>
            </a:r>
            <a:endParaRPr lang="en-US" dirty="0"/>
          </a:p>
        </p:txBody>
      </p:sp>
      <p:sp>
        <p:nvSpPr>
          <p:cNvPr id="3" name="Content Placeholder 2"/>
          <p:cNvSpPr>
            <a:spLocks noGrp="1"/>
          </p:cNvSpPr>
          <p:nvPr>
            <p:ph idx="1"/>
          </p:nvPr>
        </p:nvSpPr>
        <p:spPr/>
        <p:txBody>
          <a:bodyPr>
            <a:normAutofit/>
          </a:bodyPr>
          <a:lstStyle/>
          <a:p>
            <a:r>
              <a:rPr lang="en-US" dirty="0" smtClean="0"/>
              <a:t>It consists of two decoders, a sequence counter, and a number of control logic gates.</a:t>
            </a:r>
            <a:endParaRPr lang="en-US" dirty="0" smtClean="0"/>
          </a:p>
          <a:p>
            <a:r>
              <a:rPr lang="en-US" dirty="0" smtClean="0"/>
              <a:t>An </a:t>
            </a:r>
            <a:r>
              <a:rPr lang="en-US" dirty="0" smtClean="0"/>
              <a:t>instruction read from memory is placed in the instruction resister (IR) where it is decoded into three parts: I bit, operation code and bits 0 through 11.</a:t>
            </a:r>
          </a:p>
          <a:p>
            <a:r>
              <a:rPr lang="en-US" dirty="0" smtClean="0"/>
              <a:t>The operation code bit is decoded with 3 x 8 decoder producing 8 outputs D0 through D7.</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Hardwired Control Unit</a:t>
            </a:r>
            <a:endParaRPr lang="en-US" dirty="0"/>
          </a:p>
        </p:txBody>
      </p:sp>
      <p:sp>
        <p:nvSpPr>
          <p:cNvPr id="3" name="Content Placeholder 2"/>
          <p:cNvSpPr>
            <a:spLocks noGrp="1"/>
          </p:cNvSpPr>
          <p:nvPr>
            <p:ph idx="1"/>
          </p:nvPr>
        </p:nvSpPr>
        <p:spPr/>
        <p:txBody>
          <a:bodyPr/>
          <a:lstStyle/>
          <a:p>
            <a:r>
              <a:rPr lang="en-US" dirty="0" smtClean="0"/>
              <a:t>Bit 15 of the instruction is transferred to a flip-flop I</a:t>
            </a:r>
            <a:r>
              <a:rPr lang="en-US" dirty="0" smtClean="0"/>
              <a:t>.</a:t>
            </a:r>
          </a:p>
          <a:p>
            <a:r>
              <a:rPr lang="en-US" dirty="0" smtClean="0"/>
              <a:t>And </a:t>
            </a:r>
            <a:r>
              <a:rPr lang="en-US" dirty="0" smtClean="0"/>
              <a:t>operand bits are applied to control logic gates.</a:t>
            </a:r>
          </a:p>
          <a:p>
            <a:r>
              <a:rPr lang="en-US" dirty="0" smtClean="0"/>
              <a:t>The 16 outputs of 4-bit sequence counter (SC) are decoded into 16 timing signals T0 through T15. </a:t>
            </a:r>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Designing of Hardwired Control Unit</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The </a:t>
            </a:r>
            <a:r>
              <a:rPr lang="en-US" dirty="0" smtClean="0"/>
              <a:t>following are some of the ways for constructing hardwired control logic that have been proposed:</a:t>
            </a:r>
          </a:p>
          <a:p>
            <a:r>
              <a:rPr lang="en-US" b="1" dirty="0" smtClean="0"/>
              <a:t>Sequence Counter Method − </a:t>
            </a:r>
            <a:r>
              <a:rPr lang="en-US" dirty="0" smtClean="0"/>
              <a:t>It is the most practical way to design a somewhat complex controller.</a:t>
            </a:r>
          </a:p>
          <a:p>
            <a:r>
              <a:rPr lang="en-US" b="1" dirty="0" smtClean="0"/>
              <a:t>Delay Element Method – </a:t>
            </a:r>
            <a:r>
              <a:rPr lang="en-US" dirty="0" smtClean="0"/>
              <a:t>For creating the sequence of control signals, this method relies on the usage of timed delay elements.</a:t>
            </a:r>
          </a:p>
          <a:p>
            <a:r>
              <a:rPr lang="en-US" b="1" dirty="0" smtClean="0"/>
              <a:t>State Table Method − </a:t>
            </a:r>
            <a:r>
              <a:rPr lang="en-US" dirty="0" smtClean="0"/>
              <a:t>The standard algorithmic approach to designing the Notes controller </a:t>
            </a:r>
            <a:r>
              <a:rPr lang="en-US" dirty="0" err="1" smtClean="0"/>
              <a:t>utilising</a:t>
            </a:r>
            <a:r>
              <a:rPr lang="en-US" dirty="0" smtClean="0"/>
              <a:t> the classical state table method is used in this method.</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dirty="0" smtClean="0"/>
              <a:t>Working of a Hardwired Control Unit</a:t>
            </a:r>
            <a:endParaRPr lang="en-US" dirty="0"/>
          </a:p>
        </p:txBody>
      </p:sp>
      <p:sp>
        <p:nvSpPr>
          <p:cNvPr id="3" name="Content Placeholder 2"/>
          <p:cNvSpPr>
            <a:spLocks noGrp="1"/>
          </p:cNvSpPr>
          <p:nvPr>
            <p:ph idx="1"/>
          </p:nvPr>
        </p:nvSpPr>
        <p:spPr/>
        <p:txBody>
          <a:bodyPr>
            <a:normAutofit/>
          </a:bodyPr>
          <a:lstStyle/>
          <a:p>
            <a:r>
              <a:rPr lang="en-US" dirty="0" smtClean="0"/>
              <a:t>The basic data for control signal creation is contained in the operation code of an instruction. </a:t>
            </a:r>
          </a:p>
          <a:p>
            <a:endParaRPr lang="en-US" dirty="0" smtClean="0"/>
          </a:p>
          <a:p>
            <a:r>
              <a:rPr lang="en-US" dirty="0" smtClean="0"/>
              <a:t>The operation code is decoded in the instruction decoder. The instruction decoder is a collection of decoders that decode various fields of the instruction </a:t>
            </a:r>
            <a:r>
              <a:rPr lang="en-US" dirty="0" err="1" smtClean="0"/>
              <a:t>opcode</a:t>
            </a:r>
            <a:r>
              <a:rPr lang="en-US" dirty="0" smtClean="0"/>
              <a:t>.</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Timing Signals of hardwired control unit :</a:t>
            </a:r>
            <a:endParaRPr lang="en-US" dirty="0"/>
          </a:p>
        </p:txBody>
      </p:sp>
      <p:sp>
        <p:nvSpPr>
          <p:cNvPr id="3" name="Content Placeholder 2"/>
          <p:cNvSpPr>
            <a:spLocks noGrp="1"/>
          </p:cNvSpPr>
          <p:nvPr>
            <p:ph idx="1"/>
          </p:nvPr>
        </p:nvSpPr>
        <p:spPr/>
        <p:txBody>
          <a:bodyPr/>
          <a:lstStyle/>
          <a:p>
            <a:r>
              <a:rPr lang="en-US" dirty="0" smtClean="0"/>
              <a:t>Generated by 4-bit sequence counter and 4x16 decoder.</a:t>
            </a:r>
          </a:p>
          <a:p>
            <a:r>
              <a:rPr lang="en-US" dirty="0" smtClean="0"/>
              <a:t>The SC can be incremented or cleared. </a:t>
            </a:r>
          </a:p>
          <a:p>
            <a:r>
              <a:rPr lang="en-US" dirty="0" smtClean="0"/>
              <a:t>Example: T0, T1, T2, T3, T4, T0, T1 . . . </a:t>
            </a:r>
          </a:p>
          <a:p>
            <a:r>
              <a:rPr lang="en-US" dirty="0" smtClean="0"/>
              <a:t>Assume: At time T4, SC is cleared to 0 if decoder output D3 is active: D3T4: SC &lt;¬ 0</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GUKT\Desktop\timing.jpg"/>
          <p:cNvPicPr>
            <a:picLocks noChangeAspect="1" noChangeArrowheads="1"/>
          </p:cNvPicPr>
          <p:nvPr/>
        </p:nvPicPr>
        <p:blipFill>
          <a:blip r:embed="rId2"/>
          <a:srcRect/>
          <a:stretch>
            <a:fillRect/>
          </a:stretch>
        </p:blipFill>
        <p:spPr bwMode="auto">
          <a:xfrm>
            <a:off x="0" y="228600"/>
            <a:ext cx="8153400" cy="66294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Hardwired Control Unit :</a:t>
            </a:r>
            <a:endParaRPr lang="en-US" dirty="0"/>
          </a:p>
        </p:txBody>
      </p:sp>
      <p:sp>
        <p:nvSpPr>
          <p:cNvPr id="3" name="Content Placeholder 2"/>
          <p:cNvSpPr>
            <a:spLocks noGrp="1"/>
          </p:cNvSpPr>
          <p:nvPr>
            <p:ph idx="1"/>
          </p:nvPr>
        </p:nvSpPr>
        <p:spPr/>
        <p:txBody>
          <a:bodyPr>
            <a:normAutofit/>
          </a:bodyPr>
          <a:lstStyle/>
          <a:p>
            <a:pPr fontAlgn="base"/>
            <a:r>
              <a:rPr lang="en-US" dirty="0" smtClean="0"/>
              <a:t>Because </a:t>
            </a:r>
            <a:r>
              <a:rPr lang="en-US" dirty="0" smtClean="0"/>
              <a:t>of the use of combinational circuits to generate signals, Hardwired Control Unit is fast.</a:t>
            </a:r>
          </a:p>
          <a:p>
            <a:pPr fontAlgn="base"/>
            <a:r>
              <a:rPr lang="en-US" dirty="0" smtClean="0"/>
              <a:t>It depends on number of gates, how much delay can occur in generation of control signals.</a:t>
            </a:r>
          </a:p>
          <a:p>
            <a:pPr fontAlgn="base"/>
            <a:r>
              <a:rPr lang="en-US" dirty="0" smtClean="0"/>
              <a:t>It can be optimized to produce the fast mode of operation.</a:t>
            </a:r>
          </a:p>
          <a:p>
            <a:pPr fontAlgn="base"/>
            <a:r>
              <a:rPr lang="en-US" dirty="0" smtClean="0"/>
              <a:t>Faster than micro- programmed control unit.</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Hardwired Control Unit :</a:t>
            </a:r>
            <a:endParaRPr lang="en-US" dirty="0"/>
          </a:p>
        </p:txBody>
      </p:sp>
      <p:sp>
        <p:nvSpPr>
          <p:cNvPr id="3" name="Content Placeholder 2"/>
          <p:cNvSpPr>
            <a:spLocks noGrp="1"/>
          </p:cNvSpPr>
          <p:nvPr>
            <p:ph idx="1"/>
          </p:nvPr>
        </p:nvSpPr>
        <p:spPr/>
        <p:txBody>
          <a:bodyPr/>
          <a:lstStyle/>
          <a:p>
            <a:pPr fontAlgn="base"/>
            <a:r>
              <a:rPr lang="en-US" dirty="0" smtClean="0"/>
              <a:t>The complexity of the design increases as we require more control signals to be generated (need of more encoders &amp; decoders)</a:t>
            </a:r>
          </a:p>
          <a:p>
            <a:pPr fontAlgn="base"/>
            <a:r>
              <a:rPr lang="en-US" dirty="0" smtClean="0"/>
              <a:t>Modifications in the control signals are very difficult because it requires rearranging of wires in the hardware circuit.</a:t>
            </a:r>
          </a:p>
          <a:p>
            <a:pPr fontAlgn="base"/>
            <a:r>
              <a:rPr lang="en-US" dirty="0" smtClean="0"/>
              <a:t>Adding a new feature is difficult &amp; complex.</a:t>
            </a:r>
          </a:p>
          <a:p>
            <a:pPr fontAlgn="base"/>
            <a:r>
              <a:rPr lang="en-US" dirty="0" smtClean="0"/>
              <a:t>Difficult to test &amp; correct mistakes in the original design.</a:t>
            </a:r>
          </a:p>
          <a:p>
            <a:pPr fontAlgn="base"/>
            <a:r>
              <a:rPr lang="en-US" dirty="0" smtClean="0"/>
              <a:t>It is Expensive.</a:t>
            </a:r>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5" y="1"/>
          <a:ext cx="9144004" cy="6918847"/>
        </p:xfrm>
        <a:graphic>
          <a:graphicData uri="http://schemas.openxmlformats.org/drawingml/2006/table">
            <a:tbl>
              <a:tblPr/>
              <a:tblGrid>
                <a:gridCol w="4572002"/>
                <a:gridCol w="4572002"/>
              </a:tblGrid>
              <a:tr h="790218">
                <a:tc>
                  <a:txBody>
                    <a:bodyPr/>
                    <a:lstStyle/>
                    <a:p>
                      <a:pPr algn="l" fontAlgn="base">
                        <a:buFont typeface="Arial" pitchFamily="34" charset="0"/>
                        <a:buNone/>
                      </a:pPr>
                      <a:r>
                        <a:rPr lang="en-US" sz="2400" b="1" dirty="0">
                          <a:solidFill>
                            <a:srgbClr val="FF0000"/>
                          </a:solidFill>
                          <a:latin typeface="+mj-lt"/>
                        </a:rPr>
                        <a:t>Hardwired Control Unit</a:t>
                      </a:r>
                    </a:p>
                  </a:txBody>
                  <a:tcPr marL="58190" marR="58190" marT="58190" marB="58190" anchor="ctr">
                    <a:lnL>
                      <a:noFill/>
                    </a:lnL>
                    <a:lnR>
                      <a:noFill/>
                    </a:lnR>
                    <a:lnT>
                      <a:noFill/>
                    </a:lnT>
                    <a:lnB>
                      <a:noFill/>
                    </a:lnB>
                    <a:solidFill>
                      <a:srgbClr val="FFFFFF"/>
                    </a:solidFill>
                  </a:tcPr>
                </a:tc>
                <a:tc>
                  <a:txBody>
                    <a:bodyPr/>
                    <a:lstStyle/>
                    <a:p>
                      <a:pPr algn="l" fontAlgn="base">
                        <a:buFont typeface="Arial" pitchFamily="34" charset="0"/>
                        <a:buNone/>
                      </a:pPr>
                      <a:r>
                        <a:rPr lang="en-US" sz="2400" b="1" dirty="0">
                          <a:solidFill>
                            <a:srgbClr val="FF0000"/>
                          </a:solidFill>
                          <a:latin typeface="+mj-lt"/>
                        </a:rPr>
                        <a:t>Microprogrammed Control Unit</a:t>
                      </a:r>
                    </a:p>
                  </a:txBody>
                  <a:tcPr marL="58190" marR="58190" marT="58190" marB="58190" anchor="ctr">
                    <a:lnL>
                      <a:noFill/>
                    </a:lnL>
                    <a:lnR>
                      <a:noFill/>
                    </a:lnR>
                    <a:lnT>
                      <a:noFill/>
                    </a:lnT>
                    <a:lnB>
                      <a:noFill/>
                    </a:lnB>
                    <a:solidFill>
                      <a:srgbClr val="FFFFFF"/>
                    </a:solidFill>
                  </a:tcPr>
                </a:tc>
              </a:tr>
              <a:tr h="962551">
                <a:tc>
                  <a:txBody>
                    <a:bodyPr/>
                    <a:lstStyle/>
                    <a:p>
                      <a:pPr algn="l" fontAlgn="base">
                        <a:buFont typeface="Arial" pitchFamily="34" charset="0"/>
                        <a:buChar char="•"/>
                      </a:pPr>
                      <a:r>
                        <a:rPr lang="en-US" sz="1600" b="1" dirty="0">
                          <a:latin typeface="+mj-lt"/>
                        </a:rPr>
                        <a:t>Hardwired control unit generates the control signals needed for the processor using logic circuits</a:t>
                      </a: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a:latin typeface="+mj-lt"/>
                        </a:rPr>
                        <a:t>Micrprogrammed control unit generates the control signals with the help of micro instructions stored in control memory</a:t>
                      </a:r>
                    </a:p>
                  </a:txBody>
                  <a:tcPr marL="58190" marR="58190" marT="81466" marB="81466" anchor="ctr">
                    <a:lnL>
                      <a:noFill/>
                    </a:lnL>
                    <a:lnR>
                      <a:noFill/>
                    </a:lnR>
                    <a:lnT>
                      <a:noFill/>
                    </a:lnT>
                    <a:lnB>
                      <a:noFill/>
                    </a:lnB>
                    <a:solidFill>
                      <a:srgbClr val="FFFFFF"/>
                    </a:solidFill>
                  </a:tcPr>
                </a:tc>
              </a:tr>
              <a:tr h="1142926">
                <a:tc>
                  <a:txBody>
                    <a:bodyPr/>
                    <a:lstStyle/>
                    <a:p>
                      <a:pPr algn="l" fontAlgn="base">
                        <a:buFont typeface="Arial" pitchFamily="34" charset="0"/>
                        <a:buChar char="•"/>
                      </a:pPr>
                      <a:r>
                        <a:rPr lang="en-US" sz="1600" b="1" dirty="0">
                          <a:latin typeface="+mj-lt"/>
                        </a:rPr>
                        <a:t>Hardwired control unit is faster when compared to </a:t>
                      </a:r>
                      <a:r>
                        <a:rPr lang="en-US" sz="1600" b="1" dirty="0" smtClean="0">
                          <a:latin typeface="+mj-lt"/>
                        </a:rPr>
                        <a:t>micro programmed </a:t>
                      </a:r>
                      <a:r>
                        <a:rPr lang="en-US" sz="1600" b="1" dirty="0">
                          <a:latin typeface="+mj-lt"/>
                        </a:rPr>
                        <a:t>control unit as the required control signals are generated with the help of </a:t>
                      </a:r>
                      <a:r>
                        <a:rPr lang="en-US" sz="1600" b="1" dirty="0" smtClean="0">
                          <a:latin typeface="+mj-lt"/>
                        </a:rPr>
                        <a:t>hardware</a:t>
                      </a:r>
                      <a:endParaRPr lang="en-US" sz="1600" b="1" dirty="0">
                        <a:latin typeface="+mj-lt"/>
                      </a:endParaRP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a:latin typeface="+mj-lt"/>
                        </a:rPr>
                        <a:t>This is slower than the other as micro instructions are used for generating signals here</a:t>
                      </a:r>
                    </a:p>
                  </a:txBody>
                  <a:tcPr marL="58190" marR="58190" marT="81466" marB="81466" anchor="ctr">
                    <a:lnL>
                      <a:noFill/>
                    </a:lnL>
                    <a:lnR>
                      <a:noFill/>
                    </a:lnR>
                    <a:lnT>
                      <a:noFill/>
                    </a:lnT>
                    <a:lnB>
                      <a:noFill/>
                    </a:lnB>
                    <a:solidFill>
                      <a:srgbClr val="FFFFFF"/>
                    </a:solidFill>
                  </a:tcPr>
                </a:tc>
              </a:tr>
              <a:tr h="782175">
                <a:tc>
                  <a:txBody>
                    <a:bodyPr/>
                    <a:lstStyle/>
                    <a:p>
                      <a:pPr algn="l" fontAlgn="base">
                        <a:buFont typeface="Arial" pitchFamily="34" charset="0"/>
                        <a:buChar char="•"/>
                      </a:pPr>
                      <a:r>
                        <a:rPr lang="en-US" sz="1600" b="1" dirty="0">
                          <a:latin typeface="+mj-lt"/>
                        </a:rPr>
                        <a:t>Difficult to modify as the control signals that need to be generated are hard wired</a:t>
                      </a: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dirty="0">
                          <a:latin typeface="+mj-lt"/>
                        </a:rPr>
                        <a:t>Easy to modify as the modification need to be done only at the instruction level</a:t>
                      </a:r>
                    </a:p>
                  </a:txBody>
                  <a:tcPr marL="58190" marR="58190" marT="81466" marB="81466" anchor="ctr">
                    <a:lnL>
                      <a:noFill/>
                    </a:lnL>
                    <a:lnR>
                      <a:noFill/>
                    </a:lnR>
                    <a:lnT>
                      <a:noFill/>
                    </a:lnT>
                    <a:lnB>
                      <a:noFill/>
                    </a:lnB>
                    <a:solidFill>
                      <a:srgbClr val="FFFFFF"/>
                    </a:solidFill>
                  </a:tcPr>
                </a:tc>
              </a:tr>
              <a:tr h="833603">
                <a:tc>
                  <a:txBody>
                    <a:bodyPr/>
                    <a:lstStyle/>
                    <a:p>
                      <a:pPr algn="l" fontAlgn="base">
                        <a:buFont typeface="Arial" pitchFamily="34" charset="0"/>
                        <a:buChar char="•"/>
                      </a:pPr>
                      <a:r>
                        <a:rPr lang="en-US" sz="1600" b="1" dirty="0">
                          <a:latin typeface="+mj-lt"/>
                        </a:rPr>
                        <a:t>More costlier as everything has to be realized in terms of logic gates</a:t>
                      </a: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dirty="0">
                          <a:latin typeface="+mj-lt"/>
                        </a:rPr>
                        <a:t>Less costlier than hardwired control as only micro instructions are used for generating control signals</a:t>
                      </a:r>
                    </a:p>
                  </a:txBody>
                  <a:tcPr marL="58190" marR="58190" marT="81466" marB="81466" anchor="ctr">
                    <a:lnL>
                      <a:noFill/>
                    </a:lnL>
                    <a:lnR>
                      <a:noFill/>
                    </a:lnR>
                    <a:lnT>
                      <a:noFill/>
                    </a:lnT>
                    <a:lnB>
                      <a:noFill/>
                    </a:lnB>
                    <a:solidFill>
                      <a:srgbClr val="FFFFFF"/>
                    </a:solidFill>
                  </a:tcPr>
                </a:tc>
              </a:tr>
              <a:tr h="782175">
                <a:tc>
                  <a:txBody>
                    <a:bodyPr/>
                    <a:lstStyle/>
                    <a:p>
                      <a:pPr algn="l" fontAlgn="base">
                        <a:buFont typeface="Arial" pitchFamily="34" charset="0"/>
                        <a:buChar char="•"/>
                      </a:pPr>
                      <a:r>
                        <a:rPr lang="en-US" sz="1600" b="1" dirty="0">
                          <a:latin typeface="+mj-lt"/>
                        </a:rPr>
                        <a:t>It cannot handle complex instructions as the circuit design for it becomes complex</a:t>
                      </a: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dirty="0">
                          <a:latin typeface="+mj-lt"/>
                        </a:rPr>
                        <a:t>It can handle complex instructions</a:t>
                      </a:r>
                    </a:p>
                  </a:txBody>
                  <a:tcPr marL="58190" marR="58190" marT="81466" marB="81466" anchor="ctr">
                    <a:lnL>
                      <a:noFill/>
                    </a:lnL>
                    <a:lnR>
                      <a:noFill/>
                    </a:lnR>
                    <a:lnT>
                      <a:noFill/>
                    </a:lnT>
                    <a:lnB>
                      <a:noFill/>
                    </a:lnB>
                    <a:solidFill>
                      <a:srgbClr val="FFFFFF"/>
                    </a:solidFill>
                  </a:tcPr>
                </a:tc>
              </a:tr>
              <a:tr h="782175">
                <a:tc>
                  <a:txBody>
                    <a:bodyPr/>
                    <a:lstStyle/>
                    <a:p>
                      <a:pPr algn="l" fontAlgn="base">
                        <a:buFont typeface="Arial" pitchFamily="34" charset="0"/>
                        <a:buChar char="•"/>
                      </a:pPr>
                      <a:r>
                        <a:rPr lang="en-US" sz="1600" b="1">
                          <a:latin typeface="+mj-lt"/>
                        </a:rPr>
                        <a:t>Only limited number of instructions are used due to the hardware implementation</a:t>
                      </a: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dirty="0">
                          <a:latin typeface="+mj-lt"/>
                        </a:rPr>
                        <a:t>Control signals for many instructions can be generated</a:t>
                      </a:r>
                    </a:p>
                  </a:txBody>
                  <a:tcPr marL="58190" marR="58190" marT="81466" marB="81466" anchor="ctr">
                    <a:lnL>
                      <a:noFill/>
                    </a:lnL>
                    <a:lnR>
                      <a:noFill/>
                    </a:lnR>
                    <a:lnT>
                      <a:noFill/>
                    </a:lnT>
                    <a:lnB>
                      <a:noFill/>
                    </a:lnB>
                    <a:solidFill>
                      <a:srgbClr val="FFFFFF"/>
                    </a:solidFill>
                  </a:tcPr>
                </a:tc>
              </a:tr>
              <a:tr h="782175">
                <a:tc>
                  <a:txBody>
                    <a:bodyPr/>
                    <a:lstStyle/>
                    <a:p>
                      <a:pPr algn="l" fontAlgn="base">
                        <a:buFont typeface="Arial" pitchFamily="34" charset="0"/>
                        <a:buChar char="•"/>
                      </a:pPr>
                      <a:r>
                        <a:rPr lang="en-US" sz="1600" b="1" dirty="0">
                          <a:latin typeface="+mj-lt"/>
                        </a:rPr>
                        <a:t>Used in computer that makes use of Reduced Instruction Set Computers(RISC)</a:t>
                      </a:r>
                    </a:p>
                  </a:txBody>
                  <a:tcPr marL="58190" marR="58190" marT="81466" marB="81466" anchor="ctr">
                    <a:lnL>
                      <a:noFill/>
                    </a:lnL>
                    <a:lnR>
                      <a:noFill/>
                    </a:lnR>
                    <a:lnT>
                      <a:noFill/>
                    </a:lnT>
                    <a:lnB>
                      <a:noFill/>
                    </a:lnB>
                    <a:solidFill>
                      <a:srgbClr val="FFFFFF"/>
                    </a:solidFill>
                  </a:tcPr>
                </a:tc>
                <a:tc>
                  <a:txBody>
                    <a:bodyPr/>
                    <a:lstStyle/>
                    <a:p>
                      <a:pPr algn="l" fontAlgn="base">
                        <a:buFont typeface="Arial" pitchFamily="34" charset="0"/>
                        <a:buChar char="•"/>
                      </a:pPr>
                      <a:r>
                        <a:rPr lang="en-US" sz="1600" b="1" dirty="0">
                          <a:latin typeface="+mj-lt"/>
                        </a:rPr>
                        <a:t>Used in computer that makes use of Complex Instruction Set Computers(CISC)</a:t>
                      </a:r>
                    </a:p>
                  </a:txBody>
                  <a:tcPr marL="58190" marR="58190" marT="81466" marB="81466" anchor="ctr">
                    <a:lnL>
                      <a:noFill/>
                    </a:lnL>
                    <a:lnR>
                      <a:noFill/>
                    </a:lnR>
                    <a:lnT>
                      <a:noFill/>
                    </a:lnT>
                    <a:lnB>
                      <a:noFill/>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RGUKT\Desktop\difference_between_hardwired_and_microprogrammed_control_unit.png"/>
          <p:cNvPicPr>
            <a:picLocks noGrp="1" noChangeAspect="1" noChangeArrowheads="1"/>
          </p:cNvPicPr>
          <p:nvPr>
            <p:ph idx="4294967295"/>
          </p:nvPr>
        </p:nvPicPr>
        <p:blipFill>
          <a:blip r:embed="rId2"/>
          <a:srcRect/>
          <a:stretch>
            <a:fillRect/>
          </a:stretch>
        </p:blipFill>
        <p:spPr bwMode="auto">
          <a:xfrm>
            <a:off x="0" y="0"/>
            <a:ext cx="9144000" cy="6954838"/>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u Chanti\Desktop\Thank you.jpg"/>
          <p:cNvPicPr>
            <a:picLocks noChangeAspect="1" noChangeArrowheads="1"/>
          </p:cNvPicPr>
          <p:nvPr/>
        </p:nvPicPr>
        <p:blipFill>
          <a:blip r:embed="rId2" cstate="print"/>
          <a:srcRect/>
          <a:stretch>
            <a:fillRect/>
          </a:stretch>
        </p:blipFill>
        <p:spPr bwMode="auto">
          <a:xfrm>
            <a:off x="838201" y="381000"/>
            <a:ext cx="7162799" cy="58674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89</TotalTime>
  <Words>654</Words>
  <Application>Microsoft Office PowerPoint</Application>
  <PresentationFormat>On-screen Show (4:3)</PresentationFormat>
  <Paragraphs>56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Opulent</vt:lpstr>
      <vt:lpstr>Hardwired Control Unit </vt:lpstr>
      <vt:lpstr>Hardwired Control Unit</vt:lpstr>
      <vt:lpstr>Hardwired Control Unit</vt:lpstr>
      <vt:lpstr>Slide 4</vt:lpstr>
      <vt:lpstr>Hardwired Control Unit</vt:lpstr>
      <vt:lpstr>Hardwired Control Unit</vt:lpstr>
      <vt:lpstr>Designing of Hardwired Control Unit</vt:lpstr>
      <vt:lpstr>Working of a Hardwired Control Unit</vt:lpstr>
      <vt:lpstr>Timing Signals of hardwired control unit :</vt:lpstr>
      <vt:lpstr>Slide 10</vt:lpstr>
      <vt:lpstr>Advantages of Hardwired Control Unit :</vt:lpstr>
      <vt:lpstr>Disadvantages of Hardwired Control Unit :</vt:lpstr>
      <vt:lpstr>Slide 13</vt:lpstr>
      <vt:lpstr>Slide 14</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Hardwired Control Unit </dc:title>
  <dc:creator>RGUKT</dc:creator>
  <cp:lastModifiedBy>RGUKT</cp:lastModifiedBy>
  <cp:revision>20</cp:revision>
  <dcterms:created xsi:type="dcterms:W3CDTF">2006-08-16T00:00:00Z</dcterms:created>
  <dcterms:modified xsi:type="dcterms:W3CDTF">2022-07-14T00:40:53Z</dcterms:modified>
</cp:coreProperties>
</file>