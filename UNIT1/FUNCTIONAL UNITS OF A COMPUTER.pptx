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43000" y="762000"/>
            <a:ext cx="880872" cy="1295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581400" y="762000"/>
            <a:ext cx="1447800" cy="12801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137483" y="989940"/>
            <a:ext cx="1588725" cy="8382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08375" y="2071242"/>
            <a:ext cx="2127250" cy="391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 u="heavy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 u="heavy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 u="heavy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1/24/2024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2140" y="388365"/>
            <a:ext cx="1996439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 u="heavy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9740" y="1310385"/>
            <a:ext cx="8224519" cy="3830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eg"/><Relationship Id="rId5" Type="http://schemas.openxmlformats.org/officeDocument/2006/relationships/image" Target="../media/image26.png"/><Relationship Id="rId4" Type="http://schemas.openxmlformats.org/officeDocument/2006/relationships/image" Target="../media/image29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400" y="2457069"/>
            <a:ext cx="6477000" cy="40145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/>
            <a:r>
              <a:rPr sz="4400" b="1" u="none" spc="-75" dirty="0">
                <a:latin typeface="Trebuchet MS"/>
                <a:cs typeface="Trebuchet MS"/>
              </a:rPr>
              <a:t>Functional</a:t>
            </a:r>
            <a:r>
              <a:rPr sz="4400" b="1" u="none" spc="-210" dirty="0">
                <a:latin typeface="Trebuchet MS"/>
                <a:cs typeface="Trebuchet MS"/>
              </a:rPr>
              <a:t> </a:t>
            </a:r>
            <a:r>
              <a:rPr sz="4400" b="1" u="none" spc="-30" dirty="0">
                <a:latin typeface="Trebuchet MS"/>
                <a:cs typeface="Trebuchet MS"/>
              </a:rPr>
              <a:t>Units</a:t>
            </a:r>
            <a:r>
              <a:rPr lang="en-US" sz="4400" b="1" u="none" spc="-30" dirty="0">
                <a:latin typeface="Trebuchet MS"/>
                <a:cs typeface="Trebuchet MS"/>
              </a:rPr>
              <a:t> Of A Computer</a:t>
            </a:r>
            <a:br>
              <a:rPr lang="en-US" sz="4400" b="1" u="none" spc="-30" dirty="0">
                <a:latin typeface="Trebuchet MS"/>
                <a:cs typeface="Trebuchet MS"/>
              </a:rPr>
            </a:br>
            <a:br>
              <a:rPr lang="en-US" sz="4400" b="1" u="none" spc="-30" dirty="0">
                <a:latin typeface="Trebuchet MS"/>
                <a:cs typeface="Trebuchet MS"/>
              </a:rPr>
            </a:br>
            <a:r>
              <a:rPr lang="en-US" sz="1600" u="none" dirty="0">
                <a:latin typeface="Lucida Calligraphy" pitchFamily="66" charset="0"/>
              </a:rPr>
              <a:t>By</a:t>
            </a:r>
            <a:br>
              <a:rPr lang="en-US" sz="1600" u="none" dirty="0">
                <a:latin typeface="Lucida Calligraphy" pitchFamily="66" charset="0"/>
              </a:rPr>
            </a:br>
            <a:r>
              <a:rPr lang="en-US" u="none" dirty="0">
                <a:latin typeface="Times New Roman" pitchFamily="18" charset="0"/>
                <a:cs typeface="Times New Roman" pitchFamily="18" charset="0"/>
              </a:rPr>
              <a:t>M.BABY ANUSHA</a:t>
            </a:r>
            <a:br>
              <a:rPr lang="en-US" sz="1600" u="none" dirty="0">
                <a:latin typeface="Times New Roman" pitchFamily="18" charset="0"/>
                <a:cs typeface="Times New Roman" pitchFamily="18" charset="0"/>
              </a:rPr>
            </a:br>
            <a:r>
              <a:rPr lang="en-US" sz="1600" u="none" dirty="0">
                <a:latin typeface="Times New Roman" pitchFamily="18" charset="0"/>
                <a:cs typeface="Times New Roman" pitchFamily="18" charset="0"/>
              </a:rPr>
              <a:t>Asst. Professor,</a:t>
            </a:r>
            <a:br>
              <a:rPr lang="en-US" sz="1600" u="none" dirty="0">
                <a:latin typeface="Times New Roman" pitchFamily="18" charset="0"/>
                <a:cs typeface="Times New Roman" pitchFamily="18" charset="0"/>
              </a:rPr>
            </a:br>
            <a:r>
              <a:rPr lang="en-US" sz="1600" u="none" dirty="0">
                <a:latin typeface="Times New Roman" pitchFamily="18" charset="0"/>
                <a:cs typeface="Times New Roman" pitchFamily="18" charset="0"/>
              </a:rPr>
              <a:t>CSE Department</a:t>
            </a:r>
            <a:br>
              <a:rPr lang="en-US" sz="1600" u="none" dirty="0">
                <a:latin typeface="Times New Roman" pitchFamily="18" charset="0"/>
                <a:cs typeface="Times New Roman" pitchFamily="18" charset="0"/>
              </a:rPr>
            </a:br>
            <a:r>
              <a:rPr lang="en-US" sz="1600" u="none" dirty="0">
                <a:latin typeface="Baskerville Old Face" pitchFamily="18" charset="0"/>
              </a:rPr>
              <a:t>RAMACHANDRA COLLEGE OF ENGINEERING</a:t>
            </a:r>
            <a:br>
              <a:rPr lang="en-US" sz="1600" u="none" dirty="0">
                <a:latin typeface="Baskerville Old Face" pitchFamily="18" charset="0"/>
              </a:rPr>
            </a:br>
            <a:br>
              <a:rPr lang="en-US" sz="1600" dirty="0"/>
            </a:br>
            <a:endParaRPr sz="1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336549"/>
            <a:ext cx="61948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u="none" spc="-10" dirty="0"/>
              <a:t>Computer</a:t>
            </a:r>
            <a:r>
              <a:rPr sz="4000" u="none" spc="-50" dirty="0"/>
              <a:t> </a:t>
            </a:r>
            <a:r>
              <a:rPr sz="4000" u="none" spc="-15" dirty="0"/>
              <a:t>Architecture</a:t>
            </a:r>
            <a:endParaRPr sz="4000" dirty="0"/>
          </a:p>
        </p:txBody>
      </p:sp>
      <p:sp>
        <p:nvSpPr>
          <p:cNvPr id="3" name="object 3"/>
          <p:cNvSpPr/>
          <p:nvPr/>
        </p:nvSpPr>
        <p:spPr>
          <a:xfrm>
            <a:off x="675512" y="1490472"/>
            <a:ext cx="152019" cy="1422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5512" y="2587751"/>
            <a:ext cx="152019" cy="1422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5512" y="3685032"/>
            <a:ext cx="152019" cy="1422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5512" y="5294376"/>
            <a:ext cx="152019" cy="1422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12140" y="1185868"/>
            <a:ext cx="7997825" cy="5366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715" indent="272415" algn="just">
              <a:lnSpc>
                <a:spcPct val="140000"/>
              </a:lnSpc>
              <a:spcBef>
                <a:spcPts val="95"/>
              </a:spcBef>
            </a:pPr>
            <a:r>
              <a:rPr sz="2400" spc="-5" dirty="0">
                <a:latin typeface="Times New Roman"/>
                <a:cs typeface="Times New Roman"/>
              </a:rPr>
              <a:t>A computer </a:t>
            </a:r>
            <a:r>
              <a:rPr sz="2400" spc="-10" dirty="0">
                <a:latin typeface="Times New Roman"/>
                <a:cs typeface="Times New Roman"/>
              </a:rPr>
              <a:t>organization </a:t>
            </a:r>
            <a:r>
              <a:rPr sz="2400" spc="-5" dirty="0">
                <a:latin typeface="Times New Roman"/>
                <a:cs typeface="Times New Roman"/>
              </a:rPr>
              <a:t>describes the </a:t>
            </a:r>
            <a:r>
              <a:rPr sz="2400" dirty="0">
                <a:latin typeface="Times New Roman"/>
                <a:cs typeface="Times New Roman"/>
              </a:rPr>
              <a:t>functions and design of  the various units </a:t>
            </a:r>
            <a:r>
              <a:rPr sz="2400" spc="-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digital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computers.</a:t>
            </a:r>
            <a:endParaRPr sz="2400">
              <a:latin typeface="Times New Roman"/>
              <a:cs typeface="Times New Roman"/>
            </a:endParaRPr>
          </a:p>
          <a:p>
            <a:pPr marL="12700" marR="5715" indent="213360" algn="just">
              <a:lnSpc>
                <a:spcPct val="140000"/>
              </a:lnSpc>
              <a:spcBef>
                <a:spcPts val="580"/>
              </a:spcBef>
            </a:pPr>
            <a:r>
              <a:rPr sz="2400" spc="-5" dirty="0">
                <a:latin typeface="Times New Roman"/>
                <a:cs typeface="Times New Roman"/>
              </a:rPr>
              <a:t>Computer Architecture </a:t>
            </a:r>
            <a:r>
              <a:rPr sz="2400" spc="-10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defined as the </a:t>
            </a:r>
            <a:r>
              <a:rPr sz="2400" spc="-5" dirty="0">
                <a:latin typeface="Times New Roman"/>
                <a:cs typeface="Times New Roman"/>
              </a:rPr>
              <a:t>functional operation </a:t>
            </a:r>
            <a:r>
              <a:rPr sz="2400" dirty="0">
                <a:latin typeface="Times New Roman"/>
                <a:cs typeface="Times New Roman"/>
              </a:rPr>
              <a:t>of  the individual </a:t>
            </a:r>
            <a:r>
              <a:rPr sz="2400" spc="-5" dirty="0">
                <a:latin typeface="Times New Roman"/>
                <a:cs typeface="Times New Roman"/>
              </a:rPr>
              <a:t>h/w </a:t>
            </a:r>
            <a:r>
              <a:rPr sz="2400" dirty="0">
                <a:latin typeface="Times New Roman"/>
                <a:cs typeface="Times New Roman"/>
              </a:rPr>
              <a:t>unit in a </a:t>
            </a:r>
            <a:r>
              <a:rPr sz="2400" spc="-5" dirty="0">
                <a:latin typeface="Times New Roman"/>
                <a:cs typeface="Times New Roman"/>
              </a:rPr>
              <a:t>computer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system.</a:t>
            </a:r>
            <a:endParaRPr sz="2400">
              <a:latin typeface="Times New Roman"/>
              <a:cs typeface="Times New Roman"/>
            </a:endParaRPr>
          </a:p>
          <a:p>
            <a:pPr marL="12700" marR="5080" indent="272415" algn="just">
              <a:lnSpc>
                <a:spcPct val="140000"/>
              </a:lnSpc>
              <a:spcBef>
                <a:spcPts val="575"/>
              </a:spcBef>
            </a:pPr>
            <a:r>
              <a:rPr sz="2400" spc="-5" dirty="0">
                <a:latin typeface="Times New Roman"/>
                <a:cs typeface="Times New Roman"/>
              </a:rPr>
              <a:t>A computer architecture </a:t>
            </a:r>
            <a:r>
              <a:rPr sz="2400" spc="-10" dirty="0">
                <a:latin typeface="Times New Roman"/>
                <a:cs typeface="Times New Roman"/>
              </a:rPr>
              <a:t>deals </a:t>
            </a:r>
            <a:r>
              <a:rPr sz="2400" spc="-5" dirty="0">
                <a:latin typeface="Times New Roman"/>
                <a:cs typeface="Times New Roman"/>
              </a:rPr>
              <a:t>with the specification </a:t>
            </a:r>
            <a:r>
              <a:rPr sz="2400" dirty="0">
                <a:latin typeface="Times New Roman"/>
                <a:cs typeface="Times New Roman"/>
              </a:rPr>
              <a:t>of an  </a:t>
            </a:r>
            <a:r>
              <a:rPr sz="2400" spc="-5" dirty="0">
                <a:latin typeface="Times New Roman"/>
                <a:cs typeface="Times New Roman"/>
              </a:rPr>
              <a:t>instruction set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the hardware units that implement </a:t>
            </a:r>
            <a:r>
              <a:rPr sz="2400" spc="-10" dirty="0">
                <a:latin typeface="Times New Roman"/>
                <a:cs typeface="Times New Roman"/>
              </a:rPr>
              <a:t>the  </a:t>
            </a:r>
            <a:r>
              <a:rPr sz="2400" dirty="0">
                <a:latin typeface="Times New Roman"/>
                <a:cs typeface="Times New Roman"/>
              </a:rPr>
              <a:t>instructions.</a:t>
            </a:r>
            <a:endParaRPr sz="2400">
              <a:latin typeface="Times New Roman"/>
              <a:cs typeface="Times New Roman"/>
            </a:endParaRPr>
          </a:p>
          <a:p>
            <a:pPr marL="12700" marR="5715" indent="272415" algn="just">
              <a:lnSpc>
                <a:spcPct val="140000"/>
              </a:lnSpc>
              <a:spcBef>
                <a:spcPts val="580"/>
              </a:spcBef>
            </a:pPr>
            <a:r>
              <a:rPr sz="2400" spc="-5" dirty="0">
                <a:latin typeface="Times New Roman"/>
                <a:cs typeface="Times New Roman"/>
              </a:rPr>
              <a:t>A computer </a:t>
            </a:r>
            <a:r>
              <a:rPr sz="2400" dirty="0">
                <a:latin typeface="Times New Roman"/>
                <a:cs typeface="Times New Roman"/>
              </a:rPr>
              <a:t>hardware </a:t>
            </a:r>
            <a:r>
              <a:rPr sz="2400" spc="-5" dirty="0">
                <a:latin typeface="Times New Roman"/>
                <a:cs typeface="Times New Roman"/>
              </a:rPr>
              <a:t>consists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electronic circuits, displays,  magnetic and </a:t>
            </a:r>
            <a:r>
              <a:rPr sz="2400" dirty="0">
                <a:latin typeface="Times New Roman"/>
                <a:cs typeface="Times New Roman"/>
              </a:rPr>
              <a:t>optic </a:t>
            </a:r>
            <a:r>
              <a:rPr sz="2400" spc="-5" dirty="0">
                <a:latin typeface="Times New Roman"/>
                <a:cs typeface="Times New Roman"/>
              </a:rPr>
              <a:t>storage media and </a:t>
            </a:r>
            <a:r>
              <a:rPr sz="2400" dirty="0">
                <a:latin typeface="Times New Roman"/>
                <a:cs typeface="Times New Roman"/>
              </a:rPr>
              <a:t>also </a:t>
            </a:r>
            <a:r>
              <a:rPr sz="2400" spc="-5" dirty="0">
                <a:latin typeface="Times New Roman"/>
                <a:cs typeface="Times New Roman"/>
              </a:rPr>
              <a:t>the communication  facilities.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1" y="415797"/>
            <a:ext cx="5637022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u="none" spc="-5" dirty="0"/>
              <a:t>Functional</a:t>
            </a:r>
            <a:r>
              <a:rPr sz="4400" u="none" spc="-35" dirty="0"/>
              <a:t> </a:t>
            </a:r>
            <a:r>
              <a:rPr sz="4400" u="none" spc="-5" dirty="0"/>
              <a:t>units</a:t>
            </a:r>
            <a:endParaRPr sz="4400" dirty="0"/>
          </a:p>
        </p:txBody>
      </p:sp>
      <p:sp>
        <p:nvSpPr>
          <p:cNvPr id="3" name="object 3"/>
          <p:cNvSpPr/>
          <p:nvPr/>
        </p:nvSpPr>
        <p:spPr>
          <a:xfrm>
            <a:off x="472440" y="1513332"/>
            <a:ext cx="240792" cy="2484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72440" y="2878835"/>
            <a:ext cx="240792" cy="2484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01239" y="3364991"/>
            <a:ext cx="202692" cy="2133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01239" y="3803903"/>
            <a:ext cx="202692" cy="2133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01239" y="5559552"/>
            <a:ext cx="202692" cy="2133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59740" y="1392681"/>
            <a:ext cx="8223884" cy="44538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48285" algn="just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/>
                <a:cs typeface="Times New Roman"/>
              </a:rPr>
              <a:t>Functional units is a part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a CPU that performs </a:t>
            </a:r>
            <a:r>
              <a:rPr sz="2800" dirty="0">
                <a:latin typeface="Times New Roman"/>
                <a:cs typeface="Times New Roman"/>
              </a:rPr>
              <a:t>the  </a:t>
            </a:r>
            <a:r>
              <a:rPr sz="2800" spc="-5" dirty="0">
                <a:latin typeface="Times New Roman"/>
                <a:cs typeface="Times New Roman"/>
              </a:rPr>
              <a:t>operations and calculations called for by </a:t>
            </a:r>
            <a:r>
              <a:rPr sz="2800" spc="-1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computer  program.</a:t>
            </a:r>
            <a:endParaRPr sz="2800">
              <a:latin typeface="Times New Roman"/>
              <a:cs typeface="Times New Roman"/>
            </a:endParaRPr>
          </a:p>
          <a:p>
            <a:pPr marL="260985" algn="just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latin typeface="Times New Roman"/>
                <a:cs typeface="Times New Roman"/>
              </a:rPr>
              <a:t>Computer consists </a:t>
            </a:r>
            <a:r>
              <a:rPr sz="2800" dirty="0">
                <a:latin typeface="Times New Roman"/>
                <a:cs typeface="Times New Roman"/>
              </a:rPr>
              <a:t>of five </a:t>
            </a:r>
            <a:r>
              <a:rPr sz="2800" spc="-10" dirty="0">
                <a:latin typeface="Times New Roman"/>
                <a:cs typeface="Times New Roman"/>
              </a:rPr>
              <a:t>main </a:t>
            </a:r>
            <a:r>
              <a:rPr sz="2800" spc="-5" dirty="0">
                <a:latin typeface="Times New Roman"/>
                <a:cs typeface="Times New Roman"/>
              </a:rPr>
              <a:t>parts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namely,</a:t>
            </a:r>
            <a:endParaRPr sz="2800">
              <a:latin typeface="Times New Roman"/>
              <a:cs typeface="Times New Roman"/>
            </a:endParaRPr>
          </a:p>
          <a:p>
            <a:pPr marL="2054860" algn="just">
              <a:lnSpc>
                <a:spcPct val="100000"/>
              </a:lnSpc>
              <a:spcBef>
                <a:spcPts val="590"/>
              </a:spcBef>
            </a:pPr>
            <a:r>
              <a:rPr sz="2400" dirty="0">
                <a:latin typeface="Times New Roman"/>
                <a:cs typeface="Times New Roman"/>
              </a:rPr>
              <a:t>Input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unit,</a:t>
            </a:r>
            <a:endParaRPr sz="2400">
              <a:latin typeface="Times New Roman"/>
              <a:cs typeface="Times New Roman"/>
            </a:endParaRPr>
          </a:p>
          <a:p>
            <a:pPr marL="2131060" algn="just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Times New Roman"/>
                <a:cs typeface="Times New Roman"/>
              </a:rPr>
              <a:t>Central Processing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Unit</a:t>
            </a:r>
            <a:endParaRPr sz="2400">
              <a:latin typeface="Times New Roman"/>
              <a:cs typeface="Times New Roman"/>
            </a:endParaRPr>
          </a:p>
          <a:p>
            <a:pPr marL="2863850" indent="-107950">
              <a:lnSpc>
                <a:spcPct val="100000"/>
              </a:lnSpc>
              <a:spcBef>
                <a:spcPts val="575"/>
              </a:spcBef>
              <a:buSzPct val="95833"/>
              <a:buFont typeface="Arial"/>
              <a:buChar char="•"/>
              <a:tabLst>
                <a:tab pos="2864485" algn="l"/>
              </a:tabLst>
            </a:pPr>
            <a:r>
              <a:rPr sz="2400" spc="-5" dirty="0">
                <a:latin typeface="Times New Roman"/>
                <a:cs typeface="Times New Roman"/>
              </a:rPr>
              <a:t>Memory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unit</a:t>
            </a:r>
            <a:endParaRPr sz="2400">
              <a:latin typeface="Times New Roman"/>
              <a:cs typeface="Times New Roman"/>
            </a:endParaRPr>
          </a:p>
          <a:p>
            <a:pPr marL="2863850" indent="-107950">
              <a:lnSpc>
                <a:spcPct val="100000"/>
              </a:lnSpc>
              <a:spcBef>
                <a:spcPts val="575"/>
              </a:spcBef>
              <a:buSzPct val="95833"/>
              <a:buFont typeface="Arial"/>
              <a:buChar char="•"/>
              <a:tabLst>
                <a:tab pos="2864485" algn="l"/>
              </a:tabLst>
            </a:pPr>
            <a:r>
              <a:rPr sz="2400" spc="-5" dirty="0">
                <a:latin typeface="Times New Roman"/>
                <a:cs typeface="Times New Roman"/>
              </a:rPr>
              <a:t>Arithmetic </a:t>
            </a:r>
            <a:r>
              <a:rPr sz="2400" dirty="0">
                <a:latin typeface="Times New Roman"/>
                <a:cs typeface="Times New Roman"/>
              </a:rPr>
              <a:t>&amp; logical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unit</a:t>
            </a:r>
            <a:endParaRPr sz="2400">
              <a:latin typeface="Times New Roman"/>
              <a:cs typeface="Times New Roman"/>
            </a:endParaRPr>
          </a:p>
          <a:p>
            <a:pPr marL="2863850" indent="-107950">
              <a:lnSpc>
                <a:spcPct val="100000"/>
              </a:lnSpc>
              <a:spcBef>
                <a:spcPts val="580"/>
              </a:spcBef>
              <a:buSzPct val="95833"/>
              <a:buFont typeface="Arial"/>
              <a:buChar char="•"/>
              <a:tabLst>
                <a:tab pos="2864485" algn="l"/>
              </a:tabLst>
            </a:pPr>
            <a:r>
              <a:rPr sz="2400" spc="-5" dirty="0">
                <a:latin typeface="Times New Roman"/>
                <a:cs typeface="Times New Roman"/>
              </a:rPr>
              <a:t>Control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unit</a:t>
            </a:r>
            <a:endParaRPr sz="2400">
              <a:latin typeface="Times New Roman"/>
              <a:cs typeface="Times New Roman"/>
            </a:endParaRPr>
          </a:p>
          <a:p>
            <a:pPr marL="2054860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Times New Roman"/>
                <a:cs typeface="Times New Roman"/>
              </a:rPr>
              <a:t>Output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unit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8922" y="4686553"/>
            <a:ext cx="232410" cy="237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9740" y="3544143"/>
            <a:ext cx="8072120" cy="1961514"/>
          </a:xfrm>
          <a:prstGeom prst="rect">
            <a:avLst/>
          </a:prstGeom>
        </p:spPr>
        <p:txBody>
          <a:bodyPr vert="horz" wrap="square" lIns="0" tIns="229870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1810"/>
              </a:spcBef>
            </a:pPr>
            <a:r>
              <a:rPr sz="3600" u="heavy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1. Input</a:t>
            </a:r>
            <a:r>
              <a:rPr sz="3600" u="heavy" spc="-4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 </a:t>
            </a:r>
            <a:r>
              <a:rPr sz="3600" u="heavy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Unit</a:t>
            </a:r>
            <a:endParaRPr sz="3600">
              <a:latin typeface="Carlito"/>
              <a:cs typeface="Carlito"/>
            </a:endParaRPr>
          </a:p>
          <a:p>
            <a:pPr marL="12700" marR="5080" indent="375920">
              <a:lnSpc>
                <a:spcPct val="100000"/>
              </a:lnSpc>
              <a:spcBef>
                <a:spcPts val="1530"/>
              </a:spcBef>
              <a:tabLst>
                <a:tab pos="1471295" algn="l"/>
                <a:tab pos="2486025" algn="l"/>
                <a:tab pos="3220720" algn="l"/>
                <a:tab pos="4208780" algn="l"/>
                <a:tab pos="4803140" algn="l"/>
                <a:tab pos="5196205" algn="l"/>
                <a:tab pos="7074534" algn="l"/>
              </a:tabLst>
            </a:pPr>
            <a:r>
              <a:rPr sz="3200" spc="5" dirty="0">
                <a:latin typeface="Carlito"/>
                <a:cs typeface="Carlito"/>
              </a:rPr>
              <a:t>I</a:t>
            </a:r>
            <a:r>
              <a:rPr sz="3200" spc="-5" dirty="0">
                <a:latin typeface="Carlito"/>
                <a:cs typeface="Carlito"/>
              </a:rPr>
              <a:t>n</a:t>
            </a:r>
            <a:r>
              <a:rPr sz="3200" spc="5" dirty="0">
                <a:latin typeface="Carlito"/>
                <a:cs typeface="Carlito"/>
              </a:rPr>
              <a:t>pu</a:t>
            </a:r>
            <a:r>
              <a:rPr sz="3200" dirty="0">
                <a:latin typeface="Carlito"/>
                <a:cs typeface="Carlito"/>
              </a:rPr>
              <a:t>t	</a:t>
            </a:r>
            <a:r>
              <a:rPr sz="3200" spc="5" dirty="0">
                <a:latin typeface="Carlito"/>
                <a:cs typeface="Carlito"/>
              </a:rPr>
              <a:t>u</a:t>
            </a:r>
            <a:r>
              <a:rPr sz="3200" spc="-5" dirty="0">
                <a:latin typeface="Carlito"/>
                <a:cs typeface="Carlito"/>
              </a:rPr>
              <a:t>nit</a:t>
            </a:r>
            <a:r>
              <a:rPr sz="3200" dirty="0">
                <a:latin typeface="Carlito"/>
                <a:cs typeface="Carlito"/>
              </a:rPr>
              <a:t>s	a</a:t>
            </a:r>
            <a:r>
              <a:rPr sz="3200" spc="-35" dirty="0">
                <a:latin typeface="Carlito"/>
                <a:cs typeface="Carlito"/>
              </a:rPr>
              <a:t>r</a:t>
            </a:r>
            <a:r>
              <a:rPr sz="3200" dirty="0">
                <a:latin typeface="Carlito"/>
                <a:cs typeface="Carlito"/>
              </a:rPr>
              <a:t>e	</a:t>
            </a:r>
            <a:r>
              <a:rPr sz="3200" spc="-5" dirty="0">
                <a:latin typeface="Carlito"/>
                <a:cs typeface="Carlito"/>
              </a:rPr>
              <a:t>use</a:t>
            </a:r>
            <a:r>
              <a:rPr sz="3200" dirty="0">
                <a:latin typeface="Carlito"/>
                <a:cs typeface="Carlito"/>
              </a:rPr>
              <a:t>d	</a:t>
            </a:r>
            <a:r>
              <a:rPr sz="3200" spc="-20" dirty="0">
                <a:latin typeface="Carlito"/>
                <a:cs typeface="Carlito"/>
              </a:rPr>
              <a:t>b</a:t>
            </a:r>
            <a:r>
              <a:rPr sz="3200" dirty="0">
                <a:latin typeface="Carlito"/>
                <a:cs typeface="Carlito"/>
              </a:rPr>
              <a:t>y	a	</a:t>
            </a:r>
            <a:r>
              <a:rPr sz="3200" spc="-25" dirty="0">
                <a:latin typeface="Carlito"/>
                <a:cs typeface="Carlito"/>
              </a:rPr>
              <a:t>c</a:t>
            </a:r>
            <a:r>
              <a:rPr sz="3200" spc="-5" dirty="0">
                <a:latin typeface="Carlito"/>
                <a:cs typeface="Carlito"/>
              </a:rPr>
              <a:t>ompu</a:t>
            </a:r>
            <a:r>
              <a:rPr sz="3200" spc="-40" dirty="0">
                <a:latin typeface="Carlito"/>
                <a:cs typeface="Carlito"/>
              </a:rPr>
              <a:t>t</a:t>
            </a:r>
            <a:r>
              <a:rPr sz="3200" dirty="0">
                <a:latin typeface="Carlito"/>
                <a:cs typeface="Carlito"/>
              </a:rPr>
              <a:t>e</a:t>
            </a:r>
            <a:r>
              <a:rPr sz="3200" spc="-280" dirty="0">
                <a:latin typeface="Carlito"/>
                <a:cs typeface="Carlito"/>
              </a:rPr>
              <a:t>r</a:t>
            </a:r>
            <a:r>
              <a:rPr sz="3200" dirty="0">
                <a:latin typeface="Carlito"/>
                <a:cs typeface="Carlito"/>
              </a:rPr>
              <a:t>,	which  </a:t>
            </a:r>
            <a:r>
              <a:rPr sz="3200" spc="-10" dirty="0">
                <a:latin typeface="Carlito"/>
                <a:cs typeface="Carlito"/>
              </a:rPr>
              <a:t>read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data.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8821" y="661554"/>
            <a:ext cx="5029921" cy="2571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140" y="540765"/>
            <a:ext cx="728472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none" spc="-5" dirty="0"/>
              <a:t>The </a:t>
            </a:r>
            <a:r>
              <a:rPr u="none" spc="-10" dirty="0"/>
              <a:t>most </a:t>
            </a:r>
            <a:r>
              <a:rPr u="none" spc="-5" dirty="0"/>
              <a:t>commonly used </a:t>
            </a:r>
            <a:r>
              <a:rPr u="none" dirty="0"/>
              <a:t>input </a:t>
            </a:r>
            <a:r>
              <a:rPr u="none" spc="-5" dirty="0"/>
              <a:t>devices</a:t>
            </a:r>
            <a:r>
              <a:rPr u="none" spc="5" dirty="0"/>
              <a:t> </a:t>
            </a:r>
            <a:r>
              <a:rPr u="none" spc="-10" dirty="0"/>
              <a:t>are,</a:t>
            </a:r>
          </a:p>
        </p:txBody>
      </p:sp>
      <p:sp>
        <p:nvSpPr>
          <p:cNvPr id="3" name="object 3"/>
          <p:cNvSpPr/>
          <p:nvPr/>
        </p:nvSpPr>
        <p:spPr>
          <a:xfrm>
            <a:off x="1371600" y="1676400"/>
            <a:ext cx="5924850" cy="3200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64458" y="4966792"/>
            <a:ext cx="173926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rlito"/>
                <a:cs typeface="Carlito"/>
              </a:rPr>
              <a:t>Fig:</a:t>
            </a:r>
            <a:r>
              <a:rPr sz="2400" b="1" spc="-80" dirty="0">
                <a:latin typeface="Carlito"/>
                <a:cs typeface="Carlito"/>
              </a:rPr>
              <a:t> </a:t>
            </a:r>
            <a:r>
              <a:rPr sz="2400" b="1" spc="-15" dirty="0">
                <a:latin typeface="Carlito"/>
                <a:cs typeface="Carlito"/>
              </a:rPr>
              <a:t>Keyboard</a:t>
            </a:r>
            <a:endParaRPr sz="2400">
              <a:latin typeface="Carlito"/>
              <a:cs typeface="Carlito"/>
            </a:endParaRP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21663" y="0"/>
            <a:ext cx="922337" cy="98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08375" y="2071242"/>
            <a:ext cx="16116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rlito"/>
                <a:cs typeface="Carlito"/>
              </a:rPr>
              <a:t>Fig:</a:t>
            </a:r>
            <a:r>
              <a:rPr sz="2400" b="1" spc="-100" dirty="0">
                <a:latin typeface="Carlito"/>
                <a:cs typeface="Carlito"/>
              </a:rPr>
              <a:t> </a:t>
            </a:r>
            <a:r>
              <a:rPr sz="2400" b="1" spc="-10" dirty="0">
                <a:latin typeface="Carlito"/>
                <a:cs typeface="Carlito"/>
              </a:rPr>
              <a:t>joysticks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3000586"/>
            <a:ext cx="1441365" cy="9265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52800" y="2819400"/>
            <a:ext cx="1488948" cy="1219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48400" y="2895600"/>
            <a:ext cx="1304544" cy="11003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38200" y="4937593"/>
            <a:ext cx="1831848" cy="10060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96068" y="4762634"/>
            <a:ext cx="1032330" cy="126173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43600" y="4648200"/>
            <a:ext cx="1228231" cy="12954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784853" y="4179189"/>
            <a:ext cx="1345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rlito"/>
                <a:cs typeface="Carlito"/>
              </a:rPr>
              <a:t>Fig:</a:t>
            </a:r>
            <a:r>
              <a:rPr sz="1800" b="1" spc="-80" dirty="0">
                <a:latin typeface="Carlito"/>
                <a:cs typeface="Carlito"/>
              </a:rPr>
              <a:t> </a:t>
            </a:r>
            <a:r>
              <a:rPr sz="1800" b="1" spc="-15" dirty="0">
                <a:latin typeface="Carlito"/>
                <a:cs typeface="Carlito"/>
              </a:rPr>
              <a:t>Trackballs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44549" y="6198819"/>
            <a:ext cx="1043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Fig:</a:t>
            </a:r>
            <a:r>
              <a:rPr sz="1800" spc="-7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Mouse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67376" y="6122619"/>
            <a:ext cx="16281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Fig: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Microphones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0040" y="954735"/>
            <a:ext cx="278891" cy="2659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2327" y="214451"/>
            <a:ext cx="8243570" cy="109918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R="277495" algn="l">
              <a:lnSpc>
                <a:spcPct val="100000"/>
              </a:lnSpc>
              <a:spcBef>
                <a:spcPts val="484"/>
              </a:spcBef>
            </a:pPr>
            <a:r>
              <a:rPr dirty="0"/>
              <a:t>Memory</a:t>
            </a:r>
            <a:r>
              <a:rPr spc="-5" dirty="0"/>
              <a:t> unit</a:t>
            </a:r>
          </a:p>
          <a:p>
            <a:pPr algn="ctr">
              <a:lnSpc>
                <a:spcPct val="100000"/>
              </a:lnSpc>
              <a:spcBef>
                <a:spcPts val="385"/>
              </a:spcBef>
            </a:pPr>
            <a:r>
              <a:rPr sz="2800" u="none" dirty="0">
                <a:latin typeface="Times New Roman" pitchFamily="18" charset="0"/>
                <a:cs typeface="Times New Roman" pitchFamily="18" charset="0"/>
              </a:rPr>
              <a:t>Memory</a:t>
            </a:r>
            <a:r>
              <a:rPr sz="2800" u="none" spc="1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u="none" spc="-5" dirty="0">
                <a:latin typeface="Times New Roman" pitchFamily="18" charset="0"/>
                <a:cs typeface="Times New Roman" pitchFamily="18" charset="0"/>
              </a:rPr>
              <a:t>unit</a:t>
            </a:r>
            <a:r>
              <a:rPr sz="2800" u="none" spc="1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u="none" spc="-5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800" u="none" spc="1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u="none" spc="-5" dirty="0">
                <a:latin typeface="Times New Roman" pitchFamily="18" charset="0"/>
                <a:cs typeface="Times New Roman" pitchFamily="18" charset="0"/>
              </a:rPr>
              <a:t>used</a:t>
            </a:r>
            <a:r>
              <a:rPr sz="2800" u="none" spc="1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u="none" spc="-25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2800" u="none" spc="1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u="none" spc="-25" dirty="0">
                <a:latin typeface="Times New Roman" pitchFamily="18" charset="0"/>
                <a:cs typeface="Times New Roman" pitchFamily="18" charset="0"/>
              </a:rPr>
              <a:t>store</a:t>
            </a:r>
            <a:r>
              <a:rPr sz="2800" u="none" spc="1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u="none" spc="-20" dirty="0">
                <a:latin typeface="Times New Roman" pitchFamily="18" charset="0"/>
                <a:cs typeface="Times New Roman" pitchFamily="18" charset="0"/>
              </a:rPr>
              <a:t>programs</a:t>
            </a:r>
            <a:r>
              <a:rPr sz="2800" u="none" spc="1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u="none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800" u="none" spc="1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u="none" spc="-10" dirty="0">
                <a:latin typeface="Times New Roman" pitchFamily="18" charset="0"/>
                <a:cs typeface="Times New Roman" pitchFamily="18" charset="0"/>
              </a:rPr>
              <a:t>data</a:t>
            </a:r>
            <a:r>
              <a:rPr u="none" spc="-1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object 4"/>
          <p:cNvSpPr/>
          <p:nvPr/>
        </p:nvSpPr>
        <p:spPr>
          <a:xfrm>
            <a:off x="2163698" y="1871091"/>
            <a:ext cx="148590" cy="1485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63698" y="2206370"/>
            <a:ext cx="148590" cy="1485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0040" y="3217164"/>
            <a:ext cx="202691" cy="2133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0040" y="4314444"/>
            <a:ext cx="202691" cy="2133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0040" y="4899659"/>
            <a:ext cx="202691" cy="2133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0040" y="5484876"/>
            <a:ext cx="202691" cy="2133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0040" y="6070091"/>
            <a:ext cx="202691" cy="2133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07340" y="838200"/>
            <a:ext cx="8836660" cy="558691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endParaRPr lang="en-US" sz="2000" spc="-55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  <a:buFont typeface="Wingdings" pitchFamily="2" charset="2"/>
              <a:buChar char="q"/>
            </a:pPr>
            <a:r>
              <a:rPr lang="en-US" sz="2400" spc="-55" dirty="0">
                <a:latin typeface="Carlito"/>
                <a:cs typeface="Carlito"/>
              </a:rPr>
              <a:t> </a:t>
            </a:r>
            <a:r>
              <a:rPr sz="2400" spc="-55" dirty="0">
                <a:latin typeface="Times New Roman" pitchFamily="18" charset="0"/>
                <a:cs typeface="Times New Roman" pitchFamily="18" charset="0"/>
              </a:rPr>
              <a:t>Two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types of memory </a:t>
            </a:r>
            <a:r>
              <a:rPr sz="2400" spc="-20" dirty="0">
                <a:latin typeface="Times New Roman" pitchFamily="18" charset="0"/>
                <a:cs typeface="Times New Roman" pitchFamily="18" charset="0"/>
              </a:rPr>
              <a:t>exist.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they</a:t>
            </a:r>
            <a:r>
              <a:rPr sz="2400" spc="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are,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2019935">
              <a:lnSpc>
                <a:spcPct val="100000"/>
              </a:lnSpc>
              <a:spcBef>
                <a:spcPts val="310"/>
              </a:spcBef>
              <a:buFont typeface="Wingdings" pitchFamily="2" charset="2"/>
              <a:buChar char="q"/>
            </a:pPr>
            <a:r>
              <a:rPr sz="2400" spc="-5" dirty="0">
                <a:latin typeface="Times New Roman" pitchFamily="18" charset="0"/>
                <a:cs typeface="Times New Roman" pitchFamily="18" charset="0"/>
              </a:rPr>
              <a:t>Primary 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storage,</a:t>
            </a:r>
            <a:r>
              <a:rPr sz="2400" spc="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and</a:t>
            </a:r>
          </a:p>
          <a:p>
            <a:pPr marL="2019935">
              <a:lnSpc>
                <a:spcPct val="100000"/>
              </a:lnSpc>
              <a:spcBef>
                <a:spcPts val="245"/>
              </a:spcBef>
              <a:buFont typeface="Wingdings" pitchFamily="2" charset="2"/>
              <a:buChar char="q"/>
            </a:pPr>
            <a:r>
              <a:rPr sz="2400" spc="-5" dirty="0">
                <a:latin typeface="Times New Roman" pitchFamily="18" charset="0"/>
                <a:cs typeface="Times New Roman" pitchFamily="18" charset="0"/>
              </a:rPr>
              <a:t>Secondary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storage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3200" u="heavy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Primary</a:t>
            </a:r>
            <a:r>
              <a:rPr sz="3200" u="heavy" spc="10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 </a:t>
            </a:r>
            <a:r>
              <a:rPr sz="3200" u="heavy" spc="-2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storage:</a:t>
            </a:r>
            <a:endParaRPr sz="3200" dirty="0">
              <a:latin typeface="Carlito"/>
              <a:cs typeface="Carlito"/>
            </a:endParaRPr>
          </a:p>
          <a:p>
            <a:pPr marL="12700" marR="5080" indent="213360">
              <a:lnSpc>
                <a:spcPct val="140100"/>
              </a:lnSpc>
              <a:spcBef>
                <a:spcPts val="245"/>
              </a:spcBef>
            </a:pPr>
            <a:r>
              <a:rPr sz="2400" spc="-5" dirty="0">
                <a:latin typeface="Times New Roman"/>
                <a:cs typeface="Times New Roman"/>
              </a:rPr>
              <a:t>Primary </a:t>
            </a:r>
            <a:r>
              <a:rPr sz="2400" spc="-10" dirty="0">
                <a:latin typeface="Times New Roman"/>
                <a:cs typeface="Times New Roman"/>
              </a:rPr>
              <a:t>memory </a:t>
            </a:r>
            <a:r>
              <a:rPr sz="2400" spc="-5" dirty="0">
                <a:latin typeface="Times New Roman"/>
                <a:cs typeface="Times New Roman"/>
              </a:rPr>
              <a:t>contains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15" dirty="0">
                <a:latin typeface="Times New Roman"/>
                <a:cs typeface="Times New Roman"/>
              </a:rPr>
              <a:t>large </a:t>
            </a:r>
            <a:r>
              <a:rPr sz="2400" spc="-5" dirty="0">
                <a:latin typeface="Times New Roman"/>
                <a:cs typeface="Times New Roman"/>
              </a:rPr>
              <a:t>number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semiconductor storage  </a:t>
            </a:r>
            <a:r>
              <a:rPr sz="2400" dirty="0">
                <a:latin typeface="Times New Roman"/>
                <a:cs typeface="Times New Roman"/>
              </a:rPr>
              <a:t>cells, capable of storing a bit of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information.</a:t>
            </a:r>
            <a:endParaRPr sz="2400" dirty="0">
              <a:latin typeface="Times New Roman"/>
              <a:cs typeface="Times New Roman"/>
            </a:endParaRPr>
          </a:p>
          <a:p>
            <a:pPr marL="226060" marR="1241425">
              <a:lnSpc>
                <a:spcPct val="160000"/>
              </a:lnSpc>
            </a:pPr>
            <a:r>
              <a:rPr sz="2400" dirty="0">
                <a:latin typeface="Times New Roman"/>
                <a:cs typeface="Times New Roman"/>
              </a:rPr>
              <a:t>The bits of </a:t>
            </a:r>
            <a:r>
              <a:rPr sz="2400" spc="-5" dirty="0">
                <a:latin typeface="Times New Roman"/>
                <a:cs typeface="Times New Roman"/>
              </a:rPr>
              <a:t>information </a:t>
            </a:r>
            <a:r>
              <a:rPr sz="2400" dirty="0">
                <a:latin typeface="Times New Roman"/>
                <a:cs typeface="Times New Roman"/>
              </a:rPr>
              <a:t>are grouped into fixed size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words.  The </a:t>
            </a:r>
            <a:r>
              <a:rPr sz="2400" spc="-5" dirty="0">
                <a:latin typeface="Times New Roman"/>
                <a:cs typeface="Times New Roman"/>
              </a:rPr>
              <a:t>word </a:t>
            </a:r>
            <a:r>
              <a:rPr sz="2400" dirty="0">
                <a:latin typeface="Times New Roman"/>
                <a:cs typeface="Times New Roman"/>
              </a:rPr>
              <a:t>length </a:t>
            </a:r>
            <a:r>
              <a:rPr sz="2400" spc="-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computer </a:t>
            </a:r>
            <a:r>
              <a:rPr sz="2400" dirty="0">
                <a:latin typeface="Times New Roman"/>
                <a:cs typeface="Times New Roman"/>
              </a:rPr>
              <a:t>is between </a:t>
            </a:r>
            <a:r>
              <a:rPr sz="2400" spc="-5" dirty="0">
                <a:latin typeface="Times New Roman"/>
                <a:cs typeface="Times New Roman"/>
              </a:rPr>
              <a:t>16-64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bits.</a:t>
            </a:r>
          </a:p>
          <a:p>
            <a:pPr marL="226060" marR="1708150">
              <a:lnSpc>
                <a:spcPct val="16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Addresses are used to </a:t>
            </a:r>
            <a:r>
              <a:rPr sz="2400" spc="-5" dirty="0">
                <a:latin typeface="Times New Roman"/>
                <a:cs typeface="Times New Roman"/>
              </a:rPr>
              <a:t>access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words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memory.  </a:t>
            </a:r>
            <a:r>
              <a:rPr sz="2400" dirty="0">
                <a:latin typeface="Times New Roman"/>
                <a:cs typeface="Times New Roman"/>
              </a:rPr>
              <a:t>Addresses are </a:t>
            </a:r>
            <a:r>
              <a:rPr sz="2400" spc="-5" dirty="0">
                <a:latin typeface="Times New Roman"/>
                <a:cs typeface="Times New Roman"/>
              </a:rPr>
              <a:t>numbers </a:t>
            </a:r>
            <a:r>
              <a:rPr sz="2400" dirty="0">
                <a:latin typeface="Times New Roman"/>
                <a:cs typeface="Times New Roman"/>
              </a:rPr>
              <a:t>that identifies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locations.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6240" y="915924"/>
            <a:ext cx="190500" cy="195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6240" y="1485900"/>
            <a:ext cx="190500" cy="195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9740" y="3747515"/>
            <a:ext cx="127000" cy="1300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9740" y="4317491"/>
            <a:ext cx="127000" cy="1300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9740" y="5457444"/>
            <a:ext cx="127000" cy="1300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9740" y="6027420"/>
            <a:ext cx="127000" cy="1300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3540" y="818134"/>
            <a:ext cx="8147050" cy="5424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The </a:t>
            </a:r>
            <a:r>
              <a:rPr sz="2200" spc="-10" dirty="0">
                <a:latin typeface="Times New Roman"/>
                <a:cs typeface="Times New Roman"/>
              </a:rPr>
              <a:t>memory </a:t>
            </a:r>
            <a:r>
              <a:rPr sz="2200" spc="-5" dirty="0">
                <a:latin typeface="Times New Roman"/>
                <a:cs typeface="Times New Roman"/>
              </a:rPr>
              <a:t>is </a:t>
            </a:r>
            <a:r>
              <a:rPr sz="2200" dirty="0">
                <a:latin typeface="Times New Roman"/>
                <a:cs typeface="Times New Roman"/>
              </a:rPr>
              <a:t>know </a:t>
            </a:r>
            <a:r>
              <a:rPr sz="2200" spc="-5" dirty="0">
                <a:latin typeface="Times New Roman"/>
                <a:cs typeface="Times New Roman"/>
              </a:rPr>
              <a:t>as </a:t>
            </a:r>
            <a:r>
              <a:rPr sz="2200" spc="-10" dirty="0">
                <a:latin typeface="Times New Roman"/>
                <a:cs typeface="Times New Roman"/>
              </a:rPr>
              <a:t>main memory </a:t>
            </a:r>
            <a:r>
              <a:rPr sz="2200" spc="-5" dirty="0">
                <a:latin typeface="Times New Roman"/>
                <a:cs typeface="Times New Roman"/>
              </a:rPr>
              <a:t>in which program must</a:t>
            </a:r>
            <a:r>
              <a:rPr sz="2200" spc="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resides.</a:t>
            </a:r>
            <a:endParaRPr sz="2200">
              <a:latin typeface="Times New Roman"/>
              <a:cs typeface="Times New Roman"/>
            </a:endParaRPr>
          </a:p>
          <a:p>
            <a:pPr marL="207645">
              <a:lnSpc>
                <a:spcPct val="100000"/>
              </a:lnSpc>
              <a:spcBef>
                <a:spcPts val="1850"/>
              </a:spcBef>
            </a:pPr>
            <a:r>
              <a:rPr sz="2200" spc="-5" dirty="0">
                <a:latin typeface="Times New Roman"/>
                <a:cs typeface="Times New Roman"/>
              </a:rPr>
              <a:t>Cache</a:t>
            </a:r>
            <a:r>
              <a:rPr sz="2200" spc="1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also</a:t>
            </a:r>
            <a:r>
              <a:rPr sz="2200" spc="1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kind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1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memory</a:t>
            </a:r>
            <a:r>
              <a:rPr sz="2200" spc="1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which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used</a:t>
            </a:r>
            <a:r>
              <a:rPr sz="2200" spc="1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access</a:t>
            </a:r>
            <a:r>
              <a:rPr sz="2200" spc="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data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very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sz="2200" dirty="0">
                <a:latin typeface="Times New Roman"/>
                <a:cs typeface="Times New Roman"/>
              </a:rPr>
              <a:t>soon. </a:t>
            </a:r>
            <a:r>
              <a:rPr sz="2200" spc="-5" dirty="0">
                <a:latin typeface="Times New Roman"/>
                <a:cs typeface="Times New Roman"/>
              </a:rPr>
              <a:t>they are </a:t>
            </a:r>
            <a:r>
              <a:rPr sz="2200" dirty="0">
                <a:latin typeface="Times New Roman"/>
                <a:cs typeface="Times New Roman"/>
              </a:rPr>
              <a:t>highly coupled </a:t>
            </a:r>
            <a:r>
              <a:rPr sz="2200" spc="-5" dirty="0">
                <a:latin typeface="Times New Roman"/>
                <a:cs typeface="Times New Roman"/>
              </a:rPr>
              <a:t>with 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Times New Roman"/>
                <a:cs typeface="Times New Roman"/>
              </a:rPr>
              <a:t>processor.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55"/>
              </a:spcBef>
            </a:pPr>
            <a:r>
              <a:rPr sz="2200" spc="-5" dirty="0">
                <a:latin typeface="Times New Roman"/>
                <a:cs typeface="Times New Roman"/>
              </a:rPr>
              <a:t>Example: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RAM,ROM.</a:t>
            </a:r>
            <a:endParaRPr sz="2200">
              <a:latin typeface="Times New Roman"/>
              <a:cs typeface="Times New Roman"/>
            </a:endParaRPr>
          </a:p>
          <a:p>
            <a:pPr marL="207645" marR="6635750" indent="-195580">
              <a:lnSpc>
                <a:spcPct val="170000"/>
              </a:lnSpc>
            </a:pPr>
            <a:r>
              <a:rPr sz="2200" b="1" spc="-5" dirty="0">
                <a:latin typeface="Times New Roman"/>
                <a:cs typeface="Times New Roman"/>
              </a:rPr>
              <a:t>Adva</a:t>
            </a:r>
            <a:r>
              <a:rPr sz="2200" b="1" dirty="0">
                <a:latin typeface="Times New Roman"/>
                <a:cs typeface="Times New Roman"/>
              </a:rPr>
              <a:t>n</a:t>
            </a:r>
            <a:r>
              <a:rPr sz="2200" b="1" spc="-5" dirty="0">
                <a:latin typeface="Times New Roman"/>
                <a:cs typeface="Times New Roman"/>
              </a:rPr>
              <a:t>tage</a:t>
            </a:r>
            <a:r>
              <a:rPr sz="2200" b="1" spc="5" dirty="0">
                <a:latin typeface="Times New Roman"/>
                <a:cs typeface="Times New Roman"/>
              </a:rPr>
              <a:t>s</a:t>
            </a:r>
            <a:r>
              <a:rPr sz="2200" b="1" spc="-5" dirty="0">
                <a:latin typeface="Times New Roman"/>
                <a:cs typeface="Times New Roman"/>
              </a:rPr>
              <a:t>:  </a:t>
            </a:r>
            <a:r>
              <a:rPr sz="2200" spc="-5" dirty="0">
                <a:latin typeface="Times New Roman"/>
                <a:cs typeface="Times New Roman"/>
              </a:rPr>
              <a:t>Small, and  Fast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200" b="1" spc="-5" dirty="0">
                <a:latin typeface="Times New Roman"/>
                <a:cs typeface="Times New Roman"/>
              </a:rPr>
              <a:t>Disadvantages:</a:t>
            </a:r>
            <a:endParaRPr sz="2200">
              <a:latin typeface="Times New Roman"/>
              <a:cs typeface="Times New Roman"/>
            </a:endParaRPr>
          </a:p>
          <a:p>
            <a:pPr marL="277495" marR="5041900">
              <a:lnSpc>
                <a:spcPct val="170000"/>
              </a:lnSpc>
              <a:spcBef>
                <a:spcPts val="5"/>
              </a:spcBef>
            </a:pPr>
            <a:r>
              <a:rPr sz="2200" spc="-5" dirty="0">
                <a:latin typeface="Times New Roman"/>
                <a:cs typeface="Times New Roman"/>
              </a:rPr>
              <a:t>less storage </a:t>
            </a:r>
            <a:r>
              <a:rPr sz="2200" spc="-20" dirty="0">
                <a:latin typeface="Times New Roman"/>
                <a:cs typeface="Times New Roman"/>
              </a:rPr>
              <a:t>capacity, </a:t>
            </a:r>
            <a:r>
              <a:rPr sz="2200" spc="-5" dirty="0">
                <a:latin typeface="Times New Roman"/>
                <a:cs typeface="Times New Roman"/>
              </a:rPr>
              <a:t>and  costly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69365"/>
            <a:ext cx="51790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Secondary</a:t>
            </a:r>
            <a:r>
              <a:rPr spc="-60" dirty="0"/>
              <a:t> </a:t>
            </a:r>
            <a:r>
              <a:rPr spc="-20" dirty="0"/>
              <a:t>storage: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54582"/>
            <a:ext cx="837501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914400">
              <a:lnSpc>
                <a:spcPct val="100000"/>
              </a:lnSpc>
              <a:spcBef>
                <a:spcPts val="105"/>
              </a:spcBef>
              <a:tabLst>
                <a:tab pos="2900680" algn="l"/>
                <a:tab pos="4547235" algn="l"/>
                <a:tab pos="5333365" algn="l"/>
                <a:tab pos="6372860" algn="l"/>
                <a:tab pos="7546975" algn="l"/>
              </a:tabLst>
            </a:pPr>
            <a:r>
              <a:rPr sz="3200" spc="-5" dirty="0">
                <a:latin typeface="Carlito"/>
                <a:cs typeface="Carlito"/>
              </a:rPr>
              <a:t>Se</a:t>
            </a:r>
            <a:r>
              <a:rPr sz="3200" spc="-35" dirty="0">
                <a:latin typeface="Carlito"/>
                <a:cs typeface="Carlito"/>
              </a:rPr>
              <a:t>c</a:t>
            </a:r>
            <a:r>
              <a:rPr sz="3200" spc="-5" dirty="0">
                <a:latin typeface="Carlito"/>
                <a:cs typeface="Carlito"/>
              </a:rPr>
              <a:t>onda</a:t>
            </a:r>
            <a:r>
              <a:rPr sz="3200" spc="5" dirty="0">
                <a:latin typeface="Carlito"/>
                <a:cs typeface="Carlito"/>
              </a:rPr>
              <a:t>r</a:t>
            </a:r>
            <a:r>
              <a:rPr sz="3200" dirty="0">
                <a:latin typeface="Carlito"/>
                <a:cs typeface="Carlito"/>
              </a:rPr>
              <a:t>y	memory	a</a:t>
            </a:r>
            <a:r>
              <a:rPr sz="3200" spc="-40" dirty="0">
                <a:latin typeface="Carlito"/>
                <a:cs typeface="Carlito"/>
              </a:rPr>
              <a:t>r</a:t>
            </a:r>
            <a:r>
              <a:rPr sz="3200" dirty="0">
                <a:latin typeface="Carlito"/>
                <a:cs typeface="Carlito"/>
              </a:rPr>
              <a:t>e	</a:t>
            </a:r>
            <a:r>
              <a:rPr sz="3200" spc="-5" dirty="0">
                <a:latin typeface="Carlito"/>
                <a:cs typeface="Carlito"/>
              </a:rPr>
              <a:t>use</a:t>
            </a:r>
            <a:r>
              <a:rPr sz="3200" dirty="0">
                <a:latin typeface="Carlito"/>
                <a:cs typeface="Carlito"/>
              </a:rPr>
              <a:t>d	w</a:t>
            </a:r>
            <a:r>
              <a:rPr sz="3200" spc="10" dirty="0">
                <a:latin typeface="Carlito"/>
                <a:cs typeface="Carlito"/>
              </a:rPr>
              <a:t>h</a:t>
            </a:r>
            <a:r>
              <a:rPr sz="3200" dirty="0">
                <a:latin typeface="Carlito"/>
                <a:cs typeface="Carlito"/>
              </a:rPr>
              <a:t>en	la</a:t>
            </a:r>
            <a:r>
              <a:rPr sz="3200" spc="-55" dirty="0">
                <a:latin typeface="Carlito"/>
                <a:cs typeface="Carlito"/>
              </a:rPr>
              <a:t>r</a:t>
            </a:r>
            <a:r>
              <a:rPr sz="3200" spc="-25" dirty="0">
                <a:latin typeface="Carlito"/>
                <a:cs typeface="Carlito"/>
              </a:rPr>
              <a:t>g</a:t>
            </a:r>
            <a:r>
              <a:rPr sz="3200" dirty="0">
                <a:latin typeface="Carlito"/>
                <a:cs typeface="Carlito"/>
              </a:rPr>
              <a:t>e  </a:t>
            </a:r>
            <a:r>
              <a:rPr sz="3200" spc="-5" dirty="0">
                <a:latin typeface="Carlito"/>
                <a:cs typeface="Carlito"/>
              </a:rPr>
              <a:t>amount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20" dirty="0">
                <a:latin typeface="Carlito"/>
                <a:cs typeface="Carlito"/>
              </a:rPr>
              <a:t>data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15" dirty="0">
                <a:latin typeface="Carlito"/>
                <a:cs typeface="Carlito"/>
              </a:rPr>
              <a:t>programs </a:t>
            </a:r>
            <a:r>
              <a:rPr sz="3200" spc="-25" dirty="0">
                <a:latin typeface="Carlito"/>
                <a:cs typeface="Carlito"/>
              </a:rPr>
              <a:t>have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be</a:t>
            </a:r>
            <a:r>
              <a:rPr sz="3200" spc="80" dirty="0">
                <a:latin typeface="Carlito"/>
                <a:cs typeface="Carlito"/>
              </a:rPr>
              <a:t> </a:t>
            </a:r>
            <a:r>
              <a:rPr sz="3200" spc="-20" dirty="0">
                <a:latin typeface="Carlito"/>
                <a:cs typeface="Carlito"/>
              </a:rPr>
              <a:t>stored.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3039" y="3685032"/>
            <a:ext cx="202691" cy="213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63039" y="4123944"/>
            <a:ext cx="202691" cy="213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63039" y="4562855"/>
            <a:ext cx="202691" cy="213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5940" y="2907753"/>
            <a:ext cx="3668395" cy="1941830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3200" u="heavy" spc="-10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Example:</a:t>
            </a:r>
            <a:endParaRPr sz="3200">
              <a:latin typeface="Carlito"/>
              <a:cs typeface="Carlito"/>
            </a:endParaRPr>
          </a:p>
          <a:p>
            <a:pPr marL="1140460" marR="5080">
              <a:lnSpc>
                <a:spcPct val="120000"/>
              </a:lnSpc>
              <a:spcBef>
                <a:spcPts val="50"/>
              </a:spcBef>
            </a:pPr>
            <a:r>
              <a:rPr sz="2400" spc="-5" dirty="0">
                <a:latin typeface="Carlito"/>
                <a:cs typeface="Carlito"/>
              </a:rPr>
              <a:t>Magnetic </a:t>
            </a:r>
            <a:r>
              <a:rPr sz="2400" spc="-10" dirty="0">
                <a:latin typeface="Carlito"/>
                <a:cs typeface="Carlito"/>
              </a:rPr>
              <a:t>disks,  </a:t>
            </a:r>
            <a:r>
              <a:rPr sz="2400" spc="-5" dirty="0">
                <a:latin typeface="Carlito"/>
                <a:cs typeface="Carlito"/>
              </a:rPr>
              <a:t>Magnetic tapes,</a:t>
            </a:r>
            <a:r>
              <a:rPr sz="2400" spc="-10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and  </a:t>
            </a:r>
            <a:r>
              <a:rPr sz="2400" spc="-10" dirty="0">
                <a:latin typeface="Carlito"/>
                <a:cs typeface="Carlito"/>
              </a:rPr>
              <a:t>Optical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disks.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191000" y="2590800"/>
            <a:ext cx="2060448" cy="137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629400" y="4114800"/>
            <a:ext cx="1981200" cy="12710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52800" y="5334000"/>
            <a:ext cx="1985772" cy="1333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564883" y="2921634"/>
            <a:ext cx="1729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rlito"/>
                <a:cs typeface="Carlito"/>
              </a:rPr>
              <a:t>Fig: </a:t>
            </a:r>
            <a:r>
              <a:rPr sz="1800" b="1" spc="-5" dirty="0">
                <a:latin typeface="Carlito"/>
                <a:cs typeface="Carlito"/>
              </a:rPr>
              <a:t>Magnetic</a:t>
            </a:r>
            <a:r>
              <a:rPr sz="1800" b="1" spc="-110" dirty="0">
                <a:latin typeface="Carlito"/>
                <a:cs typeface="Carlito"/>
              </a:rPr>
              <a:t> </a:t>
            </a:r>
            <a:r>
              <a:rPr sz="1800" b="1" dirty="0">
                <a:latin typeface="Carlito"/>
                <a:cs typeface="Carlito"/>
              </a:rPr>
              <a:t>disk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89526" y="4369689"/>
            <a:ext cx="18713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rlito"/>
                <a:cs typeface="Carlito"/>
              </a:rPr>
              <a:t>Fig: Magnetic</a:t>
            </a:r>
            <a:r>
              <a:rPr sz="1800" b="1" spc="-55" dirty="0">
                <a:latin typeface="Carlito"/>
                <a:cs typeface="Carlito"/>
              </a:rPr>
              <a:t> </a:t>
            </a:r>
            <a:r>
              <a:rPr sz="1800" b="1" spc="-5" dirty="0">
                <a:latin typeface="Carlito"/>
                <a:cs typeface="Carlito"/>
              </a:rPr>
              <a:t>tapes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85764" y="5855919"/>
            <a:ext cx="15157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rlito"/>
                <a:cs typeface="Carlito"/>
              </a:rPr>
              <a:t>Fig: </a:t>
            </a:r>
            <a:r>
              <a:rPr sz="1800" b="1" spc="-5" dirty="0">
                <a:latin typeface="Carlito"/>
                <a:cs typeface="Carlito"/>
              </a:rPr>
              <a:t>Optical</a:t>
            </a:r>
            <a:r>
              <a:rPr sz="1800" b="1" spc="-100" dirty="0">
                <a:latin typeface="Carlito"/>
                <a:cs typeface="Carlito"/>
              </a:rPr>
              <a:t> </a:t>
            </a:r>
            <a:r>
              <a:rPr sz="1800" b="1" dirty="0">
                <a:latin typeface="Carlito"/>
                <a:cs typeface="Carlito"/>
              </a:rPr>
              <a:t>disk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479806"/>
            <a:ext cx="68554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Arithmetic </a:t>
            </a:r>
            <a:r>
              <a:rPr dirty="0"/>
              <a:t>and logic</a:t>
            </a:r>
            <a:r>
              <a:rPr spc="-35" dirty="0"/>
              <a:t> </a:t>
            </a:r>
            <a:r>
              <a:rPr spc="-5" dirty="0"/>
              <a:t>unit:</a:t>
            </a:r>
          </a:p>
        </p:txBody>
      </p:sp>
      <p:sp>
        <p:nvSpPr>
          <p:cNvPr id="3" name="object 3"/>
          <p:cNvSpPr/>
          <p:nvPr/>
        </p:nvSpPr>
        <p:spPr>
          <a:xfrm>
            <a:off x="510540" y="1416303"/>
            <a:ext cx="171450" cy="1737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10540" y="3031744"/>
            <a:ext cx="171450" cy="1737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9740" y="1067641"/>
            <a:ext cx="8228330" cy="3028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8255" indent="231140" algn="just">
              <a:lnSpc>
                <a:spcPct val="150000"/>
              </a:lnSpc>
              <a:spcBef>
                <a:spcPts val="95"/>
              </a:spcBef>
            </a:pPr>
            <a:r>
              <a:rPr sz="2600" dirty="0">
                <a:latin typeface="Times New Roman"/>
                <a:cs typeface="Times New Roman"/>
              </a:rPr>
              <a:t>Most of </a:t>
            </a:r>
            <a:r>
              <a:rPr sz="2600" spc="-5" dirty="0">
                <a:latin typeface="Times New Roman"/>
                <a:cs typeface="Times New Roman"/>
              </a:rPr>
              <a:t>all </a:t>
            </a:r>
            <a:r>
              <a:rPr sz="2600" dirty="0">
                <a:latin typeface="Times New Roman"/>
                <a:cs typeface="Times New Roman"/>
              </a:rPr>
              <a:t>the </a:t>
            </a:r>
            <a:r>
              <a:rPr sz="2600" spc="-5" dirty="0">
                <a:latin typeface="Times New Roman"/>
                <a:cs typeface="Times New Roman"/>
              </a:rPr>
              <a:t>operations </a:t>
            </a:r>
            <a:r>
              <a:rPr sz="2600" dirty="0">
                <a:latin typeface="Times New Roman"/>
                <a:cs typeface="Times New Roman"/>
              </a:rPr>
              <a:t>of a </a:t>
            </a:r>
            <a:r>
              <a:rPr sz="2600" spc="-5" dirty="0">
                <a:latin typeface="Times New Roman"/>
                <a:cs typeface="Times New Roman"/>
              </a:rPr>
              <a:t>computer </a:t>
            </a:r>
            <a:r>
              <a:rPr sz="2600" dirty="0">
                <a:latin typeface="Times New Roman"/>
                <a:cs typeface="Times New Roman"/>
              </a:rPr>
              <a:t>are </a:t>
            </a:r>
            <a:r>
              <a:rPr sz="2600" spc="-5" dirty="0">
                <a:latin typeface="Times New Roman"/>
                <a:cs typeface="Times New Roman"/>
              </a:rPr>
              <a:t>executed </a:t>
            </a:r>
            <a:r>
              <a:rPr sz="2600" spc="-10" dirty="0">
                <a:latin typeface="Times New Roman"/>
                <a:cs typeface="Times New Roman"/>
              </a:rPr>
              <a:t>in </a:t>
            </a:r>
            <a:r>
              <a:rPr sz="2600" dirty="0">
                <a:latin typeface="Times New Roman"/>
                <a:cs typeface="Times New Roman"/>
              </a:rPr>
              <a:t>the  ALU of the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processor.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250">
              <a:latin typeface="Times New Roman"/>
              <a:cs typeface="Times New Roman"/>
            </a:endParaRPr>
          </a:p>
          <a:p>
            <a:pPr marL="12700" marR="5080" indent="231140" algn="just">
              <a:lnSpc>
                <a:spcPct val="100000"/>
              </a:lnSpc>
            </a:pPr>
            <a:r>
              <a:rPr sz="2600" spc="-5" dirty="0">
                <a:latin typeface="Times New Roman"/>
                <a:cs typeface="Times New Roman"/>
              </a:rPr>
              <a:t>It </a:t>
            </a:r>
            <a:r>
              <a:rPr sz="2600" dirty="0">
                <a:latin typeface="Times New Roman"/>
                <a:cs typeface="Times New Roman"/>
              </a:rPr>
              <a:t>perform </a:t>
            </a:r>
            <a:r>
              <a:rPr sz="2600" spc="-5" dirty="0">
                <a:latin typeface="Times New Roman"/>
                <a:cs typeface="Times New Roman"/>
              </a:rPr>
              <a:t>arithmetic </a:t>
            </a:r>
            <a:r>
              <a:rPr sz="2600" dirty="0">
                <a:latin typeface="Times New Roman"/>
                <a:cs typeface="Times New Roman"/>
              </a:rPr>
              <a:t>operations </a:t>
            </a:r>
            <a:r>
              <a:rPr sz="2600" spc="-5" dirty="0">
                <a:latin typeface="Times New Roman"/>
                <a:cs typeface="Times New Roman"/>
              </a:rPr>
              <a:t>like addition, </a:t>
            </a:r>
            <a:r>
              <a:rPr sz="2600" dirty="0">
                <a:latin typeface="Times New Roman"/>
                <a:cs typeface="Times New Roman"/>
              </a:rPr>
              <a:t>subtraction,  multiplication, division </a:t>
            </a:r>
            <a:r>
              <a:rPr sz="2600" spc="-5" dirty="0">
                <a:latin typeface="Times New Roman"/>
                <a:cs typeface="Times New Roman"/>
              </a:rPr>
              <a:t>and also </a:t>
            </a:r>
            <a:r>
              <a:rPr sz="2600" dirty="0">
                <a:latin typeface="Times New Roman"/>
                <a:cs typeface="Times New Roman"/>
              </a:rPr>
              <a:t>the </a:t>
            </a:r>
            <a:r>
              <a:rPr sz="2600" spc="-5" dirty="0">
                <a:latin typeface="Times New Roman"/>
                <a:cs typeface="Times New Roman"/>
              </a:rPr>
              <a:t>logical operations like  </a:t>
            </a:r>
            <a:r>
              <a:rPr sz="2600" dirty="0">
                <a:latin typeface="Times New Roman"/>
                <a:cs typeface="Times New Roman"/>
              </a:rPr>
              <a:t>AND, OR, NOT</a:t>
            </a:r>
            <a:r>
              <a:rPr sz="2600" spc="-11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operations.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616965"/>
            <a:ext cx="41884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Output</a:t>
            </a:r>
            <a:r>
              <a:rPr spc="-35" dirty="0"/>
              <a:t> </a:t>
            </a:r>
            <a:r>
              <a:rPr spc="-5" dirty="0"/>
              <a:t>unit</a:t>
            </a:r>
          </a:p>
        </p:txBody>
      </p:sp>
      <p:sp>
        <p:nvSpPr>
          <p:cNvPr id="3" name="object 3"/>
          <p:cNvSpPr/>
          <p:nvPr/>
        </p:nvSpPr>
        <p:spPr>
          <a:xfrm>
            <a:off x="485952" y="1430019"/>
            <a:ext cx="189179" cy="1991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5952" y="2051811"/>
            <a:ext cx="189179" cy="1991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5952" y="3222244"/>
            <a:ext cx="189179" cy="1991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59740" y="1310385"/>
            <a:ext cx="8073390" cy="3830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542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Output </a:t>
            </a:r>
            <a:r>
              <a:rPr sz="2400" dirty="0">
                <a:latin typeface="Times New Roman"/>
                <a:cs typeface="Times New Roman"/>
              </a:rPr>
              <a:t>units are used to send the processed results to the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user.</a:t>
            </a:r>
            <a:endParaRPr sz="2400">
              <a:latin typeface="Times New Roman"/>
              <a:cs typeface="Times New Roman"/>
            </a:endParaRPr>
          </a:p>
          <a:p>
            <a:pPr marL="225425">
              <a:lnSpc>
                <a:spcPct val="100000"/>
              </a:lnSpc>
              <a:spcBef>
                <a:spcPts val="2014"/>
              </a:spcBef>
              <a:tabLst>
                <a:tab pos="1243965" algn="l"/>
                <a:tab pos="2327275" algn="l"/>
                <a:tab pos="3378200" algn="l"/>
                <a:tab pos="4986020" algn="l"/>
                <a:tab pos="5394325" algn="l"/>
                <a:tab pos="5701030" algn="l"/>
                <a:tab pos="6379210" algn="l"/>
                <a:tab pos="7007225" algn="l"/>
                <a:tab pos="7635240" algn="l"/>
              </a:tabLst>
            </a:pPr>
            <a:r>
              <a:rPr sz="2400" dirty="0">
                <a:latin typeface="Times New Roman"/>
                <a:cs typeface="Times New Roman"/>
              </a:rPr>
              <a:t>O</a:t>
            </a:r>
            <a:r>
              <a:rPr sz="2400" spc="-10" dirty="0">
                <a:latin typeface="Times New Roman"/>
                <a:cs typeface="Times New Roman"/>
              </a:rPr>
              <a:t>u</a:t>
            </a:r>
            <a:r>
              <a:rPr sz="2400" dirty="0">
                <a:latin typeface="Times New Roman"/>
                <a:cs typeface="Times New Roman"/>
              </a:rPr>
              <a:t>tput	de</a:t>
            </a:r>
            <a:r>
              <a:rPr sz="2400" spc="-15" dirty="0">
                <a:latin typeface="Times New Roman"/>
                <a:cs typeface="Times New Roman"/>
              </a:rPr>
              <a:t>v</a:t>
            </a:r>
            <a:r>
              <a:rPr sz="2400" spc="-1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ces	dis</a:t>
            </a:r>
            <a:r>
              <a:rPr sz="2400" spc="-10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lay	infor</a:t>
            </a:r>
            <a:r>
              <a:rPr sz="2400" spc="-25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5" dirty="0">
                <a:latin typeface="Times New Roman"/>
                <a:cs typeface="Times New Roman"/>
              </a:rPr>
              <a:t>i</a:t>
            </a:r>
            <a:r>
              <a:rPr sz="2400" spc="-15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n	in	a	way	th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t	</a:t>
            </a:r>
            <a:r>
              <a:rPr sz="2400" spc="-5" dirty="0">
                <a:latin typeface="Times New Roman"/>
                <a:cs typeface="Times New Roman"/>
              </a:rPr>
              <a:t>yo</a:t>
            </a:r>
            <a:r>
              <a:rPr sz="2400" dirty="0">
                <a:latin typeface="Times New Roman"/>
                <a:cs typeface="Times New Roman"/>
              </a:rPr>
              <a:t>u	can</a:t>
            </a:r>
            <a:endParaRPr sz="2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445"/>
              </a:spcBef>
            </a:pPr>
            <a:r>
              <a:rPr sz="2400" dirty="0">
                <a:latin typeface="Times New Roman"/>
                <a:cs typeface="Times New Roman"/>
              </a:rPr>
              <a:t>understand. The </a:t>
            </a:r>
            <a:r>
              <a:rPr sz="2400" spc="-10" dirty="0">
                <a:latin typeface="Times New Roman"/>
                <a:cs typeface="Times New Roman"/>
              </a:rPr>
              <a:t>most common </a:t>
            </a:r>
            <a:r>
              <a:rPr sz="2400" dirty="0">
                <a:latin typeface="Times New Roman"/>
                <a:cs typeface="Times New Roman"/>
              </a:rPr>
              <a:t>output device is a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monitor.</a:t>
            </a:r>
            <a:endParaRPr sz="2400">
              <a:latin typeface="Times New Roman"/>
              <a:cs typeface="Times New Roman"/>
            </a:endParaRPr>
          </a:p>
          <a:p>
            <a:pPr marL="12700" marR="5080" indent="213360" algn="just">
              <a:lnSpc>
                <a:spcPct val="150000"/>
              </a:lnSpc>
              <a:spcBef>
                <a:spcPts val="575"/>
              </a:spcBef>
            </a:pPr>
            <a:r>
              <a:rPr sz="2400" spc="-5" dirty="0">
                <a:latin typeface="Times New Roman"/>
                <a:cs typeface="Times New Roman"/>
              </a:rPr>
              <a:t>Output devices are pieces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equipment </a:t>
            </a:r>
            <a:r>
              <a:rPr sz="2400" dirty="0">
                <a:latin typeface="Times New Roman"/>
                <a:cs typeface="Times New Roman"/>
              </a:rPr>
              <a:t>that </a:t>
            </a:r>
            <a:r>
              <a:rPr sz="2400" spc="-5" dirty="0">
                <a:latin typeface="Times New Roman"/>
                <a:cs typeface="Times New Roman"/>
              </a:rPr>
              <a:t>are </a:t>
            </a:r>
            <a:r>
              <a:rPr sz="2400" dirty="0">
                <a:latin typeface="Times New Roman"/>
                <a:cs typeface="Times New Roman"/>
              </a:rPr>
              <a:t>used to get  </a:t>
            </a:r>
            <a:r>
              <a:rPr sz="2400" spc="-5" dirty="0">
                <a:latin typeface="Times New Roman"/>
                <a:cs typeface="Times New Roman"/>
              </a:rPr>
              <a:t>information </a:t>
            </a:r>
            <a:r>
              <a:rPr sz="2400" dirty="0">
                <a:latin typeface="Times New Roman"/>
                <a:cs typeface="Times New Roman"/>
              </a:rPr>
              <a:t>or any </a:t>
            </a:r>
            <a:r>
              <a:rPr sz="2400" spc="-5" dirty="0">
                <a:latin typeface="Times New Roman"/>
                <a:cs typeface="Times New Roman"/>
              </a:rPr>
              <a:t>other response </a:t>
            </a:r>
            <a:r>
              <a:rPr sz="2400" dirty="0">
                <a:latin typeface="Times New Roman"/>
                <a:cs typeface="Times New Roman"/>
              </a:rPr>
              <a:t>out from </a:t>
            </a:r>
            <a:r>
              <a:rPr sz="2400" spc="-20" dirty="0">
                <a:latin typeface="Times New Roman"/>
                <a:cs typeface="Times New Roman"/>
              </a:rPr>
              <a:t>computer. </a:t>
            </a:r>
            <a:r>
              <a:rPr sz="2400" dirty="0">
                <a:latin typeface="Times New Roman"/>
                <a:cs typeface="Times New Roman"/>
              </a:rPr>
              <a:t>These  devices display </a:t>
            </a:r>
            <a:r>
              <a:rPr sz="2400" spc="-5" dirty="0">
                <a:latin typeface="Times New Roman"/>
                <a:cs typeface="Times New Roman"/>
              </a:rPr>
              <a:t>information that has </a:t>
            </a:r>
            <a:r>
              <a:rPr sz="2400" dirty="0">
                <a:latin typeface="Times New Roman"/>
                <a:cs typeface="Times New Roman"/>
              </a:rPr>
              <a:t>been held or </a:t>
            </a:r>
            <a:r>
              <a:rPr sz="2400" spc="-5" dirty="0">
                <a:latin typeface="Times New Roman"/>
                <a:cs typeface="Times New Roman"/>
              </a:rPr>
              <a:t>generated  </a:t>
            </a:r>
            <a:r>
              <a:rPr sz="2400" dirty="0">
                <a:latin typeface="Times New Roman"/>
                <a:cs typeface="Times New Roman"/>
              </a:rPr>
              <a:t>within 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computer.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600" y="2107692"/>
            <a:ext cx="1524000" cy="14264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1036" y="2163121"/>
            <a:ext cx="1316924" cy="14876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76518" y="2059277"/>
            <a:ext cx="1603148" cy="182047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6939" y="3753739"/>
            <a:ext cx="1064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rlito"/>
                <a:cs typeface="Carlito"/>
              </a:rPr>
              <a:t>Fig:</a:t>
            </a:r>
            <a:r>
              <a:rPr sz="1800" b="1" spc="-50" dirty="0">
                <a:latin typeface="Carlito"/>
                <a:cs typeface="Carlito"/>
              </a:rPr>
              <a:t> </a:t>
            </a:r>
            <a:r>
              <a:rPr sz="1800" b="1" spc="-10" dirty="0">
                <a:latin typeface="Carlito"/>
                <a:cs typeface="Carlito"/>
              </a:rPr>
              <a:t>Printer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55975" y="3854907"/>
            <a:ext cx="20612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rlito"/>
                <a:cs typeface="Carlito"/>
              </a:rPr>
              <a:t>Fig: </a:t>
            </a:r>
            <a:r>
              <a:rPr sz="1800" b="1" spc="-5" dirty="0">
                <a:latin typeface="Carlito"/>
                <a:cs typeface="Carlito"/>
              </a:rPr>
              <a:t>Graphics</a:t>
            </a:r>
            <a:r>
              <a:rPr sz="1800" b="1" spc="-95" dirty="0">
                <a:latin typeface="Carlito"/>
                <a:cs typeface="Carlito"/>
              </a:rPr>
              <a:t> </a:t>
            </a:r>
            <a:r>
              <a:rPr sz="1800" b="1" spc="-10" dirty="0">
                <a:latin typeface="Carlito"/>
                <a:cs typeface="Carlito"/>
              </a:rPr>
              <a:t>Displays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56629" y="3854907"/>
            <a:ext cx="15989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rlito"/>
                <a:cs typeface="Carlito"/>
              </a:rPr>
              <a:t>Fig: </a:t>
            </a:r>
            <a:r>
              <a:rPr sz="1800" b="1" spc="-10" dirty="0">
                <a:latin typeface="Carlito"/>
                <a:cs typeface="Carlito"/>
              </a:rPr>
              <a:t>CRT</a:t>
            </a:r>
            <a:r>
              <a:rPr sz="1800" b="1" spc="-75" dirty="0">
                <a:latin typeface="Carlito"/>
                <a:cs typeface="Carlito"/>
              </a:rPr>
              <a:t> </a:t>
            </a:r>
            <a:r>
              <a:rPr sz="1800" b="1" spc="-10" dirty="0">
                <a:latin typeface="Carlito"/>
                <a:cs typeface="Carlito"/>
              </a:rPr>
              <a:t>Displays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40892" y="755700"/>
            <a:ext cx="224739" cy="2318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860552" y="615442"/>
            <a:ext cx="41313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u="none" spc="-5" dirty="0">
                <a:latin typeface="Times New Roman"/>
                <a:cs typeface="Times New Roman"/>
              </a:rPr>
              <a:t>Some </a:t>
            </a:r>
            <a:r>
              <a:rPr sz="2800" u="none" dirty="0">
                <a:latin typeface="Times New Roman"/>
                <a:cs typeface="Times New Roman"/>
              </a:rPr>
              <a:t>of the output </a:t>
            </a:r>
            <a:r>
              <a:rPr sz="2800" u="none" spc="-5" dirty="0">
                <a:latin typeface="Times New Roman"/>
                <a:cs typeface="Times New Roman"/>
              </a:rPr>
              <a:t>units</a:t>
            </a:r>
            <a:r>
              <a:rPr sz="2800" u="none" spc="-80" dirty="0">
                <a:latin typeface="Times New Roman"/>
                <a:cs typeface="Times New Roman"/>
              </a:rPr>
              <a:t> </a:t>
            </a:r>
            <a:r>
              <a:rPr sz="2800" u="none" spc="-5" dirty="0">
                <a:latin typeface="Times New Roman"/>
                <a:cs typeface="Times New Roman"/>
              </a:rPr>
              <a:t>are,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505200" y="4572000"/>
            <a:ext cx="1524000" cy="11049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508375" y="6191199"/>
            <a:ext cx="1333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rlito"/>
                <a:cs typeface="Carlito"/>
              </a:rPr>
              <a:t>Fig:</a:t>
            </a:r>
            <a:r>
              <a:rPr sz="1800" b="1" spc="-75" dirty="0">
                <a:latin typeface="Carlito"/>
                <a:cs typeface="Carlito"/>
              </a:rPr>
              <a:t> </a:t>
            </a:r>
            <a:r>
              <a:rPr sz="1800" b="1" spc="-5" dirty="0">
                <a:latin typeface="Carlito"/>
                <a:cs typeface="Carlito"/>
              </a:rPr>
              <a:t>Microfilm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140" y="388365"/>
            <a:ext cx="33502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Control</a:t>
            </a:r>
            <a:r>
              <a:rPr spc="-60" dirty="0"/>
              <a:t> </a:t>
            </a:r>
            <a:r>
              <a:rPr spc="-5" dirty="0"/>
              <a:t>unit</a:t>
            </a:r>
          </a:p>
        </p:txBody>
      </p:sp>
      <p:sp>
        <p:nvSpPr>
          <p:cNvPr id="3" name="object 3"/>
          <p:cNvSpPr/>
          <p:nvPr/>
        </p:nvSpPr>
        <p:spPr>
          <a:xfrm>
            <a:off x="624840" y="1201419"/>
            <a:ext cx="202691" cy="1991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4840" y="2920492"/>
            <a:ext cx="202691" cy="1991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2140" y="898905"/>
            <a:ext cx="7920990" cy="3940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715" indent="213360" algn="just">
              <a:lnSpc>
                <a:spcPct val="150100"/>
              </a:lnSpc>
              <a:spcBef>
                <a:spcPts val="95"/>
              </a:spcBef>
            </a:pPr>
            <a:r>
              <a:rPr sz="2400" dirty="0">
                <a:latin typeface="Times New Roman"/>
                <a:cs typeface="Times New Roman"/>
              </a:rPr>
              <a:t>Control </a:t>
            </a:r>
            <a:r>
              <a:rPr sz="2400" spc="-5" dirty="0">
                <a:latin typeface="Times New Roman"/>
                <a:cs typeface="Times New Roman"/>
              </a:rPr>
              <a:t>unit </a:t>
            </a:r>
            <a:r>
              <a:rPr sz="2400" dirty="0">
                <a:latin typeface="Times New Roman"/>
                <a:cs typeface="Times New Roman"/>
              </a:rPr>
              <a:t>is used to </a:t>
            </a:r>
            <a:r>
              <a:rPr sz="2400" spc="-5" dirty="0">
                <a:latin typeface="Times New Roman"/>
                <a:cs typeface="Times New Roman"/>
              </a:rPr>
              <a:t>coordinate the operations </a:t>
            </a:r>
            <a:r>
              <a:rPr sz="2400" dirty="0">
                <a:latin typeface="Times New Roman"/>
                <a:cs typeface="Times New Roman"/>
              </a:rPr>
              <a:t>of the input,  output, </a:t>
            </a:r>
            <a:r>
              <a:rPr sz="2400" spc="-25" dirty="0">
                <a:latin typeface="Times New Roman"/>
                <a:cs typeface="Times New Roman"/>
              </a:rPr>
              <a:t>memory, </a:t>
            </a:r>
            <a:r>
              <a:rPr sz="2400" spc="-5" dirty="0">
                <a:latin typeface="Times New Roman"/>
                <a:cs typeface="Times New Roman"/>
              </a:rPr>
              <a:t>ALU </a:t>
            </a: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5" dirty="0">
                <a:latin typeface="Times New Roman"/>
                <a:cs typeface="Times New Roman"/>
              </a:rPr>
              <a:t>some </a:t>
            </a:r>
            <a:r>
              <a:rPr sz="2400" spc="-45" dirty="0">
                <a:latin typeface="Times New Roman"/>
                <a:cs typeface="Times New Roman"/>
              </a:rPr>
              <a:t>way. </a:t>
            </a:r>
            <a:r>
              <a:rPr sz="2400" dirty="0">
                <a:latin typeface="Times New Roman"/>
                <a:cs typeface="Times New Roman"/>
              </a:rPr>
              <a:t>It </a:t>
            </a:r>
            <a:r>
              <a:rPr sz="2400" spc="-5" dirty="0">
                <a:latin typeface="Times New Roman"/>
                <a:cs typeface="Times New Roman"/>
              </a:rPr>
              <a:t>coordinates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operation  </a:t>
            </a:r>
            <a:r>
              <a:rPr sz="2400" dirty="0">
                <a:latin typeface="Times New Roman"/>
                <a:cs typeface="Times New Roman"/>
              </a:rPr>
              <a:t>of all the units using control signals like </a:t>
            </a:r>
            <a:r>
              <a:rPr sz="2400" spc="-5" dirty="0">
                <a:latin typeface="Times New Roman"/>
                <a:cs typeface="Times New Roman"/>
              </a:rPr>
              <a:t>timing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signals.</a:t>
            </a:r>
            <a:endParaRPr sz="2400">
              <a:latin typeface="Times New Roman"/>
              <a:cs typeface="Times New Roman"/>
            </a:endParaRPr>
          </a:p>
          <a:p>
            <a:pPr marL="12700" marR="5080" indent="213360" algn="just">
              <a:lnSpc>
                <a:spcPct val="150000"/>
              </a:lnSpc>
              <a:spcBef>
                <a:spcPts val="575"/>
              </a:spcBef>
            </a:pPr>
            <a:r>
              <a:rPr sz="2400" spc="-15" dirty="0">
                <a:latin typeface="Times New Roman"/>
                <a:cs typeface="Times New Roman"/>
              </a:rPr>
              <a:t>Timing </a:t>
            </a:r>
            <a:r>
              <a:rPr sz="2400" spc="-5" dirty="0">
                <a:latin typeface="Times New Roman"/>
                <a:cs typeface="Times New Roman"/>
              </a:rPr>
              <a:t>signals are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signals determining the time </a:t>
            </a:r>
            <a:r>
              <a:rPr sz="2400" dirty="0">
                <a:latin typeface="Times New Roman"/>
                <a:cs typeface="Times New Roman"/>
              </a:rPr>
              <a:t>when a  given </a:t>
            </a:r>
            <a:r>
              <a:rPr sz="2400" spc="-5" dirty="0">
                <a:latin typeface="Times New Roman"/>
                <a:cs typeface="Times New Roman"/>
              </a:rPr>
              <a:t>action must take place.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15" dirty="0">
                <a:latin typeface="Times New Roman"/>
                <a:cs typeface="Times New Roman"/>
              </a:rPr>
              <a:t>large </a:t>
            </a:r>
            <a:r>
              <a:rPr sz="2400" dirty="0">
                <a:latin typeface="Times New Roman"/>
                <a:cs typeface="Times New Roman"/>
              </a:rPr>
              <a:t>set </a:t>
            </a:r>
            <a:r>
              <a:rPr sz="2400" spc="-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control </a:t>
            </a:r>
            <a:r>
              <a:rPr sz="2400" spc="-5" dirty="0">
                <a:latin typeface="Times New Roman"/>
                <a:cs typeface="Times New Roman"/>
              </a:rPr>
              <a:t>lines carriers 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signals used for timing and synchronization of </a:t>
            </a:r>
            <a:r>
              <a:rPr sz="2400" dirty="0">
                <a:latin typeface="Times New Roman"/>
                <a:cs typeface="Times New Roman"/>
              </a:rPr>
              <a:t>events </a:t>
            </a:r>
            <a:r>
              <a:rPr sz="2400" spc="-5" dirty="0">
                <a:latin typeface="Times New Roman"/>
                <a:cs typeface="Times New Roman"/>
              </a:rPr>
              <a:t>in </a:t>
            </a:r>
            <a:r>
              <a:rPr sz="2400" dirty="0">
                <a:latin typeface="Times New Roman"/>
                <a:cs typeface="Times New Roman"/>
              </a:rPr>
              <a:t>all  units.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12140" y="2667000"/>
            <a:ext cx="7312660" cy="1354217"/>
          </a:xfrm>
        </p:spPr>
        <p:txBody>
          <a:bodyPr/>
          <a:lstStyle/>
          <a:p>
            <a:pPr algn="ctr"/>
            <a:r>
              <a:rPr lang="en-US" sz="8800" i="1" u="none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78</TotalTime>
  <Words>619</Words>
  <Application>Microsoft Office PowerPoint</Application>
  <PresentationFormat>On-screen Show (4:3)</PresentationFormat>
  <Paragraphs>65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Baskerville Old Face</vt:lpstr>
      <vt:lpstr>Calibri</vt:lpstr>
      <vt:lpstr>Carlito</vt:lpstr>
      <vt:lpstr>Lucida Calligraphy</vt:lpstr>
      <vt:lpstr>Times New Roman</vt:lpstr>
      <vt:lpstr>Trebuchet MS</vt:lpstr>
      <vt:lpstr>Wingdings</vt:lpstr>
      <vt:lpstr>Office Theme</vt:lpstr>
      <vt:lpstr>Functional Units Of A Computer  By M.BABY ANUSHA Asst. Professor, CSE Department RAMACHANDRA COLLEGE OF ENGINEERING  </vt:lpstr>
      <vt:lpstr>Computer Architecture</vt:lpstr>
      <vt:lpstr>Functional units</vt:lpstr>
      <vt:lpstr>PowerPoint Presentation</vt:lpstr>
      <vt:lpstr>The most commonly used input devices are,</vt:lpstr>
      <vt:lpstr>PowerPoint Presentation</vt:lpstr>
      <vt:lpstr>Memory unit Memory unit is used to store programs and data.</vt:lpstr>
      <vt:lpstr>PowerPoint Presentation</vt:lpstr>
      <vt:lpstr>Secondary storage:</vt:lpstr>
      <vt:lpstr>Arithmetic and logic unit:</vt:lpstr>
      <vt:lpstr>Output unit</vt:lpstr>
      <vt:lpstr>Some of the output units are,</vt:lpstr>
      <vt:lpstr>Control unit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Units</dc:title>
  <dc:creator>Anu Chanti</dc:creator>
  <cp:lastModifiedBy>anusha kasturi</cp:lastModifiedBy>
  <cp:revision>11</cp:revision>
  <dcterms:created xsi:type="dcterms:W3CDTF">2021-05-17T05:26:39Z</dcterms:created>
  <dcterms:modified xsi:type="dcterms:W3CDTF">2024-01-24T04:39:36Z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2015-12-15T00:00:00Z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2021-05-17T00:00:00Z</vt:filetime>
  </property>
</Properties>
</file>