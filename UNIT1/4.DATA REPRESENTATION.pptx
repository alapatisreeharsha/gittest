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7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69747" y="412751"/>
            <a:ext cx="560450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D1624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D1624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1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1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D1624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1392937"/>
            <a:ext cx="8839200" cy="4996180"/>
          </a:xfrm>
          <a:custGeom>
            <a:avLst/>
            <a:gdLst/>
            <a:ahLst/>
            <a:cxnLst/>
            <a:rect l="l" t="t" r="r" b="b"/>
            <a:pathLst>
              <a:path w="8839200" h="4996180">
                <a:moveTo>
                  <a:pt x="0" y="4995672"/>
                </a:moveTo>
                <a:lnTo>
                  <a:pt x="8839200" y="4995672"/>
                </a:lnTo>
                <a:lnTo>
                  <a:pt x="8839200" y="0"/>
                </a:lnTo>
                <a:lnTo>
                  <a:pt x="0" y="0"/>
                </a:lnTo>
                <a:lnTo>
                  <a:pt x="0" y="4995672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6697981"/>
            <a:ext cx="8839200" cy="7620"/>
          </a:xfrm>
          <a:custGeom>
            <a:avLst/>
            <a:gdLst/>
            <a:ahLst/>
            <a:cxnLst/>
            <a:rect l="l" t="t" r="r" b="b"/>
            <a:pathLst>
              <a:path w="8839200" h="7620">
                <a:moveTo>
                  <a:pt x="0" y="7619"/>
                </a:moveTo>
                <a:lnTo>
                  <a:pt x="8839200" y="7619"/>
                </a:lnTo>
                <a:lnTo>
                  <a:pt x="8839200" y="0"/>
                </a:lnTo>
                <a:lnTo>
                  <a:pt x="0" y="0"/>
                </a:lnTo>
                <a:lnTo>
                  <a:pt x="0" y="7619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705599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>
                <a:moveTo>
                  <a:pt x="9144000" y="0"/>
                </a:moveTo>
                <a:lnTo>
                  <a:pt x="0" y="0"/>
                </a:lnTo>
                <a:lnTo>
                  <a:pt x="0" y="152400"/>
                </a:lnTo>
                <a:lnTo>
                  <a:pt x="9144000" y="152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8991600" y="0"/>
                </a:lnTo>
                <a:lnTo>
                  <a:pt x="152400" y="0"/>
                </a:lnTo>
                <a:lnTo>
                  <a:pt x="0" y="0"/>
                </a:lnTo>
                <a:lnTo>
                  <a:pt x="0" y="1392936"/>
                </a:lnTo>
                <a:lnTo>
                  <a:pt x="0" y="6858000"/>
                </a:lnTo>
                <a:lnTo>
                  <a:pt x="152400" y="6858000"/>
                </a:lnTo>
                <a:lnTo>
                  <a:pt x="152400" y="1392936"/>
                </a:lnTo>
                <a:lnTo>
                  <a:pt x="8991600" y="1392936"/>
                </a:lnTo>
                <a:lnTo>
                  <a:pt x="8991600" y="6858000"/>
                </a:lnTo>
                <a:lnTo>
                  <a:pt x="9144000" y="6858000"/>
                </a:lnTo>
                <a:lnTo>
                  <a:pt x="9144000" y="1392936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49354" y="6388608"/>
            <a:ext cx="8833485" cy="309880"/>
          </a:xfrm>
          <a:custGeom>
            <a:avLst/>
            <a:gdLst/>
            <a:ahLst/>
            <a:cxnLst/>
            <a:rect l="l" t="t" r="r" b="b"/>
            <a:pathLst>
              <a:path w="8833485" h="309879">
                <a:moveTo>
                  <a:pt x="8833104" y="0"/>
                </a:moveTo>
                <a:lnTo>
                  <a:pt x="0" y="0"/>
                </a:lnTo>
                <a:lnTo>
                  <a:pt x="0" y="309371"/>
                </a:lnTo>
                <a:lnTo>
                  <a:pt x="8833104" y="309371"/>
                </a:lnTo>
                <a:lnTo>
                  <a:pt x="8833104" y="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2402" y="155447"/>
            <a:ext cx="8833485" cy="6547484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7A97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52402" y="1277111"/>
            <a:ext cx="8833485" cy="0"/>
          </a:xfrm>
          <a:custGeom>
            <a:avLst/>
            <a:gdLst/>
            <a:ahLst/>
            <a:cxnLst/>
            <a:rect l="l" t="t" r="r" b="b"/>
            <a:pathLst>
              <a:path w="8833485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9144">
            <a:solidFill>
              <a:srgbClr val="7A97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267200" y="95554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304800"/>
                </a:moveTo>
                <a:lnTo>
                  <a:pt x="605599" y="255384"/>
                </a:lnTo>
                <a:lnTo>
                  <a:pt x="594042" y="208483"/>
                </a:lnTo>
                <a:lnTo>
                  <a:pt x="575564" y="164757"/>
                </a:lnTo>
                <a:lnTo>
                  <a:pt x="550760" y="124815"/>
                </a:lnTo>
                <a:lnTo>
                  <a:pt x="520293" y="89306"/>
                </a:lnTo>
                <a:lnTo>
                  <a:pt x="484771" y="58826"/>
                </a:lnTo>
                <a:lnTo>
                  <a:pt x="444842" y="34036"/>
                </a:lnTo>
                <a:lnTo>
                  <a:pt x="401116" y="15544"/>
                </a:lnTo>
                <a:lnTo>
                  <a:pt x="354215" y="4000"/>
                </a:lnTo>
                <a:lnTo>
                  <a:pt x="304800" y="0"/>
                </a:lnTo>
                <a:lnTo>
                  <a:pt x="255371" y="4000"/>
                </a:lnTo>
                <a:lnTo>
                  <a:pt x="208470" y="15557"/>
                </a:lnTo>
                <a:lnTo>
                  <a:pt x="164744" y="34036"/>
                </a:lnTo>
                <a:lnTo>
                  <a:pt x="124815" y="58839"/>
                </a:lnTo>
                <a:lnTo>
                  <a:pt x="89293" y="89306"/>
                </a:lnTo>
                <a:lnTo>
                  <a:pt x="58826" y="124828"/>
                </a:lnTo>
                <a:lnTo>
                  <a:pt x="34023" y="164757"/>
                </a:lnTo>
                <a:lnTo>
                  <a:pt x="15544" y="208483"/>
                </a:lnTo>
                <a:lnTo>
                  <a:pt x="3987" y="255384"/>
                </a:lnTo>
                <a:lnTo>
                  <a:pt x="0" y="304800"/>
                </a:lnTo>
                <a:lnTo>
                  <a:pt x="3987" y="354228"/>
                </a:lnTo>
                <a:lnTo>
                  <a:pt x="15544" y="401129"/>
                </a:lnTo>
                <a:lnTo>
                  <a:pt x="34023" y="444855"/>
                </a:lnTo>
                <a:lnTo>
                  <a:pt x="58826" y="484797"/>
                </a:lnTo>
                <a:lnTo>
                  <a:pt x="89293" y="520306"/>
                </a:lnTo>
                <a:lnTo>
                  <a:pt x="124815" y="550773"/>
                </a:lnTo>
                <a:lnTo>
                  <a:pt x="164744" y="575576"/>
                </a:lnTo>
                <a:lnTo>
                  <a:pt x="208483" y="594055"/>
                </a:lnTo>
                <a:lnTo>
                  <a:pt x="255371" y="605612"/>
                </a:lnTo>
                <a:lnTo>
                  <a:pt x="304800" y="609600"/>
                </a:lnTo>
                <a:lnTo>
                  <a:pt x="354215" y="605612"/>
                </a:lnTo>
                <a:lnTo>
                  <a:pt x="401116" y="594055"/>
                </a:lnTo>
                <a:lnTo>
                  <a:pt x="444842" y="575576"/>
                </a:lnTo>
                <a:lnTo>
                  <a:pt x="484784" y="550773"/>
                </a:lnTo>
                <a:lnTo>
                  <a:pt x="520293" y="520306"/>
                </a:lnTo>
                <a:lnTo>
                  <a:pt x="550773" y="484784"/>
                </a:lnTo>
                <a:lnTo>
                  <a:pt x="575564" y="444855"/>
                </a:lnTo>
                <a:lnTo>
                  <a:pt x="594055" y="401116"/>
                </a:lnTo>
                <a:lnTo>
                  <a:pt x="605599" y="354228"/>
                </a:lnTo>
                <a:lnTo>
                  <a:pt x="60960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337303" y="1026667"/>
            <a:ext cx="471170" cy="469900"/>
          </a:xfrm>
          <a:custGeom>
            <a:avLst/>
            <a:gdLst/>
            <a:ahLst/>
            <a:cxnLst/>
            <a:rect l="l" t="t" r="r" b="b"/>
            <a:pathLst>
              <a:path w="471170" h="469900">
                <a:moveTo>
                  <a:pt x="258191" y="0"/>
                </a:moveTo>
                <a:lnTo>
                  <a:pt x="234187" y="0"/>
                </a:lnTo>
                <a:lnTo>
                  <a:pt x="210058" y="1270"/>
                </a:lnTo>
                <a:lnTo>
                  <a:pt x="164211" y="10160"/>
                </a:lnTo>
                <a:lnTo>
                  <a:pt x="122300" y="29210"/>
                </a:lnTo>
                <a:lnTo>
                  <a:pt x="84836" y="54610"/>
                </a:lnTo>
                <a:lnTo>
                  <a:pt x="52959" y="86360"/>
                </a:lnTo>
                <a:lnTo>
                  <a:pt x="27940" y="124460"/>
                </a:lnTo>
                <a:lnTo>
                  <a:pt x="10160" y="166370"/>
                </a:lnTo>
                <a:lnTo>
                  <a:pt x="1016" y="212089"/>
                </a:lnTo>
                <a:lnTo>
                  <a:pt x="0" y="236220"/>
                </a:lnTo>
                <a:lnTo>
                  <a:pt x="1397" y="260350"/>
                </a:lnTo>
                <a:lnTo>
                  <a:pt x="11049" y="306070"/>
                </a:lnTo>
                <a:lnTo>
                  <a:pt x="29083" y="347979"/>
                </a:lnTo>
                <a:lnTo>
                  <a:pt x="54610" y="386079"/>
                </a:lnTo>
                <a:lnTo>
                  <a:pt x="86613" y="417829"/>
                </a:lnTo>
                <a:lnTo>
                  <a:pt x="124333" y="443229"/>
                </a:lnTo>
                <a:lnTo>
                  <a:pt x="166750" y="461010"/>
                </a:lnTo>
                <a:lnTo>
                  <a:pt x="212725" y="469900"/>
                </a:lnTo>
                <a:lnTo>
                  <a:pt x="236728" y="469900"/>
                </a:lnTo>
                <a:lnTo>
                  <a:pt x="260858" y="468629"/>
                </a:lnTo>
                <a:lnTo>
                  <a:pt x="284099" y="466089"/>
                </a:lnTo>
                <a:lnTo>
                  <a:pt x="306705" y="459739"/>
                </a:lnTo>
                <a:lnTo>
                  <a:pt x="324696" y="453389"/>
                </a:lnTo>
                <a:lnTo>
                  <a:pt x="213487" y="453389"/>
                </a:lnTo>
                <a:lnTo>
                  <a:pt x="191770" y="449579"/>
                </a:lnTo>
                <a:lnTo>
                  <a:pt x="150749" y="436879"/>
                </a:lnTo>
                <a:lnTo>
                  <a:pt x="113537" y="416560"/>
                </a:lnTo>
                <a:lnTo>
                  <a:pt x="81153" y="389889"/>
                </a:lnTo>
                <a:lnTo>
                  <a:pt x="54356" y="358139"/>
                </a:lnTo>
                <a:lnTo>
                  <a:pt x="34162" y="321310"/>
                </a:lnTo>
                <a:lnTo>
                  <a:pt x="21336" y="279400"/>
                </a:lnTo>
                <a:lnTo>
                  <a:pt x="16827" y="236220"/>
                </a:lnTo>
                <a:lnTo>
                  <a:pt x="16823" y="233679"/>
                </a:lnTo>
                <a:lnTo>
                  <a:pt x="17780" y="213360"/>
                </a:lnTo>
                <a:lnTo>
                  <a:pt x="26416" y="170179"/>
                </a:lnTo>
                <a:lnTo>
                  <a:pt x="43053" y="130810"/>
                </a:lnTo>
                <a:lnTo>
                  <a:pt x="66421" y="96520"/>
                </a:lnTo>
                <a:lnTo>
                  <a:pt x="96138" y="66039"/>
                </a:lnTo>
                <a:lnTo>
                  <a:pt x="130937" y="43179"/>
                </a:lnTo>
                <a:lnTo>
                  <a:pt x="170053" y="26670"/>
                </a:lnTo>
                <a:lnTo>
                  <a:pt x="212598" y="17779"/>
                </a:lnTo>
                <a:lnTo>
                  <a:pt x="235076" y="16510"/>
                </a:lnTo>
                <a:lnTo>
                  <a:pt x="322495" y="16510"/>
                </a:lnTo>
                <a:lnTo>
                  <a:pt x="304292" y="10160"/>
                </a:lnTo>
                <a:lnTo>
                  <a:pt x="281686" y="3810"/>
                </a:lnTo>
                <a:lnTo>
                  <a:pt x="258191" y="0"/>
                </a:lnTo>
                <a:close/>
              </a:path>
              <a:path w="471170" h="469900">
                <a:moveTo>
                  <a:pt x="322495" y="16510"/>
                </a:moveTo>
                <a:lnTo>
                  <a:pt x="235076" y="16510"/>
                </a:lnTo>
                <a:lnTo>
                  <a:pt x="257429" y="17779"/>
                </a:lnTo>
                <a:lnTo>
                  <a:pt x="279146" y="20320"/>
                </a:lnTo>
                <a:lnTo>
                  <a:pt x="320294" y="33020"/>
                </a:lnTo>
                <a:lnTo>
                  <a:pt x="357378" y="53339"/>
                </a:lnTo>
                <a:lnTo>
                  <a:pt x="389890" y="80010"/>
                </a:lnTo>
                <a:lnTo>
                  <a:pt x="416560" y="113029"/>
                </a:lnTo>
                <a:lnTo>
                  <a:pt x="436880" y="149860"/>
                </a:lnTo>
                <a:lnTo>
                  <a:pt x="449580" y="190500"/>
                </a:lnTo>
                <a:lnTo>
                  <a:pt x="454088" y="233679"/>
                </a:lnTo>
                <a:lnTo>
                  <a:pt x="454092" y="236220"/>
                </a:lnTo>
                <a:lnTo>
                  <a:pt x="453136" y="256539"/>
                </a:lnTo>
                <a:lnTo>
                  <a:pt x="444500" y="299720"/>
                </a:lnTo>
                <a:lnTo>
                  <a:pt x="427990" y="339089"/>
                </a:lnTo>
                <a:lnTo>
                  <a:pt x="404495" y="373379"/>
                </a:lnTo>
                <a:lnTo>
                  <a:pt x="374904" y="403860"/>
                </a:lnTo>
                <a:lnTo>
                  <a:pt x="340106" y="426720"/>
                </a:lnTo>
                <a:lnTo>
                  <a:pt x="300863" y="444500"/>
                </a:lnTo>
                <a:lnTo>
                  <a:pt x="258318" y="452120"/>
                </a:lnTo>
                <a:lnTo>
                  <a:pt x="235838" y="453389"/>
                </a:lnTo>
                <a:lnTo>
                  <a:pt x="324696" y="453389"/>
                </a:lnTo>
                <a:lnTo>
                  <a:pt x="368173" y="429260"/>
                </a:lnTo>
                <a:lnTo>
                  <a:pt x="402844" y="400050"/>
                </a:lnTo>
                <a:lnTo>
                  <a:pt x="431292" y="365760"/>
                </a:lnTo>
                <a:lnTo>
                  <a:pt x="452882" y="325120"/>
                </a:lnTo>
                <a:lnTo>
                  <a:pt x="466344" y="281939"/>
                </a:lnTo>
                <a:lnTo>
                  <a:pt x="470916" y="233679"/>
                </a:lnTo>
                <a:lnTo>
                  <a:pt x="469519" y="209550"/>
                </a:lnTo>
                <a:lnTo>
                  <a:pt x="459994" y="163829"/>
                </a:lnTo>
                <a:lnTo>
                  <a:pt x="441960" y="121920"/>
                </a:lnTo>
                <a:lnTo>
                  <a:pt x="416433" y="85089"/>
                </a:lnTo>
                <a:lnTo>
                  <a:pt x="384301" y="52070"/>
                </a:lnTo>
                <a:lnTo>
                  <a:pt x="346710" y="27939"/>
                </a:lnTo>
                <a:lnTo>
                  <a:pt x="326136" y="17779"/>
                </a:lnTo>
                <a:lnTo>
                  <a:pt x="322495" y="16510"/>
                </a:lnTo>
                <a:close/>
              </a:path>
              <a:path w="471170" h="469900">
                <a:moveTo>
                  <a:pt x="235838" y="33020"/>
                </a:moveTo>
                <a:lnTo>
                  <a:pt x="195199" y="36829"/>
                </a:lnTo>
                <a:lnTo>
                  <a:pt x="157225" y="49529"/>
                </a:lnTo>
                <a:lnTo>
                  <a:pt x="122936" y="67310"/>
                </a:lnTo>
                <a:lnTo>
                  <a:pt x="92963" y="92710"/>
                </a:lnTo>
                <a:lnTo>
                  <a:pt x="68199" y="121920"/>
                </a:lnTo>
                <a:lnTo>
                  <a:pt x="49530" y="156210"/>
                </a:lnTo>
                <a:lnTo>
                  <a:pt x="37719" y="194310"/>
                </a:lnTo>
                <a:lnTo>
                  <a:pt x="33591" y="233679"/>
                </a:lnTo>
                <a:lnTo>
                  <a:pt x="33583" y="236220"/>
                </a:lnTo>
                <a:lnTo>
                  <a:pt x="34417" y="255270"/>
                </a:lnTo>
                <a:lnTo>
                  <a:pt x="42418" y="294639"/>
                </a:lnTo>
                <a:lnTo>
                  <a:pt x="57785" y="331470"/>
                </a:lnTo>
                <a:lnTo>
                  <a:pt x="79375" y="363220"/>
                </a:lnTo>
                <a:lnTo>
                  <a:pt x="106680" y="391160"/>
                </a:lnTo>
                <a:lnTo>
                  <a:pt x="138937" y="412750"/>
                </a:lnTo>
                <a:lnTo>
                  <a:pt x="175006" y="427989"/>
                </a:lnTo>
                <a:lnTo>
                  <a:pt x="214375" y="435610"/>
                </a:lnTo>
                <a:lnTo>
                  <a:pt x="235076" y="436879"/>
                </a:lnTo>
                <a:lnTo>
                  <a:pt x="255650" y="435610"/>
                </a:lnTo>
                <a:lnTo>
                  <a:pt x="275717" y="433070"/>
                </a:lnTo>
                <a:lnTo>
                  <a:pt x="295148" y="427989"/>
                </a:lnTo>
                <a:lnTo>
                  <a:pt x="313690" y="421639"/>
                </a:lnTo>
                <a:lnTo>
                  <a:pt x="316211" y="420370"/>
                </a:lnTo>
                <a:lnTo>
                  <a:pt x="234187" y="420370"/>
                </a:lnTo>
                <a:lnTo>
                  <a:pt x="215137" y="419100"/>
                </a:lnTo>
                <a:lnTo>
                  <a:pt x="162306" y="405129"/>
                </a:lnTo>
                <a:lnTo>
                  <a:pt x="116712" y="377189"/>
                </a:lnTo>
                <a:lnTo>
                  <a:pt x="81153" y="337820"/>
                </a:lnTo>
                <a:lnTo>
                  <a:pt x="58166" y="289560"/>
                </a:lnTo>
                <a:lnTo>
                  <a:pt x="50292" y="233679"/>
                </a:lnTo>
                <a:lnTo>
                  <a:pt x="51308" y="214629"/>
                </a:lnTo>
                <a:lnTo>
                  <a:pt x="65278" y="162560"/>
                </a:lnTo>
                <a:lnTo>
                  <a:pt x="93345" y="116839"/>
                </a:lnTo>
                <a:lnTo>
                  <a:pt x="132969" y="81279"/>
                </a:lnTo>
                <a:lnTo>
                  <a:pt x="181737" y="57150"/>
                </a:lnTo>
                <a:lnTo>
                  <a:pt x="236728" y="49529"/>
                </a:lnTo>
                <a:lnTo>
                  <a:pt x="314451" y="49529"/>
                </a:lnTo>
                <a:lnTo>
                  <a:pt x="295910" y="41910"/>
                </a:lnTo>
                <a:lnTo>
                  <a:pt x="276606" y="36829"/>
                </a:lnTo>
                <a:lnTo>
                  <a:pt x="256540" y="34289"/>
                </a:lnTo>
                <a:lnTo>
                  <a:pt x="235838" y="33020"/>
                </a:lnTo>
                <a:close/>
              </a:path>
              <a:path w="471170" h="469900">
                <a:moveTo>
                  <a:pt x="314451" y="49529"/>
                </a:moveTo>
                <a:lnTo>
                  <a:pt x="236728" y="49529"/>
                </a:lnTo>
                <a:lnTo>
                  <a:pt x="255778" y="50800"/>
                </a:lnTo>
                <a:lnTo>
                  <a:pt x="273938" y="53339"/>
                </a:lnTo>
                <a:lnTo>
                  <a:pt x="324866" y="72389"/>
                </a:lnTo>
                <a:lnTo>
                  <a:pt x="367284" y="105410"/>
                </a:lnTo>
                <a:lnTo>
                  <a:pt x="398907" y="148589"/>
                </a:lnTo>
                <a:lnTo>
                  <a:pt x="417068" y="199389"/>
                </a:lnTo>
                <a:lnTo>
                  <a:pt x="420624" y="236220"/>
                </a:lnTo>
                <a:lnTo>
                  <a:pt x="419608" y="255270"/>
                </a:lnTo>
                <a:lnTo>
                  <a:pt x="405638" y="308610"/>
                </a:lnTo>
                <a:lnTo>
                  <a:pt x="377571" y="354329"/>
                </a:lnTo>
                <a:lnTo>
                  <a:pt x="338074" y="389889"/>
                </a:lnTo>
                <a:lnTo>
                  <a:pt x="289433" y="412750"/>
                </a:lnTo>
                <a:lnTo>
                  <a:pt x="234187" y="420370"/>
                </a:lnTo>
                <a:lnTo>
                  <a:pt x="316211" y="420370"/>
                </a:lnTo>
                <a:lnTo>
                  <a:pt x="363600" y="391160"/>
                </a:lnTo>
                <a:lnTo>
                  <a:pt x="391033" y="364489"/>
                </a:lnTo>
                <a:lnTo>
                  <a:pt x="412876" y="331470"/>
                </a:lnTo>
                <a:lnTo>
                  <a:pt x="428244" y="295910"/>
                </a:lnTo>
                <a:lnTo>
                  <a:pt x="436372" y="256539"/>
                </a:lnTo>
                <a:lnTo>
                  <a:pt x="437332" y="233679"/>
                </a:lnTo>
                <a:lnTo>
                  <a:pt x="436499" y="214629"/>
                </a:lnTo>
                <a:lnTo>
                  <a:pt x="428498" y="175260"/>
                </a:lnTo>
                <a:lnTo>
                  <a:pt x="413258" y="139700"/>
                </a:lnTo>
                <a:lnTo>
                  <a:pt x="391541" y="106679"/>
                </a:lnTo>
                <a:lnTo>
                  <a:pt x="364236" y="80010"/>
                </a:lnTo>
                <a:lnTo>
                  <a:pt x="332105" y="57150"/>
                </a:lnTo>
                <a:lnTo>
                  <a:pt x="314451" y="49529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4074" y="1418286"/>
            <a:ext cx="489585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D1624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0491" y="1549350"/>
            <a:ext cx="83830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2514601"/>
            <a:ext cx="8839200" cy="3877311"/>
          </a:xfrm>
          <a:custGeom>
            <a:avLst/>
            <a:gdLst/>
            <a:ahLst/>
            <a:cxnLst/>
            <a:rect l="l" t="t" r="r" b="b"/>
            <a:pathLst>
              <a:path w="8839200" h="3877310">
                <a:moveTo>
                  <a:pt x="0" y="3877055"/>
                </a:moveTo>
                <a:lnTo>
                  <a:pt x="8839200" y="3877055"/>
                </a:lnTo>
                <a:lnTo>
                  <a:pt x="8839200" y="0"/>
                </a:lnTo>
                <a:lnTo>
                  <a:pt x="0" y="0"/>
                </a:lnTo>
                <a:lnTo>
                  <a:pt x="0" y="3877055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2400" y="6701028"/>
            <a:ext cx="8839200" cy="5080"/>
          </a:xfrm>
          <a:custGeom>
            <a:avLst/>
            <a:gdLst/>
            <a:ahLst/>
            <a:cxnLst/>
            <a:rect l="l" t="t" r="r" b="b"/>
            <a:pathLst>
              <a:path w="8839200" h="5079">
                <a:moveTo>
                  <a:pt x="0" y="4571"/>
                </a:moveTo>
                <a:lnTo>
                  <a:pt x="8839200" y="4571"/>
                </a:lnTo>
                <a:lnTo>
                  <a:pt x="8839200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6705599"/>
            <a:ext cx="9144000" cy="152400"/>
          </a:xfrm>
          <a:custGeom>
            <a:avLst/>
            <a:gdLst/>
            <a:ahLst/>
            <a:cxnLst/>
            <a:rect l="l" t="t" r="r" b="b"/>
            <a:pathLst>
              <a:path w="9144000" h="152400">
                <a:moveTo>
                  <a:pt x="9144000" y="0"/>
                </a:moveTo>
                <a:lnTo>
                  <a:pt x="0" y="0"/>
                </a:lnTo>
                <a:lnTo>
                  <a:pt x="0" y="152400"/>
                </a:lnTo>
                <a:lnTo>
                  <a:pt x="9144000" y="1524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991600" y="3048"/>
            <a:ext cx="152400" cy="6855459"/>
          </a:xfrm>
          <a:custGeom>
            <a:avLst/>
            <a:gdLst/>
            <a:ahLst/>
            <a:cxnLst/>
            <a:rect l="l" t="t" r="r" b="b"/>
            <a:pathLst>
              <a:path w="152400" h="6855459">
                <a:moveTo>
                  <a:pt x="152399" y="0"/>
                </a:moveTo>
                <a:lnTo>
                  <a:pt x="0" y="0"/>
                </a:lnTo>
                <a:lnTo>
                  <a:pt x="0" y="6854950"/>
                </a:lnTo>
                <a:lnTo>
                  <a:pt x="152399" y="6854950"/>
                </a:lnTo>
                <a:lnTo>
                  <a:pt x="1523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152400" y="0"/>
                  </a:lnTo>
                  <a:lnTo>
                    <a:pt x="0" y="0"/>
                  </a:lnTo>
                  <a:lnTo>
                    <a:pt x="0" y="2514600"/>
                  </a:lnTo>
                  <a:lnTo>
                    <a:pt x="0" y="6858000"/>
                  </a:lnTo>
                  <a:lnTo>
                    <a:pt x="152400" y="6858000"/>
                  </a:lnTo>
                  <a:lnTo>
                    <a:pt x="152400" y="2514600"/>
                  </a:lnTo>
                  <a:lnTo>
                    <a:pt x="9144000" y="2514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6304" y="6391655"/>
              <a:ext cx="8833485" cy="309880"/>
            </a:xfrm>
            <a:custGeom>
              <a:avLst/>
              <a:gdLst/>
              <a:ahLst/>
              <a:cxnLst/>
              <a:rect l="l" t="t" r="r" b="b"/>
              <a:pathLst>
                <a:path w="8833485" h="309879">
                  <a:moveTo>
                    <a:pt x="8833104" y="0"/>
                  </a:moveTo>
                  <a:lnTo>
                    <a:pt x="0" y="0"/>
                  </a:lnTo>
                  <a:lnTo>
                    <a:pt x="0" y="309372"/>
                  </a:lnTo>
                  <a:lnTo>
                    <a:pt x="8833104" y="309372"/>
                  </a:lnTo>
                  <a:lnTo>
                    <a:pt x="8833104" y="0"/>
                  </a:lnTo>
                  <a:close/>
                </a:path>
              </a:pathLst>
            </a:custGeom>
            <a:solidFill>
              <a:srgbClr val="8BAC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5447" y="2420111"/>
              <a:ext cx="8833485" cy="0"/>
            </a:xfrm>
            <a:custGeom>
              <a:avLst/>
              <a:gdLst/>
              <a:ahLst/>
              <a:cxnLst/>
              <a:rect l="l" t="t" r="r" b="b"/>
              <a:pathLst>
                <a:path w="8833485">
                  <a:moveTo>
                    <a:pt x="0" y="0"/>
                  </a:moveTo>
                  <a:lnTo>
                    <a:pt x="8833104" y="0"/>
                  </a:lnTo>
                </a:path>
              </a:pathLst>
            </a:custGeom>
            <a:ln w="12192">
              <a:solidFill>
                <a:srgbClr val="7A979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400" y="152400"/>
              <a:ext cx="8833485" cy="6547484"/>
            </a:xfrm>
            <a:custGeom>
              <a:avLst/>
              <a:gdLst/>
              <a:ahLst/>
              <a:cxnLst/>
              <a:rect l="l" t="t" r="r" b="b"/>
              <a:pathLst>
                <a:path w="8833485" h="6547484">
                  <a:moveTo>
                    <a:pt x="0" y="6547104"/>
                  </a:moveTo>
                  <a:lnTo>
                    <a:pt x="8833104" y="6547104"/>
                  </a:lnTo>
                  <a:lnTo>
                    <a:pt x="8833104" y="0"/>
                  </a:lnTo>
                  <a:lnTo>
                    <a:pt x="0" y="0"/>
                  </a:lnTo>
                  <a:lnTo>
                    <a:pt x="0" y="6547104"/>
                  </a:lnTo>
                  <a:close/>
                </a:path>
              </a:pathLst>
            </a:custGeom>
            <a:ln w="9143">
              <a:solidFill>
                <a:srgbClr val="7A97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67200" y="2115311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600" y="304800"/>
                  </a:moveTo>
                  <a:lnTo>
                    <a:pt x="605599" y="255384"/>
                  </a:lnTo>
                  <a:lnTo>
                    <a:pt x="594042" y="208483"/>
                  </a:lnTo>
                  <a:lnTo>
                    <a:pt x="575564" y="164757"/>
                  </a:lnTo>
                  <a:lnTo>
                    <a:pt x="550760" y="124815"/>
                  </a:lnTo>
                  <a:lnTo>
                    <a:pt x="520293" y="89306"/>
                  </a:lnTo>
                  <a:lnTo>
                    <a:pt x="484771" y="58826"/>
                  </a:lnTo>
                  <a:lnTo>
                    <a:pt x="444842" y="34036"/>
                  </a:lnTo>
                  <a:lnTo>
                    <a:pt x="401116" y="15544"/>
                  </a:lnTo>
                  <a:lnTo>
                    <a:pt x="354215" y="4000"/>
                  </a:lnTo>
                  <a:lnTo>
                    <a:pt x="304800" y="0"/>
                  </a:lnTo>
                  <a:lnTo>
                    <a:pt x="255371" y="4000"/>
                  </a:lnTo>
                  <a:lnTo>
                    <a:pt x="208470" y="15557"/>
                  </a:lnTo>
                  <a:lnTo>
                    <a:pt x="164744" y="34036"/>
                  </a:lnTo>
                  <a:lnTo>
                    <a:pt x="124815" y="58839"/>
                  </a:lnTo>
                  <a:lnTo>
                    <a:pt x="89293" y="89306"/>
                  </a:lnTo>
                  <a:lnTo>
                    <a:pt x="58826" y="124828"/>
                  </a:lnTo>
                  <a:lnTo>
                    <a:pt x="34023" y="164757"/>
                  </a:lnTo>
                  <a:lnTo>
                    <a:pt x="15544" y="208483"/>
                  </a:lnTo>
                  <a:lnTo>
                    <a:pt x="3987" y="255384"/>
                  </a:lnTo>
                  <a:lnTo>
                    <a:pt x="0" y="304800"/>
                  </a:lnTo>
                  <a:lnTo>
                    <a:pt x="3987" y="354228"/>
                  </a:lnTo>
                  <a:lnTo>
                    <a:pt x="15544" y="401129"/>
                  </a:lnTo>
                  <a:lnTo>
                    <a:pt x="34023" y="444855"/>
                  </a:lnTo>
                  <a:lnTo>
                    <a:pt x="58826" y="484784"/>
                  </a:lnTo>
                  <a:lnTo>
                    <a:pt x="89293" y="520306"/>
                  </a:lnTo>
                  <a:lnTo>
                    <a:pt x="124815" y="550773"/>
                  </a:lnTo>
                  <a:lnTo>
                    <a:pt x="164744" y="575576"/>
                  </a:lnTo>
                  <a:lnTo>
                    <a:pt x="208483" y="594055"/>
                  </a:lnTo>
                  <a:lnTo>
                    <a:pt x="255371" y="605612"/>
                  </a:lnTo>
                  <a:lnTo>
                    <a:pt x="304800" y="609600"/>
                  </a:lnTo>
                  <a:lnTo>
                    <a:pt x="354215" y="605612"/>
                  </a:lnTo>
                  <a:lnTo>
                    <a:pt x="401116" y="594055"/>
                  </a:lnTo>
                  <a:lnTo>
                    <a:pt x="444842" y="575576"/>
                  </a:lnTo>
                  <a:lnTo>
                    <a:pt x="484784" y="550773"/>
                  </a:lnTo>
                  <a:lnTo>
                    <a:pt x="520293" y="520306"/>
                  </a:lnTo>
                  <a:lnTo>
                    <a:pt x="550773" y="484784"/>
                  </a:lnTo>
                  <a:lnTo>
                    <a:pt x="575564" y="444855"/>
                  </a:lnTo>
                  <a:lnTo>
                    <a:pt x="594055" y="401116"/>
                  </a:lnTo>
                  <a:lnTo>
                    <a:pt x="605599" y="354228"/>
                  </a:lnTo>
                  <a:lnTo>
                    <a:pt x="609600" y="304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37303" y="2186432"/>
              <a:ext cx="471170" cy="469900"/>
            </a:xfrm>
            <a:custGeom>
              <a:avLst/>
              <a:gdLst/>
              <a:ahLst/>
              <a:cxnLst/>
              <a:rect l="l" t="t" r="r" b="b"/>
              <a:pathLst>
                <a:path w="471170" h="469900">
                  <a:moveTo>
                    <a:pt x="258191" y="0"/>
                  </a:moveTo>
                  <a:lnTo>
                    <a:pt x="234187" y="0"/>
                  </a:lnTo>
                  <a:lnTo>
                    <a:pt x="210058" y="1270"/>
                  </a:lnTo>
                  <a:lnTo>
                    <a:pt x="164211" y="10160"/>
                  </a:lnTo>
                  <a:lnTo>
                    <a:pt x="122300" y="29210"/>
                  </a:lnTo>
                  <a:lnTo>
                    <a:pt x="84836" y="54610"/>
                  </a:lnTo>
                  <a:lnTo>
                    <a:pt x="52959" y="86360"/>
                  </a:lnTo>
                  <a:lnTo>
                    <a:pt x="27940" y="124460"/>
                  </a:lnTo>
                  <a:lnTo>
                    <a:pt x="10160" y="166370"/>
                  </a:lnTo>
                  <a:lnTo>
                    <a:pt x="1016" y="212089"/>
                  </a:lnTo>
                  <a:lnTo>
                    <a:pt x="0" y="236220"/>
                  </a:lnTo>
                  <a:lnTo>
                    <a:pt x="1397" y="260350"/>
                  </a:lnTo>
                  <a:lnTo>
                    <a:pt x="11049" y="306070"/>
                  </a:lnTo>
                  <a:lnTo>
                    <a:pt x="29083" y="347979"/>
                  </a:lnTo>
                  <a:lnTo>
                    <a:pt x="54610" y="386079"/>
                  </a:lnTo>
                  <a:lnTo>
                    <a:pt x="86613" y="417829"/>
                  </a:lnTo>
                  <a:lnTo>
                    <a:pt x="124333" y="443229"/>
                  </a:lnTo>
                  <a:lnTo>
                    <a:pt x="166750" y="459739"/>
                  </a:lnTo>
                  <a:lnTo>
                    <a:pt x="212725" y="469900"/>
                  </a:lnTo>
                  <a:lnTo>
                    <a:pt x="236728" y="469900"/>
                  </a:lnTo>
                  <a:lnTo>
                    <a:pt x="260858" y="468629"/>
                  </a:lnTo>
                  <a:lnTo>
                    <a:pt x="284099" y="464820"/>
                  </a:lnTo>
                  <a:lnTo>
                    <a:pt x="306705" y="459739"/>
                  </a:lnTo>
                  <a:lnTo>
                    <a:pt x="324696" y="453389"/>
                  </a:lnTo>
                  <a:lnTo>
                    <a:pt x="235838" y="453389"/>
                  </a:lnTo>
                  <a:lnTo>
                    <a:pt x="213487" y="452120"/>
                  </a:lnTo>
                  <a:lnTo>
                    <a:pt x="170942" y="444500"/>
                  </a:lnTo>
                  <a:lnTo>
                    <a:pt x="131572" y="427989"/>
                  </a:lnTo>
                  <a:lnTo>
                    <a:pt x="96647" y="403860"/>
                  </a:lnTo>
                  <a:lnTo>
                    <a:pt x="66929" y="374650"/>
                  </a:lnTo>
                  <a:lnTo>
                    <a:pt x="43434" y="339089"/>
                  </a:lnTo>
                  <a:lnTo>
                    <a:pt x="26670" y="300989"/>
                  </a:lnTo>
                  <a:lnTo>
                    <a:pt x="17907" y="257810"/>
                  </a:lnTo>
                  <a:lnTo>
                    <a:pt x="16823" y="233679"/>
                  </a:lnTo>
                  <a:lnTo>
                    <a:pt x="17780" y="213360"/>
                  </a:lnTo>
                  <a:lnTo>
                    <a:pt x="26416" y="170179"/>
                  </a:lnTo>
                  <a:lnTo>
                    <a:pt x="43053" y="130810"/>
                  </a:lnTo>
                  <a:lnTo>
                    <a:pt x="66421" y="96520"/>
                  </a:lnTo>
                  <a:lnTo>
                    <a:pt x="96138" y="66039"/>
                  </a:lnTo>
                  <a:lnTo>
                    <a:pt x="130937" y="43179"/>
                  </a:lnTo>
                  <a:lnTo>
                    <a:pt x="170053" y="26670"/>
                  </a:lnTo>
                  <a:lnTo>
                    <a:pt x="212598" y="17779"/>
                  </a:lnTo>
                  <a:lnTo>
                    <a:pt x="235076" y="16510"/>
                  </a:lnTo>
                  <a:lnTo>
                    <a:pt x="322495" y="16510"/>
                  </a:lnTo>
                  <a:lnTo>
                    <a:pt x="304292" y="10160"/>
                  </a:lnTo>
                  <a:lnTo>
                    <a:pt x="281686" y="3810"/>
                  </a:lnTo>
                  <a:lnTo>
                    <a:pt x="258191" y="0"/>
                  </a:lnTo>
                  <a:close/>
                </a:path>
                <a:path w="471170" h="469900">
                  <a:moveTo>
                    <a:pt x="322495" y="16510"/>
                  </a:moveTo>
                  <a:lnTo>
                    <a:pt x="235076" y="16510"/>
                  </a:lnTo>
                  <a:lnTo>
                    <a:pt x="257429" y="17779"/>
                  </a:lnTo>
                  <a:lnTo>
                    <a:pt x="279146" y="20320"/>
                  </a:lnTo>
                  <a:lnTo>
                    <a:pt x="320294" y="33020"/>
                  </a:lnTo>
                  <a:lnTo>
                    <a:pt x="357378" y="53339"/>
                  </a:lnTo>
                  <a:lnTo>
                    <a:pt x="389890" y="80010"/>
                  </a:lnTo>
                  <a:lnTo>
                    <a:pt x="416560" y="113029"/>
                  </a:lnTo>
                  <a:lnTo>
                    <a:pt x="436880" y="149860"/>
                  </a:lnTo>
                  <a:lnTo>
                    <a:pt x="449580" y="190500"/>
                  </a:lnTo>
                  <a:lnTo>
                    <a:pt x="454088" y="233679"/>
                  </a:lnTo>
                  <a:lnTo>
                    <a:pt x="454092" y="236220"/>
                  </a:lnTo>
                  <a:lnTo>
                    <a:pt x="453136" y="256539"/>
                  </a:lnTo>
                  <a:lnTo>
                    <a:pt x="444500" y="299720"/>
                  </a:lnTo>
                  <a:lnTo>
                    <a:pt x="427990" y="339089"/>
                  </a:lnTo>
                  <a:lnTo>
                    <a:pt x="404495" y="373379"/>
                  </a:lnTo>
                  <a:lnTo>
                    <a:pt x="374904" y="403860"/>
                  </a:lnTo>
                  <a:lnTo>
                    <a:pt x="340106" y="426720"/>
                  </a:lnTo>
                  <a:lnTo>
                    <a:pt x="300863" y="443229"/>
                  </a:lnTo>
                  <a:lnTo>
                    <a:pt x="258318" y="452120"/>
                  </a:lnTo>
                  <a:lnTo>
                    <a:pt x="235838" y="453389"/>
                  </a:lnTo>
                  <a:lnTo>
                    <a:pt x="324696" y="453389"/>
                  </a:lnTo>
                  <a:lnTo>
                    <a:pt x="368173" y="429260"/>
                  </a:lnTo>
                  <a:lnTo>
                    <a:pt x="402844" y="400050"/>
                  </a:lnTo>
                  <a:lnTo>
                    <a:pt x="431292" y="365760"/>
                  </a:lnTo>
                  <a:lnTo>
                    <a:pt x="452882" y="325120"/>
                  </a:lnTo>
                  <a:lnTo>
                    <a:pt x="466344" y="280670"/>
                  </a:lnTo>
                  <a:lnTo>
                    <a:pt x="470916" y="233679"/>
                  </a:lnTo>
                  <a:lnTo>
                    <a:pt x="469519" y="209550"/>
                  </a:lnTo>
                  <a:lnTo>
                    <a:pt x="459994" y="163829"/>
                  </a:lnTo>
                  <a:lnTo>
                    <a:pt x="441960" y="121920"/>
                  </a:lnTo>
                  <a:lnTo>
                    <a:pt x="416433" y="83820"/>
                  </a:lnTo>
                  <a:lnTo>
                    <a:pt x="384301" y="52070"/>
                  </a:lnTo>
                  <a:lnTo>
                    <a:pt x="346710" y="27939"/>
                  </a:lnTo>
                  <a:lnTo>
                    <a:pt x="326136" y="17779"/>
                  </a:lnTo>
                  <a:lnTo>
                    <a:pt x="322495" y="16510"/>
                  </a:lnTo>
                  <a:close/>
                </a:path>
                <a:path w="471170" h="469900">
                  <a:moveTo>
                    <a:pt x="235838" y="33020"/>
                  </a:moveTo>
                  <a:lnTo>
                    <a:pt x="195199" y="36829"/>
                  </a:lnTo>
                  <a:lnTo>
                    <a:pt x="157225" y="48260"/>
                  </a:lnTo>
                  <a:lnTo>
                    <a:pt x="122936" y="67310"/>
                  </a:lnTo>
                  <a:lnTo>
                    <a:pt x="92963" y="91439"/>
                  </a:lnTo>
                  <a:lnTo>
                    <a:pt x="68199" y="121920"/>
                  </a:lnTo>
                  <a:lnTo>
                    <a:pt x="49530" y="156210"/>
                  </a:lnTo>
                  <a:lnTo>
                    <a:pt x="37719" y="194310"/>
                  </a:lnTo>
                  <a:lnTo>
                    <a:pt x="33587" y="233679"/>
                  </a:lnTo>
                  <a:lnTo>
                    <a:pt x="33583" y="236220"/>
                  </a:lnTo>
                  <a:lnTo>
                    <a:pt x="34417" y="255270"/>
                  </a:lnTo>
                  <a:lnTo>
                    <a:pt x="42418" y="294639"/>
                  </a:lnTo>
                  <a:lnTo>
                    <a:pt x="57785" y="331470"/>
                  </a:lnTo>
                  <a:lnTo>
                    <a:pt x="79375" y="363220"/>
                  </a:lnTo>
                  <a:lnTo>
                    <a:pt x="106680" y="391160"/>
                  </a:lnTo>
                  <a:lnTo>
                    <a:pt x="138937" y="412750"/>
                  </a:lnTo>
                  <a:lnTo>
                    <a:pt x="175006" y="427989"/>
                  </a:lnTo>
                  <a:lnTo>
                    <a:pt x="214375" y="435610"/>
                  </a:lnTo>
                  <a:lnTo>
                    <a:pt x="235076" y="436879"/>
                  </a:lnTo>
                  <a:lnTo>
                    <a:pt x="255650" y="435610"/>
                  </a:lnTo>
                  <a:lnTo>
                    <a:pt x="275717" y="433070"/>
                  </a:lnTo>
                  <a:lnTo>
                    <a:pt x="295148" y="427989"/>
                  </a:lnTo>
                  <a:lnTo>
                    <a:pt x="313690" y="421639"/>
                  </a:lnTo>
                  <a:lnTo>
                    <a:pt x="316211" y="420370"/>
                  </a:lnTo>
                  <a:lnTo>
                    <a:pt x="234187" y="420370"/>
                  </a:lnTo>
                  <a:lnTo>
                    <a:pt x="215137" y="419100"/>
                  </a:lnTo>
                  <a:lnTo>
                    <a:pt x="162306" y="405129"/>
                  </a:lnTo>
                  <a:lnTo>
                    <a:pt x="116712" y="377189"/>
                  </a:lnTo>
                  <a:lnTo>
                    <a:pt x="81153" y="337820"/>
                  </a:lnTo>
                  <a:lnTo>
                    <a:pt x="58166" y="288289"/>
                  </a:lnTo>
                  <a:lnTo>
                    <a:pt x="50292" y="233679"/>
                  </a:lnTo>
                  <a:lnTo>
                    <a:pt x="51308" y="214629"/>
                  </a:lnTo>
                  <a:lnTo>
                    <a:pt x="65278" y="161289"/>
                  </a:lnTo>
                  <a:lnTo>
                    <a:pt x="93345" y="116839"/>
                  </a:lnTo>
                  <a:lnTo>
                    <a:pt x="132969" y="81279"/>
                  </a:lnTo>
                  <a:lnTo>
                    <a:pt x="181737" y="57150"/>
                  </a:lnTo>
                  <a:lnTo>
                    <a:pt x="236728" y="49529"/>
                  </a:lnTo>
                  <a:lnTo>
                    <a:pt x="314451" y="49529"/>
                  </a:lnTo>
                  <a:lnTo>
                    <a:pt x="295910" y="41910"/>
                  </a:lnTo>
                  <a:lnTo>
                    <a:pt x="276606" y="36829"/>
                  </a:lnTo>
                  <a:lnTo>
                    <a:pt x="256540" y="34289"/>
                  </a:lnTo>
                  <a:lnTo>
                    <a:pt x="235838" y="33020"/>
                  </a:lnTo>
                  <a:close/>
                </a:path>
                <a:path w="471170" h="469900">
                  <a:moveTo>
                    <a:pt x="314451" y="49529"/>
                  </a:moveTo>
                  <a:lnTo>
                    <a:pt x="236728" y="49529"/>
                  </a:lnTo>
                  <a:lnTo>
                    <a:pt x="255778" y="50800"/>
                  </a:lnTo>
                  <a:lnTo>
                    <a:pt x="273938" y="53339"/>
                  </a:lnTo>
                  <a:lnTo>
                    <a:pt x="324866" y="72389"/>
                  </a:lnTo>
                  <a:lnTo>
                    <a:pt x="367284" y="105410"/>
                  </a:lnTo>
                  <a:lnTo>
                    <a:pt x="398907" y="147320"/>
                  </a:lnTo>
                  <a:lnTo>
                    <a:pt x="417068" y="199389"/>
                  </a:lnTo>
                  <a:lnTo>
                    <a:pt x="420624" y="236220"/>
                  </a:lnTo>
                  <a:lnTo>
                    <a:pt x="419608" y="255270"/>
                  </a:lnTo>
                  <a:lnTo>
                    <a:pt x="405638" y="308610"/>
                  </a:lnTo>
                  <a:lnTo>
                    <a:pt x="377571" y="354329"/>
                  </a:lnTo>
                  <a:lnTo>
                    <a:pt x="338074" y="389889"/>
                  </a:lnTo>
                  <a:lnTo>
                    <a:pt x="289433" y="412750"/>
                  </a:lnTo>
                  <a:lnTo>
                    <a:pt x="234187" y="420370"/>
                  </a:lnTo>
                  <a:lnTo>
                    <a:pt x="316211" y="420370"/>
                  </a:lnTo>
                  <a:lnTo>
                    <a:pt x="363600" y="391160"/>
                  </a:lnTo>
                  <a:lnTo>
                    <a:pt x="391033" y="363220"/>
                  </a:lnTo>
                  <a:lnTo>
                    <a:pt x="412876" y="331470"/>
                  </a:lnTo>
                  <a:lnTo>
                    <a:pt x="428244" y="295910"/>
                  </a:lnTo>
                  <a:lnTo>
                    <a:pt x="436372" y="256539"/>
                  </a:lnTo>
                  <a:lnTo>
                    <a:pt x="437332" y="233679"/>
                  </a:lnTo>
                  <a:lnTo>
                    <a:pt x="436499" y="214629"/>
                  </a:lnTo>
                  <a:lnTo>
                    <a:pt x="428498" y="175260"/>
                  </a:lnTo>
                  <a:lnTo>
                    <a:pt x="413258" y="139700"/>
                  </a:lnTo>
                  <a:lnTo>
                    <a:pt x="391541" y="106679"/>
                  </a:lnTo>
                  <a:lnTo>
                    <a:pt x="364236" y="80010"/>
                  </a:lnTo>
                  <a:lnTo>
                    <a:pt x="332105" y="57150"/>
                  </a:lnTo>
                  <a:lnTo>
                    <a:pt x="314451" y="49529"/>
                  </a:lnTo>
                  <a:close/>
                </a:path>
              </a:pathLst>
            </a:custGeom>
            <a:solidFill>
              <a:srgbClr val="7A97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07796" y="2771137"/>
            <a:ext cx="4248785" cy="134780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82245" indent="-170180">
              <a:lnSpc>
                <a:spcPct val="100000"/>
              </a:lnSpc>
              <a:spcBef>
                <a:spcPts val="670"/>
              </a:spcBef>
              <a:buClr>
                <a:srgbClr val="CCB400"/>
              </a:buClr>
              <a:buSzPct val="64583"/>
              <a:buFont typeface="Wingdings"/>
              <a:buChar char=""/>
              <a:tabLst>
                <a:tab pos="182880" algn="l"/>
              </a:tabLst>
            </a:pPr>
            <a:r>
              <a:rPr sz="2400" spc="-5">
                <a:solidFill>
                  <a:srgbClr val="636B85"/>
                </a:solidFill>
                <a:latin typeface="Georgia"/>
                <a:cs typeface="Georgia"/>
              </a:rPr>
              <a:t>Data </a:t>
            </a:r>
            <a:r>
              <a:rPr sz="2400" smtClean="0">
                <a:solidFill>
                  <a:srgbClr val="636B85"/>
                </a:solidFill>
                <a:latin typeface="Georgia"/>
                <a:cs typeface="Georgia"/>
              </a:rPr>
              <a:t>Types</a:t>
            </a:r>
            <a:endParaRPr sz="2400">
              <a:latin typeface="Georgia"/>
              <a:cs typeface="Georgia"/>
            </a:endParaRPr>
          </a:p>
          <a:p>
            <a:pPr marL="182245" indent="-170180">
              <a:lnSpc>
                <a:spcPct val="100000"/>
              </a:lnSpc>
              <a:spcBef>
                <a:spcPts val="580"/>
              </a:spcBef>
              <a:buClr>
                <a:srgbClr val="CCB400"/>
              </a:buClr>
              <a:buSzPct val="64583"/>
              <a:buFont typeface="Wingdings"/>
              <a:buChar char=""/>
              <a:tabLst>
                <a:tab pos="182880" algn="l"/>
              </a:tabLst>
            </a:pPr>
            <a:r>
              <a:rPr sz="2400" spc="-5" smtClean="0">
                <a:solidFill>
                  <a:srgbClr val="636B85"/>
                </a:solidFill>
                <a:latin typeface="Georgia"/>
                <a:cs typeface="Georgia"/>
              </a:rPr>
              <a:t>Complements</a:t>
            </a:r>
            <a:endParaRPr sz="2400" smtClean="0">
              <a:latin typeface="Georgia"/>
              <a:cs typeface="Georgia"/>
            </a:endParaRPr>
          </a:p>
          <a:p>
            <a:pPr marL="182245" indent="-170180">
              <a:lnSpc>
                <a:spcPct val="100000"/>
              </a:lnSpc>
              <a:spcBef>
                <a:spcPts val="575"/>
              </a:spcBef>
              <a:buClr>
                <a:srgbClr val="CCB400"/>
              </a:buClr>
              <a:buSzPct val="64583"/>
              <a:buFont typeface="Wingdings"/>
              <a:buChar char=""/>
              <a:tabLst>
                <a:tab pos="182880" algn="l"/>
              </a:tabLst>
            </a:pPr>
            <a:r>
              <a:rPr sz="2400" spc="-5" smtClean="0">
                <a:solidFill>
                  <a:srgbClr val="636B85"/>
                </a:solidFill>
                <a:latin typeface="Georgia"/>
                <a:cs typeface="Georgia"/>
              </a:rPr>
              <a:t>Fixed </a:t>
            </a:r>
            <a:r>
              <a:rPr sz="2400">
                <a:solidFill>
                  <a:srgbClr val="636B85"/>
                </a:solidFill>
                <a:latin typeface="Georgia"/>
                <a:cs typeface="Georgia"/>
              </a:rPr>
              <a:t>Point</a:t>
            </a:r>
            <a:r>
              <a:rPr sz="2400" spc="-55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400" smtClean="0">
                <a:solidFill>
                  <a:srgbClr val="636B85"/>
                </a:solidFill>
                <a:latin typeface="Georgia"/>
                <a:cs typeface="Georgia"/>
              </a:rPr>
              <a:t>Representation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24074" y="1418286"/>
            <a:ext cx="489585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Data</a:t>
            </a:r>
            <a:r>
              <a:rPr spc="-80" dirty="0"/>
              <a:t> </a:t>
            </a:r>
            <a:r>
              <a:rPr dirty="0"/>
              <a:t>Representation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3" y="1549350"/>
            <a:ext cx="8079105" cy="2985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5" dirty="0">
                <a:latin typeface="Georgia"/>
                <a:cs typeface="Georgia"/>
              </a:rPr>
              <a:t>Binary information </a:t>
            </a:r>
            <a:r>
              <a:rPr sz="2700" dirty="0">
                <a:latin typeface="Georgia"/>
                <a:cs typeface="Georgia"/>
              </a:rPr>
              <a:t>in </a:t>
            </a:r>
            <a:r>
              <a:rPr sz="2700" spc="-5" dirty="0">
                <a:latin typeface="Georgia"/>
                <a:cs typeface="Georgia"/>
              </a:rPr>
              <a:t>digital computers </a:t>
            </a:r>
            <a:r>
              <a:rPr sz="2700" dirty="0">
                <a:latin typeface="Georgia"/>
                <a:cs typeface="Georgia"/>
              </a:rPr>
              <a:t>is </a:t>
            </a:r>
            <a:r>
              <a:rPr sz="2700" spc="-5" dirty="0">
                <a:latin typeface="Georgia"/>
                <a:cs typeface="Georgia"/>
              </a:rPr>
              <a:t>stored </a:t>
            </a:r>
            <a:r>
              <a:rPr sz="2700" spc="-190" dirty="0">
                <a:latin typeface="Georgia"/>
                <a:cs typeface="Georgia"/>
              </a:rPr>
              <a:t>in  </a:t>
            </a:r>
            <a:r>
              <a:rPr sz="2700" dirty="0">
                <a:latin typeface="Georgia"/>
                <a:cs typeface="Georgia"/>
              </a:rPr>
              <a:t>memory </a:t>
            </a:r>
            <a:r>
              <a:rPr sz="2700" spc="-5" dirty="0">
                <a:latin typeface="Georgia"/>
                <a:cs typeface="Georgia"/>
              </a:rPr>
              <a:t>or</a:t>
            </a:r>
            <a:r>
              <a:rPr sz="2700" spc="-4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registers.</a:t>
            </a:r>
            <a:endParaRPr sz="2700" dirty="0">
              <a:latin typeface="Georgia"/>
              <a:cs typeface="Georgia"/>
            </a:endParaRPr>
          </a:p>
          <a:p>
            <a:pPr marL="287020" marR="43815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The </a:t>
            </a:r>
            <a:r>
              <a:rPr sz="2700" spc="-5" dirty="0">
                <a:latin typeface="Georgia"/>
                <a:cs typeface="Georgia"/>
              </a:rPr>
              <a:t>data types found </a:t>
            </a:r>
            <a:r>
              <a:rPr sz="2700" dirty="0">
                <a:latin typeface="Georgia"/>
                <a:cs typeface="Georgia"/>
              </a:rPr>
              <a:t>in </a:t>
            </a:r>
            <a:r>
              <a:rPr sz="2700" spc="-5" dirty="0">
                <a:latin typeface="Georgia"/>
                <a:cs typeface="Georgia"/>
              </a:rPr>
              <a:t>digital </a:t>
            </a:r>
            <a:r>
              <a:rPr sz="2700" dirty="0">
                <a:latin typeface="Georgia"/>
                <a:cs typeface="Georgia"/>
              </a:rPr>
              <a:t>registers </a:t>
            </a:r>
            <a:r>
              <a:rPr sz="2700" spc="-5" dirty="0">
                <a:latin typeface="Georgia"/>
                <a:cs typeface="Georgia"/>
              </a:rPr>
              <a:t>or </a:t>
            </a:r>
            <a:r>
              <a:rPr sz="2700" spc="-65" dirty="0">
                <a:latin typeface="Georgia"/>
                <a:cs typeface="Georgia"/>
              </a:rPr>
              <a:t>memory  </a:t>
            </a:r>
            <a:r>
              <a:rPr sz="2700" dirty="0">
                <a:latin typeface="Georgia"/>
                <a:cs typeface="Georgia"/>
              </a:rPr>
              <a:t>is </a:t>
            </a:r>
            <a:r>
              <a:rPr sz="2700" spc="-5" dirty="0">
                <a:latin typeface="Georgia"/>
                <a:cs typeface="Georgia"/>
              </a:rPr>
              <a:t>classified </a:t>
            </a:r>
            <a:r>
              <a:rPr sz="2700" dirty="0">
                <a:latin typeface="Georgia"/>
                <a:cs typeface="Georgia"/>
              </a:rPr>
              <a:t>as </a:t>
            </a:r>
            <a:r>
              <a:rPr sz="2700" spc="-5" dirty="0">
                <a:latin typeface="Georgia"/>
                <a:cs typeface="Georgia"/>
              </a:rPr>
              <a:t>one of the </a:t>
            </a:r>
            <a:r>
              <a:rPr sz="2700" spc="-10" dirty="0">
                <a:latin typeface="Georgia"/>
                <a:cs typeface="Georgia"/>
              </a:rPr>
              <a:t>following</a:t>
            </a:r>
            <a:r>
              <a:rPr sz="2700" spc="-2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types:</a:t>
            </a:r>
            <a:endParaRPr sz="2700" dirty="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Numbers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used in arithmetic</a:t>
            </a:r>
            <a:r>
              <a:rPr sz="2200" spc="6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computation</a:t>
            </a:r>
            <a:endParaRPr sz="2200" dirty="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Letters of alphabets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used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in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data</a:t>
            </a:r>
            <a:r>
              <a:rPr sz="2200" spc="10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processing</a:t>
            </a:r>
            <a:endParaRPr sz="2200" dirty="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Other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symbols used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for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specific</a:t>
            </a:r>
            <a:r>
              <a:rPr sz="2200" spc="4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purpose</a:t>
            </a:r>
            <a:endParaRPr sz="22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50"/>
            <a:ext cx="8241030" cy="24673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A </a:t>
            </a:r>
            <a:r>
              <a:rPr sz="2700" spc="-5" dirty="0">
                <a:latin typeface="Georgia"/>
                <a:cs typeface="Georgia"/>
              </a:rPr>
              <a:t>number system of </a:t>
            </a:r>
            <a:r>
              <a:rPr sz="2700" spc="-10" dirty="0">
                <a:latin typeface="Georgia"/>
                <a:cs typeface="Georgia"/>
              </a:rPr>
              <a:t>base </a:t>
            </a:r>
            <a:r>
              <a:rPr sz="2700" spc="-5" dirty="0">
                <a:latin typeface="Georgia"/>
                <a:cs typeface="Georgia"/>
              </a:rPr>
              <a:t>or radix (r) </a:t>
            </a:r>
            <a:r>
              <a:rPr sz="2700" dirty="0">
                <a:latin typeface="Georgia"/>
                <a:cs typeface="Georgia"/>
              </a:rPr>
              <a:t>is a </a:t>
            </a:r>
            <a:r>
              <a:rPr sz="2700" spc="-5" dirty="0">
                <a:latin typeface="Georgia"/>
                <a:cs typeface="Georgia"/>
              </a:rPr>
              <a:t>system </a:t>
            </a:r>
            <a:r>
              <a:rPr sz="2700" spc="-90" dirty="0">
                <a:latin typeface="Georgia"/>
                <a:cs typeface="Georgia"/>
              </a:rPr>
              <a:t>that  </a:t>
            </a:r>
            <a:r>
              <a:rPr sz="2700" spc="-5" dirty="0">
                <a:latin typeface="Georgia"/>
                <a:cs typeface="Georgia"/>
              </a:rPr>
              <a:t>uses distinct symbols for </a:t>
            </a:r>
            <a:r>
              <a:rPr sz="2700" dirty="0">
                <a:latin typeface="Georgia"/>
                <a:cs typeface="Georgia"/>
              </a:rPr>
              <a:t>r</a:t>
            </a:r>
            <a:r>
              <a:rPr sz="2700" spc="-4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digits</a:t>
            </a:r>
            <a:endParaRPr sz="27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Binary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-&gt;0,1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Octal-&gt;0,1,2,3,4,5,6,7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Decimal-&gt;0,1,2,3,4,5,6,7,8,9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Hexadecimal-&gt;0,1,2,3,4,5,6,7,8,9,A,B,C,D,E,F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301754" y="1676400"/>
            <a:ext cx="8503919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685800" y="1600200"/>
            <a:ext cx="7848600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685800" y="1981200"/>
            <a:ext cx="800100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2057400" y="1527047"/>
            <a:ext cx="5334000" cy="4873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1981200" y="1527047"/>
            <a:ext cx="5562600" cy="4797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1752600" y="1527047"/>
            <a:ext cx="5334000" cy="4797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50"/>
            <a:ext cx="8346440" cy="3011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46482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5" dirty="0">
                <a:latin typeface="Georgia"/>
                <a:cs typeface="Georgia"/>
              </a:rPr>
              <a:t>Many application </a:t>
            </a:r>
            <a:r>
              <a:rPr sz="2700" spc="-10" dirty="0">
                <a:latin typeface="Georgia"/>
                <a:cs typeface="Georgia"/>
              </a:rPr>
              <a:t>of </a:t>
            </a:r>
            <a:r>
              <a:rPr sz="2700" spc="-5" dirty="0">
                <a:latin typeface="Georgia"/>
                <a:cs typeface="Georgia"/>
              </a:rPr>
              <a:t>digital computers require the  handling of data that consists </a:t>
            </a:r>
            <a:r>
              <a:rPr sz="2700" dirty="0">
                <a:latin typeface="Georgia"/>
                <a:cs typeface="Georgia"/>
              </a:rPr>
              <a:t>not </a:t>
            </a:r>
            <a:r>
              <a:rPr sz="2700" spc="-5" dirty="0">
                <a:latin typeface="Georgia"/>
                <a:cs typeface="Georgia"/>
              </a:rPr>
              <a:t>only </a:t>
            </a:r>
            <a:r>
              <a:rPr sz="2700" spc="-10" dirty="0">
                <a:latin typeface="Georgia"/>
                <a:cs typeface="Georgia"/>
              </a:rPr>
              <a:t>of </a:t>
            </a:r>
            <a:r>
              <a:rPr sz="2700" spc="-5" dirty="0">
                <a:latin typeface="Georgia"/>
                <a:cs typeface="Georgia"/>
              </a:rPr>
              <a:t>numbers  but also letters of alphabets and </a:t>
            </a:r>
            <a:r>
              <a:rPr sz="2700" dirty="0">
                <a:latin typeface="Georgia"/>
                <a:cs typeface="Georgia"/>
              </a:rPr>
              <a:t>certain </a:t>
            </a:r>
            <a:r>
              <a:rPr sz="2700" spc="-5" dirty="0">
                <a:latin typeface="Georgia"/>
                <a:cs typeface="Georgia"/>
              </a:rPr>
              <a:t>special  characters.</a:t>
            </a:r>
            <a:endParaRPr sz="2700">
              <a:latin typeface="Georgia"/>
              <a:cs typeface="Georgia"/>
            </a:endParaRPr>
          </a:p>
          <a:p>
            <a:pPr marL="287020" marR="508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The </a:t>
            </a:r>
            <a:r>
              <a:rPr sz="2700" spc="-10" dirty="0">
                <a:latin typeface="Georgia"/>
                <a:cs typeface="Georgia"/>
              </a:rPr>
              <a:t>standard </a:t>
            </a:r>
            <a:r>
              <a:rPr sz="2700" spc="-5" dirty="0">
                <a:latin typeface="Georgia"/>
                <a:cs typeface="Georgia"/>
              </a:rPr>
              <a:t>alphanumeric binary code </a:t>
            </a:r>
            <a:r>
              <a:rPr sz="2700" dirty="0">
                <a:latin typeface="Georgia"/>
                <a:cs typeface="Georgia"/>
              </a:rPr>
              <a:t>is  </a:t>
            </a:r>
            <a:r>
              <a:rPr sz="2700" spc="-5" dirty="0">
                <a:latin typeface="Georgia"/>
                <a:cs typeface="Georgia"/>
              </a:rPr>
              <a:t>ASCII(American </a:t>
            </a:r>
            <a:r>
              <a:rPr sz="2700" spc="-10" dirty="0">
                <a:latin typeface="Georgia"/>
                <a:cs typeface="Georgia"/>
              </a:rPr>
              <a:t>Standard </a:t>
            </a:r>
            <a:r>
              <a:rPr sz="2700" spc="-5" dirty="0">
                <a:latin typeface="Georgia"/>
                <a:cs typeface="Georgia"/>
              </a:rPr>
              <a:t>code for Information  </a:t>
            </a:r>
            <a:r>
              <a:rPr sz="2700" dirty="0">
                <a:latin typeface="Georgia"/>
                <a:cs typeface="Georgia"/>
              </a:rPr>
              <a:t>Interchange)which </a:t>
            </a:r>
            <a:r>
              <a:rPr sz="2700" spc="-5" dirty="0">
                <a:latin typeface="Georgia"/>
                <a:cs typeface="Georgia"/>
              </a:rPr>
              <a:t>uses </a:t>
            </a:r>
            <a:r>
              <a:rPr sz="2700" dirty="0">
                <a:latin typeface="Georgia"/>
                <a:cs typeface="Georgia"/>
              </a:rPr>
              <a:t>7 </a:t>
            </a:r>
            <a:r>
              <a:rPr sz="2700" spc="-5" dirty="0">
                <a:latin typeface="Georgia"/>
                <a:cs typeface="Georgia"/>
              </a:rPr>
              <a:t>bits to code </a:t>
            </a:r>
            <a:r>
              <a:rPr sz="2700" dirty="0">
                <a:latin typeface="Georgia"/>
                <a:cs typeface="Georgia"/>
              </a:rPr>
              <a:t>128</a:t>
            </a:r>
            <a:r>
              <a:rPr sz="2700" spc="-7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characters.</a:t>
            </a:r>
            <a:endParaRPr sz="27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02" y="412751"/>
            <a:ext cx="209804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Data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Types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1295400" y="1600200"/>
            <a:ext cx="6629400" cy="4724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7" y="412751"/>
            <a:ext cx="259651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Complements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49"/>
            <a:ext cx="8289290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903605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5" dirty="0">
                <a:latin typeface="Georgia"/>
                <a:cs typeface="Georgia"/>
              </a:rPr>
              <a:t>Complements are used </a:t>
            </a:r>
            <a:r>
              <a:rPr sz="2700" dirty="0">
                <a:latin typeface="Georgia"/>
                <a:cs typeface="Georgia"/>
              </a:rPr>
              <a:t>in </a:t>
            </a:r>
            <a:r>
              <a:rPr sz="2700" spc="-5" dirty="0">
                <a:latin typeface="Georgia"/>
                <a:cs typeface="Georgia"/>
              </a:rPr>
              <a:t>digital computers </a:t>
            </a:r>
            <a:r>
              <a:rPr sz="2700" spc="-135" dirty="0">
                <a:latin typeface="Georgia"/>
                <a:cs typeface="Georgia"/>
              </a:rPr>
              <a:t>for  </a:t>
            </a:r>
            <a:r>
              <a:rPr sz="2700" spc="-5" dirty="0">
                <a:latin typeface="Georgia"/>
                <a:cs typeface="Georgia"/>
              </a:rPr>
              <a:t>simplifying the </a:t>
            </a:r>
            <a:r>
              <a:rPr sz="2700" spc="-10" dirty="0">
                <a:latin typeface="Georgia"/>
                <a:cs typeface="Georgia"/>
              </a:rPr>
              <a:t>subtraction</a:t>
            </a:r>
            <a:r>
              <a:rPr sz="2700" spc="-2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operation.</a:t>
            </a:r>
            <a:endParaRPr sz="2700">
              <a:latin typeface="Georgia"/>
              <a:cs typeface="Georgia"/>
            </a:endParaRPr>
          </a:p>
          <a:p>
            <a:pPr marL="28702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There are </a:t>
            </a:r>
            <a:r>
              <a:rPr sz="2700" spc="-5" dirty="0">
                <a:latin typeface="Georgia"/>
                <a:cs typeface="Georgia"/>
              </a:rPr>
              <a:t>two types of complement for base</a:t>
            </a:r>
            <a:r>
              <a:rPr sz="2700" spc="-114" dirty="0">
                <a:latin typeface="Georgia"/>
                <a:cs typeface="Georgia"/>
              </a:rPr>
              <a:t> </a:t>
            </a:r>
            <a:r>
              <a:rPr sz="2700" spc="-35" dirty="0">
                <a:latin typeface="Georgia"/>
                <a:cs typeface="Georgia"/>
              </a:rPr>
              <a:t>r-system</a:t>
            </a:r>
            <a:endParaRPr sz="27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(r-1)’s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complement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r’s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complement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7" y="412751"/>
            <a:ext cx="259651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Complements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3" y="1549350"/>
            <a:ext cx="7867015" cy="33881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Let’s </a:t>
            </a:r>
            <a:r>
              <a:rPr sz="2700" spc="-5" dirty="0">
                <a:latin typeface="Georgia"/>
                <a:cs typeface="Georgia"/>
              </a:rPr>
              <a:t>suppose </a:t>
            </a:r>
            <a:r>
              <a:rPr sz="2700" dirty="0">
                <a:latin typeface="Georgia"/>
                <a:cs typeface="Georgia"/>
              </a:rPr>
              <a:t>a </a:t>
            </a:r>
            <a:r>
              <a:rPr sz="2700" spc="-5" dirty="0">
                <a:latin typeface="Georgia"/>
                <a:cs typeface="Georgia"/>
              </a:rPr>
              <a:t>given number </a:t>
            </a:r>
            <a:r>
              <a:rPr sz="2700" dirty="0">
                <a:latin typeface="Georgia"/>
                <a:cs typeface="Georgia"/>
              </a:rPr>
              <a:t>N in </a:t>
            </a:r>
            <a:r>
              <a:rPr sz="2700" spc="-5" dirty="0">
                <a:latin typeface="Georgia"/>
                <a:cs typeface="Georgia"/>
              </a:rPr>
              <a:t>base </a:t>
            </a:r>
            <a:r>
              <a:rPr sz="2700" dirty="0">
                <a:latin typeface="Georgia"/>
                <a:cs typeface="Georgia"/>
              </a:rPr>
              <a:t>r </a:t>
            </a:r>
            <a:r>
              <a:rPr sz="2700" spc="-5" dirty="0">
                <a:latin typeface="Georgia"/>
                <a:cs typeface="Georgia"/>
              </a:rPr>
              <a:t>having </a:t>
            </a:r>
            <a:r>
              <a:rPr sz="2700" spc="-350" dirty="0">
                <a:latin typeface="Georgia"/>
                <a:cs typeface="Georgia"/>
              </a:rPr>
              <a:t>n  </a:t>
            </a:r>
            <a:r>
              <a:rPr sz="2700" spc="-5" dirty="0">
                <a:latin typeface="Georgia"/>
                <a:cs typeface="Georgia"/>
              </a:rPr>
              <a:t>digits, the (r-1)’s complement of </a:t>
            </a:r>
            <a:r>
              <a:rPr sz="2700" dirty="0">
                <a:latin typeface="Georgia"/>
                <a:cs typeface="Georgia"/>
              </a:rPr>
              <a:t>N is </a:t>
            </a:r>
            <a:r>
              <a:rPr sz="2700" spc="-5" dirty="0">
                <a:latin typeface="Georgia"/>
                <a:cs typeface="Georgia"/>
              </a:rPr>
              <a:t>defined </a:t>
            </a:r>
            <a:r>
              <a:rPr sz="2700" dirty="0">
                <a:latin typeface="Georgia"/>
                <a:cs typeface="Georgia"/>
              </a:rPr>
              <a:t>as  </a:t>
            </a:r>
            <a:r>
              <a:rPr sz="2700" spc="-5" dirty="0">
                <a:latin typeface="Georgia"/>
                <a:cs typeface="Georgia"/>
              </a:rPr>
              <a:t>(r^n-1)-N.</a:t>
            </a:r>
            <a:endParaRPr sz="2700">
              <a:latin typeface="Georgia"/>
              <a:cs typeface="Georgia"/>
            </a:endParaRPr>
          </a:p>
          <a:p>
            <a:pPr marL="28702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5" dirty="0">
                <a:latin typeface="Georgia"/>
                <a:cs typeface="Georgia"/>
              </a:rPr>
              <a:t>(r-1)’s complement can be achieved</a:t>
            </a:r>
            <a:r>
              <a:rPr sz="2700" spc="-35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as:</a:t>
            </a:r>
            <a:endParaRPr sz="27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Subtracting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each digit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from 9(for</a:t>
            </a:r>
            <a:r>
              <a:rPr sz="2200" spc="8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decimal)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Subtracting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each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digit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from 1(for</a:t>
            </a:r>
            <a:r>
              <a:rPr sz="2200" spc="6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binary)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Subtracting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each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digit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from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7(for</a:t>
            </a:r>
            <a:r>
              <a:rPr sz="2200" spc="6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octal)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25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Subtracting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each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digit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from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F(15)(for</a:t>
            </a:r>
            <a:r>
              <a:rPr sz="2200" spc="6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hexadecimal)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7" y="412751"/>
            <a:ext cx="259651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Complements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50"/>
            <a:ext cx="7447280" cy="13490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</a:pPr>
            <a:r>
              <a:rPr sz="2300" spc="-610" dirty="0">
                <a:solidFill>
                  <a:srgbClr val="D16248"/>
                </a:solidFill>
                <a:latin typeface="Arial"/>
                <a:cs typeface="Arial"/>
              </a:rPr>
              <a:t> </a:t>
            </a:r>
            <a:r>
              <a:rPr sz="2700" dirty="0">
                <a:latin typeface="Georgia"/>
                <a:cs typeface="Georgia"/>
              </a:rPr>
              <a:t>r’s </a:t>
            </a:r>
            <a:r>
              <a:rPr sz="2700" spc="-5" dirty="0">
                <a:latin typeface="Georgia"/>
                <a:cs typeface="Georgia"/>
              </a:rPr>
              <a:t>complement of n-digit number </a:t>
            </a:r>
            <a:r>
              <a:rPr sz="2700" dirty="0">
                <a:latin typeface="Georgia"/>
                <a:cs typeface="Georgia"/>
              </a:rPr>
              <a:t>N in </a:t>
            </a:r>
            <a:r>
              <a:rPr sz="2700" spc="-10" dirty="0">
                <a:latin typeface="Georgia"/>
                <a:cs typeface="Georgia"/>
              </a:rPr>
              <a:t>base </a:t>
            </a:r>
            <a:r>
              <a:rPr sz="2700" dirty="0">
                <a:latin typeface="Georgia"/>
                <a:cs typeface="Georgia"/>
              </a:rPr>
              <a:t>r </a:t>
            </a:r>
            <a:r>
              <a:rPr sz="2700" spc="-180" dirty="0">
                <a:latin typeface="Georgia"/>
                <a:cs typeface="Georgia"/>
              </a:rPr>
              <a:t>is  </a:t>
            </a:r>
            <a:r>
              <a:rPr sz="2700" spc="-5" dirty="0">
                <a:latin typeface="Georgia"/>
                <a:cs typeface="Georgia"/>
              </a:rPr>
              <a:t>defined </a:t>
            </a:r>
            <a:r>
              <a:rPr sz="2700" dirty="0">
                <a:latin typeface="Georgia"/>
                <a:cs typeface="Georgia"/>
              </a:rPr>
              <a:t>as</a:t>
            </a:r>
            <a:r>
              <a:rPr sz="2700" spc="-1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r^n-N</a:t>
            </a:r>
            <a:endParaRPr sz="27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300" spc="-610" dirty="0">
                <a:solidFill>
                  <a:srgbClr val="D16248"/>
                </a:solidFill>
                <a:latin typeface="Arial"/>
                <a:cs typeface="Arial"/>
              </a:rPr>
              <a:t> </a:t>
            </a:r>
            <a:r>
              <a:rPr sz="2700" spc="-5" dirty="0">
                <a:latin typeface="Georgia"/>
                <a:cs typeface="Georgia"/>
              </a:rPr>
              <a:t>r^n-N </a:t>
            </a:r>
            <a:r>
              <a:rPr sz="2700" dirty="0">
                <a:latin typeface="Georgia"/>
                <a:cs typeface="Georgia"/>
              </a:rPr>
              <a:t>= </a:t>
            </a:r>
            <a:r>
              <a:rPr sz="2700" spc="-5" dirty="0">
                <a:latin typeface="Georgia"/>
                <a:cs typeface="Georgia"/>
              </a:rPr>
              <a:t>(r^n-1)-N+1 </a:t>
            </a:r>
            <a:r>
              <a:rPr sz="2700" dirty="0">
                <a:latin typeface="Georgia"/>
                <a:cs typeface="Georgia"/>
              </a:rPr>
              <a:t>= </a:t>
            </a:r>
            <a:r>
              <a:rPr sz="2700" spc="-5" dirty="0">
                <a:latin typeface="Georgia"/>
                <a:cs typeface="Georgia"/>
              </a:rPr>
              <a:t>(r-1)’s complement </a:t>
            </a:r>
            <a:r>
              <a:rPr sz="2700" dirty="0">
                <a:latin typeface="Georgia"/>
                <a:cs typeface="Georgia"/>
              </a:rPr>
              <a:t>+</a:t>
            </a:r>
            <a:r>
              <a:rPr sz="2700" spc="-20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1</a:t>
            </a:r>
            <a:endParaRPr sz="27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7" y="412751"/>
            <a:ext cx="259651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Complements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533400" y="1600200"/>
            <a:ext cx="8229600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7" y="412751"/>
            <a:ext cx="259651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Complements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609600" y="1676400"/>
            <a:ext cx="800100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1267" y="412751"/>
            <a:ext cx="2596515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Complements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762000" y="1752600"/>
            <a:ext cx="7554468" cy="3258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50"/>
            <a:ext cx="8314690" cy="38420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103886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5" dirty="0">
                <a:latin typeface="Georgia"/>
                <a:cs typeface="Georgia"/>
              </a:rPr>
              <a:t>Sign bit placed </a:t>
            </a:r>
            <a:r>
              <a:rPr sz="2700" dirty="0">
                <a:latin typeface="Georgia"/>
                <a:cs typeface="Georgia"/>
              </a:rPr>
              <a:t>in </a:t>
            </a:r>
            <a:r>
              <a:rPr sz="2700" spc="-5" dirty="0">
                <a:latin typeface="Georgia"/>
                <a:cs typeface="Georgia"/>
              </a:rPr>
              <a:t>the leftmost position of the  </a:t>
            </a:r>
            <a:r>
              <a:rPr sz="2700" dirty="0">
                <a:latin typeface="Georgia"/>
                <a:cs typeface="Georgia"/>
              </a:rPr>
              <a:t>number </a:t>
            </a:r>
            <a:r>
              <a:rPr sz="2700" spc="-5" dirty="0">
                <a:latin typeface="Georgia"/>
                <a:cs typeface="Georgia"/>
              </a:rPr>
              <a:t>determine </a:t>
            </a:r>
            <a:r>
              <a:rPr sz="2700" dirty="0">
                <a:latin typeface="Georgia"/>
                <a:cs typeface="Georgia"/>
              </a:rPr>
              <a:t>if </a:t>
            </a:r>
            <a:r>
              <a:rPr sz="2700" spc="-5" dirty="0">
                <a:latin typeface="Georgia"/>
                <a:cs typeface="Georgia"/>
              </a:rPr>
              <a:t>the number </a:t>
            </a:r>
            <a:r>
              <a:rPr sz="2700" dirty="0">
                <a:latin typeface="Georgia"/>
                <a:cs typeface="Georgia"/>
              </a:rPr>
              <a:t>is </a:t>
            </a:r>
            <a:r>
              <a:rPr sz="2700" spc="-5" dirty="0">
                <a:latin typeface="Georgia"/>
                <a:cs typeface="Georgia"/>
              </a:rPr>
              <a:t>positive</a:t>
            </a:r>
            <a:r>
              <a:rPr sz="2700" spc="-14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or  </a:t>
            </a:r>
            <a:r>
              <a:rPr sz="2700" dirty="0">
                <a:latin typeface="Georgia"/>
                <a:cs typeface="Georgia"/>
              </a:rPr>
              <a:t>negative. It is 1 </a:t>
            </a:r>
            <a:r>
              <a:rPr sz="2700" spc="-5" dirty="0">
                <a:latin typeface="Georgia"/>
                <a:cs typeface="Georgia"/>
              </a:rPr>
              <a:t>for </a:t>
            </a:r>
            <a:r>
              <a:rPr sz="2700" dirty="0">
                <a:latin typeface="Georgia"/>
                <a:cs typeface="Georgia"/>
              </a:rPr>
              <a:t>negative </a:t>
            </a:r>
            <a:r>
              <a:rPr sz="2700" spc="-5" dirty="0">
                <a:latin typeface="Georgia"/>
                <a:cs typeface="Georgia"/>
              </a:rPr>
              <a:t>and </a:t>
            </a:r>
            <a:r>
              <a:rPr sz="2700" dirty="0">
                <a:latin typeface="Georgia"/>
                <a:cs typeface="Georgia"/>
              </a:rPr>
              <a:t>o </a:t>
            </a:r>
            <a:r>
              <a:rPr sz="2700" spc="-5" dirty="0">
                <a:latin typeface="Georgia"/>
                <a:cs typeface="Georgia"/>
              </a:rPr>
              <a:t>for</a:t>
            </a:r>
            <a:r>
              <a:rPr sz="2700" spc="-140" dirty="0">
                <a:latin typeface="Georgia"/>
                <a:cs typeface="Georgia"/>
              </a:rPr>
              <a:t> </a:t>
            </a:r>
            <a:r>
              <a:rPr sz="2700" spc="-5">
                <a:latin typeface="Georgia"/>
                <a:cs typeface="Georgia"/>
              </a:rPr>
              <a:t>positive</a:t>
            </a:r>
            <a:r>
              <a:rPr sz="2700" spc="-5" smtClean="0">
                <a:latin typeface="Georgia"/>
                <a:cs typeface="Georgia"/>
              </a:rPr>
              <a:t>.</a:t>
            </a:r>
            <a:endParaRPr lang="en-US" sz="2700" spc="-5" dirty="0" smtClean="0">
              <a:latin typeface="Georgia"/>
              <a:cs typeface="Georgia"/>
            </a:endParaRPr>
          </a:p>
          <a:p>
            <a:pPr marL="287020" marR="103886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endParaRPr sz="2700">
              <a:latin typeface="Georgia"/>
              <a:cs typeface="Georgia"/>
            </a:endParaRPr>
          </a:p>
          <a:p>
            <a:pPr marL="287020" marR="508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In addition to </a:t>
            </a:r>
            <a:r>
              <a:rPr sz="2700" spc="-5" dirty="0">
                <a:latin typeface="Georgia"/>
                <a:cs typeface="Georgia"/>
              </a:rPr>
              <a:t>sign bit </a:t>
            </a:r>
            <a:r>
              <a:rPr sz="2700" dirty="0">
                <a:latin typeface="Georgia"/>
                <a:cs typeface="Georgia"/>
              </a:rPr>
              <a:t>a number may </a:t>
            </a:r>
            <a:r>
              <a:rPr sz="2700" spc="-5" dirty="0">
                <a:latin typeface="Georgia"/>
                <a:cs typeface="Georgia"/>
              </a:rPr>
              <a:t>have decimal </a:t>
            </a:r>
            <a:r>
              <a:rPr sz="2700" spc="-185" dirty="0">
                <a:latin typeface="Georgia"/>
                <a:cs typeface="Georgia"/>
              </a:rPr>
              <a:t>or  </a:t>
            </a:r>
            <a:r>
              <a:rPr sz="2700" spc="-5" dirty="0">
                <a:latin typeface="Georgia"/>
                <a:cs typeface="Georgia"/>
              </a:rPr>
              <a:t>binary point. </a:t>
            </a:r>
            <a:r>
              <a:rPr sz="2700" dirty="0">
                <a:latin typeface="Georgia"/>
                <a:cs typeface="Georgia"/>
              </a:rPr>
              <a:t>There </a:t>
            </a:r>
            <a:r>
              <a:rPr sz="2700" spc="-5" dirty="0">
                <a:latin typeface="Georgia"/>
                <a:cs typeface="Georgia"/>
              </a:rPr>
              <a:t>are two ways of specifying the  position of the binary point </a:t>
            </a:r>
            <a:r>
              <a:rPr sz="2700" dirty="0">
                <a:latin typeface="Georgia"/>
                <a:cs typeface="Georgia"/>
              </a:rPr>
              <a:t>in</a:t>
            </a:r>
            <a:r>
              <a:rPr sz="2700" spc="-45" dirty="0">
                <a:latin typeface="Georgia"/>
                <a:cs typeface="Georgia"/>
              </a:rPr>
              <a:t> </a:t>
            </a:r>
            <a:r>
              <a:rPr sz="2700" dirty="0">
                <a:latin typeface="Georgia"/>
                <a:cs typeface="Georgia"/>
              </a:rPr>
              <a:t>register.</a:t>
            </a:r>
            <a:endParaRPr sz="27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By giving it fixed</a:t>
            </a:r>
            <a:r>
              <a:rPr sz="2200" spc="3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position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By employing floating point</a:t>
            </a:r>
            <a:r>
              <a:rPr sz="2200" spc="8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representation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462686"/>
            <a:ext cx="7957184" cy="3737562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85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The </a:t>
            </a:r>
            <a:r>
              <a:rPr sz="2700" spc="-5" dirty="0">
                <a:latin typeface="Georgia"/>
                <a:cs typeface="Georgia"/>
              </a:rPr>
              <a:t>fixed point assumes one </a:t>
            </a:r>
            <a:r>
              <a:rPr sz="2700" spc="-10" dirty="0">
                <a:latin typeface="Georgia"/>
                <a:cs typeface="Georgia"/>
              </a:rPr>
              <a:t>of </a:t>
            </a:r>
            <a:r>
              <a:rPr sz="2700" spc="-5" dirty="0">
                <a:latin typeface="Georgia"/>
                <a:cs typeface="Georgia"/>
              </a:rPr>
              <a:t>the </a:t>
            </a:r>
            <a:r>
              <a:rPr sz="2700" spc="-10" dirty="0">
                <a:latin typeface="Georgia"/>
                <a:cs typeface="Georgia"/>
              </a:rPr>
              <a:t>following</a:t>
            </a:r>
            <a:r>
              <a:rPr sz="2700" dirty="0">
                <a:latin typeface="Georgia"/>
                <a:cs typeface="Georgia"/>
              </a:rPr>
              <a:t> </a:t>
            </a:r>
            <a:r>
              <a:rPr sz="2700" spc="-10" dirty="0">
                <a:latin typeface="Georgia"/>
                <a:cs typeface="Georgia"/>
              </a:rPr>
              <a:t>case:</a:t>
            </a:r>
            <a:endParaRPr sz="2700">
              <a:latin typeface="Georgia"/>
              <a:cs typeface="Georgia"/>
            </a:endParaRPr>
          </a:p>
          <a:p>
            <a:pPr marL="560705" marR="57658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Binary point in the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extreme left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to make stored number  fraction</a:t>
            </a:r>
            <a:r>
              <a:rPr sz="2200" spc="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.</a:t>
            </a:r>
            <a:endParaRPr sz="2200">
              <a:latin typeface="Georgia"/>
              <a:cs typeface="Georgia"/>
            </a:endParaRPr>
          </a:p>
          <a:p>
            <a:pPr marL="560705" marR="5080" lvl="1" indent="-274320">
              <a:lnSpc>
                <a:spcPct val="100000"/>
              </a:lnSpc>
              <a:spcBef>
                <a:spcPts val="525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Binary point in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extreme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right to make the stored number </a:t>
            </a:r>
            <a:r>
              <a:rPr sz="2200" spc="-5">
                <a:solidFill>
                  <a:srgbClr val="636B85"/>
                </a:solidFill>
                <a:latin typeface="Georgia"/>
                <a:cs typeface="Georgia"/>
              </a:rPr>
              <a:t>an  </a:t>
            </a:r>
            <a:r>
              <a:rPr sz="2200" spc="-5" smtClean="0">
                <a:solidFill>
                  <a:srgbClr val="636B85"/>
                </a:solidFill>
                <a:latin typeface="Georgia"/>
                <a:cs typeface="Georgia"/>
              </a:rPr>
              <a:t>integer</a:t>
            </a:r>
            <a:endParaRPr lang="en-US" sz="2200" spc="-5" dirty="0" smtClean="0">
              <a:solidFill>
                <a:srgbClr val="636B85"/>
              </a:solidFill>
              <a:latin typeface="Georgia"/>
              <a:cs typeface="Georgia"/>
            </a:endParaRPr>
          </a:p>
          <a:p>
            <a:pPr marL="560705" marR="5080" lvl="1" indent="-274320">
              <a:lnSpc>
                <a:spcPct val="100000"/>
              </a:lnSpc>
              <a:spcBef>
                <a:spcPts val="525"/>
              </a:spcBef>
              <a:buClr>
                <a:srgbClr val="CCB400"/>
              </a:buClr>
              <a:buSzPct val="68181"/>
              <a:tabLst>
                <a:tab pos="561340" algn="l"/>
              </a:tabLst>
            </a:pPr>
            <a:endParaRPr sz="2200">
              <a:latin typeface="Georgia"/>
              <a:cs typeface="Georgia"/>
            </a:endParaRPr>
          </a:p>
          <a:p>
            <a:pPr marL="287020" marR="777875" indent="-274320" algn="just">
              <a:lnSpc>
                <a:spcPct val="100000"/>
              </a:lnSpc>
              <a:spcBef>
                <a:spcPts val="63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10" dirty="0">
                <a:latin typeface="Georgia"/>
                <a:cs typeface="Georgia"/>
              </a:rPr>
              <a:t>Floating </a:t>
            </a:r>
            <a:r>
              <a:rPr sz="2700" spc="-5" dirty="0">
                <a:latin typeface="Georgia"/>
                <a:cs typeface="Georgia"/>
              </a:rPr>
              <a:t>point representation uses the </a:t>
            </a:r>
            <a:r>
              <a:rPr sz="2700" spc="-60" dirty="0">
                <a:latin typeface="Georgia"/>
                <a:cs typeface="Georgia"/>
              </a:rPr>
              <a:t>second  </a:t>
            </a:r>
            <a:r>
              <a:rPr sz="2700" dirty="0">
                <a:latin typeface="Georgia"/>
                <a:cs typeface="Georgia"/>
              </a:rPr>
              <a:t>register </a:t>
            </a:r>
            <a:r>
              <a:rPr sz="2700" spc="-5" dirty="0">
                <a:latin typeface="Georgia"/>
                <a:cs typeface="Georgia"/>
              </a:rPr>
              <a:t>to store </a:t>
            </a:r>
            <a:r>
              <a:rPr sz="2700" dirty="0">
                <a:latin typeface="Georgia"/>
                <a:cs typeface="Georgia"/>
              </a:rPr>
              <a:t>a </a:t>
            </a:r>
            <a:r>
              <a:rPr sz="2700" spc="-5" dirty="0">
                <a:latin typeface="Georgia"/>
                <a:cs typeface="Georgia"/>
              </a:rPr>
              <a:t>number that designates the  position of the binary</a:t>
            </a:r>
            <a:r>
              <a:rPr sz="2700" spc="-3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point.</a:t>
            </a:r>
            <a:endParaRPr sz="27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3" y="1549350"/>
            <a:ext cx="8002905" cy="3816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62230" indent="-274320" algn="just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When an integer </a:t>
            </a:r>
            <a:r>
              <a:rPr sz="2700" spc="-5" dirty="0">
                <a:latin typeface="Georgia"/>
                <a:cs typeface="Georgia"/>
              </a:rPr>
              <a:t>binary number </a:t>
            </a:r>
            <a:r>
              <a:rPr sz="2700" dirty="0">
                <a:latin typeface="Georgia"/>
                <a:cs typeface="Georgia"/>
              </a:rPr>
              <a:t>is </a:t>
            </a:r>
            <a:r>
              <a:rPr sz="2700" spc="-5" dirty="0">
                <a:latin typeface="Georgia"/>
                <a:cs typeface="Georgia"/>
              </a:rPr>
              <a:t>positive, sign </a:t>
            </a:r>
            <a:r>
              <a:rPr sz="2700" dirty="0">
                <a:latin typeface="Georgia"/>
                <a:cs typeface="Georgia"/>
              </a:rPr>
              <a:t>is  </a:t>
            </a:r>
            <a:r>
              <a:rPr sz="2700" spc="-5" dirty="0">
                <a:latin typeface="Georgia"/>
                <a:cs typeface="Georgia"/>
              </a:rPr>
              <a:t>represented by </a:t>
            </a:r>
            <a:r>
              <a:rPr sz="2700" dirty="0">
                <a:latin typeface="Georgia"/>
                <a:cs typeface="Georgia"/>
              </a:rPr>
              <a:t>o </a:t>
            </a:r>
            <a:r>
              <a:rPr sz="2700" spc="-5" dirty="0">
                <a:latin typeface="Georgia"/>
                <a:cs typeface="Georgia"/>
              </a:rPr>
              <a:t>and magnitude by positive binary  </a:t>
            </a:r>
            <a:r>
              <a:rPr sz="2700" dirty="0">
                <a:latin typeface="Georgia"/>
                <a:cs typeface="Georgia"/>
              </a:rPr>
              <a:t>number.</a:t>
            </a:r>
          </a:p>
          <a:p>
            <a:pPr marL="287020" marR="5080" indent="-274320" algn="just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When it is negative </a:t>
            </a:r>
            <a:r>
              <a:rPr sz="2700" spc="-5" dirty="0">
                <a:latin typeface="Georgia"/>
                <a:cs typeface="Georgia"/>
              </a:rPr>
              <a:t>sign bit </a:t>
            </a:r>
            <a:r>
              <a:rPr sz="2700" dirty="0">
                <a:latin typeface="Georgia"/>
                <a:cs typeface="Georgia"/>
              </a:rPr>
              <a:t>is </a:t>
            </a:r>
            <a:r>
              <a:rPr sz="2700" spc="-5" dirty="0">
                <a:latin typeface="Georgia"/>
                <a:cs typeface="Georgia"/>
              </a:rPr>
              <a:t>represented by </a:t>
            </a:r>
            <a:r>
              <a:rPr sz="2700" dirty="0">
                <a:latin typeface="Georgia"/>
                <a:cs typeface="Georgia"/>
              </a:rPr>
              <a:t>1 and  rest </a:t>
            </a:r>
            <a:r>
              <a:rPr sz="2700" spc="-5" dirty="0">
                <a:latin typeface="Georgia"/>
                <a:cs typeface="Georgia"/>
              </a:rPr>
              <a:t>of the number can be </a:t>
            </a:r>
            <a:r>
              <a:rPr sz="2700" dirty="0">
                <a:latin typeface="Georgia"/>
                <a:cs typeface="Georgia"/>
              </a:rPr>
              <a:t>represented in </a:t>
            </a:r>
            <a:r>
              <a:rPr sz="2700" spc="-5" dirty="0">
                <a:latin typeface="Georgia"/>
                <a:cs typeface="Georgia"/>
              </a:rPr>
              <a:t>one of</a:t>
            </a:r>
            <a:r>
              <a:rPr sz="2700" spc="-10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the  following</a:t>
            </a:r>
            <a:r>
              <a:rPr sz="2700" spc="-1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ways:</a:t>
            </a:r>
            <a:endParaRPr sz="2700" dirty="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Signed-Magnitude</a:t>
            </a:r>
            <a:r>
              <a:rPr sz="2200" spc="4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Representation</a:t>
            </a:r>
            <a:endParaRPr sz="2200" dirty="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Signed-1’s Complement</a:t>
            </a:r>
            <a:r>
              <a:rPr sz="2200" spc="4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Representation</a:t>
            </a:r>
            <a:endParaRPr sz="2200" dirty="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Signed-2’s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Complement</a:t>
            </a:r>
            <a:r>
              <a:rPr sz="2200" spc="5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Representation</a:t>
            </a:r>
            <a:endParaRPr sz="2200" dirty="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50"/>
            <a:ext cx="8337550" cy="2985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There is </a:t>
            </a:r>
            <a:r>
              <a:rPr sz="2700" spc="-5" dirty="0">
                <a:latin typeface="Georgia"/>
                <a:cs typeface="Georgia"/>
              </a:rPr>
              <a:t>only one way to represent +14(0 </a:t>
            </a:r>
            <a:r>
              <a:rPr sz="2700" dirty="0">
                <a:latin typeface="Georgia"/>
                <a:cs typeface="Georgia"/>
              </a:rPr>
              <a:t>0001110) </a:t>
            </a:r>
            <a:r>
              <a:rPr sz="2700" spc="-185" dirty="0">
                <a:latin typeface="Georgia"/>
                <a:cs typeface="Georgia"/>
              </a:rPr>
              <a:t>in  </a:t>
            </a:r>
            <a:r>
              <a:rPr sz="2700" spc="-5" dirty="0">
                <a:latin typeface="Georgia"/>
                <a:cs typeface="Georgia"/>
              </a:rPr>
              <a:t>8-bit</a:t>
            </a:r>
            <a:r>
              <a:rPr sz="270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register.</a:t>
            </a:r>
            <a:endParaRPr sz="2700">
              <a:latin typeface="Georgia"/>
              <a:cs typeface="Georgia"/>
            </a:endParaRPr>
          </a:p>
          <a:p>
            <a:pPr marL="287020" marR="607695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There are 3 </a:t>
            </a:r>
            <a:r>
              <a:rPr sz="2700" spc="-5" dirty="0">
                <a:latin typeface="Georgia"/>
                <a:cs typeface="Georgia"/>
              </a:rPr>
              <a:t>different ways to represent -14 with </a:t>
            </a:r>
            <a:r>
              <a:rPr sz="2700" spc="-360" dirty="0">
                <a:latin typeface="Georgia"/>
                <a:cs typeface="Georgia"/>
              </a:rPr>
              <a:t>8  </a:t>
            </a:r>
            <a:r>
              <a:rPr sz="2700" spc="-5" dirty="0">
                <a:latin typeface="Georgia"/>
                <a:cs typeface="Georgia"/>
              </a:rPr>
              <a:t>bits:</a:t>
            </a:r>
            <a:endParaRPr sz="27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Signed Magnitude Representation: 1</a:t>
            </a:r>
            <a:r>
              <a:rPr sz="2200" spc="10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0001110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Signed 1’s Complement Representation: 1</a:t>
            </a:r>
            <a:r>
              <a:rPr sz="2200" spc="12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1110001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Signed 2’s Complement Representation: 1</a:t>
            </a:r>
            <a:r>
              <a:rPr sz="2200" spc="114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1110010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3" y="1549350"/>
            <a:ext cx="8241665" cy="4034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6985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The 1’s </a:t>
            </a:r>
            <a:r>
              <a:rPr sz="2700" spc="-5" dirty="0">
                <a:latin typeface="Georgia"/>
                <a:cs typeface="Georgia"/>
              </a:rPr>
              <a:t>complement </a:t>
            </a:r>
            <a:r>
              <a:rPr sz="2700" dirty="0">
                <a:latin typeface="Georgia"/>
                <a:cs typeface="Georgia"/>
              </a:rPr>
              <a:t>imposes </a:t>
            </a:r>
            <a:r>
              <a:rPr sz="2700" spc="-10" dirty="0">
                <a:latin typeface="Georgia"/>
                <a:cs typeface="Georgia"/>
              </a:rPr>
              <a:t>difficulties </a:t>
            </a:r>
            <a:r>
              <a:rPr sz="2700" spc="-5" dirty="0">
                <a:latin typeface="Georgia"/>
                <a:cs typeface="Georgia"/>
              </a:rPr>
              <a:t>because </a:t>
            </a:r>
            <a:r>
              <a:rPr sz="2700" dirty="0">
                <a:latin typeface="Georgia"/>
                <a:cs typeface="Georgia"/>
              </a:rPr>
              <a:t>it  </a:t>
            </a:r>
            <a:r>
              <a:rPr sz="2700" spc="-5" dirty="0">
                <a:latin typeface="Georgia"/>
                <a:cs typeface="Georgia"/>
              </a:rPr>
              <a:t>has two representation of 0(+0[0000] </a:t>
            </a:r>
            <a:r>
              <a:rPr sz="2700" dirty="0">
                <a:latin typeface="Georgia"/>
                <a:cs typeface="Georgia"/>
              </a:rPr>
              <a:t>and</a:t>
            </a:r>
            <a:r>
              <a:rPr sz="2700" spc="6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-</a:t>
            </a:r>
            <a:r>
              <a:rPr sz="2700" spc="-5">
                <a:latin typeface="Georgia"/>
                <a:cs typeface="Georgia"/>
              </a:rPr>
              <a:t>0[1111</a:t>
            </a:r>
            <a:r>
              <a:rPr sz="2700" spc="-5" smtClean="0">
                <a:latin typeface="Georgia"/>
                <a:cs typeface="Georgia"/>
              </a:rPr>
              <a:t>]).</a:t>
            </a:r>
            <a:endParaRPr lang="en-US" sz="2700" spc="-5" dirty="0" smtClean="0">
              <a:latin typeface="Georgia"/>
              <a:cs typeface="Georgia"/>
            </a:endParaRPr>
          </a:p>
          <a:p>
            <a:pPr marL="287020" marR="6985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endParaRPr sz="2700">
              <a:latin typeface="Georgia"/>
              <a:cs typeface="Georgia"/>
            </a:endParaRPr>
          </a:p>
          <a:p>
            <a:pPr marL="287020" marR="37084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It is </a:t>
            </a:r>
            <a:r>
              <a:rPr sz="2700" spc="-5" dirty="0">
                <a:latin typeface="Georgia"/>
                <a:cs typeface="Georgia"/>
              </a:rPr>
              <a:t>seldom </a:t>
            </a:r>
            <a:r>
              <a:rPr sz="2700" spc="-10" dirty="0">
                <a:latin typeface="Georgia"/>
                <a:cs typeface="Georgia"/>
              </a:rPr>
              <a:t>used </a:t>
            </a:r>
            <a:r>
              <a:rPr sz="2700" dirty="0">
                <a:latin typeface="Georgia"/>
                <a:cs typeface="Georgia"/>
              </a:rPr>
              <a:t>in </a:t>
            </a:r>
            <a:r>
              <a:rPr sz="2700" spc="-5" dirty="0">
                <a:latin typeface="Georgia"/>
                <a:cs typeface="Georgia"/>
              </a:rPr>
              <a:t>arithmetic operation except </a:t>
            </a:r>
            <a:r>
              <a:rPr sz="2700" spc="-170" dirty="0">
                <a:latin typeface="Georgia"/>
                <a:cs typeface="Georgia"/>
              </a:rPr>
              <a:t>in  </a:t>
            </a:r>
            <a:r>
              <a:rPr sz="2700" spc="-5" dirty="0">
                <a:latin typeface="Georgia"/>
                <a:cs typeface="Georgia"/>
              </a:rPr>
              <a:t>some older</a:t>
            </a:r>
            <a:r>
              <a:rPr sz="2700" spc="-20" dirty="0">
                <a:latin typeface="Georgia"/>
                <a:cs typeface="Georgia"/>
              </a:rPr>
              <a:t> </a:t>
            </a:r>
            <a:r>
              <a:rPr sz="2700" spc="-10">
                <a:latin typeface="Georgia"/>
                <a:cs typeface="Georgia"/>
              </a:rPr>
              <a:t>compilers</a:t>
            </a:r>
            <a:r>
              <a:rPr sz="2700" spc="-10" smtClean="0">
                <a:latin typeface="Georgia"/>
                <a:cs typeface="Georgia"/>
              </a:rPr>
              <a:t>.</a:t>
            </a:r>
            <a:endParaRPr lang="en-US" sz="2700" spc="-10" dirty="0" smtClean="0">
              <a:latin typeface="Georgia"/>
              <a:cs typeface="Georgia"/>
            </a:endParaRPr>
          </a:p>
          <a:p>
            <a:pPr marL="287020" marR="37084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endParaRPr sz="2700">
              <a:latin typeface="Georgia"/>
              <a:cs typeface="Georgia"/>
            </a:endParaRPr>
          </a:p>
          <a:p>
            <a:pPr marL="287020" marR="508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It is </a:t>
            </a:r>
            <a:r>
              <a:rPr sz="2700" spc="-5" dirty="0">
                <a:latin typeface="Georgia"/>
                <a:cs typeface="Georgia"/>
              </a:rPr>
              <a:t>useful </a:t>
            </a:r>
            <a:r>
              <a:rPr sz="2700" dirty="0">
                <a:latin typeface="Georgia"/>
                <a:cs typeface="Georgia"/>
              </a:rPr>
              <a:t>in </a:t>
            </a:r>
            <a:r>
              <a:rPr sz="2700" spc="-5" dirty="0">
                <a:latin typeface="Georgia"/>
                <a:cs typeface="Georgia"/>
              </a:rPr>
              <a:t>logical operation since change from </a:t>
            </a:r>
            <a:r>
              <a:rPr sz="2700" spc="-100" dirty="0">
                <a:latin typeface="Georgia"/>
                <a:cs typeface="Georgia"/>
              </a:rPr>
              <a:t>1to  </a:t>
            </a:r>
            <a:r>
              <a:rPr sz="2700" dirty="0">
                <a:latin typeface="Georgia"/>
                <a:cs typeface="Georgia"/>
              </a:rPr>
              <a:t>0, 0 to 1 is </a:t>
            </a:r>
            <a:r>
              <a:rPr sz="2700" spc="-5" dirty="0">
                <a:latin typeface="Georgia"/>
                <a:cs typeface="Georgia"/>
              </a:rPr>
              <a:t>equivalent to logical complement  function.</a:t>
            </a:r>
            <a:endParaRPr sz="27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304800" y="1527047"/>
            <a:ext cx="8610600" cy="5102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49"/>
            <a:ext cx="8285480" cy="40216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74295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5" dirty="0">
                <a:latin typeface="Georgia"/>
                <a:cs typeface="Georgia"/>
              </a:rPr>
              <a:t>Sometime there </a:t>
            </a:r>
            <a:r>
              <a:rPr sz="2700" dirty="0">
                <a:latin typeface="Georgia"/>
                <a:cs typeface="Georgia"/>
              </a:rPr>
              <a:t>is need </a:t>
            </a:r>
            <a:r>
              <a:rPr sz="2700" spc="-5" dirty="0">
                <a:latin typeface="Georgia"/>
                <a:cs typeface="Georgia"/>
              </a:rPr>
              <a:t>to convert the data from </a:t>
            </a:r>
            <a:r>
              <a:rPr sz="2700" spc="-120" dirty="0">
                <a:latin typeface="Georgia"/>
                <a:cs typeface="Georgia"/>
              </a:rPr>
              <a:t>one  </a:t>
            </a:r>
            <a:r>
              <a:rPr sz="2700" spc="-5" dirty="0">
                <a:latin typeface="Georgia"/>
                <a:cs typeface="Georgia"/>
              </a:rPr>
              <a:t>bit length to </a:t>
            </a:r>
            <a:r>
              <a:rPr sz="2700" dirty="0">
                <a:latin typeface="Georgia"/>
                <a:cs typeface="Georgia"/>
              </a:rPr>
              <a:t>another(4 </a:t>
            </a:r>
            <a:r>
              <a:rPr sz="2700" spc="-5" dirty="0">
                <a:latin typeface="Georgia"/>
                <a:cs typeface="Georgia"/>
              </a:rPr>
              <a:t>bit </a:t>
            </a:r>
            <a:r>
              <a:rPr sz="2700" dirty="0">
                <a:latin typeface="Georgia"/>
                <a:cs typeface="Georgia"/>
              </a:rPr>
              <a:t>to 8 </a:t>
            </a:r>
            <a:r>
              <a:rPr sz="2700" spc="-5" dirty="0">
                <a:latin typeface="Georgia"/>
                <a:cs typeface="Georgia"/>
              </a:rPr>
              <a:t>bit</a:t>
            </a:r>
            <a:r>
              <a:rPr sz="2700" spc="-3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etc.)</a:t>
            </a:r>
            <a:endParaRPr sz="2700">
              <a:latin typeface="Georgia"/>
              <a:cs typeface="Georgia"/>
            </a:endParaRPr>
          </a:p>
          <a:p>
            <a:pPr marL="287020" marR="6350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This </a:t>
            </a:r>
            <a:r>
              <a:rPr sz="2700" spc="-5" dirty="0">
                <a:latin typeface="Georgia"/>
                <a:cs typeface="Georgia"/>
              </a:rPr>
              <a:t>conversion </a:t>
            </a:r>
            <a:r>
              <a:rPr sz="2700" dirty="0">
                <a:latin typeface="Georgia"/>
                <a:cs typeface="Georgia"/>
              </a:rPr>
              <a:t>is very </a:t>
            </a:r>
            <a:r>
              <a:rPr sz="2700" spc="-5" dirty="0">
                <a:latin typeface="Georgia"/>
                <a:cs typeface="Georgia"/>
              </a:rPr>
              <a:t>simple to </a:t>
            </a:r>
            <a:r>
              <a:rPr sz="2700" dirty="0">
                <a:latin typeface="Georgia"/>
                <a:cs typeface="Georgia"/>
              </a:rPr>
              <a:t>apply in </a:t>
            </a:r>
            <a:r>
              <a:rPr sz="2700" spc="-5" dirty="0">
                <a:latin typeface="Georgia"/>
                <a:cs typeface="Georgia"/>
              </a:rPr>
              <a:t>case of  signed </a:t>
            </a:r>
            <a:r>
              <a:rPr sz="2700" dirty="0">
                <a:latin typeface="Georgia"/>
                <a:cs typeface="Georgia"/>
              </a:rPr>
              <a:t>magnitude representation, just </a:t>
            </a:r>
            <a:r>
              <a:rPr sz="2700" spc="-5" dirty="0">
                <a:latin typeface="Georgia"/>
                <a:cs typeface="Georgia"/>
              </a:rPr>
              <a:t>shifting </a:t>
            </a:r>
            <a:r>
              <a:rPr sz="2700" spc="-10" dirty="0">
                <a:latin typeface="Georgia"/>
                <a:cs typeface="Georgia"/>
              </a:rPr>
              <a:t>of </a:t>
            </a:r>
            <a:r>
              <a:rPr sz="2700" spc="-5" dirty="0">
                <a:latin typeface="Georgia"/>
                <a:cs typeface="Georgia"/>
              </a:rPr>
              <a:t>the  signed bit </a:t>
            </a:r>
            <a:r>
              <a:rPr sz="2700" dirty="0">
                <a:latin typeface="Georgia"/>
                <a:cs typeface="Georgia"/>
              </a:rPr>
              <a:t>is</a:t>
            </a:r>
            <a:r>
              <a:rPr sz="2700" spc="-20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required.</a:t>
            </a:r>
            <a:endParaRPr sz="2700">
              <a:latin typeface="Georgia"/>
              <a:cs typeface="Georgia"/>
            </a:endParaRPr>
          </a:p>
          <a:p>
            <a:pPr marL="287020" marR="508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But </a:t>
            </a:r>
            <a:r>
              <a:rPr sz="2700" spc="-5" dirty="0">
                <a:latin typeface="Georgia"/>
                <a:cs typeface="Georgia"/>
              </a:rPr>
              <a:t>this </a:t>
            </a:r>
            <a:r>
              <a:rPr sz="2700" dirty="0">
                <a:latin typeface="Georgia"/>
                <a:cs typeface="Georgia"/>
              </a:rPr>
              <a:t>method </a:t>
            </a:r>
            <a:r>
              <a:rPr sz="2700" spc="-5" dirty="0">
                <a:latin typeface="Georgia"/>
                <a:cs typeface="Georgia"/>
              </a:rPr>
              <a:t>won’t be applicable </a:t>
            </a:r>
            <a:r>
              <a:rPr sz="2700" dirty="0">
                <a:latin typeface="Georgia"/>
                <a:cs typeface="Georgia"/>
              </a:rPr>
              <a:t>in </a:t>
            </a:r>
            <a:r>
              <a:rPr sz="2700" spc="-10" dirty="0">
                <a:latin typeface="Georgia"/>
                <a:cs typeface="Georgia"/>
              </a:rPr>
              <a:t>case </a:t>
            </a:r>
            <a:r>
              <a:rPr sz="2700" spc="-5" dirty="0">
                <a:latin typeface="Georgia"/>
                <a:cs typeface="Georgia"/>
              </a:rPr>
              <a:t>of </a:t>
            </a:r>
            <a:r>
              <a:rPr sz="2700" spc="-65" dirty="0">
                <a:latin typeface="Georgia"/>
                <a:cs typeface="Georgia"/>
              </a:rPr>
              <a:t>signed  </a:t>
            </a:r>
            <a:r>
              <a:rPr sz="2700" dirty="0">
                <a:latin typeface="Georgia"/>
                <a:cs typeface="Georgia"/>
              </a:rPr>
              <a:t>2’complement.</a:t>
            </a:r>
            <a:endParaRPr sz="2700">
              <a:latin typeface="Georgia"/>
              <a:cs typeface="Georgia"/>
            </a:endParaRPr>
          </a:p>
          <a:p>
            <a:pPr marL="287020" marR="548640" indent="-274320">
              <a:lnSpc>
                <a:spcPct val="100000"/>
              </a:lnSpc>
              <a:spcBef>
                <a:spcPts val="65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In </a:t>
            </a:r>
            <a:r>
              <a:rPr sz="2700" spc="-5" dirty="0">
                <a:latin typeface="Georgia"/>
                <a:cs typeface="Georgia"/>
              </a:rPr>
              <a:t>the case of </a:t>
            </a:r>
            <a:r>
              <a:rPr sz="2700" dirty="0">
                <a:latin typeface="Georgia"/>
                <a:cs typeface="Georgia"/>
              </a:rPr>
              <a:t>2’s </a:t>
            </a:r>
            <a:r>
              <a:rPr sz="2700" spc="-5" dirty="0">
                <a:latin typeface="Georgia"/>
                <a:cs typeface="Georgia"/>
              </a:rPr>
              <a:t>complement </a:t>
            </a:r>
            <a:r>
              <a:rPr sz="2700" dirty="0">
                <a:latin typeface="Georgia"/>
                <a:cs typeface="Georgia"/>
              </a:rPr>
              <a:t>representation, </a:t>
            </a:r>
            <a:r>
              <a:rPr sz="2700" spc="-130" dirty="0">
                <a:latin typeface="Georgia"/>
                <a:cs typeface="Georgia"/>
              </a:rPr>
              <a:t>the  </a:t>
            </a:r>
            <a:r>
              <a:rPr sz="2700" spc="-5" dirty="0">
                <a:latin typeface="Georgia"/>
                <a:cs typeface="Georgia"/>
              </a:rPr>
              <a:t>process </a:t>
            </a:r>
            <a:r>
              <a:rPr sz="2700" spc="-10" dirty="0">
                <a:latin typeface="Georgia"/>
                <a:cs typeface="Georgia"/>
              </a:rPr>
              <a:t>called </a:t>
            </a:r>
            <a:r>
              <a:rPr sz="2700" spc="-5" dirty="0">
                <a:latin typeface="Georgia"/>
                <a:cs typeface="Georgia"/>
              </a:rPr>
              <a:t>sign extension </a:t>
            </a:r>
            <a:r>
              <a:rPr sz="2700" dirty="0">
                <a:latin typeface="Georgia"/>
                <a:cs typeface="Georgia"/>
              </a:rPr>
              <a:t>is</a:t>
            </a:r>
            <a:r>
              <a:rPr sz="2700" spc="-5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implemented.</a:t>
            </a:r>
            <a:endParaRPr sz="27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301752" y="1752600"/>
            <a:ext cx="8503920" cy="3962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304800" y="2133600"/>
            <a:ext cx="8503920" cy="297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412751"/>
            <a:ext cx="5092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Fixed </a:t>
            </a:r>
            <a:r>
              <a:rPr sz="3300" dirty="0">
                <a:solidFill>
                  <a:srgbClr val="7A9799"/>
                </a:solidFill>
              </a:rPr>
              <a:t>Point</a:t>
            </a:r>
            <a:r>
              <a:rPr sz="3300" spc="-90" dirty="0">
                <a:solidFill>
                  <a:srgbClr val="7A9799"/>
                </a:solidFill>
              </a:rPr>
              <a:t> </a:t>
            </a:r>
            <a:r>
              <a:rPr sz="3300" dirty="0">
                <a:solidFill>
                  <a:srgbClr val="7A9799"/>
                </a:solidFill>
              </a:rPr>
              <a:t>Representation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304800" y="2133600"/>
            <a:ext cx="8503920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4813" y="412751"/>
            <a:ext cx="3748404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Arithmetic</a:t>
            </a:r>
            <a:r>
              <a:rPr sz="3300" spc="-30" dirty="0">
                <a:solidFill>
                  <a:srgbClr val="7A9799"/>
                </a:solidFill>
              </a:rPr>
              <a:t> </a:t>
            </a:r>
            <a:r>
              <a:rPr sz="3300" spc="-5" dirty="0">
                <a:solidFill>
                  <a:srgbClr val="7A9799"/>
                </a:solidFill>
              </a:rPr>
              <a:t>Addition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1" y="1549349"/>
            <a:ext cx="8122920" cy="31516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320">
              <a:lnSpc>
                <a:spcPct val="100000"/>
              </a:lnSpc>
              <a:spcBef>
                <a:spcPts val="100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spc="-5" dirty="0">
                <a:latin typeface="Georgia"/>
                <a:cs typeface="Georgia"/>
              </a:rPr>
              <a:t>Adding the numbers </a:t>
            </a:r>
            <a:r>
              <a:rPr sz="2700" dirty="0">
                <a:latin typeface="Georgia"/>
                <a:cs typeface="Georgia"/>
              </a:rPr>
              <a:t>in signed 2’s </a:t>
            </a:r>
            <a:r>
              <a:rPr sz="2700" spc="-10" dirty="0">
                <a:latin typeface="Georgia"/>
                <a:cs typeface="Georgia"/>
              </a:rPr>
              <a:t>complement  </a:t>
            </a:r>
            <a:r>
              <a:rPr sz="2700" spc="-5" dirty="0">
                <a:latin typeface="Georgia"/>
                <a:cs typeface="Georgia"/>
              </a:rPr>
              <a:t>system </a:t>
            </a:r>
            <a:r>
              <a:rPr sz="2700" dirty="0">
                <a:latin typeface="Georgia"/>
                <a:cs typeface="Georgia"/>
              </a:rPr>
              <a:t>require </a:t>
            </a:r>
            <a:r>
              <a:rPr sz="2700" spc="-5" dirty="0">
                <a:latin typeface="Georgia"/>
                <a:cs typeface="Georgia"/>
              </a:rPr>
              <a:t>only </a:t>
            </a:r>
            <a:r>
              <a:rPr sz="2700" spc="-10" dirty="0">
                <a:latin typeface="Georgia"/>
                <a:cs typeface="Georgia"/>
              </a:rPr>
              <a:t>addition </a:t>
            </a:r>
            <a:r>
              <a:rPr sz="2700" dirty="0">
                <a:latin typeface="Georgia"/>
                <a:cs typeface="Georgia"/>
              </a:rPr>
              <a:t>and</a:t>
            </a:r>
            <a:r>
              <a:rPr sz="2700" spc="-85" dirty="0">
                <a:latin typeface="Georgia"/>
                <a:cs typeface="Georgia"/>
              </a:rPr>
              <a:t> </a:t>
            </a:r>
            <a:r>
              <a:rPr sz="2700" spc="-5" dirty="0">
                <a:latin typeface="Georgia"/>
                <a:cs typeface="Georgia"/>
              </a:rPr>
              <a:t>complementation.</a:t>
            </a:r>
            <a:endParaRPr sz="27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Add the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two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numbers, including their sign</a:t>
            </a:r>
            <a:r>
              <a:rPr sz="2200" spc="10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bits.</a:t>
            </a:r>
            <a:endParaRPr sz="2200">
              <a:latin typeface="Georgia"/>
              <a:cs typeface="Georgia"/>
            </a:endParaRPr>
          </a:p>
          <a:p>
            <a:pPr marL="287020" marR="776605" lvl="1">
              <a:lnSpc>
                <a:spcPct val="120000"/>
              </a:lnSpc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Discard any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carry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out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of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the sign(leftmost) bit position. 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Note:</a:t>
            </a:r>
            <a:endParaRPr sz="2200">
              <a:latin typeface="Georgia"/>
              <a:cs typeface="Georgia"/>
            </a:endParaRPr>
          </a:p>
          <a:p>
            <a:pPr marL="560705" marR="13970" indent="365760">
              <a:lnSpc>
                <a:spcPct val="100000"/>
              </a:lnSpc>
              <a:spcBef>
                <a:spcPts val="530"/>
              </a:spcBef>
            </a:pP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Negative numbers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must initially be in 2’s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complement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and  if the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sum obtained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after the addition is negative it is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in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2’s  complement</a:t>
            </a:r>
            <a:r>
              <a:rPr sz="2200" spc="20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form.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4813" y="412751"/>
            <a:ext cx="3748404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7A9799"/>
                </a:solidFill>
              </a:rPr>
              <a:t>Arithmetic</a:t>
            </a:r>
            <a:r>
              <a:rPr sz="3300" spc="-30" dirty="0">
                <a:solidFill>
                  <a:srgbClr val="7A9799"/>
                </a:solidFill>
              </a:rPr>
              <a:t> </a:t>
            </a:r>
            <a:r>
              <a:rPr sz="3300" spc="-5" dirty="0">
                <a:solidFill>
                  <a:srgbClr val="7A9799"/>
                </a:solidFill>
              </a:rPr>
              <a:t>Addition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301752" y="1929386"/>
            <a:ext cx="8503920" cy="386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3541" y="412751"/>
            <a:ext cx="429133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7A9799"/>
                </a:solidFill>
              </a:rPr>
              <a:t>Arithmetic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spc="-5" dirty="0">
                <a:solidFill>
                  <a:srgbClr val="7A9799"/>
                </a:solidFill>
              </a:rPr>
              <a:t>Subtraction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3" y="1462685"/>
            <a:ext cx="8303895" cy="2075568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85"/>
              </a:spcBef>
              <a:buClr>
                <a:srgbClr val="D16248"/>
              </a:buClr>
              <a:buSzPct val="85185"/>
              <a:buFont typeface="Arial"/>
              <a:buChar char=""/>
              <a:tabLst>
                <a:tab pos="287020" algn="l"/>
              </a:tabLst>
            </a:pPr>
            <a:r>
              <a:rPr sz="2700" dirty="0">
                <a:latin typeface="Georgia"/>
                <a:cs typeface="Georgia"/>
              </a:rPr>
              <a:t>2’s </a:t>
            </a:r>
            <a:r>
              <a:rPr sz="2700" spc="-5" dirty="0">
                <a:latin typeface="Georgia"/>
                <a:cs typeface="Georgia"/>
              </a:rPr>
              <a:t>complement subtraction includes following</a:t>
            </a:r>
            <a:r>
              <a:rPr sz="2700" spc="-70" dirty="0">
                <a:latin typeface="Georgia"/>
                <a:cs typeface="Georgia"/>
              </a:rPr>
              <a:t> </a:t>
            </a:r>
            <a:r>
              <a:rPr sz="2700" spc="-40" dirty="0">
                <a:latin typeface="Georgia"/>
                <a:cs typeface="Georgia"/>
              </a:rPr>
              <a:t>steps:</a:t>
            </a:r>
            <a:endParaRPr sz="2700">
              <a:latin typeface="Georgia"/>
              <a:cs typeface="Georgia"/>
            </a:endParaRPr>
          </a:p>
          <a:p>
            <a:pPr marL="560705" marR="15240" lvl="1" indent="-274320">
              <a:lnSpc>
                <a:spcPct val="100000"/>
              </a:lnSpc>
              <a:spcBef>
                <a:spcPts val="55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Take the 2’s complement of number to be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subtracted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including  the sign</a:t>
            </a:r>
            <a:r>
              <a:rPr sz="2200" spc="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bit.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25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Add </a:t>
            </a:r>
            <a:r>
              <a:rPr sz="2200" dirty="0">
                <a:solidFill>
                  <a:srgbClr val="636B85"/>
                </a:solidFill>
                <a:latin typeface="Georgia"/>
                <a:cs typeface="Georgia"/>
              </a:rPr>
              <a:t>it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the next</a:t>
            </a:r>
            <a:r>
              <a:rPr sz="2200" spc="1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number.</a:t>
            </a:r>
            <a:endParaRPr sz="2200">
              <a:latin typeface="Georgia"/>
              <a:cs typeface="Georgia"/>
            </a:endParaRPr>
          </a:p>
          <a:p>
            <a:pPr marL="561340" lvl="1" indent="-274320">
              <a:lnSpc>
                <a:spcPct val="100000"/>
              </a:lnSpc>
              <a:spcBef>
                <a:spcPts val="530"/>
              </a:spcBef>
              <a:buClr>
                <a:srgbClr val="CCB400"/>
              </a:buClr>
              <a:buSzPct val="68181"/>
              <a:buFont typeface="Wingdings"/>
              <a:buChar char=""/>
              <a:tabLst>
                <a:tab pos="561340" algn="l"/>
              </a:tabLst>
            </a:pP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Discard the </a:t>
            </a:r>
            <a:r>
              <a:rPr sz="2200" spc="-10" dirty="0">
                <a:solidFill>
                  <a:srgbClr val="636B85"/>
                </a:solidFill>
                <a:latin typeface="Georgia"/>
                <a:cs typeface="Georgia"/>
              </a:rPr>
              <a:t>carry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out of the sign bit</a:t>
            </a:r>
            <a:r>
              <a:rPr sz="2200" spc="85" dirty="0">
                <a:solidFill>
                  <a:srgbClr val="636B85"/>
                </a:solidFill>
                <a:latin typeface="Georgia"/>
                <a:cs typeface="Georgia"/>
              </a:rPr>
              <a:t> </a:t>
            </a:r>
            <a:r>
              <a:rPr sz="2200" spc="-5" dirty="0">
                <a:solidFill>
                  <a:srgbClr val="636B85"/>
                </a:solidFill>
                <a:latin typeface="Georgia"/>
                <a:cs typeface="Georgia"/>
              </a:rPr>
              <a:t>position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3541" y="412751"/>
            <a:ext cx="429133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dirty="0">
                <a:solidFill>
                  <a:srgbClr val="7A9799"/>
                </a:solidFill>
              </a:rPr>
              <a:t>Arithmetic</a:t>
            </a:r>
            <a:r>
              <a:rPr sz="3300" spc="-80" dirty="0">
                <a:solidFill>
                  <a:srgbClr val="7A9799"/>
                </a:solidFill>
              </a:rPr>
              <a:t> </a:t>
            </a:r>
            <a:r>
              <a:rPr sz="3300" spc="-5" dirty="0">
                <a:solidFill>
                  <a:srgbClr val="7A9799"/>
                </a:solidFill>
              </a:rPr>
              <a:t>Subtraction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380493" y="1469029"/>
            <a:ext cx="4446905" cy="1835759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300" spc="-610" dirty="0">
                <a:solidFill>
                  <a:srgbClr val="D16248"/>
                </a:solidFill>
                <a:latin typeface="Arial"/>
                <a:cs typeface="Arial"/>
              </a:rPr>
              <a:t></a:t>
            </a:r>
            <a:r>
              <a:rPr sz="2300" spc="-595" dirty="0">
                <a:solidFill>
                  <a:srgbClr val="D16248"/>
                </a:solidFill>
                <a:latin typeface="Arial"/>
                <a:cs typeface="Arial"/>
              </a:rPr>
              <a:t> </a:t>
            </a:r>
            <a:r>
              <a:rPr sz="2700" spc="-5" dirty="0">
                <a:latin typeface="Georgia"/>
                <a:cs typeface="Georgia"/>
              </a:rPr>
              <a:t>-6-(-13)=+7</a:t>
            </a:r>
            <a:endParaRPr sz="2700">
              <a:latin typeface="Georgia"/>
              <a:cs typeface="Georgia"/>
            </a:endParaRPr>
          </a:p>
          <a:p>
            <a:pPr marL="259079">
              <a:lnSpc>
                <a:spcPct val="100000"/>
              </a:lnSpc>
              <a:spcBef>
                <a:spcPts val="840"/>
              </a:spcBef>
            </a:pPr>
            <a:r>
              <a:rPr sz="3600" spc="-5" dirty="0">
                <a:latin typeface="Georgia"/>
                <a:cs typeface="Georgia"/>
              </a:rPr>
              <a:t>-6</a:t>
            </a:r>
            <a:endParaRPr sz="3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600" dirty="0">
                <a:latin typeface="Georgia"/>
                <a:cs typeface="Georgia"/>
              </a:rPr>
              <a:t>2’s </a:t>
            </a:r>
            <a:r>
              <a:rPr sz="3600" spc="-5" dirty="0">
                <a:latin typeface="Georgia"/>
                <a:cs typeface="Georgia"/>
              </a:rPr>
              <a:t>complement of</a:t>
            </a:r>
            <a:r>
              <a:rPr sz="3600" spc="-100" dirty="0">
                <a:latin typeface="Georgia"/>
                <a:cs typeface="Georgia"/>
              </a:rPr>
              <a:t> </a:t>
            </a:r>
            <a:r>
              <a:rPr sz="3600" spc="-5" dirty="0">
                <a:latin typeface="Georgia"/>
                <a:cs typeface="Georgia"/>
              </a:rPr>
              <a:t>-13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89156" y="1958467"/>
            <a:ext cx="2036445" cy="1346522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600" dirty="0">
                <a:latin typeface="Georgia"/>
                <a:cs typeface="Georgia"/>
              </a:rPr>
              <a:t>11111010</a:t>
            </a:r>
            <a:endParaRPr sz="3600">
              <a:latin typeface="Georgia"/>
              <a:cs typeface="Georgia"/>
            </a:endParaRPr>
          </a:p>
          <a:p>
            <a:pPr marL="31115">
              <a:lnSpc>
                <a:spcPct val="100000"/>
              </a:lnSpc>
              <a:spcBef>
                <a:spcPts val="865"/>
              </a:spcBef>
            </a:pPr>
            <a:r>
              <a:rPr sz="3600" spc="-5" dirty="0">
                <a:latin typeface="Georgia"/>
                <a:cs typeface="Georgia"/>
              </a:rPr>
              <a:t>00001101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01309" y="3385184"/>
            <a:ext cx="20180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Georgia"/>
                <a:cs typeface="Georgia"/>
              </a:rPr>
              <a:t>00000111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1200" y="3352801"/>
            <a:ext cx="2667000" cy="1905"/>
          </a:xfrm>
          <a:custGeom>
            <a:avLst/>
            <a:gdLst/>
            <a:ahLst/>
            <a:cxnLst/>
            <a:rect l="l" t="t" r="r" b="b"/>
            <a:pathLst>
              <a:path w="2667000" h="1904">
                <a:moveTo>
                  <a:pt x="0" y="0"/>
                </a:moveTo>
                <a:lnTo>
                  <a:pt x="2667000" y="1524"/>
                </a:lnTo>
              </a:path>
            </a:pathLst>
          </a:custGeom>
          <a:ln w="9144">
            <a:solidFill>
              <a:srgbClr val="D1624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048000"/>
            <a:ext cx="7086600" cy="1107996"/>
          </a:xfrm>
        </p:spPr>
        <p:txBody>
          <a:bodyPr/>
          <a:lstStyle/>
          <a:p>
            <a:pPr algn="ctr"/>
            <a:r>
              <a:rPr lang="en-US" sz="7200" i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72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789</Words>
  <Application>Microsoft Office PowerPoint</Application>
  <PresentationFormat>On-screen Show (4:3)</PresentationFormat>
  <Paragraphs>102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Data Representation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Data Types</vt:lpstr>
      <vt:lpstr>Complements</vt:lpstr>
      <vt:lpstr>Complements</vt:lpstr>
      <vt:lpstr>Complements</vt:lpstr>
      <vt:lpstr>Complements</vt:lpstr>
      <vt:lpstr>Complements</vt:lpstr>
      <vt:lpstr>Complements</vt:lpstr>
      <vt:lpstr>Fixed Point Representation</vt:lpstr>
      <vt:lpstr>Fixed Point Representation</vt:lpstr>
      <vt:lpstr>Fixed Point Representation</vt:lpstr>
      <vt:lpstr>Fixed Point Representation</vt:lpstr>
      <vt:lpstr>Fixed Point Representation</vt:lpstr>
      <vt:lpstr>Fixed Point Representation</vt:lpstr>
      <vt:lpstr>Fixed Point Representation</vt:lpstr>
      <vt:lpstr>Fixed Point Representation</vt:lpstr>
      <vt:lpstr>Fixed Point Representation</vt:lpstr>
      <vt:lpstr>Fixed Point Representation</vt:lpstr>
      <vt:lpstr>Arithmetic Addition</vt:lpstr>
      <vt:lpstr>Arithmetic Addition</vt:lpstr>
      <vt:lpstr>Arithmetic Subtraction</vt:lpstr>
      <vt:lpstr>Arithmetic Subtraction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Representation</dc:title>
  <cp:lastModifiedBy>RGUKT</cp:lastModifiedBy>
  <cp:revision>15</cp:revision>
  <dcterms:created xsi:type="dcterms:W3CDTF">2021-05-11T12:30:27Z</dcterms:created>
  <dcterms:modified xsi:type="dcterms:W3CDTF">2022-05-01T23:25:49Z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2014-05-05T00:00:00Z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2021-05-11T00:00:00Z</vt:filetime>
  </property>
</Properties>
</file>