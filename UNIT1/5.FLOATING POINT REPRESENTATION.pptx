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3" r:id="rId22"/>
    <p:sldId id="287" r:id="rId23"/>
    <p:sldId id="286" r:id="rId24"/>
    <p:sldId id="284" r:id="rId25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01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0687" y="838657"/>
            <a:ext cx="7802625" cy="1270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1">
                <a:solidFill>
                  <a:srgbClr val="0A529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53921" y="2990214"/>
            <a:ext cx="6836156" cy="680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1">
                <a:solidFill>
                  <a:srgbClr val="0A529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904743"/>
            <a:ext cx="9144000" cy="2239010"/>
          </a:xfrm>
          <a:custGeom>
            <a:avLst/>
            <a:gdLst/>
            <a:ahLst/>
            <a:cxnLst/>
            <a:rect l="l" t="t" r="r" b="b"/>
            <a:pathLst>
              <a:path w="9144000" h="2239010">
                <a:moveTo>
                  <a:pt x="9144000" y="0"/>
                </a:moveTo>
                <a:lnTo>
                  <a:pt x="0" y="0"/>
                </a:lnTo>
                <a:lnTo>
                  <a:pt x="0" y="2238756"/>
                </a:lnTo>
                <a:lnTo>
                  <a:pt x="9144000" y="2238756"/>
                </a:lnTo>
                <a:lnTo>
                  <a:pt x="9144000" y="0"/>
                </a:lnTo>
                <a:close/>
              </a:path>
            </a:pathLst>
          </a:custGeom>
          <a:solidFill>
            <a:srgbClr val="0A5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763011"/>
            <a:ext cx="9144000" cy="142240"/>
          </a:xfrm>
          <a:custGeom>
            <a:avLst/>
            <a:gdLst/>
            <a:ahLst/>
            <a:cxnLst/>
            <a:rect l="l" t="t" r="r" b="b"/>
            <a:pathLst>
              <a:path w="9144000" h="142239">
                <a:moveTo>
                  <a:pt x="9144000" y="0"/>
                </a:moveTo>
                <a:lnTo>
                  <a:pt x="0" y="0"/>
                </a:lnTo>
                <a:lnTo>
                  <a:pt x="0" y="141731"/>
                </a:lnTo>
                <a:lnTo>
                  <a:pt x="9144000" y="141731"/>
                </a:lnTo>
                <a:lnTo>
                  <a:pt x="9144000" y="0"/>
                </a:lnTo>
                <a:close/>
              </a:path>
            </a:pathLst>
          </a:custGeom>
          <a:solidFill>
            <a:srgbClr val="6EA8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35652"/>
            <a:ext cx="9144000" cy="143510"/>
          </a:xfrm>
          <a:custGeom>
            <a:avLst/>
            <a:gdLst/>
            <a:ahLst/>
            <a:cxnLst/>
            <a:rect l="l" t="t" r="r" b="b"/>
            <a:pathLst>
              <a:path w="9144000" h="143510">
                <a:moveTo>
                  <a:pt x="9144000" y="0"/>
                </a:moveTo>
                <a:lnTo>
                  <a:pt x="0" y="0"/>
                </a:lnTo>
                <a:lnTo>
                  <a:pt x="0" y="143256"/>
                </a:lnTo>
                <a:lnTo>
                  <a:pt x="9144000" y="143256"/>
                </a:lnTo>
                <a:lnTo>
                  <a:pt x="9144000" y="0"/>
                </a:lnTo>
                <a:close/>
              </a:path>
            </a:pathLst>
          </a:custGeom>
          <a:solidFill>
            <a:srgbClr val="6EA8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78907"/>
            <a:ext cx="9144000" cy="165100"/>
          </a:xfrm>
          <a:custGeom>
            <a:avLst/>
            <a:gdLst/>
            <a:ahLst/>
            <a:cxnLst/>
            <a:rect l="l" t="t" r="r" b="b"/>
            <a:pathLst>
              <a:path w="9144000" h="165100">
                <a:moveTo>
                  <a:pt x="9144000" y="0"/>
                </a:moveTo>
                <a:lnTo>
                  <a:pt x="0" y="0"/>
                </a:lnTo>
                <a:lnTo>
                  <a:pt x="0" y="164591"/>
                </a:lnTo>
                <a:lnTo>
                  <a:pt x="9144000" y="164591"/>
                </a:lnTo>
                <a:lnTo>
                  <a:pt x="9144000" y="0"/>
                </a:lnTo>
                <a:close/>
              </a:path>
            </a:pathLst>
          </a:custGeom>
          <a:solidFill>
            <a:srgbClr val="0A52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550" y="167385"/>
            <a:ext cx="836289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634" y="823722"/>
            <a:ext cx="8488730" cy="2550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0687" y="1123950"/>
            <a:ext cx="7802625" cy="1038146"/>
          </a:xfrm>
        </p:spPr>
        <p:txBody>
          <a:bodyPr/>
          <a:lstStyle/>
          <a:p>
            <a:pPr algn="ctr"/>
            <a:r>
              <a:rPr lang="en-US" b="1" spc="20" dirty="0"/>
              <a:t>Floating </a:t>
            </a:r>
            <a:r>
              <a:rPr lang="en-US" b="1" spc="-20" dirty="0"/>
              <a:t>Point</a:t>
            </a:r>
            <a:r>
              <a:rPr lang="en-US" b="1" spc="-270" dirty="0"/>
              <a:t> </a:t>
            </a:r>
            <a:r>
              <a:rPr lang="en-US" b="1" spc="20" dirty="0"/>
              <a:t>Representation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153921" y="2990214"/>
            <a:ext cx="6836156" cy="1029336"/>
          </a:xfrm>
        </p:spPr>
        <p:txBody>
          <a:bodyPr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lgerian" pitchFamily="82" charset="0"/>
                <a:cs typeface="Aharoni" pitchFamily="2" charset="-79"/>
              </a:rPr>
              <a:t>By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lgerian" pitchFamily="82" charset="0"/>
                <a:cs typeface="Aharoni" pitchFamily="2" charset="-79"/>
              </a:rPr>
              <a:t>M. BABY ANUSHA,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lgerian" pitchFamily="82" charset="0"/>
                <a:cs typeface="Aharoni" pitchFamily="2" charset="-79"/>
              </a:rPr>
              <a:t>ASST.PROF IN CSE DEPT.,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lgerian" pitchFamily="82" charset="0"/>
                <a:cs typeface="Aharoni" pitchFamily="2" charset="-79"/>
              </a:rPr>
              <a:t>RGUKT,NUZVID</a:t>
            </a:r>
            <a:endParaRPr lang="en-US" sz="1400" dirty="0">
              <a:solidFill>
                <a:schemeClr val="tx1"/>
              </a:solidFill>
            </a:endParaRPr>
          </a:p>
          <a:p>
            <a:endParaRPr lang="en-US" sz="14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3752189"/>
            <a:ext cx="824166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-35" dirty="0">
                <a:latin typeface="Trebuchet MS"/>
                <a:cs typeface="Trebuchet MS"/>
              </a:rPr>
              <a:t>Only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b="1" spc="-15" dirty="0">
                <a:latin typeface="Trebuchet MS"/>
                <a:cs typeface="Trebuchet MS"/>
              </a:rPr>
              <a:t>mantissa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and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exponent</a:t>
            </a:r>
            <a:r>
              <a:rPr sz="1800" b="1" spc="-19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are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b="1" spc="-60" dirty="0">
                <a:latin typeface="Trebuchet MS"/>
                <a:cs typeface="Trebuchet MS"/>
              </a:rPr>
              <a:t>stored</a:t>
            </a:r>
            <a:r>
              <a:rPr sz="1800" spc="-60" dirty="0">
                <a:latin typeface="Trebuchet MS"/>
                <a:cs typeface="Trebuchet MS"/>
              </a:rPr>
              <a:t>.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base</a:t>
            </a:r>
            <a:r>
              <a:rPr sz="1800" b="1" spc="-1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is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35" dirty="0">
                <a:latin typeface="Trebuchet MS"/>
                <a:cs typeface="Trebuchet MS"/>
              </a:rPr>
              <a:t>implied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(known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already)  </a:t>
            </a:r>
            <a:r>
              <a:rPr sz="1800" spc="-30" dirty="0">
                <a:latin typeface="Trebuchet MS"/>
                <a:cs typeface="Trebuchet MS"/>
              </a:rPr>
              <a:t>As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it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not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stored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this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will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save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memory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capacity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54711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Floating </a:t>
            </a:r>
            <a:r>
              <a:rPr spc="-20" dirty="0"/>
              <a:t>Point</a:t>
            </a:r>
            <a:r>
              <a:rPr spc="-270" dirty="0"/>
              <a:t> </a:t>
            </a:r>
            <a:r>
              <a:rPr spc="20" dirty="0"/>
              <a:t>Representation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70020" y="1722120"/>
            <a:ext cx="1041400" cy="393700"/>
            <a:chOff x="3970020" y="1722120"/>
            <a:chExt cx="1041400" cy="393700"/>
          </a:xfrm>
        </p:grpSpPr>
        <p:sp>
          <p:nvSpPr>
            <p:cNvPr id="5" name="object 5"/>
            <p:cNvSpPr/>
            <p:nvPr/>
          </p:nvSpPr>
          <p:spPr>
            <a:xfrm>
              <a:off x="3977640" y="1729740"/>
              <a:ext cx="1026160" cy="378460"/>
            </a:xfrm>
            <a:custGeom>
              <a:avLst/>
              <a:gdLst/>
              <a:ahLst/>
              <a:cxnLst/>
              <a:rect l="l" t="t" r="r" b="b"/>
              <a:pathLst>
                <a:path w="1026160" h="378460">
                  <a:moveTo>
                    <a:pt x="962660" y="0"/>
                  </a:moveTo>
                  <a:lnTo>
                    <a:pt x="62992" y="0"/>
                  </a:lnTo>
                  <a:lnTo>
                    <a:pt x="38469" y="4949"/>
                  </a:lnTo>
                  <a:lnTo>
                    <a:pt x="18446" y="18446"/>
                  </a:lnTo>
                  <a:lnTo>
                    <a:pt x="4949" y="38469"/>
                  </a:lnTo>
                  <a:lnTo>
                    <a:pt x="0" y="62992"/>
                  </a:lnTo>
                  <a:lnTo>
                    <a:pt x="0" y="314960"/>
                  </a:lnTo>
                  <a:lnTo>
                    <a:pt x="4949" y="339482"/>
                  </a:lnTo>
                  <a:lnTo>
                    <a:pt x="18446" y="359505"/>
                  </a:lnTo>
                  <a:lnTo>
                    <a:pt x="38469" y="373002"/>
                  </a:lnTo>
                  <a:lnTo>
                    <a:pt x="62992" y="377952"/>
                  </a:lnTo>
                  <a:lnTo>
                    <a:pt x="962660" y="377952"/>
                  </a:lnTo>
                  <a:lnTo>
                    <a:pt x="987182" y="373002"/>
                  </a:lnTo>
                  <a:lnTo>
                    <a:pt x="1007205" y="359505"/>
                  </a:lnTo>
                  <a:lnTo>
                    <a:pt x="1020702" y="339482"/>
                  </a:lnTo>
                  <a:lnTo>
                    <a:pt x="1025651" y="314960"/>
                  </a:lnTo>
                  <a:lnTo>
                    <a:pt x="1025651" y="62992"/>
                  </a:lnTo>
                  <a:lnTo>
                    <a:pt x="1020702" y="38469"/>
                  </a:lnTo>
                  <a:lnTo>
                    <a:pt x="1007205" y="18446"/>
                  </a:lnTo>
                  <a:lnTo>
                    <a:pt x="987182" y="4949"/>
                  </a:lnTo>
                  <a:lnTo>
                    <a:pt x="962660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77640" y="1729740"/>
              <a:ext cx="1026160" cy="378460"/>
            </a:xfrm>
            <a:custGeom>
              <a:avLst/>
              <a:gdLst/>
              <a:ahLst/>
              <a:cxnLst/>
              <a:rect l="l" t="t" r="r" b="b"/>
              <a:pathLst>
                <a:path w="1026160" h="378460">
                  <a:moveTo>
                    <a:pt x="0" y="62992"/>
                  </a:moveTo>
                  <a:lnTo>
                    <a:pt x="4949" y="38469"/>
                  </a:lnTo>
                  <a:lnTo>
                    <a:pt x="18446" y="18446"/>
                  </a:lnTo>
                  <a:lnTo>
                    <a:pt x="38469" y="4949"/>
                  </a:lnTo>
                  <a:lnTo>
                    <a:pt x="62992" y="0"/>
                  </a:lnTo>
                  <a:lnTo>
                    <a:pt x="962660" y="0"/>
                  </a:lnTo>
                  <a:lnTo>
                    <a:pt x="987182" y="4949"/>
                  </a:lnTo>
                  <a:lnTo>
                    <a:pt x="1007205" y="18446"/>
                  </a:lnTo>
                  <a:lnTo>
                    <a:pt x="1020702" y="38469"/>
                  </a:lnTo>
                  <a:lnTo>
                    <a:pt x="1025651" y="62992"/>
                  </a:lnTo>
                  <a:lnTo>
                    <a:pt x="1025651" y="314960"/>
                  </a:lnTo>
                  <a:lnTo>
                    <a:pt x="1020702" y="339482"/>
                  </a:lnTo>
                  <a:lnTo>
                    <a:pt x="1007205" y="359505"/>
                  </a:lnTo>
                  <a:lnTo>
                    <a:pt x="987182" y="373002"/>
                  </a:lnTo>
                  <a:lnTo>
                    <a:pt x="962660" y="377952"/>
                  </a:lnTo>
                  <a:lnTo>
                    <a:pt x="62992" y="377952"/>
                  </a:lnTo>
                  <a:lnTo>
                    <a:pt x="38469" y="373002"/>
                  </a:lnTo>
                  <a:lnTo>
                    <a:pt x="18446" y="359505"/>
                  </a:lnTo>
                  <a:lnTo>
                    <a:pt x="4949" y="339482"/>
                  </a:lnTo>
                  <a:lnTo>
                    <a:pt x="0" y="314960"/>
                  </a:lnTo>
                  <a:lnTo>
                    <a:pt x="0" y="62992"/>
                  </a:lnTo>
                  <a:close/>
                </a:path>
              </a:pathLst>
            </a:custGeom>
            <a:ln w="1524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5150" y="864870"/>
            <a:ext cx="8778850" cy="1172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structure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floating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65" dirty="0">
                <a:latin typeface="Trebuchet MS"/>
                <a:cs typeface="Trebuchet MS"/>
              </a:rPr>
              <a:t>point</a:t>
            </a:r>
            <a:r>
              <a:rPr sz="1800" spc="-65" dirty="0">
                <a:latin typeface="Trebuchet MS"/>
                <a:cs typeface="Trebuchet MS"/>
              </a:rPr>
              <a:t>(real)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as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follows: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458595">
              <a:lnSpc>
                <a:spcPts val="2535"/>
              </a:lnSpc>
              <a:spcBef>
                <a:spcPts val="5"/>
              </a:spcBef>
            </a:pPr>
            <a:r>
              <a:rPr sz="2300" spc="-135" dirty="0">
                <a:latin typeface="Trebuchet MS"/>
                <a:cs typeface="Trebuchet MS"/>
              </a:rPr>
              <a:t>4.2 </a:t>
            </a:r>
            <a:r>
              <a:rPr sz="2300" spc="114" dirty="0">
                <a:latin typeface="Trebuchet MS"/>
                <a:cs typeface="Trebuchet MS"/>
              </a:rPr>
              <a:t>*</a:t>
            </a:r>
            <a:r>
              <a:rPr sz="2300" spc="-345" dirty="0">
                <a:latin typeface="Trebuchet MS"/>
                <a:cs typeface="Trebuchet MS"/>
              </a:rPr>
              <a:t> </a:t>
            </a:r>
            <a:r>
              <a:rPr sz="2300" spc="-55" dirty="0">
                <a:latin typeface="Trebuchet MS"/>
                <a:cs typeface="Trebuchet MS"/>
              </a:rPr>
              <a:t>10</a:t>
            </a:r>
            <a:r>
              <a:rPr sz="2250" spc="-82" baseline="25925" dirty="0">
                <a:latin typeface="Trebuchet MS"/>
                <a:cs typeface="Trebuchet MS"/>
              </a:rPr>
              <a:t>8</a:t>
            </a:r>
            <a:endParaRPr sz="2250" baseline="25925" dirty="0">
              <a:latin typeface="Trebuchet MS"/>
              <a:cs typeface="Trebuchet MS"/>
            </a:endParaRPr>
          </a:p>
          <a:p>
            <a:pPr marL="3784600">
              <a:lnSpc>
                <a:spcPts val="1455"/>
              </a:lnSpc>
            </a:pPr>
            <a:r>
              <a:rPr sz="1400" b="1" i="1" spc="-110" dirty="0">
                <a:solidFill>
                  <a:srgbClr val="FFFFFF"/>
                </a:solidFill>
                <a:latin typeface="Trebuchet MS"/>
                <a:cs typeface="Trebuchet MS"/>
              </a:rPr>
              <a:t>Exponent</a:t>
            </a:r>
            <a:endParaRPr sz="1400" dirty="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74419" y="1891283"/>
            <a:ext cx="1041400" cy="1009015"/>
            <a:chOff x="1074419" y="1891283"/>
            <a:chExt cx="1041400" cy="1009015"/>
          </a:xfrm>
        </p:grpSpPr>
        <p:sp>
          <p:nvSpPr>
            <p:cNvPr id="9" name="object 9"/>
            <p:cNvSpPr/>
            <p:nvPr/>
          </p:nvSpPr>
          <p:spPr>
            <a:xfrm>
              <a:off x="1587118" y="1891283"/>
              <a:ext cx="362585" cy="692785"/>
            </a:xfrm>
            <a:custGeom>
              <a:avLst/>
              <a:gdLst/>
              <a:ahLst/>
              <a:cxnLst/>
              <a:rect l="l" t="t" r="r" b="b"/>
              <a:pathLst>
                <a:path w="362585" h="692785">
                  <a:moveTo>
                    <a:pt x="292202" y="137435"/>
                  </a:moveTo>
                  <a:lnTo>
                    <a:pt x="246990" y="143894"/>
                  </a:lnTo>
                  <a:lnTo>
                    <a:pt x="0" y="659764"/>
                  </a:lnTo>
                  <a:lnTo>
                    <a:pt x="68833" y="692657"/>
                  </a:lnTo>
                  <a:lnTo>
                    <a:pt x="315712" y="176767"/>
                  </a:lnTo>
                  <a:lnTo>
                    <a:pt x="292431" y="137545"/>
                  </a:lnTo>
                  <a:lnTo>
                    <a:pt x="292202" y="137435"/>
                  </a:lnTo>
                  <a:close/>
                </a:path>
                <a:path w="362585" h="692785">
                  <a:moveTo>
                    <a:pt x="360462" y="137413"/>
                  </a:moveTo>
                  <a:lnTo>
                    <a:pt x="292354" y="137413"/>
                  </a:lnTo>
                  <a:lnTo>
                    <a:pt x="292431" y="137545"/>
                  </a:lnTo>
                  <a:lnTo>
                    <a:pt x="326644" y="153923"/>
                  </a:lnTo>
                  <a:lnTo>
                    <a:pt x="315712" y="176767"/>
                  </a:lnTo>
                  <a:lnTo>
                    <a:pt x="362457" y="255523"/>
                  </a:lnTo>
                  <a:lnTo>
                    <a:pt x="360462" y="137413"/>
                  </a:lnTo>
                  <a:close/>
                </a:path>
                <a:path w="362585" h="692785">
                  <a:moveTo>
                    <a:pt x="292431" y="137545"/>
                  </a:moveTo>
                  <a:lnTo>
                    <a:pt x="315712" y="176767"/>
                  </a:lnTo>
                  <a:lnTo>
                    <a:pt x="326644" y="153923"/>
                  </a:lnTo>
                  <a:lnTo>
                    <a:pt x="292431" y="137545"/>
                  </a:lnTo>
                  <a:close/>
                </a:path>
                <a:path w="362585" h="692785">
                  <a:moveTo>
                    <a:pt x="358139" y="0"/>
                  </a:moveTo>
                  <a:lnTo>
                    <a:pt x="156337" y="156844"/>
                  </a:lnTo>
                  <a:lnTo>
                    <a:pt x="246990" y="143894"/>
                  </a:lnTo>
                  <a:lnTo>
                    <a:pt x="257937" y="121030"/>
                  </a:lnTo>
                  <a:lnTo>
                    <a:pt x="360185" y="121030"/>
                  </a:lnTo>
                  <a:lnTo>
                    <a:pt x="358139" y="0"/>
                  </a:lnTo>
                  <a:close/>
                </a:path>
                <a:path w="362585" h="692785">
                  <a:moveTo>
                    <a:pt x="257937" y="121030"/>
                  </a:moveTo>
                  <a:lnTo>
                    <a:pt x="246990" y="143894"/>
                  </a:lnTo>
                  <a:lnTo>
                    <a:pt x="292202" y="137435"/>
                  </a:lnTo>
                  <a:lnTo>
                    <a:pt x="257937" y="121030"/>
                  </a:lnTo>
                  <a:close/>
                </a:path>
                <a:path w="362585" h="692785">
                  <a:moveTo>
                    <a:pt x="360185" y="121030"/>
                  </a:moveTo>
                  <a:lnTo>
                    <a:pt x="257937" y="121030"/>
                  </a:lnTo>
                  <a:lnTo>
                    <a:pt x="292202" y="137435"/>
                  </a:lnTo>
                  <a:lnTo>
                    <a:pt x="292354" y="137413"/>
                  </a:lnTo>
                  <a:lnTo>
                    <a:pt x="360462" y="137413"/>
                  </a:lnTo>
                  <a:lnTo>
                    <a:pt x="360185" y="121030"/>
                  </a:lnTo>
                  <a:close/>
                </a:path>
              </a:pathLst>
            </a:custGeom>
            <a:solidFill>
              <a:srgbClr val="0737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2039" y="2516123"/>
              <a:ext cx="1026160" cy="376555"/>
            </a:xfrm>
            <a:custGeom>
              <a:avLst/>
              <a:gdLst/>
              <a:ahLst/>
              <a:cxnLst/>
              <a:rect l="l" t="t" r="r" b="b"/>
              <a:pathLst>
                <a:path w="1026160" h="376555">
                  <a:moveTo>
                    <a:pt x="962914" y="0"/>
                  </a:moveTo>
                  <a:lnTo>
                    <a:pt x="62737" y="0"/>
                  </a:lnTo>
                  <a:lnTo>
                    <a:pt x="38319" y="4927"/>
                  </a:lnTo>
                  <a:lnTo>
                    <a:pt x="18376" y="18367"/>
                  </a:lnTo>
                  <a:lnTo>
                    <a:pt x="4930" y="38308"/>
                  </a:lnTo>
                  <a:lnTo>
                    <a:pt x="0" y="62737"/>
                  </a:lnTo>
                  <a:lnTo>
                    <a:pt x="0" y="313689"/>
                  </a:lnTo>
                  <a:lnTo>
                    <a:pt x="4930" y="338119"/>
                  </a:lnTo>
                  <a:lnTo>
                    <a:pt x="18376" y="358060"/>
                  </a:lnTo>
                  <a:lnTo>
                    <a:pt x="38319" y="371500"/>
                  </a:lnTo>
                  <a:lnTo>
                    <a:pt x="62737" y="376427"/>
                  </a:lnTo>
                  <a:lnTo>
                    <a:pt x="962914" y="376427"/>
                  </a:lnTo>
                  <a:lnTo>
                    <a:pt x="987343" y="371500"/>
                  </a:lnTo>
                  <a:lnTo>
                    <a:pt x="1007284" y="358060"/>
                  </a:lnTo>
                  <a:lnTo>
                    <a:pt x="1020724" y="338119"/>
                  </a:lnTo>
                  <a:lnTo>
                    <a:pt x="1025652" y="313689"/>
                  </a:lnTo>
                  <a:lnTo>
                    <a:pt x="1025652" y="62737"/>
                  </a:lnTo>
                  <a:lnTo>
                    <a:pt x="1020724" y="38308"/>
                  </a:lnTo>
                  <a:lnTo>
                    <a:pt x="1007284" y="18367"/>
                  </a:lnTo>
                  <a:lnTo>
                    <a:pt x="987343" y="4927"/>
                  </a:lnTo>
                  <a:lnTo>
                    <a:pt x="962914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82039" y="2516123"/>
              <a:ext cx="1026160" cy="376555"/>
            </a:xfrm>
            <a:custGeom>
              <a:avLst/>
              <a:gdLst/>
              <a:ahLst/>
              <a:cxnLst/>
              <a:rect l="l" t="t" r="r" b="b"/>
              <a:pathLst>
                <a:path w="1026160" h="376555">
                  <a:moveTo>
                    <a:pt x="0" y="62737"/>
                  </a:moveTo>
                  <a:lnTo>
                    <a:pt x="4930" y="38308"/>
                  </a:lnTo>
                  <a:lnTo>
                    <a:pt x="18376" y="18367"/>
                  </a:lnTo>
                  <a:lnTo>
                    <a:pt x="38319" y="4927"/>
                  </a:lnTo>
                  <a:lnTo>
                    <a:pt x="62737" y="0"/>
                  </a:lnTo>
                  <a:lnTo>
                    <a:pt x="962914" y="0"/>
                  </a:lnTo>
                  <a:lnTo>
                    <a:pt x="987343" y="4927"/>
                  </a:lnTo>
                  <a:lnTo>
                    <a:pt x="1007284" y="18367"/>
                  </a:lnTo>
                  <a:lnTo>
                    <a:pt x="1020724" y="38308"/>
                  </a:lnTo>
                  <a:lnTo>
                    <a:pt x="1025652" y="62737"/>
                  </a:lnTo>
                  <a:lnTo>
                    <a:pt x="1025652" y="313689"/>
                  </a:lnTo>
                  <a:lnTo>
                    <a:pt x="1020724" y="338119"/>
                  </a:lnTo>
                  <a:lnTo>
                    <a:pt x="1007284" y="358060"/>
                  </a:lnTo>
                  <a:lnTo>
                    <a:pt x="987343" y="371500"/>
                  </a:lnTo>
                  <a:lnTo>
                    <a:pt x="962914" y="376427"/>
                  </a:lnTo>
                  <a:lnTo>
                    <a:pt x="62737" y="376427"/>
                  </a:lnTo>
                  <a:lnTo>
                    <a:pt x="38319" y="371500"/>
                  </a:lnTo>
                  <a:lnTo>
                    <a:pt x="18376" y="358060"/>
                  </a:lnTo>
                  <a:lnTo>
                    <a:pt x="4930" y="338119"/>
                  </a:lnTo>
                  <a:lnTo>
                    <a:pt x="0" y="313689"/>
                  </a:lnTo>
                  <a:lnTo>
                    <a:pt x="0" y="62737"/>
                  </a:lnTo>
                  <a:close/>
                </a:path>
              </a:pathLst>
            </a:custGeom>
            <a:ln w="1524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542032" y="1654682"/>
            <a:ext cx="1521460" cy="1303655"/>
            <a:chOff x="2542032" y="1654682"/>
            <a:chExt cx="1521460" cy="1303655"/>
          </a:xfrm>
        </p:grpSpPr>
        <p:sp>
          <p:nvSpPr>
            <p:cNvPr id="13" name="object 13"/>
            <p:cNvSpPr/>
            <p:nvPr/>
          </p:nvSpPr>
          <p:spPr>
            <a:xfrm>
              <a:off x="2542032" y="1654682"/>
              <a:ext cx="1442085" cy="948055"/>
            </a:xfrm>
            <a:custGeom>
              <a:avLst/>
              <a:gdLst/>
              <a:ahLst/>
              <a:cxnLst/>
              <a:rect l="l" t="t" r="r" b="b"/>
              <a:pathLst>
                <a:path w="1442085" h="948055">
                  <a:moveTo>
                    <a:pt x="1021969" y="887222"/>
                  </a:moveTo>
                  <a:lnTo>
                    <a:pt x="164719" y="237439"/>
                  </a:lnTo>
                  <a:lnTo>
                    <a:pt x="208788" y="222123"/>
                  </a:lnTo>
                  <a:lnTo>
                    <a:pt x="251206" y="207391"/>
                  </a:lnTo>
                  <a:lnTo>
                    <a:pt x="0" y="160413"/>
                  </a:lnTo>
                  <a:lnTo>
                    <a:pt x="113157" y="389636"/>
                  </a:lnTo>
                  <a:lnTo>
                    <a:pt x="118656" y="298170"/>
                  </a:lnTo>
                  <a:lnTo>
                    <a:pt x="975995" y="947928"/>
                  </a:lnTo>
                  <a:lnTo>
                    <a:pt x="1021969" y="887222"/>
                  </a:lnTo>
                  <a:close/>
                </a:path>
                <a:path w="1442085" h="948055">
                  <a:moveTo>
                    <a:pt x="1441704" y="226822"/>
                  </a:moveTo>
                  <a:lnTo>
                    <a:pt x="483438" y="66814"/>
                  </a:lnTo>
                  <a:lnTo>
                    <a:pt x="487375" y="62611"/>
                  </a:lnTo>
                  <a:lnTo>
                    <a:pt x="546100" y="0"/>
                  </a:lnTo>
                  <a:lnTo>
                    <a:pt x="301752" y="75057"/>
                  </a:lnTo>
                  <a:lnTo>
                    <a:pt x="508381" y="225437"/>
                  </a:lnTo>
                  <a:lnTo>
                    <a:pt x="470890" y="141998"/>
                  </a:lnTo>
                  <a:lnTo>
                    <a:pt x="1429131" y="301879"/>
                  </a:lnTo>
                  <a:lnTo>
                    <a:pt x="1441704" y="226822"/>
                  </a:lnTo>
                  <a:close/>
                </a:path>
              </a:pathLst>
            </a:custGeom>
            <a:solidFill>
              <a:srgbClr val="0737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28188" y="2572511"/>
              <a:ext cx="1027430" cy="378460"/>
            </a:xfrm>
            <a:custGeom>
              <a:avLst/>
              <a:gdLst/>
              <a:ahLst/>
              <a:cxnLst/>
              <a:rect l="l" t="t" r="r" b="b"/>
              <a:pathLst>
                <a:path w="1027429" h="378460">
                  <a:moveTo>
                    <a:pt x="964184" y="0"/>
                  </a:moveTo>
                  <a:lnTo>
                    <a:pt x="62992" y="0"/>
                  </a:lnTo>
                  <a:lnTo>
                    <a:pt x="38469" y="4949"/>
                  </a:lnTo>
                  <a:lnTo>
                    <a:pt x="18446" y="18446"/>
                  </a:lnTo>
                  <a:lnTo>
                    <a:pt x="4949" y="38469"/>
                  </a:lnTo>
                  <a:lnTo>
                    <a:pt x="0" y="62992"/>
                  </a:lnTo>
                  <a:lnTo>
                    <a:pt x="0" y="314960"/>
                  </a:lnTo>
                  <a:lnTo>
                    <a:pt x="4949" y="339482"/>
                  </a:lnTo>
                  <a:lnTo>
                    <a:pt x="18446" y="359505"/>
                  </a:lnTo>
                  <a:lnTo>
                    <a:pt x="38469" y="373002"/>
                  </a:lnTo>
                  <a:lnTo>
                    <a:pt x="62992" y="377951"/>
                  </a:lnTo>
                  <a:lnTo>
                    <a:pt x="964184" y="377951"/>
                  </a:lnTo>
                  <a:lnTo>
                    <a:pt x="988706" y="373002"/>
                  </a:lnTo>
                  <a:lnTo>
                    <a:pt x="1008729" y="359505"/>
                  </a:lnTo>
                  <a:lnTo>
                    <a:pt x="1022226" y="339482"/>
                  </a:lnTo>
                  <a:lnTo>
                    <a:pt x="1027176" y="314960"/>
                  </a:lnTo>
                  <a:lnTo>
                    <a:pt x="1027176" y="62992"/>
                  </a:lnTo>
                  <a:lnTo>
                    <a:pt x="1022226" y="38469"/>
                  </a:lnTo>
                  <a:lnTo>
                    <a:pt x="1008729" y="18446"/>
                  </a:lnTo>
                  <a:lnTo>
                    <a:pt x="988706" y="4949"/>
                  </a:lnTo>
                  <a:lnTo>
                    <a:pt x="964184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28188" y="2572511"/>
              <a:ext cx="1027430" cy="378460"/>
            </a:xfrm>
            <a:custGeom>
              <a:avLst/>
              <a:gdLst/>
              <a:ahLst/>
              <a:cxnLst/>
              <a:rect l="l" t="t" r="r" b="b"/>
              <a:pathLst>
                <a:path w="1027429" h="378460">
                  <a:moveTo>
                    <a:pt x="0" y="62992"/>
                  </a:moveTo>
                  <a:lnTo>
                    <a:pt x="4949" y="38469"/>
                  </a:lnTo>
                  <a:lnTo>
                    <a:pt x="18446" y="18446"/>
                  </a:lnTo>
                  <a:lnTo>
                    <a:pt x="38469" y="4949"/>
                  </a:lnTo>
                  <a:lnTo>
                    <a:pt x="62992" y="0"/>
                  </a:lnTo>
                  <a:lnTo>
                    <a:pt x="964184" y="0"/>
                  </a:lnTo>
                  <a:lnTo>
                    <a:pt x="988706" y="4949"/>
                  </a:lnTo>
                  <a:lnTo>
                    <a:pt x="1008729" y="18446"/>
                  </a:lnTo>
                  <a:lnTo>
                    <a:pt x="1022226" y="38469"/>
                  </a:lnTo>
                  <a:lnTo>
                    <a:pt x="1027176" y="62992"/>
                  </a:lnTo>
                  <a:lnTo>
                    <a:pt x="1027176" y="314960"/>
                  </a:lnTo>
                  <a:lnTo>
                    <a:pt x="1022226" y="339482"/>
                  </a:lnTo>
                  <a:lnTo>
                    <a:pt x="1008729" y="359505"/>
                  </a:lnTo>
                  <a:lnTo>
                    <a:pt x="988706" y="373002"/>
                  </a:lnTo>
                  <a:lnTo>
                    <a:pt x="964184" y="377951"/>
                  </a:lnTo>
                  <a:lnTo>
                    <a:pt x="62992" y="377951"/>
                  </a:lnTo>
                  <a:lnTo>
                    <a:pt x="38469" y="373002"/>
                  </a:lnTo>
                  <a:lnTo>
                    <a:pt x="18446" y="359505"/>
                  </a:lnTo>
                  <a:lnTo>
                    <a:pt x="4949" y="339482"/>
                  </a:lnTo>
                  <a:lnTo>
                    <a:pt x="0" y="314960"/>
                  </a:lnTo>
                  <a:lnTo>
                    <a:pt x="0" y="62992"/>
                  </a:lnTo>
                  <a:close/>
                </a:path>
              </a:pathLst>
            </a:custGeom>
            <a:ln w="1524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56487" y="2576830"/>
            <a:ext cx="677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75" dirty="0">
                <a:solidFill>
                  <a:srgbClr val="FFFFFF"/>
                </a:solidFill>
                <a:latin typeface="Trebuchet MS"/>
                <a:cs typeface="Trebuchet MS"/>
              </a:rPr>
              <a:t>Ma</a:t>
            </a:r>
            <a:r>
              <a:rPr sz="14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400" b="1" i="1" spc="-10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4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400" b="1" i="1" spc="-11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57117" y="2633294"/>
            <a:ext cx="369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i="1" spc="-40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1400" b="1" i="1" spc="-12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b="1" i="1" spc="-10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400" b="1" i="1" spc="-12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25552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IEEE</a:t>
            </a:r>
            <a:r>
              <a:rPr spc="-180" dirty="0"/>
              <a:t> </a:t>
            </a:r>
            <a:r>
              <a:rPr spc="30" dirty="0"/>
              <a:t>standard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23722"/>
            <a:ext cx="7553959" cy="223456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-70" dirty="0">
                <a:latin typeface="Trebuchet MS"/>
                <a:cs typeface="Trebuchet MS"/>
              </a:rPr>
              <a:t>There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IEEE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standard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that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defines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structure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b="1" spc="-40" dirty="0">
                <a:latin typeface="Trebuchet MS"/>
                <a:cs typeface="Trebuchet MS"/>
              </a:rPr>
              <a:t>of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15" dirty="0">
                <a:latin typeface="Trebuchet MS"/>
                <a:cs typeface="Trebuchet MS"/>
              </a:rPr>
              <a:t>a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floating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point</a:t>
            </a:r>
            <a:r>
              <a:rPr sz="1800" b="1" spc="-165" dirty="0">
                <a:latin typeface="Trebuchet MS"/>
                <a:cs typeface="Trebuchet MS"/>
              </a:rPr>
              <a:t> </a:t>
            </a:r>
            <a:r>
              <a:rPr sz="1800" b="1" spc="-45" dirty="0">
                <a:latin typeface="Trebuchet MS"/>
                <a:cs typeface="Trebuchet MS"/>
              </a:rPr>
              <a:t>number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25" dirty="0">
                <a:latin typeface="Trebuchet MS"/>
                <a:cs typeface="Trebuchet MS"/>
              </a:rPr>
              <a:t>IEEE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Standard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for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Floating-Point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Arithmetic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(IEEE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754-2008)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 dirty="0">
              <a:latin typeface="Trebuchet MS"/>
              <a:cs typeface="Trebuchet MS"/>
            </a:endParaRPr>
          </a:p>
          <a:p>
            <a:pPr marL="926465" marR="2983230" indent="-914400">
              <a:lnSpc>
                <a:spcPct val="114999"/>
              </a:lnSpc>
            </a:pPr>
            <a:r>
              <a:rPr sz="1800" spc="-75" dirty="0">
                <a:latin typeface="Trebuchet MS"/>
                <a:cs typeface="Trebuchet MS"/>
              </a:rPr>
              <a:t>It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defines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4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main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sizes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floating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point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numbers  </a:t>
            </a:r>
            <a:r>
              <a:rPr sz="1800" spc="-105" dirty="0">
                <a:latin typeface="Trebuchet MS"/>
                <a:cs typeface="Trebuchet MS"/>
              </a:rPr>
              <a:t>16,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32,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64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and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128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bit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30" dirty="0">
                <a:latin typeface="Trebuchet MS"/>
                <a:cs typeface="Trebuchet MS"/>
              </a:rPr>
              <a:t>Sometimes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referred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as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Half,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Single,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Double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and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Quadruple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precision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54597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A </a:t>
            </a:r>
            <a:r>
              <a:rPr spc="10" dirty="0"/>
              <a:t>32 </a:t>
            </a:r>
            <a:r>
              <a:rPr spc="50" dirty="0"/>
              <a:t>bit floating </a:t>
            </a:r>
            <a:r>
              <a:rPr spc="20" dirty="0"/>
              <a:t>point</a:t>
            </a:r>
            <a:r>
              <a:rPr spc="-600" dirty="0"/>
              <a:t> </a:t>
            </a:r>
            <a:r>
              <a:rPr spc="50" dirty="0"/>
              <a:t>number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963928"/>
            <a:ext cx="2296795" cy="21234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95" dirty="0">
                <a:latin typeface="Trebuchet MS"/>
                <a:cs typeface="Trebuchet MS"/>
              </a:rPr>
              <a:t>S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sign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bit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spc="-50" dirty="0">
                <a:latin typeface="Trebuchet MS"/>
                <a:cs typeface="Trebuchet MS"/>
              </a:rPr>
              <a:t>0 =</a:t>
            </a:r>
            <a:r>
              <a:rPr sz="1800" spc="-33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positive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spc="-50" dirty="0">
                <a:latin typeface="Trebuchet MS"/>
                <a:cs typeface="Trebuchet MS"/>
              </a:rPr>
              <a:t>1 =</a:t>
            </a:r>
            <a:r>
              <a:rPr sz="1800" spc="-34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negative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64"/>
              </a:spcBef>
            </a:pPr>
            <a:r>
              <a:rPr sz="1800" spc="-50" dirty="0">
                <a:latin typeface="Trebuchet MS"/>
                <a:cs typeface="Trebuchet MS"/>
              </a:rPr>
              <a:t>23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bits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for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b="1" spc="-15" dirty="0">
                <a:latin typeface="Trebuchet MS"/>
                <a:cs typeface="Trebuchet MS"/>
              </a:rPr>
              <a:t>mantissa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50" dirty="0">
                <a:latin typeface="Trebuchet MS"/>
                <a:cs typeface="Trebuchet MS"/>
              </a:rPr>
              <a:t>8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bits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for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exponent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67486" y="848613"/>
          <a:ext cx="7861299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0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Sign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Mantissa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1bit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8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bits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23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bits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43834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Lets </a:t>
            </a:r>
            <a:r>
              <a:rPr spc="20" dirty="0"/>
              <a:t>look </a:t>
            </a:r>
            <a:r>
              <a:rPr spc="100" dirty="0"/>
              <a:t>at</a:t>
            </a:r>
            <a:r>
              <a:rPr spc="-545" dirty="0"/>
              <a:t> </a:t>
            </a:r>
            <a:r>
              <a:rPr spc="15" dirty="0"/>
              <a:t>an </a:t>
            </a:r>
            <a:r>
              <a:rPr spc="7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050" y="823722"/>
            <a:ext cx="7223759" cy="28657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420"/>
              </a:spcBef>
            </a:pPr>
            <a:r>
              <a:rPr sz="1800" spc="-105" dirty="0">
                <a:latin typeface="Trebuchet MS"/>
                <a:cs typeface="Trebuchet MS"/>
              </a:rPr>
              <a:t>We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want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format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number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in</a:t>
            </a:r>
            <a:endParaRPr sz="1800" dirty="0">
              <a:latin typeface="Trebuchet MS"/>
              <a:cs typeface="Trebuchet MS"/>
            </a:endParaRPr>
          </a:p>
          <a:p>
            <a:pPr marL="989965">
              <a:lnSpc>
                <a:spcPct val="100000"/>
              </a:lnSpc>
              <a:spcBef>
                <a:spcPts val="325"/>
              </a:spcBef>
            </a:pPr>
            <a:r>
              <a:rPr sz="1800" b="1" spc="-5" dirty="0">
                <a:latin typeface="Trebuchet MS"/>
                <a:cs typeface="Trebuchet MS"/>
              </a:rPr>
              <a:t>m </a:t>
            </a:r>
            <a:r>
              <a:rPr sz="1800" b="1" spc="-70" dirty="0">
                <a:latin typeface="Trebuchet MS"/>
                <a:cs typeface="Trebuchet MS"/>
              </a:rPr>
              <a:t>x</a:t>
            </a:r>
            <a:r>
              <a:rPr sz="1800" b="1" spc="-370" dirty="0">
                <a:latin typeface="Trebuchet MS"/>
                <a:cs typeface="Trebuchet MS"/>
              </a:rPr>
              <a:t> </a:t>
            </a:r>
            <a:r>
              <a:rPr sz="1800" b="1" spc="-40" dirty="0">
                <a:latin typeface="Trebuchet MS"/>
                <a:cs typeface="Trebuchet MS"/>
              </a:rPr>
              <a:t>b</a:t>
            </a:r>
            <a:r>
              <a:rPr sz="1800" b="1" spc="-60" baseline="25462" dirty="0">
                <a:latin typeface="Trebuchet MS"/>
                <a:cs typeface="Trebuchet MS"/>
              </a:rPr>
              <a:t>e</a:t>
            </a:r>
            <a:endParaRPr sz="1800" baseline="25462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 dirty="0">
              <a:latin typeface="Trebuchet MS"/>
              <a:cs typeface="Trebuchet MS"/>
            </a:endParaRPr>
          </a:p>
          <a:p>
            <a:pPr marL="76200">
              <a:lnSpc>
                <a:spcPct val="100000"/>
              </a:lnSpc>
            </a:pPr>
            <a:r>
              <a:rPr sz="1800" spc="-105" dirty="0">
                <a:latin typeface="Trebuchet MS"/>
                <a:cs typeface="Trebuchet MS"/>
              </a:rPr>
              <a:t>We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want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mantissa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single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decimal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digit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762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Example</a:t>
            </a:r>
            <a:endParaRPr sz="1800" dirty="0">
              <a:latin typeface="Trebuchet MS"/>
              <a:cs typeface="Trebuchet MS"/>
            </a:endParaRPr>
          </a:p>
          <a:p>
            <a:pPr marL="989965">
              <a:lnSpc>
                <a:spcPct val="100000"/>
              </a:lnSpc>
              <a:spcBef>
                <a:spcPts val="325"/>
              </a:spcBef>
            </a:pPr>
            <a:r>
              <a:rPr sz="1800" spc="-75" dirty="0">
                <a:latin typeface="Trebuchet MS"/>
                <a:cs typeface="Trebuchet MS"/>
              </a:rPr>
              <a:t>3450.00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3.45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x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10</a:t>
            </a:r>
            <a:r>
              <a:rPr sz="1800" spc="-60" baseline="25462" dirty="0">
                <a:latin typeface="Trebuchet MS"/>
                <a:cs typeface="Trebuchet MS"/>
              </a:rPr>
              <a:t>3</a:t>
            </a:r>
            <a:endParaRPr sz="1800" baseline="25462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exponent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3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as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decimal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place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has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been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moved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3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places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left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32423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Decimal</a:t>
            </a:r>
            <a:r>
              <a:rPr spc="-180" dirty="0"/>
              <a:t> </a:t>
            </a:r>
            <a:r>
              <a:rPr spc="5" dirty="0"/>
              <a:t>fractions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64870"/>
            <a:ext cx="5947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First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will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look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at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how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decimal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made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up: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173.75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5573" y="1406905"/>
          <a:ext cx="6990077" cy="1338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3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1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Hundreds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R="3238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Tens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Units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320675" marR="166370" indent="-129539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Decimal 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place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504825" marR="130810" indent="-3308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th 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Hundredths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7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3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.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7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5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5573" y="3018154"/>
          <a:ext cx="6985633" cy="111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9279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950" b="1" spc="7" baseline="2564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950" baseline="25641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950" b="1" spc="7" baseline="2564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950" baseline="25641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950" b="1" spc="7" baseline="2564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950" baseline="25641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424815" marR="288925" indent="-1143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ecimal  place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R="73025" algn="ctr">
                        <a:lnSpc>
                          <a:spcPts val="2120"/>
                        </a:lnSpc>
                      </a:pPr>
                      <a:r>
                        <a:rPr sz="3000" b="1" spc="7" baseline="-16666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3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2120"/>
                        </a:lnSpc>
                      </a:pPr>
                      <a:r>
                        <a:rPr sz="3000" b="1" spc="7" baseline="-16666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3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16">
                <a:tc>
                  <a:txBody>
                    <a:bodyPr/>
                    <a:lstStyle/>
                    <a:p>
                      <a:pPr marL="704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7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3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.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7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5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28575">
                      <a:solidFill>
                        <a:srgbClr val="073762"/>
                      </a:solidFill>
                      <a:prstDash val="solid"/>
                    </a:lnT>
                    <a:lnB w="28575">
                      <a:solidFill>
                        <a:srgbClr val="073762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28975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Binary</a:t>
            </a:r>
            <a:r>
              <a:rPr spc="-165" dirty="0"/>
              <a:t> </a:t>
            </a:r>
            <a:r>
              <a:rPr spc="5" dirty="0"/>
              <a:t>fractions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64870"/>
            <a:ext cx="6870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Then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look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at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how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same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could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stored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in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binary: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1010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1101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2086206"/>
            <a:ext cx="6706234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-35" dirty="0">
                <a:latin typeface="Trebuchet MS"/>
                <a:cs typeface="Trebuchet MS"/>
              </a:rPr>
              <a:t>This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constructed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as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shown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above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(in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fixed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point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notation).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50" dirty="0">
                <a:latin typeface="Trebuchet MS"/>
                <a:cs typeface="Trebuchet MS"/>
              </a:rPr>
              <a:t>These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values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come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from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5205" y="1197228"/>
          <a:ext cx="7635873" cy="8149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83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64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55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96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0.25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3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R="23558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11111" y="3020314"/>
          <a:ext cx="7635873" cy="867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83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64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55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20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spc="-7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250" b="1" spc="-7" baseline="-203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34448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A </a:t>
            </a:r>
            <a:r>
              <a:rPr spc="65" dirty="0"/>
              <a:t>worked</a:t>
            </a:r>
            <a:r>
              <a:rPr spc="-140" dirty="0"/>
              <a:t> </a:t>
            </a:r>
            <a:r>
              <a:rPr spc="7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23722"/>
            <a:ext cx="8326755" cy="275399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-20" dirty="0">
                <a:latin typeface="Trebuchet MS"/>
                <a:cs typeface="Trebuchet MS"/>
              </a:rPr>
              <a:t>In </a:t>
            </a:r>
            <a:r>
              <a:rPr sz="1800" spc="-55" dirty="0">
                <a:latin typeface="Trebuchet MS"/>
                <a:cs typeface="Trebuchet MS"/>
              </a:rPr>
              <a:t>decimal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first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spc="-70" dirty="0">
                <a:latin typeface="Trebuchet MS"/>
                <a:cs typeface="Trebuchet MS"/>
              </a:rPr>
              <a:t>250.03125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64"/>
              </a:spcBef>
            </a:pPr>
            <a:r>
              <a:rPr sz="1800" spc="-60" dirty="0">
                <a:latin typeface="Trebuchet MS"/>
                <a:cs typeface="Trebuchet MS"/>
              </a:rPr>
              <a:t>First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convert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b="1" spc="-45" dirty="0">
                <a:latin typeface="Trebuchet MS"/>
                <a:cs typeface="Trebuchet MS"/>
              </a:rPr>
              <a:t>integer</a:t>
            </a:r>
            <a:r>
              <a:rPr sz="1800" b="1" spc="-16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part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b="1" spc="-15" dirty="0">
                <a:latin typeface="Trebuchet MS"/>
                <a:cs typeface="Trebuchet MS"/>
              </a:rPr>
              <a:t>mantissa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into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binary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(as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have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done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previously)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spc="-50" dirty="0">
                <a:latin typeface="Trebuchet MS"/>
                <a:cs typeface="Trebuchet MS"/>
              </a:rPr>
              <a:t>250 =</a:t>
            </a:r>
            <a:r>
              <a:rPr sz="1800" spc="-38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1111 1010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Now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convert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b="1" spc="-40" dirty="0">
                <a:latin typeface="Trebuchet MS"/>
                <a:cs typeface="Trebuchet MS"/>
              </a:rPr>
              <a:t>decimal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b="1" spc="-35" dirty="0">
                <a:latin typeface="Trebuchet MS"/>
                <a:cs typeface="Trebuchet MS"/>
              </a:rPr>
              <a:t>portion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mantissa</a:t>
            </a:r>
            <a:endParaRPr sz="1800">
              <a:latin typeface="Trebuchet MS"/>
              <a:cs typeface="Trebuchet MS"/>
            </a:endParaRPr>
          </a:p>
          <a:p>
            <a:pPr marL="972185">
              <a:lnSpc>
                <a:spcPct val="100000"/>
              </a:lnSpc>
              <a:spcBef>
                <a:spcPts val="325"/>
              </a:spcBef>
            </a:pPr>
            <a:r>
              <a:rPr sz="1800" spc="-75" dirty="0">
                <a:latin typeface="Trebuchet MS"/>
                <a:cs typeface="Trebuchet MS"/>
              </a:rPr>
              <a:t>.03125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2769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Example</a:t>
            </a:r>
            <a:r>
              <a:rPr spc="-204" dirty="0"/>
              <a:t> </a:t>
            </a:r>
            <a:r>
              <a:rPr dirty="0"/>
              <a:t>(cont)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23722"/>
            <a:ext cx="8216265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b="1" spc="-40" dirty="0">
                <a:latin typeface="Trebuchet MS"/>
                <a:cs typeface="Trebuchet MS"/>
              </a:rPr>
              <a:t>Decimal</a:t>
            </a:r>
            <a:r>
              <a:rPr sz="1800" b="1" spc="-190" dirty="0">
                <a:latin typeface="Trebuchet MS"/>
                <a:cs typeface="Trebuchet MS"/>
              </a:rPr>
              <a:t> </a:t>
            </a:r>
            <a:r>
              <a:rPr sz="1800" b="1" spc="-45" dirty="0">
                <a:latin typeface="Trebuchet MS"/>
                <a:cs typeface="Trebuchet MS"/>
              </a:rPr>
              <a:t>fraction</a:t>
            </a:r>
            <a:r>
              <a:rPr sz="1800" b="1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=&gt;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.03125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2490"/>
              </a:lnSpc>
              <a:spcBef>
                <a:spcPts val="135"/>
              </a:spcBef>
            </a:pPr>
            <a:r>
              <a:rPr sz="1800" spc="-45" dirty="0">
                <a:latin typeface="Trebuchet MS"/>
                <a:cs typeface="Trebuchet MS"/>
              </a:rPr>
              <a:t>Multiply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and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use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any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remainder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over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1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as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carry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forward.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Continue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until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reach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1.0  </a:t>
            </a:r>
            <a:r>
              <a:rPr sz="1800" b="1" spc="-35" dirty="0">
                <a:latin typeface="Trebuchet MS"/>
                <a:cs typeface="Trebuchet MS"/>
              </a:rPr>
              <a:t>with</a:t>
            </a:r>
            <a:r>
              <a:rPr sz="1800" b="1" spc="-180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no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b="1" spc="-45" dirty="0">
                <a:latin typeface="Trebuchet MS"/>
                <a:cs typeface="Trebuchet MS"/>
              </a:rPr>
              <a:t>carry</a:t>
            </a:r>
            <a:r>
              <a:rPr sz="1800" b="1" spc="-20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over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1974955"/>
            <a:ext cx="1229360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-75" dirty="0">
                <a:latin typeface="Trebuchet MS"/>
                <a:cs typeface="Trebuchet MS"/>
              </a:rPr>
              <a:t>0.03125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90" dirty="0">
                <a:latin typeface="Trebuchet MS"/>
                <a:cs typeface="Trebuchet MS"/>
              </a:rPr>
              <a:t>*</a:t>
            </a:r>
            <a:r>
              <a:rPr sz="1800" spc="-2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2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75" dirty="0">
                <a:latin typeface="Trebuchet MS"/>
                <a:cs typeface="Trebuchet MS"/>
              </a:rPr>
              <a:t>0.0625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90" dirty="0">
                <a:latin typeface="Trebuchet MS"/>
                <a:cs typeface="Trebuchet MS"/>
              </a:rPr>
              <a:t>*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2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endParaRPr sz="1800">
              <a:latin typeface="Trebuchet MS"/>
              <a:cs typeface="Trebuchet MS"/>
            </a:endParaRPr>
          </a:p>
          <a:p>
            <a:pPr marL="12700" marR="233045">
              <a:lnSpc>
                <a:spcPct val="114999"/>
              </a:lnSpc>
            </a:pPr>
            <a:r>
              <a:rPr sz="1800" spc="-85" dirty="0">
                <a:latin typeface="Trebuchet MS"/>
                <a:cs typeface="Trebuchet MS"/>
              </a:rPr>
              <a:t>0.125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90" dirty="0">
                <a:latin typeface="Trebuchet MS"/>
                <a:cs typeface="Trebuchet MS"/>
              </a:rPr>
              <a:t>*</a:t>
            </a:r>
            <a:r>
              <a:rPr sz="1800" spc="-2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2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  </a:t>
            </a:r>
            <a:r>
              <a:rPr sz="1800" spc="-90" dirty="0">
                <a:latin typeface="Trebuchet MS"/>
                <a:cs typeface="Trebuchet MS"/>
              </a:rPr>
              <a:t>0.25 </a:t>
            </a:r>
            <a:r>
              <a:rPr sz="1800" spc="90" dirty="0">
                <a:latin typeface="Trebuchet MS"/>
                <a:cs typeface="Trebuchet MS"/>
              </a:rPr>
              <a:t>* </a:t>
            </a:r>
            <a:r>
              <a:rPr sz="1800" spc="-50" dirty="0">
                <a:latin typeface="Trebuchet MS"/>
                <a:cs typeface="Trebuchet MS"/>
              </a:rPr>
              <a:t>2 =  </a:t>
            </a:r>
            <a:r>
              <a:rPr sz="1800" spc="-105" dirty="0">
                <a:latin typeface="Trebuchet MS"/>
                <a:cs typeface="Trebuchet MS"/>
              </a:rPr>
              <a:t>0.5 </a:t>
            </a:r>
            <a:r>
              <a:rPr sz="1800" spc="90" dirty="0">
                <a:latin typeface="Trebuchet MS"/>
                <a:cs typeface="Trebuchet MS"/>
              </a:rPr>
              <a:t>*</a:t>
            </a:r>
            <a:r>
              <a:rPr sz="1800" spc="-4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2 =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9705" y="1974955"/>
            <a:ext cx="944880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b="1" spc="-105" dirty="0">
                <a:latin typeface="Trebuchet MS"/>
                <a:cs typeface="Trebuchet MS"/>
              </a:rPr>
              <a:t>0 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34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0.0625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spc="-105" dirty="0">
                <a:latin typeface="Trebuchet MS"/>
                <a:cs typeface="Trebuchet MS"/>
              </a:rPr>
              <a:t>0 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30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0.125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spc="-105" dirty="0">
                <a:latin typeface="Trebuchet MS"/>
                <a:cs typeface="Trebuchet MS"/>
              </a:rPr>
              <a:t>0 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28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0.25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spc="-105" dirty="0">
                <a:latin typeface="Trebuchet MS"/>
                <a:cs typeface="Trebuchet MS"/>
              </a:rPr>
              <a:t>0 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27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0.5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spc="-105" dirty="0">
                <a:latin typeface="Trebuchet MS"/>
                <a:cs typeface="Trebuchet MS"/>
              </a:rPr>
              <a:t>1 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550" y="4111853"/>
            <a:ext cx="243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Trebuchet MS"/>
                <a:cs typeface="Trebuchet MS"/>
              </a:rPr>
              <a:t>Binary</a:t>
            </a:r>
            <a:r>
              <a:rPr sz="1800" spc="-44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fraction </a:t>
            </a:r>
            <a:r>
              <a:rPr sz="1800" spc="-50" dirty="0">
                <a:latin typeface="Trebuchet MS"/>
                <a:cs typeface="Trebuchet MS"/>
              </a:rPr>
              <a:t>= </a:t>
            </a:r>
            <a:r>
              <a:rPr sz="1800" b="1" spc="-110" dirty="0">
                <a:latin typeface="Trebuchet MS"/>
                <a:cs typeface="Trebuchet MS"/>
              </a:rPr>
              <a:t>0.00001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0115" y="3427476"/>
            <a:ext cx="2536190" cy="664845"/>
            <a:chOff x="5500115" y="3427476"/>
            <a:chExt cx="2536190" cy="664845"/>
          </a:xfrm>
        </p:grpSpPr>
        <p:sp>
          <p:nvSpPr>
            <p:cNvPr id="8" name="object 8"/>
            <p:cNvSpPr/>
            <p:nvPr/>
          </p:nvSpPr>
          <p:spPr>
            <a:xfrm>
              <a:off x="5507735" y="3435096"/>
              <a:ext cx="2520950" cy="649605"/>
            </a:xfrm>
            <a:custGeom>
              <a:avLst/>
              <a:gdLst/>
              <a:ahLst/>
              <a:cxnLst/>
              <a:rect l="l" t="t" r="r" b="b"/>
              <a:pathLst>
                <a:path w="2520950" h="649604">
                  <a:moveTo>
                    <a:pt x="2412491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108203" y="649223"/>
                  </a:lnTo>
                  <a:lnTo>
                    <a:pt x="2520695" y="649223"/>
                  </a:lnTo>
                  <a:lnTo>
                    <a:pt x="2520695" y="108203"/>
                  </a:lnTo>
                  <a:lnTo>
                    <a:pt x="2412491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07735" y="3435096"/>
              <a:ext cx="2520950" cy="649605"/>
            </a:xfrm>
            <a:custGeom>
              <a:avLst/>
              <a:gdLst/>
              <a:ahLst/>
              <a:cxnLst/>
              <a:rect l="l" t="t" r="r" b="b"/>
              <a:pathLst>
                <a:path w="2520950" h="649604">
                  <a:moveTo>
                    <a:pt x="0" y="0"/>
                  </a:moveTo>
                  <a:lnTo>
                    <a:pt x="2412491" y="0"/>
                  </a:lnTo>
                  <a:lnTo>
                    <a:pt x="2520695" y="108203"/>
                  </a:lnTo>
                  <a:lnTo>
                    <a:pt x="2520695" y="649223"/>
                  </a:lnTo>
                  <a:lnTo>
                    <a:pt x="108203" y="649223"/>
                  </a:lnTo>
                  <a:lnTo>
                    <a:pt x="0" y="54101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1B5F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58383" y="3598926"/>
            <a:ext cx="182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25" dirty="0">
                <a:solidFill>
                  <a:srgbClr val="FFFFFF"/>
                </a:solidFill>
                <a:latin typeface="Verdana"/>
                <a:cs typeface="Verdana"/>
              </a:rPr>
              <a:t>Read </a:t>
            </a:r>
            <a:r>
              <a:rPr sz="1800" i="1" spc="-185" dirty="0">
                <a:solidFill>
                  <a:srgbClr val="FFFFFF"/>
                </a:solidFill>
                <a:latin typeface="Verdana"/>
                <a:cs typeface="Verdana"/>
              </a:rPr>
              <a:t>top </a:t>
            </a:r>
            <a:r>
              <a:rPr sz="1800" i="1" spc="-17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i="1" spc="-210" dirty="0">
                <a:solidFill>
                  <a:srgbClr val="FFFFFF"/>
                </a:solidFill>
                <a:latin typeface="Verdana"/>
                <a:cs typeface="Verdana"/>
              </a:rPr>
              <a:t>bottom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90132" y="2293620"/>
            <a:ext cx="771525" cy="1149350"/>
            <a:chOff x="6390132" y="2293620"/>
            <a:chExt cx="771525" cy="1149350"/>
          </a:xfrm>
        </p:grpSpPr>
        <p:sp>
          <p:nvSpPr>
            <p:cNvPr id="12" name="object 12"/>
            <p:cNvSpPr/>
            <p:nvPr/>
          </p:nvSpPr>
          <p:spPr>
            <a:xfrm>
              <a:off x="6397752" y="2301240"/>
              <a:ext cx="756285" cy="1134110"/>
            </a:xfrm>
            <a:custGeom>
              <a:avLst/>
              <a:gdLst/>
              <a:ahLst/>
              <a:cxnLst/>
              <a:rect l="l" t="t" r="r" b="b"/>
              <a:pathLst>
                <a:path w="756284" h="1134110">
                  <a:moveTo>
                    <a:pt x="566927" y="0"/>
                  </a:moveTo>
                  <a:lnTo>
                    <a:pt x="188975" y="0"/>
                  </a:lnTo>
                  <a:lnTo>
                    <a:pt x="188975" y="755904"/>
                  </a:lnTo>
                  <a:lnTo>
                    <a:pt x="0" y="755904"/>
                  </a:lnTo>
                  <a:lnTo>
                    <a:pt x="377951" y="1133856"/>
                  </a:lnTo>
                  <a:lnTo>
                    <a:pt x="755903" y="755904"/>
                  </a:lnTo>
                  <a:lnTo>
                    <a:pt x="566927" y="755904"/>
                  </a:lnTo>
                  <a:lnTo>
                    <a:pt x="566927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7752" y="2301240"/>
              <a:ext cx="756285" cy="1134110"/>
            </a:xfrm>
            <a:custGeom>
              <a:avLst/>
              <a:gdLst/>
              <a:ahLst/>
              <a:cxnLst/>
              <a:rect l="l" t="t" r="r" b="b"/>
              <a:pathLst>
                <a:path w="756284" h="1134110">
                  <a:moveTo>
                    <a:pt x="0" y="755904"/>
                  </a:moveTo>
                  <a:lnTo>
                    <a:pt x="188975" y="755904"/>
                  </a:lnTo>
                  <a:lnTo>
                    <a:pt x="188975" y="0"/>
                  </a:lnTo>
                  <a:lnTo>
                    <a:pt x="566927" y="0"/>
                  </a:lnTo>
                  <a:lnTo>
                    <a:pt x="566927" y="755904"/>
                  </a:lnTo>
                  <a:lnTo>
                    <a:pt x="755903" y="755904"/>
                  </a:lnTo>
                  <a:lnTo>
                    <a:pt x="377951" y="1133856"/>
                  </a:lnTo>
                  <a:lnTo>
                    <a:pt x="0" y="755904"/>
                  </a:lnTo>
                  <a:close/>
                </a:path>
              </a:pathLst>
            </a:custGeom>
            <a:ln w="15240">
              <a:solidFill>
                <a:srgbClr val="1B5F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10896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So</a:t>
            </a:r>
            <a:r>
              <a:rPr spc="-190" dirty="0"/>
              <a:t> </a:t>
            </a:r>
            <a:r>
              <a:rPr spc="50" dirty="0"/>
              <a:t>far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23722"/>
            <a:ext cx="8046720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50" dirty="0">
                <a:latin typeface="Trebuchet MS"/>
                <a:cs typeface="Trebuchet MS"/>
              </a:rPr>
              <a:t>So </a:t>
            </a:r>
            <a:r>
              <a:rPr sz="1800" spc="-85" dirty="0">
                <a:latin typeface="Trebuchet MS"/>
                <a:cs typeface="Trebuchet MS"/>
              </a:rPr>
              <a:t>far </a:t>
            </a:r>
            <a:r>
              <a:rPr sz="1800" spc="-70" dirty="0">
                <a:latin typeface="Trebuchet MS"/>
                <a:cs typeface="Trebuchet MS"/>
              </a:rPr>
              <a:t>we</a:t>
            </a:r>
            <a:r>
              <a:rPr sz="1800" spc="-409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have </a:t>
            </a:r>
            <a:r>
              <a:rPr sz="1800" spc="-215" dirty="0">
                <a:latin typeface="Trebuchet MS"/>
                <a:cs typeface="Trebuchet MS"/>
              </a:rPr>
              <a:t>: </a:t>
            </a:r>
            <a:r>
              <a:rPr sz="1800" b="1" spc="-110" dirty="0">
                <a:latin typeface="Trebuchet MS"/>
                <a:cs typeface="Trebuchet MS"/>
              </a:rPr>
              <a:t>1111 1010.00001 </a:t>
            </a:r>
            <a:r>
              <a:rPr sz="1800" spc="-75" dirty="0">
                <a:latin typeface="Trebuchet MS"/>
                <a:cs typeface="Trebuchet MS"/>
              </a:rPr>
              <a:t>(250.03125)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25" dirty="0">
                <a:latin typeface="Trebuchet MS"/>
                <a:cs typeface="Trebuchet MS"/>
              </a:rPr>
              <a:t>But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need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it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in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format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215" dirty="0">
                <a:latin typeface="Trebuchet MS"/>
                <a:cs typeface="Trebuchet MS"/>
              </a:rPr>
              <a:t>: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.11111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0100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0001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(the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decimal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point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left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1)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3704945"/>
            <a:ext cx="2588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Trebuchet MS"/>
                <a:cs typeface="Trebuchet MS"/>
              </a:rPr>
              <a:t>So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exponent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8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(1000)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19911" y="2473451"/>
            <a:ext cx="2824480" cy="287020"/>
            <a:chOff x="819911" y="2473451"/>
            <a:chExt cx="2824480" cy="287020"/>
          </a:xfrm>
        </p:grpSpPr>
        <p:sp>
          <p:nvSpPr>
            <p:cNvPr id="6" name="object 6"/>
            <p:cNvSpPr/>
            <p:nvPr/>
          </p:nvSpPr>
          <p:spPr>
            <a:xfrm>
              <a:off x="827531" y="2481071"/>
              <a:ext cx="2809240" cy="271780"/>
            </a:xfrm>
            <a:custGeom>
              <a:avLst/>
              <a:gdLst/>
              <a:ahLst/>
              <a:cxnLst/>
              <a:rect l="l" t="t" r="r" b="b"/>
              <a:pathLst>
                <a:path w="2809240" h="271780">
                  <a:moveTo>
                    <a:pt x="135636" y="0"/>
                  </a:moveTo>
                  <a:lnTo>
                    <a:pt x="0" y="135635"/>
                  </a:lnTo>
                  <a:lnTo>
                    <a:pt x="135636" y="271271"/>
                  </a:lnTo>
                  <a:lnTo>
                    <a:pt x="135636" y="203453"/>
                  </a:lnTo>
                  <a:lnTo>
                    <a:pt x="2808732" y="203453"/>
                  </a:lnTo>
                  <a:lnTo>
                    <a:pt x="2808732" y="67817"/>
                  </a:lnTo>
                  <a:lnTo>
                    <a:pt x="135636" y="67817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3C8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7531" y="2481071"/>
              <a:ext cx="2809240" cy="271780"/>
            </a:xfrm>
            <a:custGeom>
              <a:avLst/>
              <a:gdLst/>
              <a:ahLst/>
              <a:cxnLst/>
              <a:rect l="l" t="t" r="r" b="b"/>
              <a:pathLst>
                <a:path w="2809240" h="271780">
                  <a:moveTo>
                    <a:pt x="0" y="135635"/>
                  </a:moveTo>
                  <a:lnTo>
                    <a:pt x="135636" y="0"/>
                  </a:lnTo>
                  <a:lnTo>
                    <a:pt x="135636" y="67817"/>
                  </a:lnTo>
                  <a:lnTo>
                    <a:pt x="2808732" y="67817"/>
                  </a:lnTo>
                  <a:lnTo>
                    <a:pt x="2808732" y="203453"/>
                  </a:lnTo>
                  <a:lnTo>
                    <a:pt x="135636" y="203453"/>
                  </a:lnTo>
                  <a:lnTo>
                    <a:pt x="135636" y="271271"/>
                  </a:lnTo>
                  <a:lnTo>
                    <a:pt x="0" y="135635"/>
                  </a:lnTo>
                  <a:close/>
                </a:path>
              </a:pathLst>
            </a:custGeom>
            <a:ln w="15240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24527" y="2334844"/>
            <a:ext cx="31134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i="1" spc="-130" dirty="0">
                <a:solidFill>
                  <a:srgbClr val="3C85C5"/>
                </a:solidFill>
                <a:latin typeface="Trebuchet MS"/>
                <a:cs typeface="Trebuchet MS"/>
              </a:rPr>
              <a:t>8 </a:t>
            </a:r>
            <a:r>
              <a:rPr sz="3200" b="1" i="1" spc="-245" dirty="0">
                <a:solidFill>
                  <a:srgbClr val="3C85C5"/>
                </a:solidFill>
                <a:latin typeface="Trebuchet MS"/>
                <a:cs typeface="Trebuchet MS"/>
              </a:rPr>
              <a:t>places </a:t>
            </a:r>
            <a:r>
              <a:rPr sz="3200" b="1" i="1" spc="-305" dirty="0">
                <a:solidFill>
                  <a:srgbClr val="3C85C5"/>
                </a:solidFill>
                <a:latin typeface="Trebuchet MS"/>
                <a:cs typeface="Trebuchet MS"/>
              </a:rPr>
              <a:t>to </a:t>
            </a:r>
            <a:r>
              <a:rPr sz="3200" b="1" i="1" spc="-254" dirty="0">
                <a:solidFill>
                  <a:srgbClr val="3C85C5"/>
                </a:solidFill>
                <a:latin typeface="Trebuchet MS"/>
                <a:cs typeface="Trebuchet MS"/>
              </a:rPr>
              <a:t>the</a:t>
            </a:r>
            <a:r>
              <a:rPr sz="3200" b="1" i="1" spc="-35" dirty="0">
                <a:solidFill>
                  <a:srgbClr val="3C85C5"/>
                </a:solidFill>
                <a:latin typeface="Trebuchet MS"/>
                <a:cs typeface="Trebuchet MS"/>
              </a:rPr>
              <a:t> </a:t>
            </a:r>
            <a:r>
              <a:rPr sz="3200" b="1" i="1" spc="-295" dirty="0">
                <a:solidFill>
                  <a:srgbClr val="3C85C5"/>
                </a:solidFill>
                <a:latin typeface="Trebuchet MS"/>
                <a:cs typeface="Trebuchet MS"/>
              </a:rPr>
              <a:t>left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253286" y="1701292"/>
          <a:ext cx="6338562" cy="6201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62014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53286" y="2906902"/>
          <a:ext cx="6338562" cy="4954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954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16224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</a:t>
            </a:r>
            <a:r>
              <a:rPr spc="5" dirty="0"/>
              <a:t>p</a:t>
            </a:r>
            <a:r>
              <a:rPr spc="120" dirty="0"/>
              <a:t>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23722"/>
            <a:ext cx="4890135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50" dirty="0">
                <a:latin typeface="Trebuchet MS"/>
                <a:cs typeface="Trebuchet MS"/>
              </a:rPr>
              <a:t>So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back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our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example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b="1" spc="-10" dirty="0">
                <a:latin typeface="Trebuchet MS"/>
                <a:cs typeface="Trebuchet MS"/>
              </a:rPr>
              <a:t>Mantissa</a:t>
            </a:r>
            <a:r>
              <a:rPr sz="1800" b="1" spc="-39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=.11111 0100 0001 </a:t>
            </a:r>
            <a:r>
              <a:rPr sz="1800" spc="-75" dirty="0">
                <a:latin typeface="Trebuchet MS"/>
                <a:cs typeface="Trebuchet MS"/>
              </a:rPr>
              <a:t>(2.5003125)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b="1" spc="-45" dirty="0">
                <a:latin typeface="Trebuchet MS"/>
                <a:cs typeface="Trebuchet MS"/>
              </a:rPr>
              <a:t>Exponent </a:t>
            </a:r>
            <a:r>
              <a:rPr sz="1800" b="1" spc="-105" dirty="0">
                <a:latin typeface="Trebuchet MS"/>
                <a:cs typeface="Trebuchet MS"/>
              </a:rPr>
              <a:t>= </a:t>
            </a:r>
            <a:r>
              <a:rPr sz="1800" b="1" spc="-110" dirty="0">
                <a:latin typeface="Trebuchet MS"/>
                <a:cs typeface="Trebuchet MS"/>
              </a:rPr>
              <a:t>0000 1000</a:t>
            </a:r>
            <a:r>
              <a:rPr sz="1800" b="1" spc="-10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(8)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b="1" spc="10" dirty="0">
                <a:latin typeface="Trebuchet MS"/>
                <a:cs typeface="Trebuchet MS"/>
              </a:rPr>
              <a:t>Sign</a:t>
            </a:r>
            <a:r>
              <a:rPr sz="1800" b="1" spc="-42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Bit </a:t>
            </a:r>
            <a:r>
              <a:rPr sz="1800" b="1" spc="-105" dirty="0">
                <a:latin typeface="Trebuchet MS"/>
                <a:cs typeface="Trebuchet MS"/>
              </a:rPr>
              <a:t>= 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2442159"/>
            <a:ext cx="4416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rebuchet MS"/>
                <a:cs typeface="Trebuchet MS"/>
              </a:rPr>
              <a:t>And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number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b="1" spc="-35" dirty="0">
                <a:latin typeface="Trebuchet MS"/>
                <a:cs typeface="Trebuchet MS"/>
              </a:rPr>
              <a:t>positive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so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b="1" spc="-5" dirty="0">
                <a:latin typeface="Trebuchet MS"/>
                <a:cs typeface="Trebuchet MS"/>
              </a:rPr>
              <a:t>sign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bit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b="1" spc="-15" dirty="0">
                <a:latin typeface="Trebuchet MS"/>
                <a:cs typeface="Trebuchet MS"/>
              </a:rPr>
              <a:t>is</a:t>
            </a:r>
            <a:r>
              <a:rPr sz="1800" b="1" spc="-18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89191" y="2997454"/>
          <a:ext cx="6959599" cy="1028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3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Mantissa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0000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1000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11111 0100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0001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00000000000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1bit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23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5350764" y="141731"/>
            <a:ext cx="3610610" cy="2490470"/>
            <a:chOff x="5350764" y="141731"/>
            <a:chExt cx="3610610" cy="2490470"/>
          </a:xfrm>
        </p:grpSpPr>
        <p:sp>
          <p:nvSpPr>
            <p:cNvPr id="7" name="object 7"/>
            <p:cNvSpPr/>
            <p:nvPr/>
          </p:nvSpPr>
          <p:spPr>
            <a:xfrm>
              <a:off x="5355336" y="146303"/>
              <a:ext cx="3601212" cy="24810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55336" y="146303"/>
              <a:ext cx="3601720" cy="2481580"/>
            </a:xfrm>
            <a:custGeom>
              <a:avLst/>
              <a:gdLst/>
              <a:ahLst/>
              <a:cxnLst/>
              <a:rect l="l" t="t" r="r" b="b"/>
              <a:pathLst>
                <a:path w="3601720" h="2481580">
                  <a:moveTo>
                    <a:pt x="3187699" y="2481072"/>
                  </a:moveTo>
                  <a:lnTo>
                    <a:pt x="3270377" y="2150237"/>
                  </a:lnTo>
                  <a:lnTo>
                    <a:pt x="3601212" y="2067560"/>
                  </a:lnTo>
                  <a:lnTo>
                    <a:pt x="3187699" y="2481072"/>
                  </a:lnTo>
                  <a:lnTo>
                    <a:pt x="0" y="2481072"/>
                  </a:lnTo>
                  <a:lnTo>
                    <a:pt x="0" y="0"/>
                  </a:lnTo>
                  <a:lnTo>
                    <a:pt x="3601212" y="0"/>
                  </a:lnTo>
                  <a:lnTo>
                    <a:pt x="3601212" y="2067560"/>
                  </a:lnTo>
                </a:path>
              </a:pathLst>
            </a:custGeom>
            <a:ln w="9144">
              <a:solidFill>
                <a:srgbClr val="601B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35346" y="125628"/>
            <a:ext cx="3442335" cy="205740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600" spc="-15" dirty="0">
                <a:latin typeface="Trebuchet MS"/>
                <a:cs typeface="Trebuchet MS"/>
              </a:rPr>
              <a:t>In</a:t>
            </a:r>
            <a:r>
              <a:rPr sz="1600" spc="-16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32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bit</a:t>
            </a:r>
            <a:r>
              <a:rPr sz="1600" spc="-16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representation</a:t>
            </a:r>
            <a:r>
              <a:rPr sz="1600" spc="-17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there</a:t>
            </a:r>
            <a:r>
              <a:rPr sz="1600" spc="-16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is</a:t>
            </a:r>
            <a:endParaRPr sz="1600">
              <a:latin typeface="Trebuchet MS"/>
              <a:cs typeface="Trebuchet MS"/>
            </a:endParaRPr>
          </a:p>
          <a:p>
            <a:pPr marL="469900" indent="-330835">
              <a:lnSpc>
                <a:spcPct val="100000"/>
              </a:lnSpc>
              <a:spcBef>
                <a:spcPts val="140"/>
              </a:spcBef>
              <a:buFont typeface="Noto Sans Symbols"/>
              <a:buChar char="❏"/>
              <a:tabLst>
                <a:tab pos="469265" algn="l"/>
                <a:tab pos="469900" algn="l"/>
              </a:tabLst>
            </a:pPr>
            <a:r>
              <a:rPr sz="1600" b="1" spc="-95" dirty="0">
                <a:latin typeface="Trebuchet MS"/>
                <a:cs typeface="Trebuchet MS"/>
              </a:rPr>
              <a:t>8</a:t>
            </a:r>
            <a:r>
              <a:rPr sz="1600" b="1" spc="-15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bits</a:t>
            </a:r>
            <a:r>
              <a:rPr sz="1600" spc="-16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for</a:t>
            </a:r>
            <a:r>
              <a:rPr sz="1600" spc="-16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the</a:t>
            </a:r>
            <a:r>
              <a:rPr sz="1600" spc="-165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exponent</a:t>
            </a:r>
            <a:endParaRPr sz="1600">
              <a:latin typeface="Trebuchet MS"/>
              <a:cs typeface="Trebuchet MS"/>
            </a:endParaRPr>
          </a:p>
          <a:p>
            <a:pPr marL="469900" indent="-330835">
              <a:lnSpc>
                <a:spcPct val="100000"/>
              </a:lnSpc>
              <a:spcBef>
                <a:spcPts val="135"/>
              </a:spcBef>
              <a:buFont typeface="Noto Sans Symbols"/>
              <a:buChar char="❏"/>
              <a:tabLst>
                <a:tab pos="469265" algn="l"/>
                <a:tab pos="469900" algn="l"/>
              </a:tabLst>
            </a:pPr>
            <a:r>
              <a:rPr sz="1600" b="1" spc="-100" dirty="0">
                <a:latin typeface="Trebuchet MS"/>
                <a:cs typeface="Trebuchet MS"/>
              </a:rPr>
              <a:t>23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bits</a:t>
            </a:r>
            <a:r>
              <a:rPr sz="1600" spc="-16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for</a:t>
            </a:r>
            <a:r>
              <a:rPr sz="1600" spc="-17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the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b="1" spc="-15" dirty="0">
                <a:latin typeface="Trebuchet MS"/>
                <a:cs typeface="Trebuchet MS"/>
              </a:rPr>
              <a:t>mantissa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ct val="106900"/>
              </a:lnSpc>
              <a:spcBef>
                <a:spcPts val="805"/>
              </a:spcBef>
            </a:pPr>
            <a:r>
              <a:rPr sz="1600" spc="-95" dirty="0">
                <a:latin typeface="Trebuchet MS"/>
                <a:cs typeface="Trebuchet MS"/>
              </a:rPr>
              <a:t>We </a:t>
            </a:r>
            <a:r>
              <a:rPr sz="1600" spc="-65" dirty="0">
                <a:latin typeface="Trebuchet MS"/>
                <a:cs typeface="Trebuchet MS"/>
              </a:rPr>
              <a:t>will </a:t>
            </a:r>
            <a:r>
              <a:rPr sz="1600" spc="-15" dirty="0">
                <a:latin typeface="Trebuchet MS"/>
                <a:cs typeface="Trebuchet MS"/>
              </a:rPr>
              <a:t>pad </a:t>
            </a:r>
            <a:r>
              <a:rPr sz="1600" spc="-60" dirty="0">
                <a:latin typeface="Trebuchet MS"/>
                <a:cs typeface="Trebuchet MS"/>
              </a:rPr>
              <a:t>the </a:t>
            </a:r>
            <a:r>
              <a:rPr sz="1600" b="1" spc="-45" dirty="0">
                <a:latin typeface="Trebuchet MS"/>
                <a:cs typeface="Trebuchet MS"/>
              </a:rPr>
              <a:t>left </a:t>
            </a:r>
            <a:r>
              <a:rPr sz="1600" spc="-65" dirty="0">
                <a:latin typeface="Trebuchet MS"/>
                <a:cs typeface="Trebuchet MS"/>
              </a:rPr>
              <a:t>of the </a:t>
            </a:r>
            <a:r>
              <a:rPr sz="1600" spc="-45" dirty="0">
                <a:latin typeface="Trebuchet MS"/>
                <a:cs typeface="Trebuchet MS"/>
              </a:rPr>
              <a:t>exponent  </a:t>
            </a:r>
            <a:r>
              <a:rPr sz="1600" spc="-55" dirty="0">
                <a:latin typeface="Trebuchet MS"/>
                <a:cs typeface="Trebuchet MS"/>
              </a:rPr>
              <a:t>with</a:t>
            </a:r>
            <a:r>
              <a:rPr sz="1600" spc="-155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0</a:t>
            </a:r>
            <a:r>
              <a:rPr sz="1600" spc="-85" dirty="0">
                <a:latin typeface="Verdana"/>
                <a:cs typeface="Verdana"/>
              </a:rPr>
              <a:t>’s</a:t>
            </a:r>
            <a:r>
              <a:rPr sz="1600" spc="-225" dirty="0">
                <a:latin typeface="Verdana"/>
                <a:cs typeface="Verdana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up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to</a:t>
            </a:r>
            <a:r>
              <a:rPr sz="1600" spc="-165" dirty="0">
                <a:latin typeface="Trebuchet MS"/>
                <a:cs typeface="Trebuchet MS"/>
              </a:rPr>
              <a:t> </a:t>
            </a:r>
            <a:r>
              <a:rPr sz="1600" b="1" spc="-95" dirty="0">
                <a:latin typeface="Trebuchet MS"/>
                <a:cs typeface="Trebuchet MS"/>
              </a:rPr>
              <a:t>8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bits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600" spc="-95" dirty="0">
                <a:latin typeface="Trebuchet MS"/>
                <a:cs typeface="Trebuchet MS"/>
              </a:rPr>
              <a:t>We </a:t>
            </a:r>
            <a:r>
              <a:rPr sz="1600" spc="-65" dirty="0">
                <a:latin typeface="Trebuchet MS"/>
                <a:cs typeface="Trebuchet MS"/>
              </a:rPr>
              <a:t>will </a:t>
            </a:r>
            <a:r>
              <a:rPr sz="1600" spc="-20" dirty="0">
                <a:latin typeface="Trebuchet MS"/>
                <a:cs typeface="Trebuchet MS"/>
              </a:rPr>
              <a:t>pad </a:t>
            </a:r>
            <a:r>
              <a:rPr sz="1600" spc="-60" dirty="0">
                <a:latin typeface="Trebuchet MS"/>
                <a:cs typeface="Trebuchet MS"/>
              </a:rPr>
              <a:t>the </a:t>
            </a:r>
            <a:r>
              <a:rPr sz="1600" b="1" spc="-20" dirty="0">
                <a:latin typeface="Trebuchet MS"/>
                <a:cs typeface="Trebuchet MS"/>
              </a:rPr>
              <a:t>right </a:t>
            </a:r>
            <a:r>
              <a:rPr sz="1600" spc="-65" dirty="0">
                <a:latin typeface="Trebuchet MS"/>
                <a:cs typeface="Trebuchet MS"/>
              </a:rPr>
              <a:t>of the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mantissa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spc="-55" dirty="0">
                <a:latin typeface="Trebuchet MS"/>
                <a:cs typeface="Trebuchet MS"/>
              </a:rPr>
              <a:t>with</a:t>
            </a:r>
            <a:r>
              <a:rPr sz="1600" spc="-155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0</a:t>
            </a:r>
            <a:r>
              <a:rPr sz="1600" spc="-85" dirty="0">
                <a:latin typeface="Verdana"/>
                <a:cs typeface="Verdana"/>
              </a:rPr>
              <a:t>’s</a:t>
            </a:r>
            <a:r>
              <a:rPr sz="1600" spc="-225" dirty="0">
                <a:latin typeface="Verdana"/>
                <a:cs typeface="Verdana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up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to</a:t>
            </a:r>
            <a:r>
              <a:rPr sz="1600" spc="-165" dirty="0">
                <a:latin typeface="Trebuchet MS"/>
                <a:cs typeface="Trebuchet MS"/>
              </a:rPr>
              <a:t> </a:t>
            </a:r>
            <a:r>
              <a:rPr sz="1600" b="1" spc="-100" dirty="0">
                <a:latin typeface="Trebuchet MS"/>
                <a:cs typeface="Trebuchet MS"/>
              </a:rPr>
              <a:t>23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bits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33451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Further </a:t>
            </a:r>
            <a:r>
              <a:rPr spc="30" dirty="0"/>
              <a:t>Example</a:t>
            </a:r>
            <a:r>
              <a:rPr spc="-330" dirty="0"/>
              <a:t> </a:t>
            </a:r>
            <a:r>
              <a:rPr spc="-19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64870"/>
            <a:ext cx="7980045" cy="237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latin typeface="Trebuchet MS"/>
                <a:cs typeface="Trebuchet MS"/>
              </a:rPr>
              <a:t>102.9375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  <a:tabLst>
                <a:tab pos="2755900" algn="l"/>
              </a:tabLst>
            </a:pPr>
            <a:r>
              <a:rPr sz="1800" b="1" spc="10" dirty="0">
                <a:solidFill>
                  <a:srgbClr val="38761D"/>
                </a:solidFill>
                <a:latin typeface="Trebuchet MS"/>
                <a:cs typeface="Trebuchet MS"/>
              </a:rPr>
              <a:t>Sign </a:t>
            </a:r>
            <a:r>
              <a:rPr sz="1800" b="1" spc="-105" dirty="0">
                <a:solidFill>
                  <a:srgbClr val="38761D"/>
                </a:solidFill>
                <a:latin typeface="Trebuchet MS"/>
                <a:cs typeface="Trebuchet MS"/>
              </a:rPr>
              <a:t>=</a:t>
            </a:r>
            <a:r>
              <a:rPr sz="1800" b="1" spc="-360" dirty="0">
                <a:solidFill>
                  <a:srgbClr val="38761D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38761D"/>
                </a:solidFill>
                <a:latin typeface="Trebuchet MS"/>
                <a:cs typeface="Trebuchet MS"/>
              </a:rPr>
              <a:t>0</a:t>
            </a:r>
            <a:r>
              <a:rPr sz="1800" b="1" spc="-175" dirty="0">
                <a:solidFill>
                  <a:srgbClr val="38761D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38761D"/>
                </a:solidFill>
                <a:latin typeface="Trebuchet MS"/>
                <a:cs typeface="Trebuchet MS"/>
              </a:rPr>
              <a:t>(+ve)	</a:t>
            </a:r>
            <a:r>
              <a:rPr sz="1800" b="1" spc="-35" dirty="0">
                <a:solidFill>
                  <a:srgbClr val="CC0000"/>
                </a:solidFill>
                <a:latin typeface="Trebuchet MS"/>
                <a:cs typeface="Trebuchet MS"/>
              </a:rPr>
              <a:t>Integer</a:t>
            </a:r>
            <a:r>
              <a:rPr sz="1800" b="1" spc="-41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CC0000"/>
                </a:solidFill>
                <a:latin typeface="Trebuchet MS"/>
                <a:cs typeface="Trebuchet MS"/>
              </a:rPr>
              <a:t>= </a:t>
            </a:r>
            <a:r>
              <a:rPr sz="1800" b="1" spc="-110" dirty="0">
                <a:solidFill>
                  <a:srgbClr val="CC0000"/>
                </a:solidFill>
                <a:latin typeface="Trebuchet MS"/>
                <a:cs typeface="Trebuchet MS"/>
              </a:rPr>
              <a:t>102 </a:t>
            </a:r>
            <a:r>
              <a:rPr sz="1800" b="1" spc="-105" dirty="0">
                <a:solidFill>
                  <a:srgbClr val="CC0000"/>
                </a:solidFill>
                <a:latin typeface="Trebuchet MS"/>
                <a:cs typeface="Trebuchet MS"/>
              </a:rPr>
              <a:t>= </a:t>
            </a:r>
            <a:r>
              <a:rPr sz="1800" b="1" spc="-110" dirty="0">
                <a:solidFill>
                  <a:srgbClr val="CC0000"/>
                </a:solidFill>
                <a:latin typeface="Trebuchet MS"/>
                <a:cs typeface="Trebuchet MS"/>
              </a:rPr>
              <a:t>1100110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b="1" spc="-40" dirty="0">
                <a:solidFill>
                  <a:srgbClr val="0A5293"/>
                </a:solidFill>
                <a:latin typeface="Trebuchet MS"/>
                <a:cs typeface="Trebuchet MS"/>
              </a:rPr>
              <a:t>Decimal</a:t>
            </a:r>
            <a:r>
              <a:rPr sz="1800" b="1" spc="-18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0A5293"/>
                </a:solidFill>
                <a:latin typeface="Trebuchet MS"/>
                <a:cs typeface="Trebuchet MS"/>
              </a:rPr>
              <a:t>portion</a:t>
            </a:r>
            <a:r>
              <a:rPr sz="1800" b="1" spc="-17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0A5293"/>
                </a:solidFill>
                <a:latin typeface="Trebuchet MS"/>
                <a:cs typeface="Trebuchet MS"/>
              </a:rPr>
              <a:t>.1111</a:t>
            </a:r>
            <a:r>
              <a:rPr sz="1800" b="1" spc="-17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latin typeface="Trebuchet MS"/>
                <a:cs typeface="Trebuchet MS"/>
              </a:rPr>
              <a:t>-&gt;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CC0000"/>
                </a:solidFill>
                <a:latin typeface="Trebuchet MS"/>
                <a:cs typeface="Trebuchet MS"/>
              </a:rPr>
              <a:t>1100110</a:t>
            </a:r>
            <a:r>
              <a:rPr sz="1800" b="1" spc="-110" dirty="0">
                <a:latin typeface="Trebuchet MS"/>
                <a:cs typeface="Trebuchet MS"/>
              </a:rPr>
              <a:t>.</a:t>
            </a:r>
            <a:r>
              <a:rPr sz="1800" b="1" spc="-110" dirty="0">
                <a:solidFill>
                  <a:srgbClr val="0A5293"/>
                </a:solidFill>
                <a:latin typeface="Trebuchet MS"/>
                <a:cs typeface="Trebuchet MS"/>
              </a:rPr>
              <a:t>1111</a:t>
            </a:r>
            <a:r>
              <a:rPr sz="1800" b="1" spc="-16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latin typeface="Trebuchet MS"/>
                <a:cs typeface="Trebuchet MS"/>
              </a:rPr>
              <a:t>-&gt;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b="1" spc="-40" dirty="0">
                <a:latin typeface="Trebuchet MS"/>
                <a:cs typeface="Trebuchet MS"/>
              </a:rPr>
              <a:t>Needs</a:t>
            </a:r>
            <a:r>
              <a:rPr sz="1800" b="1" spc="-16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to</a:t>
            </a:r>
            <a:r>
              <a:rPr sz="1800" b="1" spc="-195" dirty="0">
                <a:latin typeface="Trebuchet MS"/>
                <a:cs typeface="Trebuchet MS"/>
              </a:rPr>
              <a:t> </a:t>
            </a:r>
            <a:r>
              <a:rPr sz="1800" b="1" spc="-60" dirty="0">
                <a:latin typeface="Trebuchet MS"/>
                <a:cs typeface="Trebuchet MS"/>
              </a:rPr>
              <a:t>be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.11001101111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b="1" spc="-45" dirty="0">
                <a:solidFill>
                  <a:srgbClr val="B45F05"/>
                </a:solidFill>
                <a:latin typeface="Trebuchet MS"/>
                <a:cs typeface="Trebuchet MS"/>
              </a:rPr>
              <a:t>Exponent</a:t>
            </a:r>
            <a:r>
              <a:rPr sz="1800" b="1" spc="-18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B45F05"/>
                </a:solidFill>
                <a:latin typeface="Trebuchet MS"/>
                <a:cs typeface="Trebuchet MS"/>
              </a:rPr>
              <a:t>=</a:t>
            </a:r>
            <a:r>
              <a:rPr sz="1800" spc="-18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B45F05"/>
                </a:solidFill>
                <a:latin typeface="Trebuchet MS"/>
                <a:cs typeface="Trebuchet MS"/>
              </a:rPr>
              <a:t>7</a:t>
            </a:r>
            <a:r>
              <a:rPr sz="1800" spc="-180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B45F05"/>
                </a:solidFill>
                <a:latin typeface="Trebuchet MS"/>
                <a:cs typeface="Trebuchet MS"/>
              </a:rPr>
              <a:t>=</a:t>
            </a:r>
            <a:r>
              <a:rPr sz="1800" spc="-17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00000111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(32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bit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Single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Precision)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38761D"/>
                </a:solidFill>
                <a:latin typeface="Trebuchet MS"/>
                <a:cs typeface="Trebuchet MS"/>
              </a:rPr>
              <a:t>0</a:t>
            </a:r>
            <a:r>
              <a:rPr sz="1800" b="1" spc="180" dirty="0">
                <a:solidFill>
                  <a:srgbClr val="38761D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00000111</a:t>
            </a:r>
            <a:r>
              <a:rPr sz="1800" b="1" spc="-160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80" dirty="0">
                <a:solidFill>
                  <a:srgbClr val="CC0000"/>
                </a:solidFill>
                <a:latin typeface="Trebuchet MS"/>
                <a:cs typeface="Trebuchet MS"/>
              </a:rPr>
              <a:t>1100110</a:t>
            </a:r>
            <a:r>
              <a:rPr sz="1800" b="1" spc="-80" dirty="0">
                <a:solidFill>
                  <a:srgbClr val="0A5293"/>
                </a:solidFill>
                <a:latin typeface="Trebuchet MS"/>
                <a:cs typeface="Trebuchet MS"/>
              </a:rPr>
              <a:t>1111</a:t>
            </a:r>
            <a:r>
              <a:rPr sz="1800" spc="-80" dirty="0">
                <a:latin typeface="Trebuchet MS"/>
                <a:cs typeface="Trebuchet MS"/>
              </a:rPr>
              <a:t>000000000000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3371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Further </a:t>
            </a:r>
            <a:r>
              <a:rPr spc="30" dirty="0"/>
              <a:t>Example</a:t>
            </a:r>
            <a:r>
              <a:rPr spc="-330" dirty="0"/>
              <a:t> </a:t>
            </a:r>
            <a:r>
              <a:rPr spc="2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64870"/>
            <a:ext cx="7497445" cy="237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latin typeface="Trebuchet MS"/>
                <a:cs typeface="Trebuchet MS"/>
              </a:rPr>
              <a:t>250.75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  <a:tabLst>
                <a:tab pos="2755900" algn="l"/>
              </a:tabLst>
            </a:pPr>
            <a:r>
              <a:rPr sz="1800" b="1" spc="10" dirty="0">
                <a:solidFill>
                  <a:srgbClr val="38761D"/>
                </a:solidFill>
                <a:latin typeface="Trebuchet MS"/>
                <a:cs typeface="Trebuchet MS"/>
              </a:rPr>
              <a:t>Sign </a:t>
            </a:r>
            <a:r>
              <a:rPr sz="1800" b="1" spc="-105" dirty="0">
                <a:solidFill>
                  <a:srgbClr val="38761D"/>
                </a:solidFill>
                <a:latin typeface="Trebuchet MS"/>
                <a:cs typeface="Trebuchet MS"/>
              </a:rPr>
              <a:t>=</a:t>
            </a:r>
            <a:r>
              <a:rPr sz="1800" b="1" spc="-360" dirty="0">
                <a:solidFill>
                  <a:srgbClr val="38761D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38761D"/>
                </a:solidFill>
                <a:latin typeface="Trebuchet MS"/>
                <a:cs typeface="Trebuchet MS"/>
              </a:rPr>
              <a:t>0</a:t>
            </a:r>
            <a:r>
              <a:rPr sz="1800" b="1" spc="-175" dirty="0">
                <a:solidFill>
                  <a:srgbClr val="38761D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38761D"/>
                </a:solidFill>
                <a:latin typeface="Trebuchet MS"/>
                <a:cs typeface="Trebuchet MS"/>
              </a:rPr>
              <a:t>(+ve)	</a:t>
            </a:r>
            <a:r>
              <a:rPr sz="1800" b="1" spc="-35" dirty="0">
                <a:solidFill>
                  <a:srgbClr val="CC0000"/>
                </a:solidFill>
                <a:latin typeface="Trebuchet MS"/>
                <a:cs typeface="Trebuchet MS"/>
              </a:rPr>
              <a:t>Integer</a:t>
            </a:r>
            <a:r>
              <a:rPr sz="1800" b="1" spc="-41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CC0000"/>
                </a:solidFill>
                <a:latin typeface="Trebuchet MS"/>
                <a:cs typeface="Trebuchet MS"/>
              </a:rPr>
              <a:t>= </a:t>
            </a:r>
            <a:r>
              <a:rPr sz="1800" b="1" spc="-110" dirty="0">
                <a:solidFill>
                  <a:srgbClr val="CC0000"/>
                </a:solidFill>
                <a:latin typeface="Trebuchet MS"/>
                <a:cs typeface="Trebuchet MS"/>
              </a:rPr>
              <a:t>250 </a:t>
            </a:r>
            <a:r>
              <a:rPr sz="1800" b="1" spc="-105" dirty="0">
                <a:solidFill>
                  <a:srgbClr val="CC0000"/>
                </a:solidFill>
                <a:latin typeface="Trebuchet MS"/>
                <a:cs typeface="Trebuchet MS"/>
              </a:rPr>
              <a:t>= </a:t>
            </a:r>
            <a:r>
              <a:rPr sz="1800" b="1" spc="-110" dirty="0">
                <a:solidFill>
                  <a:srgbClr val="CC0000"/>
                </a:solidFill>
                <a:latin typeface="Trebuchet MS"/>
                <a:cs typeface="Trebuchet MS"/>
              </a:rPr>
              <a:t>11111010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b="1" spc="-40" dirty="0">
                <a:solidFill>
                  <a:srgbClr val="0A5293"/>
                </a:solidFill>
                <a:latin typeface="Trebuchet MS"/>
                <a:cs typeface="Trebuchet MS"/>
              </a:rPr>
              <a:t>Decimal</a:t>
            </a:r>
            <a:r>
              <a:rPr sz="1800" b="1" spc="-19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0A5293"/>
                </a:solidFill>
                <a:latin typeface="Trebuchet MS"/>
                <a:cs typeface="Trebuchet MS"/>
              </a:rPr>
              <a:t>portion</a:t>
            </a:r>
            <a:r>
              <a:rPr sz="1800" b="1" spc="-17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0A5293"/>
                </a:solidFill>
                <a:latin typeface="Trebuchet MS"/>
                <a:cs typeface="Trebuchet MS"/>
              </a:rPr>
              <a:t>.11</a:t>
            </a:r>
            <a:r>
              <a:rPr sz="1800" b="1" spc="-19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latin typeface="Trebuchet MS"/>
                <a:cs typeface="Trebuchet MS"/>
              </a:rPr>
              <a:t>-&gt;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CC0000"/>
                </a:solidFill>
                <a:latin typeface="Trebuchet MS"/>
                <a:cs typeface="Trebuchet MS"/>
              </a:rPr>
              <a:t>11111010</a:t>
            </a:r>
            <a:r>
              <a:rPr sz="1800" b="1" spc="-110" dirty="0">
                <a:latin typeface="Trebuchet MS"/>
                <a:cs typeface="Trebuchet MS"/>
              </a:rPr>
              <a:t>.</a:t>
            </a:r>
            <a:r>
              <a:rPr sz="1800" b="1" spc="-110" dirty="0">
                <a:solidFill>
                  <a:srgbClr val="0A5293"/>
                </a:solidFill>
                <a:latin typeface="Trebuchet MS"/>
                <a:cs typeface="Trebuchet MS"/>
              </a:rPr>
              <a:t>11</a:t>
            </a:r>
            <a:r>
              <a:rPr sz="1800" b="1" spc="-16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latin typeface="Trebuchet MS"/>
                <a:cs typeface="Trebuchet MS"/>
              </a:rPr>
              <a:t>-&gt;</a:t>
            </a:r>
            <a:r>
              <a:rPr sz="1800" b="1" spc="-180" dirty="0">
                <a:latin typeface="Trebuchet MS"/>
                <a:cs typeface="Trebuchet MS"/>
              </a:rPr>
              <a:t> </a:t>
            </a:r>
            <a:r>
              <a:rPr sz="1800" b="1" spc="-40" dirty="0">
                <a:latin typeface="Trebuchet MS"/>
                <a:cs typeface="Trebuchet MS"/>
              </a:rPr>
              <a:t>Needs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to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b="1" spc="-60" dirty="0">
                <a:latin typeface="Trebuchet MS"/>
                <a:cs typeface="Trebuchet MS"/>
              </a:rPr>
              <a:t>be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.1111101011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b="1" spc="-45" dirty="0">
                <a:solidFill>
                  <a:srgbClr val="B45F05"/>
                </a:solidFill>
                <a:latin typeface="Trebuchet MS"/>
                <a:cs typeface="Trebuchet MS"/>
              </a:rPr>
              <a:t>Exponent</a:t>
            </a:r>
            <a:r>
              <a:rPr sz="1800" b="1" spc="-18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B45F05"/>
                </a:solidFill>
                <a:latin typeface="Trebuchet MS"/>
                <a:cs typeface="Trebuchet MS"/>
              </a:rPr>
              <a:t>=</a:t>
            </a:r>
            <a:r>
              <a:rPr sz="1800" spc="-18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B45F05"/>
                </a:solidFill>
                <a:latin typeface="Trebuchet MS"/>
                <a:cs typeface="Trebuchet MS"/>
              </a:rPr>
              <a:t>8</a:t>
            </a:r>
            <a:r>
              <a:rPr sz="1800" spc="-17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B45F05"/>
                </a:solidFill>
                <a:latin typeface="Trebuchet MS"/>
                <a:cs typeface="Trebuchet MS"/>
              </a:rPr>
              <a:t>=</a:t>
            </a:r>
            <a:r>
              <a:rPr sz="1800" b="1" spc="-18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00001000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(32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bit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Single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Precision)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38761D"/>
                </a:solidFill>
                <a:latin typeface="Trebuchet MS"/>
                <a:cs typeface="Trebuchet MS"/>
              </a:rPr>
              <a:t>0</a:t>
            </a:r>
            <a:r>
              <a:rPr sz="1800" b="1" spc="175" dirty="0">
                <a:solidFill>
                  <a:srgbClr val="38761D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00001000</a:t>
            </a:r>
            <a:r>
              <a:rPr sz="1800" b="1" spc="-160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CC0000"/>
                </a:solidFill>
                <a:latin typeface="Trebuchet MS"/>
                <a:cs typeface="Trebuchet MS"/>
              </a:rPr>
              <a:t>11111010</a:t>
            </a:r>
            <a:r>
              <a:rPr sz="1800" b="1" spc="-75" dirty="0">
                <a:solidFill>
                  <a:srgbClr val="0A5293"/>
                </a:solidFill>
                <a:latin typeface="Trebuchet MS"/>
                <a:cs typeface="Trebuchet MS"/>
              </a:rPr>
              <a:t>11</a:t>
            </a:r>
            <a:r>
              <a:rPr sz="1800" spc="-75" dirty="0">
                <a:latin typeface="Trebuchet MS"/>
                <a:cs typeface="Trebuchet MS"/>
              </a:rPr>
              <a:t>0000000000000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51866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What </a:t>
            </a:r>
            <a:r>
              <a:rPr spc="55" dirty="0"/>
              <a:t>about </a:t>
            </a:r>
            <a:r>
              <a:rPr spc="45" dirty="0"/>
              <a:t>small</a:t>
            </a:r>
            <a:r>
              <a:rPr spc="-590" dirty="0"/>
              <a:t> </a:t>
            </a:r>
            <a:r>
              <a:rPr spc="-30" dirty="0"/>
              <a:t>numbers?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64870"/>
            <a:ext cx="7541259" cy="81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Trebuchet MS"/>
                <a:cs typeface="Trebuchet MS"/>
              </a:rPr>
              <a:t>What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if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are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storing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0.0625?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sz="1800" spc="-165" dirty="0">
                <a:latin typeface="Verdana"/>
                <a:cs typeface="Verdana"/>
              </a:rPr>
              <a:t>The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140" dirty="0">
                <a:latin typeface="Verdana"/>
                <a:cs typeface="Verdana"/>
              </a:rPr>
              <a:t>decimal</a:t>
            </a:r>
            <a:r>
              <a:rPr sz="1800" spc="-260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point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spc="-135" dirty="0">
                <a:latin typeface="Verdana"/>
                <a:cs typeface="Verdana"/>
              </a:rPr>
              <a:t>doesn’t</a:t>
            </a:r>
            <a:r>
              <a:rPr sz="1800" spc="-245" dirty="0">
                <a:latin typeface="Verdana"/>
                <a:cs typeface="Verdana"/>
              </a:rPr>
              <a:t> </a:t>
            </a:r>
            <a:r>
              <a:rPr sz="1800" spc="-165" dirty="0">
                <a:latin typeface="Verdana"/>
                <a:cs typeface="Verdana"/>
              </a:rPr>
              <a:t>need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moved</a:t>
            </a:r>
            <a:r>
              <a:rPr sz="1800" spc="-260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to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150" dirty="0">
                <a:latin typeface="Verdana"/>
                <a:cs typeface="Verdana"/>
              </a:rPr>
              <a:t>the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left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80" dirty="0">
                <a:latin typeface="Verdana"/>
                <a:cs typeface="Verdana"/>
              </a:rPr>
              <a:t>it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spc="-170" dirty="0">
                <a:latin typeface="Verdana"/>
                <a:cs typeface="Verdana"/>
              </a:rPr>
              <a:t>needs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spc="-190" dirty="0">
                <a:latin typeface="Verdana"/>
                <a:cs typeface="Verdana"/>
              </a:rPr>
              <a:t>moved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spc="-110" dirty="0">
                <a:latin typeface="Verdana"/>
                <a:cs typeface="Verdana"/>
              </a:rPr>
              <a:t>to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150" dirty="0">
                <a:latin typeface="Verdana"/>
                <a:cs typeface="Verdana"/>
              </a:rPr>
              <a:t>the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right…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2769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Example</a:t>
            </a:r>
            <a:r>
              <a:rPr spc="-204" dirty="0"/>
              <a:t> </a:t>
            </a:r>
            <a:r>
              <a:rPr dirty="0"/>
              <a:t>(cont)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23722"/>
            <a:ext cx="8216265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b="1" spc="-40" dirty="0">
                <a:latin typeface="Trebuchet MS"/>
                <a:cs typeface="Trebuchet MS"/>
              </a:rPr>
              <a:t>Decimal</a:t>
            </a:r>
            <a:r>
              <a:rPr sz="1800" b="1" spc="-190" dirty="0">
                <a:latin typeface="Trebuchet MS"/>
                <a:cs typeface="Trebuchet MS"/>
              </a:rPr>
              <a:t> </a:t>
            </a:r>
            <a:r>
              <a:rPr sz="1800" b="1" spc="-45" dirty="0">
                <a:latin typeface="Trebuchet MS"/>
                <a:cs typeface="Trebuchet MS"/>
              </a:rPr>
              <a:t>fraction</a:t>
            </a:r>
            <a:r>
              <a:rPr sz="1800" b="1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=&gt;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.0625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2490"/>
              </a:lnSpc>
              <a:spcBef>
                <a:spcPts val="135"/>
              </a:spcBef>
            </a:pPr>
            <a:r>
              <a:rPr sz="1800" spc="-45" dirty="0">
                <a:latin typeface="Trebuchet MS"/>
                <a:cs typeface="Trebuchet MS"/>
              </a:rPr>
              <a:t>Multiply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and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use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any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remainder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over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1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as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carry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forward.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Continue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until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reach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1.0  </a:t>
            </a:r>
            <a:r>
              <a:rPr sz="1800" b="1" spc="-35" dirty="0">
                <a:latin typeface="Trebuchet MS"/>
                <a:cs typeface="Trebuchet MS"/>
              </a:rPr>
              <a:t>with</a:t>
            </a:r>
            <a:r>
              <a:rPr sz="1800" b="1" spc="-180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no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b="1" spc="-45" dirty="0">
                <a:latin typeface="Trebuchet MS"/>
                <a:cs typeface="Trebuchet MS"/>
              </a:rPr>
              <a:t>carry</a:t>
            </a:r>
            <a:r>
              <a:rPr sz="1800" b="1" spc="-20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over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1974955"/>
            <a:ext cx="1115695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20"/>
              </a:spcBef>
            </a:pPr>
            <a:r>
              <a:rPr sz="1800" spc="-75" dirty="0">
                <a:latin typeface="Trebuchet MS"/>
                <a:cs typeface="Trebuchet MS"/>
              </a:rPr>
              <a:t>0.0625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90" dirty="0">
                <a:latin typeface="Trebuchet MS"/>
                <a:cs typeface="Trebuchet MS"/>
              </a:rPr>
              <a:t>*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2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endParaRPr sz="1800">
              <a:latin typeface="Trebuchet MS"/>
              <a:cs typeface="Trebuchet MS"/>
            </a:endParaRPr>
          </a:p>
          <a:p>
            <a:pPr marL="12700" marR="66675" algn="just">
              <a:lnSpc>
                <a:spcPct val="114999"/>
              </a:lnSpc>
            </a:pPr>
            <a:r>
              <a:rPr sz="1800" spc="-80" dirty="0">
                <a:latin typeface="Trebuchet MS"/>
                <a:cs typeface="Trebuchet MS"/>
              </a:rPr>
              <a:t>0.125 </a:t>
            </a:r>
            <a:r>
              <a:rPr sz="1800" spc="90" dirty="0">
                <a:latin typeface="Trebuchet MS"/>
                <a:cs typeface="Trebuchet MS"/>
              </a:rPr>
              <a:t>* </a:t>
            </a:r>
            <a:r>
              <a:rPr sz="1800" spc="-50" dirty="0">
                <a:latin typeface="Trebuchet MS"/>
                <a:cs typeface="Trebuchet MS"/>
              </a:rPr>
              <a:t>2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  </a:t>
            </a:r>
            <a:r>
              <a:rPr sz="1800" spc="-90" dirty="0">
                <a:latin typeface="Trebuchet MS"/>
                <a:cs typeface="Trebuchet MS"/>
              </a:rPr>
              <a:t>0.25 </a:t>
            </a:r>
            <a:r>
              <a:rPr sz="1800" spc="90" dirty="0">
                <a:latin typeface="Trebuchet MS"/>
                <a:cs typeface="Trebuchet MS"/>
              </a:rPr>
              <a:t>* </a:t>
            </a:r>
            <a:r>
              <a:rPr sz="1800" spc="-50" dirty="0">
                <a:latin typeface="Trebuchet MS"/>
                <a:cs typeface="Trebuchet MS"/>
              </a:rPr>
              <a:t>2</a:t>
            </a:r>
            <a:r>
              <a:rPr sz="1800" spc="1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  </a:t>
            </a:r>
            <a:r>
              <a:rPr sz="1800" spc="-105" dirty="0">
                <a:latin typeface="Trebuchet MS"/>
                <a:cs typeface="Trebuchet MS"/>
              </a:rPr>
              <a:t>0.5 </a:t>
            </a:r>
            <a:r>
              <a:rPr sz="1800" spc="90" dirty="0">
                <a:latin typeface="Trebuchet MS"/>
                <a:cs typeface="Trebuchet MS"/>
              </a:rPr>
              <a:t>*</a:t>
            </a:r>
            <a:r>
              <a:rPr sz="1800" spc="-4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2 =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9705" y="1974955"/>
            <a:ext cx="829944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b="1" spc="-105" dirty="0">
                <a:latin typeface="Trebuchet MS"/>
                <a:cs typeface="Trebuchet MS"/>
              </a:rPr>
              <a:t>0 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32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0.125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spc="-105" dirty="0">
                <a:latin typeface="Trebuchet MS"/>
                <a:cs typeface="Trebuchet MS"/>
              </a:rPr>
              <a:t>0 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30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0.25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spc="-105" dirty="0">
                <a:latin typeface="Trebuchet MS"/>
                <a:cs typeface="Trebuchet MS"/>
              </a:rPr>
              <a:t>0 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35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0.5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spc="-105" dirty="0">
                <a:latin typeface="Trebuchet MS"/>
                <a:cs typeface="Trebuchet MS"/>
              </a:rPr>
              <a:t>1 </a:t>
            </a:r>
            <a:r>
              <a:rPr sz="1800" spc="-75" dirty="0">
                <a:latin typeface="Trebuchet MS"/>
                <a:cs typeface="Trebuchet MS"/>
              </a:rPr>
              <a:t>r</a:t>
            </a:r>
            <a:r>
              <a:rPr sz="1800" spc="-35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0.0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550" y="4111853"/>
            <a:ext cx="2196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Trebuchet MS"/>
                <a:cs typeface="Trebuchet MS"/>
              </a:rPr>
              <a:t>Binary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fraction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0.001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0115" y="3427476"/>
            <a:ext cx="2536190" cy="664845"/>
            <a:chOff x="5500115" y="3427476"/>
            <a:chExt cx="2536190" cy="664845"/>
          </a:xfrm>
        </p:grpSpPr>
        <p:sp>
          <p:nvSpPr>
            <p:cNvPr id="8" name="object 8"/>
            <p:cNvSpPr/>
            <p:nvPr/>
          </p:nvSpPr>
          <p:spPr>
            <a:xfrm>
              <a:off x="5507735" y="3435096"/>
              <a:ext cx="2520950" cy="649605"/>
            </a:xfrm>
            <a:custGeom>
              <a:avLst/>
              <a:gdLst/>
              <a:ahLst/>
              <a:cxnLst/>
              <a:rect l="l" t="t" r="r" b="b"/>
              <a:pathLst>
                <a:path w="2520950" h="649604">
                  <a:moveTo>
                    <a:pt x="2412491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108203" y="649223"/>
                  </a:lnTo>
                  <a:lnTo>
                    <a:pt x="2520695" y="649223"/>
                  </a:lnTo>
                  <a:lnTo>
                    <a:pt x="2520695" y="108203"/>
                  </a:lnTo>
                  <a:lnTo>
                    <a:pt x="2412491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07735" y="3435096"/>
              <a:ext cx="2520950" cy="649605"/>
            </a:xfrm>
            <a:custGeom>
              <a:avLst/>
              <a:gdLst/>
              <a:ahLst/>
              <a:cxnLst/>
              <a:rect l="l" t="t" r="r" b="b"/>
              <a:pathLst>
                <a:path w="2520950" h="649604">
                  <a:moveTo>
                    <a:pt x="0" y="0"/>
                  </a:moveTo>
                  <a:lnTo>
                    <a:pt x="2412491" y="0"/>
                  </a:lnTo>
                  <a:lnTo>
                    <a:pt x="2520695" y="108203"/>
                  </a:lnTo>
                  <a:lnTo>
                    <a:pt x="2520695" y="649223"/>
                  </a:lnTo>
                  <a:lnTo>
                    <a:pt x="108203" y="649223"/>
                  </a:lnTo>
                  <a:lnTo>
                    <a:pt x="0" y="54101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1B5F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58383" y="3598926"/>
            <a:ext cx="182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25" dirty="0">
                <a:solidFill>
                  <a:srgbClr val="FFFFFF"/>
                </a:solidFill>
                <a:latin typeface="Verdana"/>
                <a:cs typeface="Verdana"/>
              </a:rPr>
              <a:t>Read </a:t>
            </a:r>
            <a:r>
              <a:rPr sz="1800" i="1" spc="-185" dirty="0">
                <a:solidFill>
                  <a:srgbClr val="FFFFFF"/>
                </a:solidFill>
                <a:latin typeface="Verdana"/>
                <a:cs typeface="Verdana"/>
              </a:rPr>
              <a:t>top </a:t>
            </a:r>
            <a:r>
              <a:rPr sz="1800" i="1" spc="-17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i="1" spc="-210" dirty="0">
                <a:solidFill>
                  <a:srgbClr val="FFFFFF"/>
                </a:solidFill>
                <a:latin typeface="Verdana"/>
                <a:cs typeface="Verdana"/>
              </a:rPr>
              <a:t>bottom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90132" y="2293620"/>
            <a:ext cx="771525" cy="1149350"/>
            <a:chOff x="6390132" y="2293620"/>
            <a:chExt cx="771525" cy="1149350"/>
          </a:xfrm>
        </p:grpSpPr>
        <p:sp>
          <p:nvSpPr>
            <p:cNvPr id="12" name="object 12"/>
            <p:cNvSpPr/>
            <p:nvPr/>
          </p:nvSpPr>
          <p:spPr>
            <a:xfrm>
              <a:off x="6397752" y="2301240"/>
              <a:ext cx="756285" cy="1134110"/>
            </a:xfrm>
            <a:custGeom>
              <a:avLst/>
              <a:gdLst/>
              <a:ahLst/>
              <a:cxnLst/>
              <a:rect l="l" t="t" r="r" b="b"/>
              <a:pathLst>
                <a:path w="756284" h="1134110">
                  <a:moveTo>
                    <a:pt x="566927" y="0"/>
                  </a:moveTo>
                  <a:lnTo>
                    <a:pt x="188975" y="0"/>
                  </a:lnTo>
                  <a:lnTo>
                    <a:pt x="188975" y="755904"/>
                  </a:lnTo>
                  <a:lnTo>
                    <a:pt x="0" y="755904"/>
                  </a:lnTo>
                  <a:lnTo>
                    <a:pt x="377951" y="1133856"/>
                  </a:lnTo>
                  <a:lnTo>
                    <a:pt x="755903" y="755904"/>
                  </a:lnTo>
                  <a:lnTo>
                    <a:pt x="566927" y="755904"/>
                  </a:lnTo>
                  <a:lnTo>
                    <a:pt x="566927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7752" y="2301240"/>
              <a:ext cx="756285" cy="1134110"/>
            </a:xfrm>
            <a:custGeom>
              <a:avLst/>
              <a:gdLst/>
              <a:ahLst/>
              <a:cxnLst/>
              <a:rect l="l" t="t" r="r" b="b"/>
              <a:pathLst>
                <a:path w="756284" h="1134110">
                  <a:moveTo>
                    <a:pt x="0" y="755904"/>
                  </a:moveTo>
                  <a:lnTo>
                    <a:pt x="188975" y="755904"/>
                  </a:lnTo>
                  <a:lnTo>
                    <a:pt x="188975" y="0"/>
                  </a:lnTo>
                  <a:lnTo>
                    <a:pt x="566927" y="0"/>
                  </a:lnTo>
                  <a:lnTo>
                    <a:pt x="566927" y="755904"/>
                  </a:lnTo>
                  <a:lnTo>
                    <a:pt x="755903" y="755904"/>
                  </a:lnTo>
                  <a:lnTo>
                    <a:pt x="377951" y="1133856"/>
                  </a:lnTo>
                  <a:lnTo>
                    <a:pt x="0" y="755904"/>
                  </a:lnTo>
                  <a:close/>
                </a:path>
              </a:pathLst>
            </a:custGeom>
            <a:ln w="15240">
              <a:solidFill>
                <a:srgbClr val="1B5F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10896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So</a:t>
            </a:r>
            <a:r>
              <a:rPr spc="-190" dirty="0"/>
              <a:t> </a:t>
            </a:r>
            <a:r>
              <a:rPr spc="50" dirty="0"/>
              <a:t>far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23722"/>
            <a:ext cx="5447030" cy="11766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50" dirty="0">
                <a:latin typeface="Trebuchet MS"/>
                <a:cs typeface="Trebuchet MS"/>
              </a:rPr>
              <a:t>So </a:t>
            </a:r>
            <a:r>
              <a:rPr sz="1800" spc="-85" dirty="0">
                <a:latin typeface="Trebuchet MS"/>
                <a:cs typeface="Trebuchet MS"/>
              </a:rPr>
              <a:t>far </a:t>
            </a:r>
            <a:r>
              <a:rPr sz="1800" spc="-70" dirty="0">
                <a:latin typeface="Trebuchet MS"/>
                <a:cs typeface="Trebuchet MS"/>
              </a:rPr>
              <a:t>we </a:t>
            </a:r>
            <a:r>
              <a:rPr sz="1800" spc="-45" dirty="0">
                <a:latin typeface="Trebuchet MS"/>
                <a:cs typeface="Trebuchet MS"/>
              </a:rPr>
              <a:t>have </a:t>
            </a:r>
            <a:r>
              <a:rPr sz="1800" spc="-215" dirty="0">
                <a:latin typeface="Trebuchet MS"/>
                <a:cs typeface="Trebuchet MS"/>
              </a:rPr>
              <a:t>: </a:t>
            </a:r>
            <a:r>
              <a:rPr sz="1800" b="1" spc="-110" dirty="0">
                <a:latin typeface="Trebuchet MS"/>
                <a:cs typeface="Trebuchet MS"/>
              </a:rPr>
              <a:t>0.001</a:t>
            </a:r>
            <a:r>
              <a:rPr sz="1800" b="1" spc="-39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(0.0625)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spc="-25" dirty="0">
                <a:latin typeface="Trebuchet MS"/>
                <a:cs typeface="Trebuchet MS"/>
              </a:rPr>
              <a:t>But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we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need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it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in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format</a:t>
            </a:r>
            <a:r>
              <a:rPr sz="1800" spc="19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.10000000000000000000000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1800" spc="-50" dirty="0">
                <a:latin typeface="Trebuchet MS"/>
                <a:cs typeface="Trebuchet MS"/>
              </a:rPr>
              <a:t>(leading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bit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after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215" dirty="0">
                <a:latin typeface="Trebuchet MS"/>
                <a:cs typeface="Trebuchet MS"/>
              </a:rPr>
              <a:t>.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has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1)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4224629"/>
            <a:ext cx="2024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Trebuchet MS"/>
                <a:cs typeface="Trebuchet MS"/>
              </a:rPr>
              <a:t>So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2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exponent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b="1" spc="-85" dirty="0">
                <a:latin typeface="Trebuchet MS"/>
                <a:cs typeface="Trebuchet MS"/>
              </a:rPr>
              <a:t>-2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19916" y="3011233"/>
            <a:ext cx="2568575" cy="286385"/>
            <a:chOff x="4919916" y="3011233"/>
            <a:chExt cx="2568575" cy="286385"/>
          </a:xfrm>
        </p:grpSpPr>
        <p:sp>
          <p:nvSpPr>
            <p:cNvPr id="6" name="object 6"/>
            <p:cNvSpPr/>
            <p:nvPr/>
          </p:nvSpPr>
          <p:spPr>
            <a:xfrm>
              <a:off x="4927853" y="3019170"/>
              <a:ext cx="2552700" cy="270510"/>
            </a:xfrm>
            <a:custGeom>
              <a:avLst/>
              <a:gdLst/>
              <a:ahLst/>
              <a:cxnLst/>
              <a:rect l="l" t="t" r="r" b="b"/>
              <a:pathLst>
                <a:path w="2552700" h="270510">
                  <a:moveTo>
                    <a:pt x="2417699" y="0"/>
                  </a:moveTo>
                  <a:lnTo>
                    <a:pt x="2417699" y="67437"/>
                  </a:lnTo>
                  <a:lnTo>
                    <a:pt x="0" y="67437"/>
                  </a:lnTo>
                  <a:lnTo>
                    <a:pt x="0" y="202437"/>
                  </a:lnTo>
                  <a:lnTo>
                    <a:pt x="2417699" y="202437"/>
                  </a:lnTo>
                  <a:lnTo>
                    <a:pt x="2417699" y="270002"/>
                  </a:lnTo>
                  <a:lnTo>
                    <a:pt x="2552700" y="135001"/>
                  </a:lnTo>
                  <a:lnTo>
                    <a:pt x="2417699" y="0"/>
                  </a:lnTo>
                  <a:close/>
                </a:path>
              </a:pathLst>
            </a:custGeom>
            <a:solidFill>
              <a:srgbClr val="3C8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27853" y="3019170"/>
              <a:ext cx="2552700" cy="270510"/>
            </a:xfrm>
            <a:custGeom>
              <a:avLst/>
              <a:gdLst/>
              <a:ahLst/>
              <a:cxnLst/>
              <a:rect l="l" t="t" r="r" b="b"/>
              <a:pathLst>
                <a:path w="2552700" h="270510">
                  <a:moveTo>
                    <a:pt x="2552700" y="135001"/>
                  </a:moveTo>
                  <a:lnTo>
                    <a:pt x="2417699" y="0"/>
                  </a:lnTo>
                  <a:lnTo>
                    <a:pt x="2417699" y="67437"/>
                  </a:lnTo>
                  <a:lnTo>
                    <a:pt x="0" y="67437"/>
                  </a:lnTo>
                  <a:lnTo>
                    <a:pt x="0" y="202437"/>
                  </a:lnTo>
                  <a:lnTo>
                    <a:pt x="2417699" y="202437"/>
                  </a:lnTo>
                  <a:lnTo>
                    <a:pt x="2417699" y="270002"/>
                  </a:lnTo>
                  <a:lnTo>
                    <a:pt x="2552700" y="135001"/>
                  </a:lnTo>
                  <a:close/>
                </a:path>
              </a:pathLst>
            </a:custGeom>
            <a:ln w="15875">
              <a:solidFill>
                <a:srgbClr val="137D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10664" y="2872867"/>
            <a:ext cx="31127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spc="-130" dirty="0">
                <a:solidFill>
                  <a:srgbClr val="3C85C5"/>
                </a:solidFill>
                <a:latin typeface="Trebuchet MS"/>
                <a:cs typeface="Trebuchet MS"/>
              </a:rPr>
              <a:t>2 </a:t>
            </a:r>
            <a:r>
              <a:rPr sz="3200" b="1" i="1" spc="-245" dirty="0">
                <a:solidFill>
                  <a:srgbClr val="3C85C5"/>
                </a:solidFill>
                <a:latin typeface="Trebuchet MS"/>
                <a:cs typeface="Trebuchet MS"/>
              </a:rPr>
              <a:t>places </a:t>
            </a:r>
            <a:r>
              <a:rPr sz="3200" b="1" i="1" spc="-310" dirty="0">
                <a:solidFill>
                  <a:srgbClr val="3C85C5"/>
                </a:solidFill>
                <a:latin typeface="Trebuchet MS"/>
                <a:cs typeface="Trebuchet MS"/>
              </a:rPr>
              <a:t>to </a:t>
            </a:r>
            <a:r>
              <a:rPr sz="3200" b="1" i="1" spc="-254" dirty="0">
                <a:solidFill>
                  <a:srgbClr val="3C85C5"/>
                </a:solidFill>
                <a:latin typeface="Trebuchet MS"/>
                <a:cs typeface="Trebuchet MS"/>
              </a:rPr>
              <a:t>the</a:t>
            </a:r>
            <a:r>
              <a:rPr sz="3200" b="1" i="1" spc="-30" dirty="0">
                <a:solidFill>
                  <a:srgbClr val="3C85C5"/>
                </a:solidFill>
                <a:latin typeface="Trebuchet MS"/>
                <a:cs typeface="Trebuchet MS"/>
              </a:rPr>
              <a:t> </a:t>
            </a:r>
            <a:r>
              <a:rPr sz="3200" b="1" i="1" spc="-295" dirty="0">
                <a:solidFill>
                  <a:srgbClr val="3C85C5"/>
                </a:solidFill>
                <a:latin typeface="Trebuchet MS"/>
                <a:cs typeface="Trebuchet MS"/>
              </a:rPr>
              <a:t>left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253286" y="2234692"/>
          <a:ext cx="6338562" cy="620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6201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53286" y="3440303"/>
          <a:ext cx="6338562" cy="495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27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953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16224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</a:t>
            </a:r>
            <a:r>
              <a:rPr spc="5" dirty="0"/>
              <a:t>p</a:t>
            </a:r>
            <a:r>
              <a:rPr spc="120" dirty="0"/>
              <a:t>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23722"/>
            <a:ext cx="354965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spc="50" dirty="0">
                <a:latin typeface="Trebuchet MS"/>
                <a:cs typeface="Trebuchet MS"/>
              </a:rPr>
              <a:t>So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back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our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example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b="1" spc="-10" dirty="0">
                <a:latin typeface="Trebuchet MS"/>
                <a:cs typeface="Trebuchet MS"/>
              </a:rPr>
              <a:t>Mantissa </a:t>
            </a:r>
            <a:r>
              <a:rPr sz="1800" b="1" spc="-110" dirty="0">
                <a:latin typeface="Trebuchet MS"/>
                <a:cs typeface="Trebuchet MS"/>
              </a:rPr>
              <a:t>=0.1</a:t>
            </a:r>
            <a:r>
              <a:rPr sz="1800" b="1" spc="-34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(0.0625)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b="1" spc="-45" dirty="0">
                <a:latin typeface="Trebuchet MS"/>
                <a:cs typeface="Trebuchet MS"/>
              </a:rPr>
              <a:t>Exponent </a:t>
            </a:r>
            <a:r>
              <a:rPr sz="1800" b="1" spc="-105" dirty="0">
                <a:latin typeface="Trebuchet MS"/>
                <a:cs typeface="Trebuchet MS"/>
              </a:rPr>
              <a:t>= </a:t>
            </a:r>
            <a:r>
              <a:rPr sz="1800" b="1" spc="-110" dirty="0">
                <a:latin typeface="Trebuchet MS"/>
                <a:cs typeface="Trebuchet MS"/>
              </a:rPr>
              <a:t>1111 1110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(-2)</a:t>
            </a:r>
            <a:endParaRPr sz="18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</a:pPr>
            <a:r>
              <a:rPr sz="1800" b="1" spc="10" dirty="0">
                <a:latin typeface="Trebuchet MS"/>
                <a:cs typeface="Trebuchet MS"/>
              </a:rPr>
              <a:t>Sign</a:t>
            </a:r>
            <a:r>
              <a:rPr sz="1800" b="1" spc="-42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Bit </a:t>
            </a:r>
            <a:r>
              <a:rPr sz="1800" b="1" spc="-105" dirty="0">
                <a:latin typeface="Trebuchet MS"/>
                <a:cs typeface="Trebuchet MS"/>
              </a:rPr>
              <a:t>= 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2442159"/>
            <a:ext cx="4416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rebuchet MS"/>
                <a:cs typeface="Trebuchet MS"/>
              </a:rPr>
              <a:t>And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number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b="1" spc="-35" dirty="0">
                <a:latin typeface="Trebuchet MS"/>
                <a:cs typeface="Trebuchet MS"/>
              </a:rPr>
              <a:t>positive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so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b="1" spc="-5" dirty="0">
                <a:latin typeface="Trebuchet MS"/>
                <a:cs typeface="Trebuchet MS"/>
              </a:rPr>
              <a:t>sign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30" dirty="0">
                <a:latin typeface="Trebuchet MS"/>
                <a:cs typeface="Trebuchet MS"/>
              </a:rPr>
              <a:t>bit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b="1" spc="-15" dirty="0">
                <a:latin typeface="Trebuchet MS"/>
                <a:cs typeface="Trebuchet MS"/>
              </a:rPr>
              <a:t>is</a:t>
            </a:r>
            <a:r>
              <a:rPr sz="1800" b="1" spc="-18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89191" y="2997454"/>
          <a:ext cx="6959599" cy="1028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3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Mantissa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1111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1110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10000 0000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0000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00000000000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1bit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23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5350764" y="1325880"/>
            <a:ext cx="3610610" cy="1304925"/>
            <a:chOff x="5350764" y="1325880"/>
            <a:chExt cx="3610610" cy="1304925"/>
          </a:xfrm>
        </p:grpSpPr>
        <p:sp>
          <p:nvSpPr>
            <p:cNvPr id="7" name="object 7"/>
            <p:cNvSpPr/>
            <p:nvPr/>
          </p:nvSpPr>
          <p:spPr>
            <a:xfrm>
              <a:off x="5355336" y="1330452"/>
              <a:ext cx="3601212" cy="12954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55336" y="1330452"/>
              <a:ext cx="3601720" cy="1295400"/>
            </a:xfrm>
            <a:custGeom>
              <a:avLst/>
              <a:gdLst/>
              <a:ahLst/>
              <a:cxnLst/>
              <a:rect l="l" t="t" r="r" b="b"/>
              <a:pathLst>
                <a:path w="3601720" h="1295400">
                  <a:moveTo>
                    <a:pt x="3385312" y="1295400"/>
                  </a:moveTo>
                  <a:lnTo>
                    <a:pt x="3428491" y="1122680"/>
                  </a:lnTo>
                  <a:lnTo>
                    <a:pt x="3601212" y="1079500"/>
                  </a:lnTo>
                  <a:lnTo>
                    <a:pt x="3385312" y="1295400"/>
                  </a:lnTo>
                  <a:lnTo>
                    <a:pt x="0" y="1295400"/>
                  </a:lnTo>
                  <a:lnTo>
                    <a:pt x="0" y="0"/>
                  </a:lnTo>
                  <a:lnTo>
                    <a:pt x="3601212" y="0"/>
                  </a:lnTo>
                  <a:lnTo>
                    <a:pt x="3601212" y="1079500"/>
                  </a:lnTo>
                </a:path>
              </a:pathLst>
            </a:custGeom>
            <a:ln w="9144">
              <a:solidFill>
                <a:srgbClr val="601B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35346" y="1258449"/>
            <a:ext cx="3442335" cy="117411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600" spc="-15" dirty="0">
                <a:latin typeface="Trebuchet MS"/>
                <a:cs typeface="Trebuchet MS"/>
              </a:rPr>
              <a:t>In </a:t>
            </a:r>
            <a:r>
              <a:rPr sz="1600" spc="-45" dirty="0">
                <a:latin typeface="Trebuchet MS"/>
                <a:cs typeface="Trebuchet MS"/>
              </a:rPr>
              <a:t>32 </a:t>
            </a:r>
            <a:r>
              <a:rPr sz="1600" spc="-55" dirty="0">
                <a:latin typeface="Trebuchet MS"/>
                <a:cs typeface="Trebuchet MS"/>
              </a:rPr>
              <a:t>bit </a:t>
            </a:r>
            <a:r>
              <a:rPr sz="1600" spc="-50" dirty="0">
                <a:latin typeface="Trebuchet MS"/>
                <a:cs typeface="Trebuchet MS"/>
              </a:rPr>
              <a:t>representation </a:t>
            </a:r>
            <a:r>
              <a:rPr sz="1600" spc="-70" dirty="0">
                <a:latin typeface="Trebuchet MS"/>
                <a:cs typeface="Trebuchet MS"/>
              </a:rPr>
              <a:t>there </a:t>
            </a:r>
            <a:r>
              <a:rPr sz="1600" spc="-25" dirty="0">
                <a:latin typeface="Trebuchet MS"/>
                <a:cs typeface="Trebuchet MS"/>
              </a:rPr>
              <a:t>is </a:t>
            </a:r>
            <a:r>
              <a:rPr sz="1600" b="1" spc="-95" dirty="0">
                <a:latin typeface="Trebuchet MS"/>
                <a:cs typeface="Trebuchet MS"/>
              </a:rPr>
              <a:t>23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bits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spc="-65" dirty="0">
                <a:latin typeface="Trebuchet MS"/>
                <a:cs typeface="Trebuchet MS"/>
              </a:rPr>
              <a:t>for the</a:t>
            </a:r>
            <a:r>
              <a:rPr sz="1600" spc="-26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mantissa</a:t>
            </a:r>
            <a:endParaRPr sz="1600">
              <a:latin typeface="Trebuchet MS"/>
              <a:cs typeface="Trebuchet MS"/>
            </a:endParaRPr>
          </a:p>
          <a:p>
            <a:pPr marL="12700" marR="6985">
              <a:lnSpc>
                <a:spcPct val="106900"/>
              </a:lnSpc>
              <a:spcBef>
                <a:spcPts val="800"/>
              </a:spcBef>
            </a:pPr>
            <a:r>
              <a:rPr sz="1600" spc="-95" dirty="0">
                <a:latin typeface="Trebuchet MS"/>
                <a:cs typeface="Trebuchet MS"/>
              </a:rPr>
              <a:t>We </a:t>
            </a:r>
            <a:r>
              <a:rPr sz="1600" spc="-65" dirty="0">
                <a:latin typeface="Trebuchet MS"/>
                <a:cs typeface="Trebuchet MS"/>
              </a:rPr>
              <a:t>will </a:t>
            </a:r>
            <a:r>
              <a:rPr sz="1600" spc="-15" dirty="0">
                <a:latin typeface="Trebuchet MS"/>
                <a:cs typeface="Trebuchet MS"/>
              </a:rPr>
              <a:t>pad </a:t>
            </a:r>
            <a:r>
              <a:rPr sz="1600" spc="-60" dirty="0">
                <a:latin typeface="Trebuchet MS"/>
                <a:cs typeface="Trebuchet MS"/>
              </a:rPr>
              <a:t>the </a:t>
            </a:r>
            <a:r>
              <a:rPr sz="1600" b="1" spc="-20" dirty="0">
                <a:latin typeface="Trebuchet MS"/>
                <a:cs typeface="Trebuchet MS"/>
              </a:rPr>
              <a:t>right </a:t>
            </a:r>
            <a:r>
              <a:rPr sz="1600" spc="-65" dirty="0">
                <a:latin typeface="Trebuchet MS"/>
                <a:cs typeface="Trebuchet MS"/>
              </a:rPr>
              <a:t>of the </a:t>
            </a:r>
            <a:r>
              <a:rPr sz="1600" spc="-30" dirty="0">
                <a:latin typeface="Trebuchet MS"/>
                <a:cs typeface="Trebuchet MS"/>
              </a:rPr>
              <a:t>number  </a:t>
            </a:r>
            <a:r>
              <a:rPr sz="1600" spc="-55" dirty="0">
                <a:latin typeface="Trebuchet MS"/>
                <a:cs typeface="Trebuchet MS"/>
              </a:rPr>
              <a:t>with</a:t>
            </a:r>
            <a:r>
              <a:rPr sz="1600" spc="-155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0</a:t>
            </a:r>
            <a:r>
              <a:rPr sz="1600" spc="-85" dirty="0">
                <a:latin typeface="Verdana"/>
                <a:cs typeface="Verdana"/>
              </a:rPr>
              <a:t>’s</a:t>
            </a:r>
            <a:r>
              <a:rPr sz="1600" spc="-225" dirty="0">
                <a:latin typeface="Verdana"/>
                <a:cs typeface="Verdana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up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to</a:t>
            </a:r>
            <a:r>
              <a:rPr sz="1600" spc="-165" dirty="0">
                <a:latin typeface="Trebuchet MS"/>
                <a:cs typeface="Trebuchet MS"/>
              </a:rPr>
              <a:t> </a:t>
            </a:r>
            <a:r>
              <a:rPr sz="1600" b="1" spc="-100" dirty="0">
                <a:latin typeface="Trebuchet MS"/>
                <a:cs typeface="Trebuchet MS"/>
              </a:rPr>
              <a:t>23</a:t>
            </a:r>
            <a:r>
              <a:rPr sz="1600" b="1" spc="-13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bits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48710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If </a:t>
            </a:r>
            <a:r>
              <a:rPr spc="85" dirty="0"/>
              <a:t>the </a:t>
            </a:r>
            <a:r>
              <a:rPr dirty="0"/>
              <a:t>Exponent</a:t>
            </a:r>
            <a:r>
              <a:rPr spc="-520" dirty="0"/>
              <a:t> </a:t>
            </a:r>
            <a:r>
              <a:rPr spc="-125" dirty="0"/>
              <a:t>is </a:t>
            </a:r>
            <a:r>
              <a:rPr spc="50" dirty="0"/>
              <a:t>negative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marR="5080">
              <a:lnSpc>
                <a:spcPct val="114999"/>
              </a:lnSpc>
              <a:spcBef>
                <a:spcPts val="100"/>
              </a:spcBef>
            </a:pPr>
            <a:r>
              <a:rPr spc="-20" dirty="0"/>
              <a:t>In</a:t>
            </a:r>
            <a:r>
              <a:rPr spc="-170" dirty="0"/>
              <a:t> </a:t>
            </a:r>
            <a:r>
              <a:rPr spc="-75" dirty="0"/>
              <a:t>reality</a:t>
            </a:r>
            <a:r>
              <a:rPr spc="-180" dirty="0"/>
              <a:t> </a:t>
            </a:r>
            <a:r>
              <a:rPr spc="-75" dirty="0"/>
              <a:t>there</a:t>
            </a:r>
            <a:r>
              <a:rPr spc="-185" dirty="0"/>
              <a:t> </a:t>
            </a:r>
            <a:r>
              <a:rPr spc="-70" dirty="0"/>
              <a:t>are</a:t>
            </a:r>
            <a:r>
              <a:rPr spc="-180" dirty="0"/>
              <a:t> </a:t>
            </a:r>
            <a:r>
              <a:rPr spc="-55" dirty="0"/>
              <a:t>other</a:t>
            </a:r>
            <a:r>
              <a:rPr spc="-180" dirty="0"/>
              <a:t> </a:t>
            </a:r>
            <a:r>
              <a:rPr spc="-30" dirty="0"/>
              <a:t>ways</a:t>
            </a:r>
            <a:r>
              <a:rPr spc="-185" dirty="0"/>
              <a:t> </a:t>
            </a:r>
            <a:r>
              <a:rPr spc="-65" dirty="0"/>
              <a:t>that</a:t>
            </a:r>
            <a:r>
              <a:rPr spc="-185" dirty="0"/>
              <a:t> </a:t>
            </a:r>
            <a:r>
              <a:rPr spc="-40" dirty="0"/>
              <a:t>this</a:t>
            </a:r>
            <a:r>
              <a:rPr spc="-190" dirty="0"/>
              <a:t> </a:t>
            </a:r>
            <a:r>
              <a:rPr spc="-25" dirty="0"/>
              <a:t>is</a:t>
            </a:r>
            <a:r>
              <a:rPr spc="-185" dirty="0"/>
              <a:t> </a:t>
            </a:r>
            <a:r>
              <a:rPr spc="-65" dirty="0"/>
              <a:t>dealt</a:t>
            </a:r>
            <a:r>
              <a:rPr spc="-165" dirty="0"/>
              <a:t> </a:t>
            </a:r>
            <a:r>
              <a:rPr spc="-60" dirty="0"/>
              <a:t>with</a:t>
            </a:r>
            <a:r>
              <a:rPr spc="-200" dirty="0"/>
              <a:t> </a:t>
            </a:r>
            <a:r>
              <a:rPr spc="-80" dirty="0"/>
              <a:t>(offset</a:t>
            </a:r>
            <a:r>
              <a:rPr spc="-165" dirty="0"/>
              <a:t> </a:t>
            </a:r>
            <a:r>
              <a:rPr spc="-45" dirty="0"/>
              <a:t>exponents</a:t>
            </a:r>
            <a:r>
              <a:rPr spc="-180" dirty="0"/>
              <a:t> </a:t>
            </a:r>
            <a:r>
              <a:rPr spc="-70" dirty="0"/>
              <a:t>for</a:t>
            </a:r>
            <a:r>
              <a:rPr spc="-175" dirty="0"/>
              <a:t> </a:t>
            </a:r>
            <a:r>
              <a:rPr spc="-35" dirty="0"/>
              <a:t>those</a:t>
            </a:r>
            <a:r>
              <a:rPr spc="-180" dirty="0"/>
              <a:t> </a:t>
            </a:r>
            <a:r>
              <a:rPr spc="-65" dirty="0"/>
              <a:t>that</a:t>
            </a:r>
            <a:r>
              <a:rPr spc="-185" dirty="0"/>
              <a:t> </a:t>
            </a:r>
            <a:r>
              <a:rPr spc="-70" dirty="0"/>
              <a:t>are  interested)</a:t>
            </a:r>
          </a:p>
          <a:p>
            <a:pPr marL="75565" marR="666750">
              <a:lnSpc>
                <a:spcPct val="114999"/>
              </a:lnSpc>
              <a:spcBef>
                <a:spcPts val="1610"/>
              </a:spcBef>
            </a:pPr>
            <a:r>
              <a:rPr spc="-150" dirty="0">
                <a:latin typeface="Verdana"/>
                <a:cs typeface="Verdana"/>
              </a:rPr>
              <a:t>But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125" dirty="0">
                <a:latin typeface="Verdana"/>
                <a:cs typeface="Verdana"/>
              </a:rPr>
              <a:t>for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150" dirty="0">
                <a:latin typeface="Verdana"/>
                <a:cs typeface="Verdana"/>
              </a:rPr>
              <a:t>the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150" dirty="0">
                <a:latin typeface="Verdana"/>
                <a:cs typeface="Verdana"/>
              </a:rPr>
              <a:t>purpose</a:t>
            </a:r>
            <a:r>
              <a:rPr spc="-280" dirty="0">
                <a:latin typeface="Verdana"/>
                <a:cs typeface="Verdana"/>
              </a:rPr>
              <a:t> </a:t>
            </a:r>
            <a:r>
              <a:rPr spc="-114" dirty="0">
                <a:latin typeface="Verdana"/>
                <a:cs typeface="Verdana"/>
              </a:rPr>
              <a:t>of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150" dirty="0">
                <a:latin typeface="Verdana"/>
                <a:cs typeface="Verdana"/>
              </a:rPr>
              <a:t>the</a:t>
            </a:r>
            <a:r>
              <a:rPr spc="-285" dirty="0">
                <a:latin typeface="Verdana"/>
                <a:cs typeface="Verdana"/>
              </a:rPr>
              <a:t> </a:t>
            </a:r>
            <a:r>
              <a:rPr spc="-155" dirty="0">
                <a:latin typeface="Verdana"/>
                <a:cs typeface="Verdana"/>
              </a:rPr>
              <a:t>course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185" dirty="0">
                <a:latin typeface="Verdana"/>
                <a:cs typeface="Verdana"/>
              </a:rPr>
              <a:t>we</a:t>
            </a:r>
            <a:r>
              <a:rPr spc="-280" dirty="0">
                <a:latin typeface="Verdana"/>
                <a:cs typeface="Verdana"/>
              </a:rPr>
              <a:t> </a:t>
            </a:r>
            <a:r>
              <a:rPr spc="-80" dirty="0">
                <a:latin typeface="Verdana"/>
                <a:cs typeface="Verdana"/>
              </a:rPr>
              <a:t>will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145" dirty="0">
                <a:latin typeface="Verdana"/>
                <a:cs typeface="Verdana"/>
              </a:rPr>
              <a:t>store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175" dirty="0">
                <a:latin typeface="Verdana"/>
                <a:cs typeface="Verdana"/>
              </a:rPr>
              <a:t>a</a:t>
            </a:r>
            <a:r>
              <a:rPr spc="-275" dirty="0">
                <a:latin typeface="Verdana"/>
                <a:cs typeface="Verdana"/>
              </a:rPr>
              <a:t> </a:t>
            </a:r>
            <a:r>
              <a:rPr spc="-160" dirty="0">
                <a:latin typeface="Verdana"/>
                <a:cs typeface="Verdana"/>
              </a:rPr>
              <a:t>negative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165" dirty="0">
                <a:latin typeface="Verdana"/>
                <a:cs typeface="Verdana"/>
              </a:rPr>
              <a:t>exponent</a:t>
            </a:r>
            <a:r>
              <a:rPr spc="-260" dirty="0">
                <a:latin typeface="Verdana"/>
                <a:cs typeface="Verdana"/>
              </a:rPr>
              <a:t> </a:t>
            </a:r>
            <a:r>
              <a:rPr spc="-105" dirty="0">
                <a:latin typeface="Verdana"/>
                <a:cs typeface="Verdana"/>
              </a:rPr>
              <a:t>in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250" dirty="0">
                <a:latin typeface="Verdana"/>
                <a:cs typeface="Verdana"/>
              </a:rPr>
              <a:t>8</a:t>
            </a:r>
            <a:r>
              <a:rPr spc="-270" dirty="0">
                <a:latin typeface="Verdana"/>
                <a:cs typeface="Verdana"/>
              </a:rPr>
              <a:t> </a:t>
            </a:r>
            <a:r>
              <a:rPr spc="-95" dirty="0">
                <a:latin typeface="Verdana"/>
                <a:cs typeface="Verdana"/>
              </a:rPr>
              <a:t>bit</a:t>
            </a:r>
            <a:r>
              <a:rPr spc="-265" dirty="0">
                <a:latin typeface="Verdana"/>
                <a:cs typeface="Verdana"/>
              </a:rPr>
              <a:t> </a:t>
            </a:r>
            <a:r>
              <a:rPr spc="-125" dirty="0">
                <a:latin typeface="Verdana"/>
                <a:cs typeface="Verdana"/>
              </a:rPr>
              <a:t>two’s  </a:t>
            </a:r>
            <a:r>
              <a:rPr spc="-65" dirty="0"/>
              <a:t>complement: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1500" y="2550515"/>
          <a:ext cx="2851150" cy="805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755">
                <a:tc>
                  <a:txBody>
                    <a:bodyPr/>
                    <a:lstStyle/>
                    <a:p>
                      <a:pPr marL="31750">
                        <a:lnSpc>
                          <a:spcPts val="213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ts val="213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30"/>
                        </a:lnSpc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0000</a:t>
                      </a:r>
                      <a:r>
                        <a:rPr sz="1800" spc="-2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0010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7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80" dirty="0">
                          <a:latin typeface="Trebuchet MS"/>
                          <a:cs typeface="Trebuchet MS"/>
                        </a:rPr>
                        <a:t>-2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1111</a:t>
                      </a:r>
                      <a:r>
                        <a:rPr sz="1800" spc="-2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1110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6324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What</a:t>
            </a:r>
            <a:r>
              <a:rPr spc="-114" dirty="0"/>
              <a:t> </a:t>
            </a:r>
            <a:r>
              <a:rPr spc="55" dirty="0"/>
              <a:t>about</a:t>
            </a:r>
            <a:r>
              <a:rPr spc="-160" dirty="0"/>
              <a:t> </a:t>
            </a:r>
            <a:r>
              <a:rPr spc="65" dirty="0"/>
              <a:t>really</a:t>
            </a:r>
            <a:r>
              <a:rPr spc="-120" dirty="0"/>
              <a:t> </a:t>
            </a:r>
            <a:r>
              <a:rPr spc="45" dirty="0"/>
              <a:t>small</a:t>
            </a:r>
            <a:r>
              <a:rPr spc="-125" dirty="0"/>
              <a:t> </a:t>
            </a:r>
            <a:r>
              <a:rPr spc="-30" dirty="0"/>
              <a:t>numbers?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64870"/>
            <a:ext cx="6691630" cy="289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Trebuchet MS"/>
                <a:cs typeface="Trebuchet MS"/>
              </a:rPr>
              <a:t>What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if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are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storing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0.0009765625?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integer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portion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decimal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portion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is: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.0000000001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spc="50" dirty="0">
                <a:latin typeface="Trebuchet MS"/>
                <a:cs typeface="Trebuchet MS"/>
              </a:rPr>
              <a:t>So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our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number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need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0.1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1800" spc="-105" dirty="0">
                <a:latin typeface="Trebuchet MS"/>
                <a:cs typeface="Trebuchet MS"/>
              </a:rPr>
              <a:t>We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need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shift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exponent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10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places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right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spc="-35" dirty="0">
                <a:latin typeface="Trebuchet MS"/>
                <a:cs typeface="Trebuchet MS"/>
              </a:rPr>
              <a:t>This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means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need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to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store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b="1" spc="-95" dirty="0">
                <a:latin typeface="Trebuchet MS"/>
                <a:cs typeface="Trebuchet MS"/>
              </a:rPr>
              <a:t>-10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as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exponent</a:t>
            </a:r>
            <a:r>
              <a:rPr sz="1800" b="1" spc="-18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(two's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complement)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33693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Further </a:t>
            </a:r>
            <a:r>
              <a:rPr spc="30" dirty="0"/>
              <a:t>Example</a:t>
            </a:r>
            <a:r>
              <a:rPr spc="-330" dirty="0"/>
              <a:t> </a:t>
            </a:r>
            <a:r>
              <a:rPr spc="5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64870"/>
            <a:ext cx="7499984" cy="237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0" dirty="0">
                <a:latin typeface="Trebuchet MS"/>
                <a:cs typeface="Trebuchet MS"/>
              </a:rPr>
              <a:t>0.0009765625?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  <a:tabLst>
                <a:tab pos="2755900" algn="l"/>
              </a:tabLst>
            </a:pPr>
            <a:r>
              <a:rPr sz="1800" b="1" spc="10" dirty="0">
                <a:solidFill>
                  <a:srgbClr val="38761D"/>
                </a:solidFill>
                <a:latin typeface="Trebuchet MS"/>
                <a:cs typeface="Trebuchet MS"/>
              </a:rPr>
              <a:t>Sign </a:t>
            </a:r>
            <a:r>
              <a:rPr sz="1800" b="1" spc="-105" dirty="0">
                <a:solidFill>
                  <a:srgbClr val="38761D"/>
                </a:solidFill>
                <a:latin typeface="Trebuchet MS"/>
                <a:cs typeface="Trebuchet MS"/>
              </a:rPr>
              <a:t>=</a:t>
            </a:r>
            <a:r>
              <a:rPr sz="1800" b="1" spc="-360" dirty="0">
                <a:solidFill>
                  <a:srgbClr val="38761D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38761D"/>
                </a:solidFill>
                <a:latin typeface="Trebuchet MS"/>
                <a:cs typeface="Trebuchet MS"/>
              </a:rPr>
              <a:t>0</a:t>
            </a:r>
            <a:r>
              <a:rPr sz="1800" b="1" spc="-175" dirty="0">
                <a:solidFill>
                  <a:srgbClr val="38761D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38761D"/>
                </a:solidFill>
                <a:latin typeface="Trebuchet MS"/>
                <a:cs typeface="Trebuchet MS"/>
              </a:rPr>
              <a:t>(+ve)	</a:t>
            </a:r>
            <a:r>
              <a:rPr sz="1800" b="1" spc="-35" dirty="0">
                <a:solidFill>
                  <a:srgbClr val="CC0000"/>
                </a:solidFill>
                <a:latin typeface="Trebuchet MS"/>
                <a:cs typeface="Trebuchet MS"/>
              </a:rPr>
              <a:t>Integer</a:t>
            </a:r>
            <a:r>
              <a:rPr sz="1800" b="1" spc="-42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CC0000"/>
                </a:solidFill>
                <a:latin typeface="Trebuchet MS"/>
                <a:cs typeface="Trebuchet MS"/>
              </a:rPr>
              <a:t>= 0 = </a:t>
            </a:r>
            <a:r>
              <a:rPr sz="1800" b="1" spc="-110" dirty="0">
                <a:solidFill>
                  <a:srgbClr val="CC0000"/>
                </a:solidFill>
                <a:latin typeface="Trebuchet MS"/>
                <a:cs typeface="Trebuchet MS"/>
              </a:rPr>
              <a:t>0000000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b="1" spc="-40" dirty="0">
                <a:solidFill>
                  <a:srgbClr val="0A5293"/>
                </a:solidFill>
                <a:latin typeface="Trebuchet MS"/>
                <a:cs typeface="Trebuchet MS"/>
              </a:rPr>
              <a:t>Decimal</a:t>
            </a:r>
            <a:r>
              <a:rPr sz="1800" b="1" spc="-19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0A5293"/>
                </a:solidFill>
                <a:latin typeface="Trebuchet MS"/>
                <a:cs typeface="Trebuchet MS"/>
              </a:rPr>
              <a:t>portion</a:t>
            </a:r>
            <a:r>
              <a:rPr sz="1800" b="1" spc="-17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0A5293"/>
                </a:solidFill>
                <a:latin typeface="Trebuchet MS"/>
                <a:cs typeface="Trebuchet MS"/>
              </a:rPr>
              <a:t>.0000000001</a:t>
            </a:r>
            <a:r>
              <a:rPr sz="1800" b="1" spc="-16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latin typeface="Trebuchet MS"/>
                <a:cs typeface="Trebuchet MS"/>
              </a:rPr>
              <a:t>-&gt;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Number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CC0000"/>
                </a:solidFill>
                <a:latin typeface="Trebuchet MS"/>
                <a:cs typeface="Trebuchet MS"/>
              </a:rPr>
              <a:t>0</a:t>
            </a:r>
            <a:r>
              <a:rPr sz="1800" b="1" spc="-110" dirty="0">
                <a:latin typeface="Trebuchet MS"/>
                <a:cs typeface="Trebuchet MS"/>
              </a:rPr>
              <a:t>.</a:t>
            </a:r>
            <a:r>
              <a:rPr sz="1800" b="1" spc="-110" dirty="0">
                <a:solidFill>
                  <a:srgbClr val="0A5293"/>
                </a:solidFill>
                <a:latin typeface="Trebuchet MS"/>
                <a:cs typeface="Trebuchet MS"/>
              </a:rPr>
              <a:t>0000000001</a:t>
            </a:r>
            <a:r>
              <a:rPr sz="1800" b="1" spc="-16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latin typeface="Trebuchet MS"/>
                <a:cs typeface="Trebuchet MS"/>
              </a:rPr>
              <a:t>-&gt;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b="1" spc="-40" dirty="0">
                <a:latin typeface="Trebuchet MS"/>
                <a:cs typeface="Trebuchet MS"/>
              </a:rPr>
              <a:t>Needs</a:t>
            </a:r>
            <a:r>
              <a:rPr sz="1800" b="1" spc="-16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to</a:t>
            </a:r>
            <a:r>
              <a:rPr sz="1800" b="1" spc="-195" dirty="0">
                <a:latin typeface="Trebuchet MS"/>
                <a:cs typeface="Trebuchet MS"/>
              </a:rPr>
              <a:t> </a:t>
            </a:r>
            <a:r>
              <a:rPr sz="1800" b="1" spc="-60" dirty="0">
                <a:latin typeface="Trebuchet MS"/>
                <a:cs typeface="Trebuchet MS"/>
              </a:rPr>
              <a:t>be</a:t>
            </a:r>
            <a:r>
              <a:rPr sz="1800" b="1" spc="-170" dirty="0">
                <a:latin typeface="Trebuchet MS"/>
                <a:cs typeface="Trebuchet MS"/>
              </a:rPr>
              <a:t> </a:t>
            </a:r>
            <a:r>
              <a:rPr sz="1800" b="1" spc="-114" dirty="0">
                <a:latin typeface="Trebuchet MS"/>
                <a:cs typeface="Trebuchet MS"/>
              </a:rPr>
              <a:t>.1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800" b="1" spc="-45" dirty="0">
                <a:solidFill>
                  <a:srgbClr val="B45F05"/>
                </a:solidFill>
                <a:latin typeface="Trebuchet MS"/>
                <a:cs typeface="Trebuchet MS"/>
              </a:rPr>
              <a:t>Exponent</a:t>
            </a:r>
            <a:r>
              <a:rPr sz="1800" b="1" spc="-18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B45F05"/>
                </a:solidFill>
                <a:latin typeface="Trebuchet MS"/>
                <a:cs typeface="Trebuchet MS"/>
              </a:rPr>
              <a:t>=</a:t>
            </a:r>
            <a:r>
              <a:rPr sz="1800" spc="-180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B45F05"/>
                </a:solidFill>
                <a:latin typeface="Trebuchet MS"/>
                <a:cs typeface="Trebuchet MS"/>
              </a:rPr>
              <a:t>-10</a:t>
            </a:r>
            <a:r>
              <a:rPr sz="1800" spc="-17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B45F05"/>
                </a:solidFill>
                <a:latin typeface="Trebuchet MS"/>
                <a:cs typeface="Trebuchet MS"/>
              </a:rPr>
              <a:t>=</a:t>
            </a:r>
            <a:r>
              <a:rPr sz="1800" spc="-18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B45F05"/>
                </a:solidFill>
                <a:latin typeface="Trebuchet MS"/>
                <a:cs typeface="Trebuchet MS"/>
              </a:rPr>
              <a:t>(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+10</a:t>
            </a:r>
            <a:r>
              <a:rPr sz="1800" b="1" spc="19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B45F05"/>
                </a:solidFill>
                <a:latin typeface="Trebuchet MS"/>
                <a:cs typeface="Trebuchet MS"/>
              </a:rPr>
              <a:t>=</a:t>
            </a:r>
            <a:r>
              <a:rPr sz="1800" b="1" spc="-18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0000</a:t>
            </a:r>
            <a:r>
              <a:rPr sz="1800" b="1" spc="-180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95" dirty="0">
                <a:solidFill>
                  <a:srgbClr val="B45F05"/>
                </a:solidFill>
                <a:latin typeface="Trebuchet MS"/>
                <a:cs typeface="Trebuchet MS"/>
              </a:rPr>
              <a:t>1010)</a:t>
            </a:r>
            <a:r>
              <a:rPr sz="1800" b="1" spc="-160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B45F05"/>
                </a:solidFill>
                <a:latin typeface="Trebuchet MS"/>
                <a:cs typeface="Trebuchet MS"/>
              </a:rPr>
              <a:t>-10</a:t>
            </a:r>
            <a:r>
              <a:rPr sz="1800" b="1" spc="-180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B45F05"/>
                </a:solidFill>
                <a:latin typeface="Trebuchet MS"/>
                <a:cs typeface="Trebuchet MS"/>
              </a:rPr>
              <a:t>=</a:t>
            </a:r>
            <a:r>
              <a:rPr sz="1800" b="1" spc="-185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1111</a:t>
            </a:r>
            <a:r>
              <a:rPr sz="1800" b="1" spc="-180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0110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1800" spc="-30" dirty="0">
                <a:latin typeface="Trebuchet MS"/>
                <a:cs typeface="Trebuchet MS"/>
              </a:rPr>
              <a:t>Number </a:t>
            </a:r>
            <a:r>
              <a:rPr sz="1800" spc="-80" dirty="0">
                <a:latin typeface="Trebuchet MS"/>
                <a:cs typeface="Trebuchet MS"/>
              </a:rPr>
              <a:t>(32 </a:t>
            </a:r>
            <a:r>
              <a:rPr sz="1800" spc="-65" dirty="0">
                <a:latin typeface="Trebuchet MS"/>
                <a:cs typeface="Trebuchet MS"/>
              </a:rPr>
              <a:t>bit </a:t>
            </a:r>
            <a:r>
              <a:rPr sz="1800" spc="-25" dirty="0">
                <a:latin typeface="Trebuchet MS"/>
                <a:cs typeface="Trebuchet MS"/>
              </a:rPr>
              <a:t>Single </a:t>
            </a:r>
            <a:r>
              <a:rPr sz="1800" spc="-45" dirty="0">
                <a:latin typeface="Trebuchet MS"/>
                <a:cs typeface="Trebuchet MS"/>
              </a:rPr>
              <a:t>Precision) </a:t>
            </a:r>
            <a:r>
              <a:rPr sz="1800" spc="-50" dirty="0">
                <a:latin typeface="Trebuchet MS"/>
                <a:cs typeface="Trebuchet MS"/>
              </a:rPr>
              <a:t>= </a:t>
            </a:r>
            <a:r>
              <a:rPr sz="1800" b="1" spc="-105" dirty="0">
                <a:solidFill>
                  <a:srgbClr val="38761D"/>
                </a:solidFill>
                <a:latin typeface="Trebuchet MS"/>
                <a:cs typeface="Trebuchet MS"/>
              </a:rPr>
              <a:t>0 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1111</a:t>
            </a:r>
            <a:r>
              <a:rPr sz="1800" b="1" spc="-380" dirty="0">
                <a:solidFill>
                  <a:srgbClr val="B45F05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B45F05"/>
                </a:solidFill>
                <a:latin typeface="Trebuchet MS"/>
                <a:cs typeface="Trebuchet MS"/>
              </a:rPr>
              <a:t>0110 </a:t>
            </a:r>
            <a:r>
              <a:rPr sz="1800" b="1" spc="-50" dirty="0">
                <a:solidFill>
                  <a:srgbClr val="CC0000"/>
                </a:solidFill>
                <a:latin typeface="Trebuchet MS"/>
                <a:cs typeface="Trebuchet MS"/>
              </a:rPr>
              <a:t>0</a:t>
            </a:r>
            <a:r>
              <a:rPr sz="1800" b="1" spc="-50" dirty="0">
                <a:solidFill>
                  <a:srgbClr val="0A5293"/>
                </a:solidFill>
                <a:latin typeface="Trebuchet MS"/>
                <a:cs typeface="Trebuchet MS"/>
              </a:rPr>
              <a:t>1</a:t>
            </a:r>
            <a:r>
              <a:rPr sz="1800" spc="-50" dirty="0">
                <a:latin typeface="Trebuchet MS"/>
                <a:cs typeface="Trebuchet MS"/>
              </a:rPr>
              <a:t>000000000000000000000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167385"/>
            <a:ext cx="52038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Different </a:t>
            </a:r>
            <a:r>
              <a:rPr spc="-40" dirty="0"/>
              <a:t>Precision</a:t>
            </a:r>
            <a:r>
              <a:rPr spc="-330" dirty="0"/>
              <a:t> </a:t>
            </a:r>
            <a:r>
              <a:rPr spc="40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864870"/>
            <a:ext cx="2264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Single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Precision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(32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bit)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2442159"/>
            <a:ext cx="23590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rebuchet MS"/>
                <a:cs typeface="Trebuchet MS"/>
              </a:rPr>
              <a:t>Double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precision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(64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bit)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2363" y="1197228"/>
          <a:ext cx="7859395" cy="1120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3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0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Exponent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Mantissa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1bit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 bits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23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bits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506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1.18 × </a:t>
                      </a:r>
                      <a:r>
                        <a:rPr sz="2000" spc="1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950" spc="15" baseline="25641" dirty="0">
                          <a:latin typeface="Arial"/>
                          <a:cs typeface="Arial"/>
                        </a:rPr>
                        <a:t>–38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to 3.40 ×</a:t>
                      </a:r>
                      <a:r>
                        <a:rPr sz="2000" spc="-3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5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950" spc="7" baseline="25641" dirty="0">
                          <a:latin typeface="Arial"/>
                          <a:cs typeface="Arial"/>
                        </a:rPr>
                        <a:t>38</a:t>
                      </a:r>
                      <a:endParaRPr sz="1950" baseline="25641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3196" y="2925445"/>
          <a:ext cx="7861299" cy="1120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0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Exponent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Mantissa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A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1bit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bits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52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bits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430"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2.23 × </a:t>
                      </a:r>
                      <a:r>
                        <a:rPr sz="2000" spc="1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950" spc="15" baseline="25641" dirty="0">
                          <a:latin typeface="Arial"/>
                          <a:cs typeface="Arial"/>
                        </a:rPr>
                        <a:t>–308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to 1.79 ×</a:t>
                      </a:r>
                      <a:r>
                        <a:rPr sz="2000" spc="-3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1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950" spc="15" baseline="25641" dirty="0">
                          <a:latin typeface="Arial"/>
                          <a:cs typeface="Arial"/>
                        </a:rPr>
                        <a:t>308</a:t>
                      </a:r>
                      <a:endParaRPr sz="1950" baseline="25641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571557-3A75-5825-E1E9-BBFC38052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557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149F61-AC26-93D2-AA6D-16DFAE344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14"/>
            <a:ext cx="9144000" cy="505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8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550" y="1885950"/>
            <a:ext cx="8362899" cy="2031325"/>
          </a:xfrm>
        </p:spPr>
        <p:txBody>
          <a:bodyPr/>
          <a:lstStyle/>
          <a:p>
            <a:pPr algn="ctr"/>
            <a:br>
              <a:rPr lang="en-US" sz="6600" dirty="0"/>
            </a:br>
            <a:endParaRPr lang="en-US" sz="6600" dirty="0"/>
          </a:p>
        </p:txBody>
      </p:sp>
      <p:pic>
        <p:nvPicPr>
          <p:cNvPr id="6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61950"/>
            <a:ext cx="7543799" cy="4191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1159</Words>
  <Application>Microsoft Office PowerPoint</Application>
  <PresentationFormat>On-screen Show (16:9)</PresentationFormat>
  <Paragraphs>309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Algerian</vt:lpstr>
      <vt:lpstr>Arial</vt:lpstr>
      <vt:lpstr>Calibri</vt:lpstr>
      <vt:lpstr>Noto Sans Symbols</vt:lpstr>
      <vt:lpstr>Times New Roman</vt:lpstr>
      <vt:lpstr>Trebuchet MS</vt:lpstr>
      <vt:lpstr>Verdana</vt:lpstr>
      <vt:lpstr>Office Theme</vt:lpstr>
      <vt:lpstr>Floating Point Representation</vt:lpstr>
      <vt:lpstr>Floating Point Representation</vt:lpstr>
      <vt:lpstr>IEEE standard</vt:lpstr>
      <vt:lpstr>A 32 bit floating point number</vt:lpstr>
      <vt:lpstr>Lets look at an example</vt:lpstr>
      <vt:lpstr>Decimal fractions</vt:lpstr>
      <vt:lpstr>Binary fractions</vt:lpstr>
      <vt:lpstr>A worked example</vt:lpstr>
      <vt:lpstr>Example (cont)</vt:lpstr>
      <vt:lpstr>So far</vt:lpstr>
      <vt:lpstr>Example</vt:lpstr>
      <vt:lpstr>Further Example 1</vt:lpstr>
      <vt:lpstr>Further Example 2</vt:lpstr>
      <vt:lpstr>What about small numbers?</vt:lpstr>
      <vt:lpstr>Example (cont)</vt:lpstr>
      <vt:lpstr>So far</vt:lpstr>
      <vt:lpstr>Example</vt:lpstr>
      <vt:lpstr>If the Exponent is negative</vt:lpstr>
      <vt:lpstr>What about really small numbers?</vt:lpstr>
      <vt:lpstr>Further Example 3</vt:lpstr>
      <vt:lpstr>Different Precision Numbers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Numbers</dc:title>
  <dc:creator>Anu Chanti</dc:creator>
  <cp:lastModifiedBy>anusha kasturi</cp:lastModifiedBy>
  <cp:revision>15</cp:revision>
  <dcterms:created xsi:type="dcterms:W3CDTF">2021-06-19T04:01:42Z</dcterms:created>
  <dcterms:modified xsi:type="dcterms:W3CDTF">2024-01-23T04:52:38Z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2021-06-19T00:00:00Z</vt:filetime>
  </property>
</Properties>
</file>