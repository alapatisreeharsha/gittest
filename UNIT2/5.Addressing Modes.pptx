
<file path=[Content_Types].xml><?xml version="1.0" encoding="utf-8"?>
<Types xmlns="http://schemas.openxmlformats.org/package/2006/content-types">
  <Default ContentType="application/xml" Extension="xml"/>
  <Default ContentType="image/jpeg" Extension="jpeg"/>
  <Default ContentType="application/vnd.openxmlformats-package.relationships+xml" Extension="rels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39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33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6858000" cx="12192000"/>
  <p:notesSz cx="12192000" cy="6858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2D5ABB26-0587-4C30-8999-92F81FD0307C}" styleName="No Style, No Grid">
    <a:wholeTbl>
      <a:tcTxStyle>
        <a:fontRef idx="minor">
          <a:scrgbClr b="0" g="0" r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Ali</a:t>
            </a:r>
            <a:r>
              <a:rPr spc="-10" dirty="0"/>
              <a:t> </a:t>
            </a:r>
            <a:r>
              <a:rPr dirty="0"/>
              <a:t>Asghar</a:t>
            </a:r>
            <a:r>
              <a:rPr spc="-20" dirty="0"/>
              <a:t> </a:t>
            </a:r>
            <a:r>
              <a:rPr spc="-5" dirty="0"/>
              <a:t>Manjotho,</a:t>
            </a:r>
            <a:r>
              <a:rPr spc="-50" dirty="0"/>
              <a:t> </a:t>
            </a:r>
            <a:r>
              <a:rPr spc="-5" dirty="0"/>
              <a:t>Lecturer</a:t>
            </a:r>
            <a:r>
              <a:rPr spc="-40" dirty="0"/>
              <a:t> </a:t>
            </a:r>
            <a:r>
              <a:rPr dirty="0"/>
              <a:t>CSE-MUET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Ali</a:t>
            </a:r>
            <a:r>
              <a:rPr spc="-10" dirty="0"/>
              <a:t> </a:t>
            </a:r>
            <a:r>
              <a:rPr dirty="0"/>
              <a:t>Asghar</a:t>
            </a:r>
            <a:r>
              <a:rPr spc="-20" dirty="0"/>
              <a:t> </a:t>
            </a:r>
            <a:r>
              <a:rPr spc="-5" dirty="0"/>
              <a:t>Manjotho,</a:t>
            </a:r>
            <a:r>
              <a:rPr spc="-50" dirty="0"/>
              <a:t> </a:t>
            </a:r>
            <a:r>
              <a:rPr spc="-5" dirty="0"/>
              <a:t>Lecturer</a:t>
            </a:r>
            <a:r>
              <a:rPr spc="-40" dirty="0"/>
              <a:t> </a:t>
            </a:r>
            <a:r>
              <a:rPr dirty="0"/>
              <a:t>CSE-MUET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Ali</a:t>
            </a:r>
            <a:r>
              <a:rPr spc="-10" dirty="0"/>
              <a:t> </a:t>
            </a:r>
            <a:r>
              <a:rPr dirty="0"/>
              <a:t>Asghar</a:t>
            </a:r>
            <a:r>
              <a:rPr spc="-20" dirty="0"/>
              <a:t> </a:t>
            </a:r>
            <a:r>
              <a:rPr spc="-5" dirty="0"/>
              <a:t>Manjotho,</a:t>
            </a:r>
            <a:r>
              <a:rPr spc="-50" dirty="0"/>
              <a:t> </a:t>
            </a:r>
            <a:r>
              <a:rPr spc="-5" dirty="0"/>
              <a:t>Lecturer</a:t>
            </a:r>
            <a:r>
              <a:rPr spc="-40" dirty="0"/>
              <a:t> </a:t>
            </a:r>
            <a:r>
              <a:rPr dirty="0"/>
              <a:t>CSE-MUET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6/20/2022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Ali</a:t>
            </a:r>
            <a:r>
              <a:rPr spc="-10" dirty="0"/>
              <a:t> </a:t>
            </a:r>
            <a:r>
              <a:rPr dirty="0"/>
              <a:t>Asghar</a:t>
            </a:r>
            <a:r>
              <a:rPr spc="-20" dirty="0"/>
              <a:t> </a:t>
            </a:r>
            <a:r>
              <a:rPr spc="-5" dirty="0"/>
              <a:t>Manjotho,</a:t>
            </a:r>
            <a:r>
              <a:rPr spc="-50" dirty="0"/>
              <a:t> </a:t>
            </a:r>
            <a:r>
              <a:rPr spc="-5" dirty="0"/>
              <a:t>Lecturer</a:t>
            </a:r>
            <a:r>
              <a:rPr spc="-40" dirty="0"/>
              <a:t> </a:t>
            </a:r>
            <a:r>
              <a:rPr dirty="0"/>
              <a:t>CSE-MUET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6/20/2022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Ali</a:t>
            </a:r>
            <a:r>
              <a:rPr spc="-10" dirty="0"/>
              <a:t> </a:t>
            </a:r>
            <a:r>
              <a:rPr dirty="0"/>
              <a:t>Asghar</a:t>
            </a:r>
            <a:r>
              <a:rPr spc="-20" dirty="0"/>
              <a:t> </a:t>
            </a:r>
            <a:r>
              <a:rPr spc="-5" dirty="0"/>
              <a:t>Manjotho,</a:t>
            </a:r>
            <a:r>
              <a:rPr spc="-50" dirty="0"/>
              <a:t> </a:t>
            </a:r>
            <a:r>
              <a:rPr spc="-5" dirty="0"/>
              <a:t>Lecturer</a:t>
            </a:r>
            <a:r>
              <a:rPr spc="-40" dirty="0"/>
              <a:t> </a:t>
            </a:r>
            <a:r>
              <a:rPr dirty="0"/>
              <a:t>CSE-MUET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6/20/2022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94736" y="2516504"/>
            <a:ext cx="6002527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6233" y="1983739"/>
            <a:ext cx="7784465" cy="370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16602" y="6464909"/>
            <a:ext cx="255968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Ali</a:t>
            </a:r>
            <a:r>
              <a:rPr spc="-10" dirty="0"/>
              <a:t> </a:t>
            </a:r>
            <a:r>
              <a:rPr dirty="0"/>
              <a:t>Asghar</a:t>
            </a:r>
            <a:r>
              <a:rPr spc="-20" dirty="0"/>
              <a:t> </a:t>
            </a:r>
            <a:r>
              <a:rPr spc="-5" dirty="0"/>
              <a:t>Manjotho,</a:t>
            </a:r>
            <a:r>
              <a:rPr spc="-50" dirty="0"/>
              <a:t> </a:t>
            </a:r>
            <a:r>
              <a:rPr spc="-5" dirty="0"/>
              <a:t>Lecturer</a:t>
            </a:r>
            <a:r>
              <a:rPr spc="-40" dirty="0"/>
              <a:t> </a:t>
            </a:r>
            <a:r>
              <a:rPr dirty="0"/>
              <a:t>CSE-MUET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516504"/>
            <a:ext cx="105918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100"/>
              </a:spcBef>
            </a:pPr>
            <a:r>
              <a:rPr b="1" spc="-15" dirty="0">
                <a:solidFill>
                  <a:schemeClr val="accent3">
                    <a:lumMod val="50000"/>
                  </a:schemeClr>
                </a:solidFill>
                <a:latin typeface="Algerian" pitchFamily="82" charset="0"/>
              </a:rPr>
              <a:t>Addressing</a:t>
            </a:r>
            <a:r>
              <a:rPr b="1" spc="-80" dirty="0">
                <a:solidFill>
                  <a:schemeClr val="accent3">
                    <a:lumMod val="50000"/>
                  </a:schemeClr>
                </a:solidFill>
                <a:latin typeface="Algerian" pitchFamily="82" charset="0"/>
              </a:rPr>
              <a:t> </a:t>
            </a:r>
            <a:r>
              <a:rPr b="1" spc="-5" dirty="0">
                <a:solidFill>
                  <a:schemeClr val="accent3">
                    <a:lumMod val="50000"/>
                  </a:schemeClr>
                </a:solidFill>
                <a:latin typeface="Algerian" pitchFamily="82" charset="0"/>
              </a:rPr>
              <a:t>Modes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10091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>
                <a:solidFill>
                  <a:srgbClr val="001F5F"/>
                </a:solidFill>
              </a:rPr>
              <a:t>Prerequisite </a:t>
            </a:r>
            <a:r>
              <a:rPr sz="4400" dirty="0">
                <a:solidFill>
                  <a:srgbClr val="001F5F"/>
                </a:solidFill>
              </a:rPr>
              <a:t>- </a:t>
            </a:r>
            <a:r>
              <a:rPr sz="4400" spc="-5" dirty="0">
                <a:solidFill>
                  <a:srgbClr val="001F5F"/>
                </a:solidFill>
              </a:rPr>
              <a:t>Introduction</a:t>
            </a:r>
            <a:r>
              <a:rPr sz="4400" spc="-55" dirty="0">
                <a:solidFill>
                  <a:srgbClr val="001F5F"/>
                </a:solidFill>
              </a:rPr>
              <a:t> </a:t>
            </a:r>
            <a:r>
              <a:rPr sz="4400" spc="-20" dirty="0">
                <a:solidFill>
                  <a:srgbClr val="001F5F"/>
                </a:solidFill>
              </a:rPr>
              <a:t>to</a:t>
            </a:r>
            <a:r>
              <a:rPr sz="4400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parts</a:t>
            </a:r>
            <a:r>
              <a:rPr sz="4400" dirty="0">
                <a:solidFill>
                  <a:srgbClr val="001F5F"/>
                </a:solidFill>
              </a:rPr>
              <a:t> of </a:t>
            </a:r>
            <a:r>
              <a:rPr sz="4400" spc="-5" dirty="0">
                <a:solidFill>
                  <a:srgbClr val="001F5F"/>
                </a:solidFill>
              </a:rPr>
              <a:t>CPU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78958" y="1641475"/>
            <a:ext cx="4210685" cy="4385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1735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700" spc="-5" dirty="0">
                <a:solidFill>
                  <a:srgbClr val="6F2F9F"/>
                </a:solidFill>
                <a:latin typeface="Cambria"/>
                <a:cs typeface="Cambria"/>
              </a:rPr>
              <a:t>Arithmetic</a:t>
            </a:r>
            <a:r>
              <a:rPr sz="1700" spc="-1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700" spc="-5" dirty="0">
                <a:solidFill>
                  <a:srgbClr val="6F2F9F"/>
                </a:solidFill>
                <a:latin typeface="Cambria"/>
                <a:cs typeface="Cambria"/>
              </a:rPr>
              <a:t>and</a:t>
            </a:r>
            <a:r>
              <a:rPr sz="1700" spc="-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700" spc="-5" dirty="0">
                <a:solidFill>
                  <a:srgbClr val="6F2F9F"/>
                </a:solidFill>
                <a:latin typeface="Cambria"/>
                <a:cs typeface="Cambria"/>
              </a:rPr>
              <a:t>Logic</a:t>
            </a:r>
            <a:r>
              <a:rPr sz="1700" spc="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700" spc="-5" dirty="0">
                <a:solidFill>
                  <a:srgbClr val="6F2F9F"/>
                </a:solidFill>
                <a:latin typeface="Cambria"/>
                <a:cs typeface="Cambria"/>
              </a:rPr>
              <a:t>Unit</a:t>
            </a:r>
            <a:r>
              <a:rPr sz="1700" spc="-1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700" spc="-15" dirty="0">
                <a:solidFill>
                  <a:srgbClr val="6F2F9F"/>
                </a:solidFill>
                <a:latin typeface="Cambria"/>
                <a:cs typeface="Cambria"/>
              </a:rPr>
              <a:t>(ALU)</a:t>
            </a:r>
            <a:endParaRPr sz="1700">
              <a:latin typeface="Cambria"/>
              <a:cs typeface="Cambria"/>
            </a:endParaRPr>
          </a:p>
          <a:p>
            <a:pPr marL="241300" marR="259079">
              <a:lnSpc>
                <a:spcPct val="70000"/>
              </a:lnSpc>
              <a:spcBef>
                <a:spcPts val="305"/>
              </a:spcBef>
            </a:pPr>
            <a:r>
              <a:rPr sz="1700" spc="-5" dirty="0">
                <a:latin typeface="Cambria"/>
                <a:cs typeface="Cambria"/>
              </a:rPr>
              <a:t>It performs all the arithmetic and logical </a:t>
            </a:r>
            <a:r>
              <a:rPr sz="1700" spc="-360" dirty="0">
                <a:latin typeface="Cambria"/>
                <a:cs typeface="Cambria"/>
              </a:rPr>
              <a:t> </a:t>
            </a:r>
            <a:r>
              <a:rPr sz="1700" spc="-5" dirty="0">
                <a:latin typeface="Cambria"/>
                <a:cs typeface="Cambria"/>
              </a:rPr>
              <a:t>micro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sz="1700" spc="-5" dirty="0">
                <a:latin typeface="Cambria"/>
                <a:cs typeface="Cambria"/>
              </a:rPr>
              <a:t>operations.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ts val="1735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700" spc="-5" dirty="0">
                <a:solidFill>
                  <a:srgbClr val="6F2F9F"/>
                </a:solidFill>
                <a:latin typeface="Cambria"/>
                <a:cs typeface="Cambria"/>
              </a:rPr>
              <a:t>Floating</a:t>
            </a:r>
            <a:r>
              <a:rPr sz="1700" spc="-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6F2F9F"/>
                </a:solidFill>
                <a:latin typeface="Cambria"/>
                <a:cs typeface="Cambria"/>
              </a:rPr>
              <a:t>Point</a:t>
            </a:r>
            <a:r>
              <a:rPr sz="1700" spc="-5" dirty="0">
                <a:solidFill>
                  <a:srgbClr val="6F2F9F"/>
                </a:solidFill>
                <a:latin typeface="Cambria"/>
                <a:cs typeface="Cambria"/>
              </a:rPr>
              <a:t> Unit</a:t>
            </a:r>
            <a:r>
              <a:rPr sz="1700" spc="-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6F2F9F"/>
                </a:solidFill>
                <a:latin typeface="Cambria"/>
                <a:cs typeface="Cambria"/>
              </a:rPr>
              <a:t>(FPU)</a:t>
            </a:r>
            <a:endParaRPr sz="1700">
              <a:latin typeface="Cambria"/>
              <a:cs typeface="Cambria"/>
            </a:endParaRPr>
          </a:p>
          <a:p>
            <a:pPr marL="241300" marR="311785">
              <a:lnSpc>
                <a:spcPct val="70000"/>
              </a:lnSpc>
              <a:spcBef>
                <a:spcPts val="309"/>
              </a:spcBef>
            </a:pPr>
            <a:r>
              <a:rPr sz="1700" spc="-5" dirty="0">
                <a:latin typeface="Cambria"/>
                <a:cs typeface="Cambria"/>
              </a:rPr>
              <a:t>It performs operations </a:t>
            </a:r>
            <a:r>
              <a:rPr sz="1700" dirty="0">
                <a:latin typeface="Cambria"/>
                <a:cs typeface="Cambria"/>
              </a:rPr>
              <a:t>on </a:t>
            </a:r>
            <a:r>
              <a:rPr sz="1700" spc="-5" dirty="0">
                <a:latin typeface="Cambria"/>
                <a:cs typeface="Cambria"/>
              </a:rPr>
              <a:t>floating </a:t>
            </a:r>
            <a:r>
              <a:rPr sz="1700" spc="-10" dirty="0">
                <a:latin typeface="Cambria"/>
                <a:cs typeface="Cambria"/>
              </a:rPr>
              <a:t>point </a:t>
            </a:r>
            <a:r>
              <a:rPr sz="1700" spc="-360" dirty="0">
                <a:latin typeface="Cambria"/>
                <a:cs typeface="Cambria"/>
              </a:rPr>
              <a:t> </a:t>
            </a:r>
            <a:r>
              <a:rPr sz="1700" spc="-5" dirty="0">
                <a:latin typeface="Cambria"/>
                <a:cs typeface="Cambria"/>
              </a:rPr>
              <a:t>numbers.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ts val="1735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700" spc="-5" dirty="0">
                <a:solidFill>
                  <a:srgbClr val="6F2F9F"/>
                </a:solidFill>
                <a:latin typeface="Cambria"/>
                <a:cs typeface="Cambria"/>
              </a:rPr>
              <a:t>Memory</a:t>
            </a:r>
            <a:r>
              <a:rPr sz="1700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700" spc="-5" dirty="0">
                <a:solidFill>
                  <a:srgbClr val="6F2F9F"/>
                </a:solidFill>
                <a:latin typeface="Cambria"/>
                <a:cs typeface="Cambria"/>
              </a:rPr>
              <a:t>Unit</a:t>
            </a:r>
            <a:r>
              <a:rPr sz="1700" spc="-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700" spc="-5" dirty="0">
                <a:solidFill>
                  <a:srgbClr val="6F2F9F"/>
                </a:solidFill>
                <a:latin typeface="Cambria"/>
                <a:cs typeface="Cambria"/>
              </a:rPr>
              <a:t>(MU)</a:t>
            </a:r>
            <a:endParaRPr sz="1700">
              <a:latin typeface="Cambria"/>
              <a:cs typeface="Cambria"/>
            </a:endParaRPr>
          </a:p>
          <a:p>
            <a:pPr marL="241300">
              <a:lnSpc>
                <a:spcPts val="1735"/>
              </a:lnSpc>
            </a:pPr>
            <a:r>
              <a:rPr sz="1700" spc="-5" dirty="0">
                <a:latin typeface="Cambria"/>
                <a:cs typeface="Cambria"/>
              </a:rPr>
              <a:t>It</a:t>
            </a:r>
            <a:r>
              <a:rPr sz="1700" spc="-10" dirty="0">
                <a:latin typeface="Cambria"/>
                <a:cs typeface="Cambria"/>
              </a:rPr>
              <a:t> stores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5" dirty="0">
                <a:latin typeface="Cambria"/>
                <a:cs typeface="Cambria"/>
              </a:rPr>
              <a:t>the</a:t>
            </a:r>
            <a:r>
              <a:rPr sz="1700" spc="-15" dirty="0">
                <a:latin typeface="Cambria"/>
                <a:cs typeface="Cambria"/>
              </a:rPr>
              <a:t> </a:t>
            </a:r>
            <a:r>
              <a:rPr sz="1700" spc="-5" dirty="0">
                <a:latin typeface="Cambria"/>
                <a:cs typeface="Cambria"/>
              </a:rPr>
              <a:t>set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5" dirty="0">
                <a:latin typeface="Cambria"/>
                <a:cs typeface="Cambria"/>
              </a:rPr>
              <a:t> instructions.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50">
              <a:latin typeface="Cambria"/>
              <a:cs typeface="Cambria"/>
            </a:endParaRPr>
          </a:p>
          <a:p>
            <a:pPr marL="241300" indent="-228600">
              <a:lnSpc>
                <a:spcPts val="1735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700" spc="-5" dirty="0">
                <a:solidFill>
                  <a:srgbClr val="6F2F9F"/>
                </a:solidFill>
                <a:latin typeface="Cambria"/>
                <a:cs typeface="Cambria"/>
              </a:rPr>
              <a:t>Control</a:t>
            </a:r>
            <a:r>
              <a:rPr sz="1700" spc="-3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700" spc="-5" dirty="0">
                <a:solidFill>
                  <a:srgbClr val="6F2F9F"/>
                </a:solidFill>
                <a:latin typeface="Cambria"/>
                <a:cs typeface="Cambria"/>
              </a:rPr>
              <a:t>Unit</a:t>
            </a:r>
            <a:r>
              <a:rPr sz="1700" spc="-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6F2F9F"/>
                </a:solidFill>
                <a:latin typeface="Cambria"/>
                <a:cs typeface="Cambria"/>
              </a:rPr>
              <a:t>(CU)</a:t>
            </a:r>
            <a:endParaRPr sz="1700">
              <a:latin typeface="Cambria"/>
              <a:cs typeface="Cambria"/>
            </a:endParaRPr>
          </a:p>
          <a:p>
            <a:pPr marL="241300" marR="724535">
              <a:lnSpc>
                <a:spcPct val="70000"/>
              </a:lnSpc>
              <a:spcBef>
                <a:spcPts val="309"/>
              </a:spcBef>
            </a:pPr>
            <a:r>
              <a:rPr sz="1700" spc="-5" dirty="0">
                <a:latin typeface="Cambria"/>
                <a:cs typeface="Cambria"/>
              </a:rPr>
              <a:t>It supervises the sequence </a:t>
            </a:r>
            <a:r>
              <a:rPr sz="1700" dirty="0">
                <a:latin typeface="Cambria"/>
                <a:cs typeface="Cambria"/>
              </a:rPr>
              <a:t>of </a:t>
            </a:r>
            <a:r>
              <a:rPr sz="1700" spc="-10" dirty="0">
                <a:latin typeface="Cambria"/>
                <a:cs typeface="Cambria"/>
              </a:rPr>
              <a:t>micro </a:t>
            </a:r>
            <a:r>
              <a:rPr sz="1700" spc="-360" dirty="0">
                <a:latin typeface="Cambria"/>
                <a:cs typeface="Cambria"/>
              </a:rPr>
              <a:t> </a:t>
            </a:r>
            <a:r>
              <a:rPr sz="1700" spc="-5" dirty="0">
                <a:latin typeface="Cambria"/>
                <a:cs typeface="Cambria"/>
              </a:rPr>
              <a:t>operations.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ts val="1735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700" spc="-10" dirty="0">
                <a:solidFill>
                  <a:srgbClr val="6F2F9F"/>
                </a:solidFill>
                <a:latin typeface="Cambria"/>
                <a:cs typeface="Cambria"/>
              </a:rPr>
              <a:t>Registers</a:t>
            </a:r>
            <a:endParaRPr sz="1700">
              <a:latin typeface="Cambria"/>
              <a:cs typeface="Cambria"/>
            </a:endParaRPr>
          </a:p>
          <a:p>
            <a:pPr marL="241300" marR="5080">
              <a:lnSpc>
                <a:spcPct val="70000"/>
              </a:lnSpc>
              <a:spcBef>
                <a:spcPts val="305"/>
              </a:spcBef>
            </a:pPr>
            <a:r>
              <a:rPr sz="1700" spc="-20" dirty="0">
                <a:latin typeface="Cambria"/>
                <a:cs typeface="Cambria"/>
              </a:rPr>
              <a:t>Temporary </a:t>
            </a:r>
            <a:r>
              <a:rPr sz="1700" spc="-10" dirty="0">
                <a:latin typeface="Cambria"/>
                <a:cs typeface="Cambria"/>
              </a:rPr>
              <a:t>storage area, </a:t>
            </a:r>
            <a:r>
              <a:rPr sz="1700" spc="-5" dirty="0">
                <a:latin typeface="Cambria"/>
                <a:cs typeface="Cambria"/>
              </a:rPr>
              <a:t>which holds the </a:t>
            </a:r>
            <a:r>
              <a:rPr sz="1700" dirty="0">
                <a:latin typeface="Cambria"/>
                <a:cs typeface="Cambria"/>
              </a:rPr>
              <a:t> data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during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sz="1700" spc="-5" dirty="0">
                <a:latin typeface="Cambria"/>
                <a:cs typeface="Cambria"/>
              </a:rPr>
              <a:t>the</a:t>
            </a:r>
            <a:r>
              <a:rPr sz="1700" spc="-10" dirty="0">
                <a:latin typeface="Cambria"/>
                <a:cs typeface="Cambria"/>
              </a:rPr>
              <a:t> execution</a:t>
            </a:r>
            <a:r>
              <a:rPr sz="1700" spc="-15" dirty="0">
                <a:latin typeface="Cambria"/>
                <a:cs typeface="Cambria"/>
              </a:rPr>
              <a:t> </a:t>
            </a:r>
            <a:r>
              <a:rPr sz="1700" spc="-5" dirty="0">
                <a:latin typeface="Cambria"/>
                <a:cs typeface="Cambria"/>
              </a:rPr>
              <a:t>of</a:t>
            </a:r>
            <a:r>
              <a:rPr sz="1700" dirty="0">
                <a:latin typeface="Cambria"/>
                <a:cs typeface="Cambria"/>
              </a:rPr>
              <a:t> </a:t>
            </a:r>
            <a:r>
              <a:rPr sz="1700" spc="-5" dirty="0">
                <a:latin typeface="Cambria"/>
                <a:cs typeface="Cambria"/>
              </a:rPr>
              <a:t>an</a:t>
            </a:r>
            <a:r>
              <a:rPr sz="1700" spc="-10" dirty="0">
                <a:latin typeface="Cambria"/>
                <a:cs typeface="Cambria"/>
              </a:rPr>
              <a:t> </a:t>
            </a:r>
            <a:r>
              <a:rPr sz="1700" spc="-5" dirty="0">
                <a:latin typeface="Cambria"/>
                <a:cs typeface="Cambria"/>
              </a:rPr>
              <a:t>instruction.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32560" y="1688592"/>
            <a:ext cx="3235960" cy="4349750"/>
          </a:xfrm>
          <a:custGeom>
            <a:avLst/>
            <a:gdLst/>
            <a:ahLst/>
            <a:cxnLst/>
            <a:rect l="l" t="t" r="r" b="b"/>
            <a:pathLst>
              <a:path w="3235960" h="4349750">
                <a:moveTo>
                  <a:pt x="0" y="4349496"/>
                </a:moveTo>
                <a:lnTo>
                  <a:pt x="3235452" y="4349496"/>
                </a:lnTo>
                <a:lnTo>
                  <a:pt x="3235452" y="0"/>
                </a:lnTo>
                <a:lnTo>
                  <a:pt x="0" y="0"/>
                </a:lnTo>
                <a:lnTo>
                  <a:pt x="0" y="4349496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98498" y="1998726"/>
            <a:ext cx="1481455" cy="769620"/>
          </a:xfrm>
          <a:prstGeom prst="rect">
            <a:avLst/>
          </a:prstGeom>
          <a:solidFill>
            <a:srgbClr val="5B9BD4"/>
          </a:solidFill>
        </p:spPr>
        <p:txBody>
          <a:bodyPr vert="horz" wrap="square" lIns="0" tIns="128905" rIns="0" bIns="0" rtlCol="0">
            <a:spAutoFit/>
          </a:bodyPr>
          <a:lstStyle/>
          <a:p>
            <a:pPr marL="484505">
              <a:lnSpc>
                <a:spcPct val="100000"/>
              </a:lnSpc>
              <a:spcBef>
                <a:spcPts val="1015"/>
              </a:spcBef>
            </a:pPr>
            <a:r>
              <a:rPr sz="3200" b="1" dirty="0">
                <a:solidFill>
                  <a:srgbClr val="FFFFFF"/>
                </a:solidFill>
                <a:latin typeface="Cambria"/>
                <a:cs typeface="Cambria"/>
              </a:rPr>
              <a:t>CU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3926" y="3964685"/>
            <a:ext cx="1481455" cy="77152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30175" rIns="0" bIns="0" rtlCol="0">
            <a:spAutoFit/>
          </a:bodyPr>
          <a:lstStyle/>
          <a:p>
            <a:pPr marL="363855">
              <a:lnSpc>
                <a:spcPct val="100000"/>
              </a:lnSpc>
              <a:spcBef>
                <a:spcPts val="1025"/>
              </a:spcBef>
            </a:pPr>
            <a:r>
              <a:rPr sz="3200" b="1" spc="-5" dirty="0">
                <a:solidFill>
                  <a:srgbClr val="FFFFFF"/>
                </a:solidFill>
                <a:latin typeface="Cambria"/>
                <a:cs typeface="Cambria"/>
              </a:rPr>
              <a:t>FPU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98498" y="4926329"/>
            <a:ext cx="1481455" cy="771525"/>
          </a:xfrm>
          <a:prstGeom prst="rect">
            <a:avLst/>
          </a:prstGeom>
          <a:solidFill>
            <a:srgbClr val="EC7C30"/>
          </a:solidFill>
        </p:spPr>
        <p:txBody>
          <a:bodyPr vert="horz" wrap="square" lIns="0" tIns="130175" rIns="0" bIns="0" rtlCol="0">
            <a:spAutoFit/>
          </a:bodyPr>
          <a:lstStyle/>
          <a:p>
            <a:pPr marL="429895">
              <a:lnSpc>
                <a:spcPct val="100000"/>
              </a:lnSpc>
              <a:spcBef>
                <a:spcPts val="1025"/>
              </a:spcBef>
            </a:pPr>
            <a:r>
              <a:rPr sz="3200" b="1" dirty="0">
                <a:solidFill>
                  <a:srgbClr val="FFFFFF"/>
                </a:solidFill>
                <a:latin typeface="Cambria"/>
                <a:cs typeface="Cambria"/>
              </a:rPr>
              <a:t>MU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44240" y="1997964"/>
            <a:ext cx="958850" cy="3728085"/>
          </a:xfrm>
          <a:prstGeom prst="rect">
            <a:avLst/>
          </a:prstGeom>
          <a:solidFill>
            <a:srgbClr val="6FAC46"/>
          </a:solidFill>
          <a:ln w="12192">
            <a:solidFill>
              <a:srgbClr val="507D31"/>
            </a:solidFill>
          </a:ln>
        </p:spPr>
        <p:txBody>
          <a:bodyPr vert="vert270" wrap="square" lIns="0" tIns="224154" rIns="0" bIns="0" rtlCol="0">
            <a:spAutoFit/>
          </a:bodyPr>
          <a:lstStyle/>
          <a:p>
            <a:pPr marL="822325">
              <a:lnSpc>
                <a:spcPct val="100000"/>
              </a:lnSpc>
              <a:spcBef>
                <a:spcPts val="1764"/>
              </a:spcBef>
            </a:pPr>
            <a:r>
              <a:rPr sz="3200" b="1" spc="-15" dirty="0">
                <a:solidFill>
                  <a:srgbClr val="FFFFFF"/>
                </a:solidFill>
                <a:latin typeface="Cambria"/>
                <a:cs typeface="Cambria"/>
              </a:rPr>
              <a:t>REGISTERS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3926" y="2998470"/>
            <a:ext cx="1481455" cy="769620"/>
          </a:xfrm>
          <a:prstGeom prst="rect">
            <a:avLst/>
          </a:prstGeom>
          <a:solidFill>
            <a:srgbClr val="A4A4A4"/>
          </a:solidFill>
        </p:spPr>
        <p:txBody>
          <a:bodyPr vert="horz" wrap="square" lIns="0" tIns="128905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1015"/>
              </a:spcBef>
            </a:pPr>
            <a:r>
              <a:rPr sz="3200" b="1" spc="-30" dirty="0">
                <a:solidFill>
                  <a:srgbClr val="FFFFFF"/>
                </a:solidFill>
                <a:latin typeface="Cambria"/>
                <a:cs typeface="Cambria"/>
              </a:rPr>
              <a:t>ALU</a:t>
            </a:r>
            <a:endParaRPr sz="3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8289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>
                <a:solidFill>
                  <a:srgbClr val="001F5F"/>
                </a:solidFill>
              </a:rPr>
              <a:t>Prerequisite </a:t>
            </a:r>
            <a:r>
              <a:rPr sz="4400" dirty="0">
                <a:solidFill>
                  <a:srgbClr val="001F5F"/>
                </a:solidFill>
              </a:rPr>
              <a:t>- </a:t>
            </a:r>
            <a:r>
              <a:rPr sz="4400" spc="-15" dirty="0">
                <a:solidFill>
                  <a:srgbClr val="001F5F"/>
                </a:solidFill>
              </a:rPr>
              <a:t>Registers</a:t>
            </a:r>
            <a:r>
              <a:rPr sz="4400" spc="-5" dirty="0">
                <a:solidFill>
                  <a:srgbClr val="001F5F"/>
                </a:solidFill>
              </a:rPr>
              <a:t> </a:t>
            </a:r>
            <a:r>
              <a:rPr sz="4400" dirty="0">
                <a:solidFill>
                  <a:srgbClr val="001F5F"/>
                </a:solidFill>
              </a:rPr>
              <a:t>inside</a:t>
            </a:r>
            <a:r>
              <a:rPr sz="4400" spc="-25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CPU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225039" y="2202179"/>
            <a:ext cx="2308860" cy="51562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709930">
              <a:lnSpc>
                <a:spcPct val="100000"/>
              </a:lnSpc>
              <a:spcBef>
                <a:spcPts val="905"/>
              </a:spcBef>
            </a:pPr>
            <a:r>
              <a:rPr sz="1800" b="1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18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mbria"/>
                <a:cs typeface="Cambria"/>
              </a:rPr>
              <a:t>(8-bit)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5039" y="2830067"/>
            <a:ext cx="2308860" cy="515620"/>
          </a:xfrm>
          <a:prstGeom prst="rect">
            <a:avLst/>
          </a:prstGeom>
          <a:solidFill>
            <a:srgbClr val="6FAC46"/>
          </a:solidFill>
          <a:ln w="12192">
            <a:solidFill>
              <a:srgbClr val="507D31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709930">
              <a:lnSpc>
                <a:spcPct val="100000"/>
              </a:lnSpc>
              <a:spcBef>
                <a:spcPts val="900"/>
              </a:spcBef>
            </a:pPr>
            <a:r>
              <a:rPr sz="1800" b="1" dirty="0">
                <a:solidFill>
                  <a:srgbClr val="FFFFFF"/>
                </a:solidFill>
                <a:latin typeface="Cambria"/>
                <a:cs typeface="Cambria"/>
              </a:rPr>
              <a:t>B</a:t>
            </a:r>
            <a:r>
              <a:rPr sz="1800" b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mbria"/>
                <a:cs typeface="Cambria"/>
              </a:rPr>
              <a:t>(8-bit)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5152" y="2830067"/>
            <a:ext cx="2307590" cy="515620"/>
          </a:xfrm>
          <a:prstGeom prst="rect">
            <a:avLst/>
          </a:prstGeom>
          <a:solidFill>
            <a:srgbClr val="6FAC46"/>
          </a:solidFill>
          <a:ln w="12192">
            <a:solidFill>
              <a:srgbClr val="507D31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900"/>
              </a:spcBef>
            </a:pPr>
            <a:r>
              <a:rPr sz="1800" b="1" dirty="0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r>
              <a:rPr sz="18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mbria"/>
                <a:cs typeface="Cambria"/>
              </a:rPr>
              <a:t>(8-bit)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25039" y="3442715"/>
            <a:ext cx="2308860" cy="515620"/>
          </a:xfrm>
          <a:prstGeom prst="rect">
            <a:avLst/>
          </a:prstGeom>
          <a:solidFill>
            <a:srgbClr val="EC7C30"/>
          </a:solidFill>
          <a:ln w="12192">
            <a:solidFill>
              <a:srgbClr val="AD5A20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marL="703580">
              <a:lnSpc>
                <a:spcPct val="100000"/>
              </a:lnSpc>
              <a:spcBef>
                <a:spcPts val="910"/>
              </a:spcBef>
            </a:pPr>
            <a:r>
              <a:rPr sz="1800" b="1" dirty="0">
                <a:solidFill>
                  <a:srgbClr val="FFFFFF"/>
                </a:solidFill>
                <a:latin typeface="Cambria"/>
                <a:cs typeface="Cambria"/>
              </a:rPr>
              <a:t>D</a:t>
            </a:r>
            <a:r>
              <a:rPr sz="18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mbria"/>
                <a:cs typeface="Cambria"/>
              </a:rPr>
              <a:t>(8-bit)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45152" y="3442715"/>
            <a:ext cx="2307590" cy="515620"/>
          </a:xfrm>
          <a:prstGeom prst="rect">
            <a:avLst/>
          </a:prstGeom>
          <a:solidFill>
            <a:srgbClr val="EC7C30"/>
          </a:solidFill>
          <a:ln w="12192">
            <a:solidFill>
              <a:srgbClr val="AD5A20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910"/>
              </a:spcBef>
            </a:pPr>
            <a:r>
              <a:rPr sz="1800" b="1" dirty="0">
                <a:solidFill>
                  <a:srgbClr val="FFFFFF"/>
                </a:solidFill>
                <a:latin typeface="Cambria"/>
                <a:cs typeface="Cambria"/>
              </a:rPr>
              <a:t>E</a:t>
            </a:r>
            <a:r>
              <a:rPr sz="18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mbria"/>
                <a:cs typeface="Cambria"/>
              </a:rPr>
              <a:t>(8-bit)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5039" y="4038600"/>
            <a:ext cx="2308860" cy="515620"/>
          </a:xfrm>
          <a:prstGeom prst="rect">
            <a:avLst/>
          </a:prstGeom>
          <a:solidFill>
            <a:srgbClr val="A4A4A4"/>
          </a:solidFill>
          <a:ln w="12192">
            <a:solidFill>
              <a:srgbClr val="787878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701040">
              <a:lnSpc>
                <a:spcPct val="100000"/>
              </a:lnSpc>
              <a:spcBef>
                <a:spcPts val="900"/>
              </a:spcBef>
            </a:pPr>
            <a:r>
              <a:rPr sz="1800" b="1" dirty="0">
                <a:solidFill>
                  <a:srgbClr val="FFFFFF"/>
                </a:solidFill>
                <a:latin typeface="Cambria"/>
                <a:cs typeface="Cambria"/>
              </a:rPr>
              <a:t>H</a:t>
            </a:r>
            <a:r>
              <a:rPr sz="18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mbria"/>
                <a:cs typeface="Cambria"/>
              </a:rPr>
              <a:t>(8-bit)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45152" y="4038600"/>
            <a:ext cx="2307590" cy="515620"/>
          </a:xfrm>
          <a:prstGeom prst="rect">
            <a:avLst/>
          </a:prstGeom>
          <a:solidFill>
            <a:srgbClr val="A4A4A4"/>
          </a:solidFill>
          <a:ln w="12192">
            <a:solidFill>
              <a:srgbClr val="787878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900"/>
              </a:spcBef>
            </a:pPr>
            <a:r>
              <a:rPr sz="1800" b="1" dirty="0">
                <a:solidFill>
                  <a:srgbClr val="FFFFFF"/>
                </a:solidFill>
                <a:latin typeface="Cambria"/>
                <a:cs typeface="Cambria"/>
              </a:rPr>
              <a:t>L</a:t>
            </a:r>
            <a:r>
              <a:rPr sz="18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mbria"/>
                <a:cs typeface="Cambria"/>
              </a:rPr>
              <a:t>(8-bit)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25801" y="4633721"/>
            <a:ext cx="4727575" cy="515620"/>
          </a:xfrm>
          <a:prstGeom prst="rect">
            <a:avLst/>
          </a:prstGeom>
          <a:solidFill>
            <a:srgbClr val="6FAC46"/>
          </a:solidFill>
        </p:spPr>
        <p:txBody>
          <a:bodyPr vert="horz" wrap="square" lIns="0" tIns="1143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sz="1800" b="1" spc="-10" dirty="0">
                <a:solidFill>
                  <a:srgbClr val="FFFFFF"/>
                </a:solidFill>
                <a:latin typeface="Cambria"/>
                <a:cs typeface="Cambria"/>
              </a:rPr>
              <a:t>PC</a:t>
            </a:r>
            <a:r>
              <a:rPr sz="1800" b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mbria"/>
                <a:cs typeface="Cambria"/>
              </a:rPr>
              <a:t>(16-bit)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25039" y="5227320"/>
            <a:ext cx="4727575" cy="51562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sz="1800" b="1" spc="-5" dirty="0">
                <a:solidFill>
                  <a:srgbClr val="FFFFFF"/>
                </a:solidFill>
                <a:latin typeface="Cambria"/>
                <a:cs typeface="Cambria"/>
              </a:rPr>
              <a:t>SP</a:t>
            </a:r>
            <a:r>
              <a:rPr sz="1800" b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mbria"/>
                <a:cs typeface="Cambria"/>
              </a:rPr>
              <a:t>(16-bit)</a:t>
            </a:r>
            <a:endParaRPr sz="1800">
              <a:latin typeface="Cambria"/>
              <a:cs typeface="Cambria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639055" y="2206751"/>
          <a:ext cx="2308857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290"/>
                <a:gridCol w="288290"/>
                <a:gridCol w="289560"/>
                <a:gridCol w="288290"/>
                <a:gridCol w="288290"/>
                <a:gridCol w="289559"/>
                <a:gridCol w="288289"/>
                <a:gridCol w="288289"/>
              </a:tblGrid>
              <a:tr h="51816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AD5A20"/>
                      </a:solidFill>
                      <a:prstDash val="solid"/>
                    </a:lnL>
                    <a:lnR w="12700">
                      <a:solidFill>
                        <a:srgbClr val="AD5A20"/>
                      </a:solidFill>
                      <a:prstDash val="solid"/>
                    </a:lnR>
                    <a:lnT w="12700">
                      <a:solidFill>
                        <a:srgbClr val="AD5A20"/>
                      </a:solidFill>
                      <a:prstDash val="solid"/>
                    </a:lnT>
                    <a:lnB w="12700">
                      <a:solidFill>
                        <a:srgbClr val="AD5A2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Z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AD5A20"/>
                      </a:solidFill>
                      <a:prstDash val="solid"/>
                    </a:lnL>
                    <a:lnR w="12700">
                      <a:solidFill>
                        <a:srgbClr val="AD5A20"/>
                      </a:solidFill>
                      <a:prstDash val="solid"/>
                    </a:lnR>
                    <a:lnT w="12700">
                      <a:solidFill>
                        <a:srgbClr val="AD5A20"/>
                      </a:solidFill>
                      <a:prstDash val="solid"/>
                    </a:lnT>
                    <a:lnB w="12700">
                      <a:solidFill>
                        <a:srgbClr val="AD5A2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D5A20"/>
                      </a:solidFill>
                      <a:prstDash val="solid"/>
                    </a:lnL>
                    <a:lnR w="12700">
                      <a:solidFill>
                        <a:srgbClr val="AD5A20"/>
                      </a:solidFill>
                      <a:prstDash val="solid"/>
                    </a:lnR>
                    <a:lnT w="12700">
                      <a:solidFill>
                        <a:srgbClr val="AD5A20"/>
                      </a:solidFill>
                      <a:prstDash val="solid"/>
                    </a:lnT>
                    <a:lnB w="12700">
                      <a:solidFill>
                        <a:srgbClr val="AD5A2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87630" marR="77470" indent="-19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  C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AD5A20"/>
                      </a:solidFill>
                      <a:prstDash val="solid"/>
                    </a:lnL>
                    <a:lnR w="12700">
                      <a:solidFill>
                        <a:srgbClr val="AD5A20"/>
                      </a:solidFill>
                      <a:prstDash val="solid"/>
                    </a:lnR>
                    <a:lnT w="12700">
                      <a:solidFill>
                        <a:srgbClr val="AD5A20"/>
                      </a:solidFill>
                      <a:prstDash val="solid"/>
                    </a:lnT>
                    <a:lnB w="12700">
                      <a:solidFill>
                        <a:srgbClr val="AD5A2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D5A20"/>
                      </a:solidFill>
                      <a:prstDash val="solid"/>
                    </a:lnL>
                    <a:lnR w="12700">
                      <a:solidFill>
                        <a:srgbClr val="AD5A20"/>
                      </a:solidFill>
                      <a:prstDash val="solid"/>
                    </a:lnR>
                    <a:lnT w="12700">
                      <a:solidFill>
                        <a:srgbClr val="AD5A20"/>
                      </a:solidFill>
                      <a:prstDash val="solid"/>
                    </a:lnT>
                    <a:lnB w="12700">
                      <a:solidFill>
                        <a:srgbClr val="AD5A2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AD5A20"/>
                      </a:solidFill>
                      <a:prstDash val="solid"/>
                    </a:lnL>
                    <a:lnR w="12700">
                      <a:solidFill>
                        <a:srgbClr val="AD5A20"/>
                      </a:solidFill>
                      <a:prstDash val="solid"/>
                    </a:lnR>
                    <a:lnT w="12700">
                      <a:solidFill>
                        <a:srgbClr val="AD5A20"/>
                      </a:solidFill>
                      <a:prstDash val="solid"/>
                    </a:lnT>
                    <a:lnB w="12700">
                      <a:solidFill>
                        <a:srgbClr val="AD5A2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D5A20"/>
                      </a:solidFill>
                      <a:prstDash val="solid"/>
                    </a:lnL>
                    <a:lnR w="12700">
                      <a:solidFill>
                        <a:srgbClr val="AD5A20"/>
                      </a:solidFill>
                      <a:prstDash val="solid"/>
                    </a:lnR>
                    <a:lnT w="12700">
                      <a:solidFill>
                        <a:srgbClr val="AD5A20"/>
                      </a:solidFill>
                      <a:prstDash val="solid"/>
                    </a:lnT>
                    <a:lnB w="12700">
                      <a:solidFill>
                        <a:srgbClr val="AD5A2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81280" indent="12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  Y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AD5A20"/>
                      </a:solidFill>
                      <a:prstDash val="solid"/>
                    </a:lnL>
                    <a:lnR w="12700">
                      <a:solidFill>
                        <a:srgbClr val="AD5A20"/>
                      </a:solidFill>
                      <a:prstDash val="solid"/>
                    </a:lnR>
                    <a:lnT w="12700">
                      <a:solidFill>
                        <a:srgbClr val="AD5A20"/>
                      </a:solidFill>
                      <a:prstDash val="solid"/>
                    </a:lnT>
                    <a:lnB w="12700">
                      <a:solidFill>
                        <a:srgbClr val="AD5A2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7064502" y="2824733"/>
            <a:ext cx="283845" cy="1729739"/>
          </a:xfrm>
          <a:custGeom>
            <a:avLst/>
            <a:gdLst/>
            <a:ahLst/>
            <a:cxnLst/>
            <a:rect l="l" t="t" r="r" b="b"/>
            <a:pathLst>
              <a:path w="283845" h="1729739">
                <a:moveTo>
                  <a:pt x="0" y="1729739"/>
                </a:moveTo>
                <a:lnTo>
                  <a:pt x="55149" y="1720534"/>
                </a:lnTo>
                <a:lnTo>
                  <a:pt x="100202" y="1695434"/>
                </a:lnTo>
                <a:lnTo>
                  <a:pt x="130587" y="1658213"/>
                </a:lnTo>
                <a:lnTo>
                  <a:pt x="141731" y="1612645"/>
                </a:lnTo>
                <a:lnTo>
                  <a:pt x="141731" y="981963"/>
                </a:lnTo>
                <a:lnTo>
                  <a:pt x="152876" y="936396"/>
                </a:lnTo>
                <a:lnTo>
                  <a:pt x="183261" y="899175"/>
                </a:lnTo>
                <a:lnTo>
                  <a:pt x="228314" y="874075"/>
                </a:lnTo>
                <a:lnTo>
                  <a:pt x="283464" y="864869"/>
                </a:lnTo>
                <a:lnTo>
                  <a:pt x="228314" y="855664"/>
                </a:lnTo>
                <a:lnTo>
                  <a:pt x="183260" y="830564"/>
                </a:lnTo>
                <a:lnTo>
                  <a:pt x="152876" y="793343"/>
                </a:lnTo>
                <a:lnTo>
                  <a:pt x="141731" y="747776"/>
                </a:lnTo>
                <a:lnTo>
                  <a:pt x="141731" y="117093"/>
                </a:lnTo>
                <a:lnTo>
                  <a:pt x="130587" y="71526"/>
                </a:lnTo>
                <a:lnTo>
                  <a:pt x="100202" y="34305"/>
                </a:lnTo>
                <a:lnTo>
                  <a:pt x="55149" y="9205"/>
                </a:lnTo>
                <a:lnTo>
                  <a:pt x="0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64502" y="4633721"/>
            <a:ext cx="283845" cy="1109980"/>
          </a:xfrm>
          <a:custGeom>
            <a:avLst/>
            <a:gdLst/>
            <a:ahLst/>
            <a:cxnLst/>
            <a:rect l="l" t="t" r="r" b="b"/>
            <a:pathLst>
              <a:path w="283845" h="1109979">
                <a:moveTo>
                  <a:pt x="0" y="1109471"/>
                </a:moveTo>
                <a:lnTo>
                  <a:pt x="55149" y="1100274"/>
                </a:lnTo>
                <a:lnTo>
                  <a:pt x="100202" y="1075191"/>
                </a:lnTo>
                <a:lnTo>
                  <a:pt x="130587" y="1037988"/>
                </a:lnTo>
                <a:lnTo>
                  <a:pt x="141731" y="992428"/>
                </a:lnTo>
                <a:lnTo>
                  <a:pt x="141731" y="671829"/>
                </a:lnTo>
                <a:lnTo>
                  <a:pt x="152876" y="626262"/>
                </a:lnTo>
                <a:lnTo>
                  <a:pt x="183261" y="589041"/>
                </a:lnTo>
                <a:lnTo>
                  <a:pt x="228314" y="563941"/>
                </a:lnTo>
                <a:lnTo>
                  <a:pt x="283464" y="554735"/>
                </a:lnTo>
                <a:lnTo>
                  <a:pt x="228314" y="545530"/>
                </a:lnTo>
                <a:lnTo>
                  <a:pt x="183260" y="520430"/>
                </a:lnTo>
                <a:lnTo>
                  <a:pt x="152876" y="483209"/>
                </a:lnTo>
                <a:lnTo>
                  <a:pt x="141731" y="437641"/>
                </a:lnTo>
                <a:lnTo>
                  <a:pt x="141731" y="117093"/>
                </a:lnTo>
                <a:lnTo>
                  <a:pt x="130587" y="71526"/>
                </a:lnTo>
                <a:lnTo>
                  <a:pt x="100202" y="34305"/>
                </a:lnTo>
                <a:lnTo>
                  <a:pt x="55149" y="9205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537450" y="3529329"/>
            <a:ext cx="2592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6F2F9F"/>
                </a:solidFill>
                <a:latin typeface="Cambria"/>
                <a:cs typeface="Cambria"/>
              </a:rPr>
              <a:t>General</a:t>
            </a:r>
            <a:r>
              <a:rPr sz="1800" spc="-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800" spc="-5" dirty="0">
                <a:solidFill>
                  <a:srgbClr val="6F2F9F"/>
                </a:solidFill>
                <a:latin typeface="Cambria"/>
                <a:cs typeface="Cambria"/>
              </a:rPr>
              <a:t>Purpose</a:t>
            </a:r>
            <a:r>
              <a:rPr sz="180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6F2F9F"/>
                </a:solidFill>
                <a:latin typeface="Cambria"/>
                <a:cs typeface="Cambria"/>
              </a:rPr>
              <a:t>Registers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37450" y="4989067"/>
            <a:ext cx="152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6F2F9F"/>
                </a:solidFill>
                <a:latin typeface="Cambria"/>
                <a:cs typeface="Cambria"/>
              </a:rPr>
              <a:t>Index</a:t>
            </a:r>
            <a:r>
              <a:rPr sz="1800" spc="-3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6F2F9F"/>
                </a:solidFill>
                <a:latin typeface="Cambria"/>
                <a:cs typeface="Cambria"/>
              </a:rPr>
              <a:t>Registers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04669" y="1828291"/>
            <a:ext cx="1276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Cambria"/>
                <a:cs typeface="Cambria"/>
              </a:rPr>
              <a:t>A</a:t>
            </a:r>
            <a:r>
              <a:rPr sz="1800" dirty="0">
                <a:solidFill>
                  <a:srgbClr val="6F2F9F"/>
                </a:solidFill>
                <a:latin typeface="Cambria"/>
                <a:cs typeface="Cambria"/>
              </a:rPr>
              <a:t>ccumu</a:t>
            </a:r>
            <a:r>
              <a:rPr sz="1800" spc="5" dirty="0">
                <a:solidFill>
                  <a:srgbClr val="6F2F9F"/>
                </a:solidFill>
                <a:latin typeface="Cambria"/>
                <a:cs typeface="Cambria"/>
              </a:rPr>
              <a:t>l</a:t>
            </a:r>
            <a:r>
              <a:rPr sz="1800" spc="-5" dirty="0">
                <a:solidFill>
                  <a:srgbClr val="6F2F9F"/>
                </a:solidFill>
                <a:latin typeface="Cambria"/>
                <a:cs typeface="Cambria"/>
              </a:rPr>
              <a:t>a</a:t>
            </a:r>
            <a:r>
              <a:rPr sz="1800" spc="-15" dirty="0">
                <a:solidFill>
                  <a:srgbClr val="6F2F9F"/>
                </a:solidFill>
                <a:latin typeface="Cambria"/>
                <a:cs typeface="Cambria"/>
              </a:rPr>
              <a:t>t</a:t>
            </a:r>
            <a:r>
              <a:rPr sz="1800" dirty="0">
                <a:solidFill>
                  <a:srgbClr val="6F2F9F"/>
                </a:solidFill>
                <a:latin typeface="Cambria"/>
                <a:cs typeface="Cambria"/>
              </a:rPr>
              <a:t>or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13275" y="1824609"/>
            <a:ext cx="4271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F2F9F"/>
                </a:solidFill>
                <a:latin typeface="Cambria"/>
                <a:cs typeface="Cambria"/>
              </a:rPr>
              <a:t>Flag</a:t>
            </a:r>
            <a:r>
              <a:rPr sz="1800" spc="-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6F2F9F"/>
                </a:solidFill>
                <a:latin typeface="Cambria"/>
                <a:cs typeface="Cambria"/>
              </a:rPr>
              <a:t>Register</a:t>
            </a:r>
            <a:r>
              <a:rPr sz="1800" spc="-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6F2F9F"/>
                </a:solidFill>
                <a:latin typeface="Cambria"/>
                <a:cs typeface="Cambria"/>
              </a:rPr>
              <a:t>/</a:t>
            </a:r>
            <a:r>
              <a:rPr sz="1800" spc="-10" dirty="0">
                <a:solidFill>
                  <a:srgbClr val="6F2F9F"/>
                </a:solidFill>
                <a:latin typeface="Cambria"/>
                <a:cs typeface="Cambria"/>
              </a:rPr>
              <a:t> Program</a:t>
            </a:r>
            <a:r>
              <a:rPr sz="1800" spc="-5" dirty="0">
                <a:solidFill>
                  <a:srgbClr val="6F2F9F"/>
                </a:solidFill>
                <a:latin typeface="Cambria"/>
                <a:cs typeface="Cambria"/>
              </a:rPr>
              <a:t> Status </a:t>
            </a:r>
            <a:r>
              <a:rPr sz="1800" spc="-35" dirty="0">
                <a:solidFill>
                  <a:srgbClr val="6F2F9F"/>
                </a:solidFill>
                <a:latin typeface="Cambria"/>
                <a:cs typeface="Cambria"/>
              </a:rPr>
              <a:t>Word</a:t>
            </a:r>
            <a:r>
              <a:rPr sz="1800" spc="-5" dirty="0">
                <a:solidFill>
                  <a:srgbClr val="6F2F9F"/>
                </a:solidFill>
                <a:latin typeface="Cambria"/>
                <a:cs typeface="Cambria"/>
              </a:rPr>
              <a:t> (PSW)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43368" y="2229104"/>
            <a:ext cx="290449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b="1" spc="-5" dirty="0">
                <a:solidFill>
                  <a:srgbClr val="FF0000"/>
                </a:solidFill>
                <a:latin typeface="Cambria"/>
                <a:cs typeface="Cambria"/>
              </a:rPr>
              <a:t>S</a:t>
            </a:r>
            <a:r>
              <a:rPr sz="1600" b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5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1600" b="1" spc="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Sign,</a:t>
            </a:r>
            <a:r>
              <a:rPr sz="1600" b="1" spc="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mbria"/>
                <a:cs typeface="Cambria"/>
              </a:rPr>
              <a:t>Z</a:t>
            </a:r>
            <a:r>
              <a:rPr sz="1600" b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5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1600" b="1" spc="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15" dirty="0">
                <a:solidFill>
                  <a:srgbClr val="6F2F9F"/>
                </a:solidFill>
                <a:latin typeface="Cambria"/>
                <a:cs typeface="Cambria"/>
              </a:rPr>
              <a:t>Zero,</a:t>
            </a:r>
            <a:r>
              <a:rPr sz="1600" b="1" spc="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mbria"/>
                <a:cs typeface="Cambria"/>
              </a:rPr>
              <a:t>CY</a:t>
            </a:r>
            <a:r>
              <a:rPr sz="1600" b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5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1600" b="1" spc="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35" dirty="0">
                <a:solidFill>
                  <a:srgbClr val="6F2F9F"/>
                </a:solidFill>
                <a:latin typeface="Cambria"/>
                <a:cs typeface="Cambria"/>
              </a:rPr>
              <a:t>Carry, </a:t>
            </a:r>
            <a:r>
              <a:rPr sz="1600" b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ambria"/>
                <a:cs typeface="Cambria"/>
              </a:rPr>
              <a:t>AC </a:t>
            </a:r>
            <a:r>
              <a:rPr sz="1600" b="1" spc="-5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1600" b="1" spc="-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Auxiliary </a:t>
            </a:r>
            <a:r>
              <a:rPr sz="1600" b="1" spc="-35" dirty="0">
                <a:solidFill>
                  <a:srgbClr val="6F2F9F"/>
                </a:solidFill>
                <a:latin typeface="Cambria"/>
                <a:cs typeface="Cambria"/>
              </a:rPr>
              <a:t>Carry,</a:t>
            </a:r>
            <a:r>
              <a:rPr sz="1600" b="1" spc="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mbria"/>
                <a:cs typeface="Cambria"/>
              </a:rPr>
              <a:t>P</a:t>
            </a:r>
            <a:r>
              <a:rPr sz="1600" b="1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5" dirty="0">
                <a:solidFill>
                  <a:srgbClr val="6F2F9F"/>
                </a:solidFill>
                <a:latin typeface="Cambria"/>
                <a:cs typeface="Cambria"/>
              </a:rPr>
              <a:t>= </a:t>
            </a:r>
            <a:r>
              <a:rPr sz="1600" b="1" spc="-30" dirty="0">
                <a:solidFill>
                  <a:srgbClr val="6F2F9F"/>
                </a:solidFill>
                <a:latin typeface="Cambria"/>
                <a:cs typeface="Cambria"/>
              </a:rPr>
              <a:t>Parity,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44088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1F5F"/>
                </a:solidFill>
              </a:rPr>
              <a:t>Addressing</a:t>
            </a:r>
            <a:r>
              <a:rPr sz="4400" spc="-85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23999"/>
            <a:ext cx="9693275" cy="280924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spc="-10" dirty="0">
                <a:latin typeface="Cambria"/>
                <a:cs typeface="Cambria"/>
              </a:rPr>
              <a:t>Microprocessor</a:t>
            </a:r>
            <a:r>
              <a:rPr sz="2600" spc="-20" dirty="0">
                <a:latin typeface="Cambria"/>
                <a:cs typeface="Cambria"/>
              </a:rPr>
              <a:t> </a:t>
            </a:r>
            <a:r>
              <a:rPr sz="2600" spc="-15" dirty="0">
                <a:latin typeface="Cambria"/>
                <a:cs typeface="Cambria"/>
              </a:rPr>
              <a:t>executes </a:t>
            </a:r>
            <a:r>
              <a:rPr sz="2600" spc="-5" dirty="0">
                <a:latin typeface="Cambria"/>
                <a:cs typeface="Cambria"/>
              </a:rPr>
              <a:t>the</a:t>
            </a:r>
            <a:r>
              <a:rPr sz="2600" spc="-15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instructions </a:t>
            </a:r>
            <a:r>
              <a:rPr sz="2600" spc="-15" dirty="0">
                <a:latin typeface="Cambria"/>
                <a:cs typeface="Cambria"/>
              </a:rPr>
              <a:t>stored</a:t>
            </a:r>
            <a:r>
              <a:rPr sz="2600" spc="-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</a:t>
            </a:r>
            <a:r>
              <a:rPr sz="2600" spc="15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memory</a:t>
            </a:r>
            <a:r>
              <a:rPr sz="2600" spc="-2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(RAM).</a:t>
            </a:r>
            <a:endParaRPr sz="260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spc="-5" dirty="0">
                <a:latin typeface="Cambria"/>
                <a:cs typeface="Cambria"/>
              </a:rPr>
              <a:t>It</a:t>
            </a:r>
            <a:r>
              <a:rPr sz="2600" spc="-15" dirty="0">
                <a:latin typeface="Cambria"/>
                <a:cs typeface="Cambria"/>
              </a:rPr>
              <a:t> executes</a:t>
            </a:r>
            <a:r>
              <a:rPr sz="2600" spc="-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one</a:t>
            </a:r>
            <a:r>
              <a:rPr sz="2600" spc="-10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instruction</a:t>
            </a:r>
            <a:r>
              <a:rPr sz="2600" spc="-25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at</a:t>
            </a:r>
            <a:r>
              <a:rPr sz="2600" spc="-1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</a:t>
            </a:r>
            <a:r>
              <a:rPr sz="2600" spc="-5" dirty="0">
                <a:latin typeface="Cambria"/>
                <a:cs typeface="Cambria"/>
              </a:rPr>
              <a:t> time.</a:t>
            </a:r>
            <a:endParaRPr sz="260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spc="-5" dirty="0">
                <a:latin typeface="Cambria"/>
                <a:cs typeface="Cambria"/>
              </a:rPr>
              <a:t>Each</a:t>
            </a:r>
            <a:r>
              <a:rPr sz="2600" spc="1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5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the</a:t>
            </a:r>
            <a:r>
              <a:rPr sz="2600" spc="5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instruction</a:t>
            </a:r>
            <a:r>
              <a:rPr sz="2600" spc="-10" dirty="0">
                <a:latin typeface="Cambria"/>
                <a:cs typeface="Cambria"/>
              </a:rPr>
              <a:t> </a:t>
            </a:r>
            <a:r>
              <a:rPr sz="2600">
                <a:latin typeface="Cambria"/>
                <a:cs typeface="Cambria"/>
              </a:rPr>
              <a:t>contains</a:t>
            </a:r>
            <a:r>
              <a:rPr sz="2600" spc="-10">
                <a:latin typeface="Cambria"/>
                <a:cs typeface="Cambria"/>
              </a:rPr>
              <a:t> </a:t>
            </a:r>
            <a:r>
              <a:rPr sz="2600" spc="-10" smtClean="0">
                <a:latin typeface="Cambria"/>
                <a:cs typeface="Cambria"/>
              </a:rPr>
              <a:t>operation</a:t>
            </a:r>
            <a:r>
              <a:rPr sz="2600" spc="-25" smtClean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and</a:t>
            </a:r>
            <a:r>
              <a:rPr sz="260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operands.</a:t>
            </a:r>
            <a:endParaRPr sz="260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spc="-10" dirty="0">
                <a:latin typeface="Cambria"/>
                <a:cs typeface="Cambria"/>
              </a:rPr>
              <a:t>Operation</a:t>
            </a:r>
            <a:r>
              <a:rPr sz="2600" spc="-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specifies</a:t>
            </a:r>
            <a:r>
              <a:rPr sz="2600" spc="-25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the</a:t>
            </a:r>
            <a:r>
              <a:rPr sz="2600" spc="-15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type </a:t>
            </a:r>
            <a:r>
              <a:rPr sz="2600" dirty="0">
                <a:latin typeface="Cambria"/>
                <a:cs typeface="Cambria"/>
              </a:rPr>
              <a:t>of </a:t>
            </a:r>
            <a:r>
              <a:rPr sz="2600" spc="-5" dirty="0">
                <a:latin typeface="Cambria"/>
                <a:cs typeface="Cambria"/>
              </a:rPr>
              <a:t>action</a:t>
            </a:r>
            <a:r>
              <a:rPr sz="2600" spc="-20" dirty="0">
                <a:latin typeface="Cambria"/>
                <a:cs typeface="Cambria"/>
              </a:rPr>
              <a:t> </a:t>
            </a:r>
            <a:r>
              <a:rPr sz="2600" spc="-15" dirty="0">
                <a:latin typeface="Cambria"/>
                <a:cs typeface="Cambria"/>
              </a:rPr>
              <a:t>to</a:t>
            </a:r>
            <a:r>
              <a:rPr sz="2600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be performed.</a:t>
            </a:r>
            <a:endParaRPr sz="2600">
              <a:latin typeface="Cambria"/>
              <a:cs typeface="Cambria"/>
            </a:endParaRPr>
          </a:p>
          <a:p>
            <a:pPr marL="698500" lvl="1" indent="-229235">
              <a:lnSpc>
                <a:spcPct val="100000"/>
              </a:lnSpc>
              <a:spcBef>
                <a:spcPts val="244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200" spc="-35" dirty="0">
                <a:latin typeface="Cambria"/>
                <a:cs typeface="Cambria"/>
              </a:rPr>
              <a:t>For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spc="-15" dirty="0">
                <a:latin typeface="Cambria"/>
                <a:cs typeface="Cambria"/>
              </a:rPr>
              <a:t>example:</a:t>
            </a:r>
            <a:r>
              <a:rPr sz="2200" spc="20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ADD,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SUB,</a:t>
            </a:r>
            <a:r>
              <a:rPr sz="2200" dirty="0">
                <a:latin typeface="Cambria"/>
                <a:cs typeface="Cambria"/>
              </a:rPr>
              <a:t> </a:t>
            </a:r>
            <a:r>
              <a:rPr sz="2200" spc="-75" dirty="0">
                <a:latin typeface="Cambria"/>
                <a:cs typeface="Cambria"/>
              </a:rPr>
              <a:t>MOV,</a:t>
            </a:r>
            <a:r>
              <a:rPr sz="2200" spc="1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INC,</a:t>
            </a:r>
            <a:r>
              <a:rPr sz="2200" spc="5" dirty="0">
                <a:latin typeface="Cambria"/>
                <a:cs typeface="Cambria"/>
              </a:rPr>
              <a:t> </a:t>
            </a:r>
            <a:r>
              <a:rPr sz="2200" spc="-30" dirty="0">
                <a:latin typeface="Cambria"/>
                <a:cs typeface="Cambria"/>
              </a:rPr>
              <a:t>LOAD,</a:t>
            </a:r>
            <a:r>
              <a:rPr sz="2200" spc="-15" dirty="0">
                <a:latin typeface="Cambria"/>
                <a:cs typeface="Cambria"/>
              </a:rPr>
              <a:t> STORE</a:t>
            </a:r>
            <a:endParaRPr sz="220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spc="-10" dirty="0">
                <a:latin typeface="Cambria"/>
                <a:cs typeface="Cambria"/>
              </a:rPr>
              <a:t>Operands</a:t>
            </a:r>
            <a:r>
              <a:rPr sz="2600" spc="-25" dirty="0">
                <a:latin typeface="Cambria"/>
                <a:cs typeface="Cambria"/>
              </a:rPr>
              <a:t> </a:t>
            </a:r>
            <a:r>
              <a:rPr sz="2600" spc="-15" dirty="0">
                <a:latin typeface="Cambria"/>
                <a:cs typeface="Cambria"/>
              </a:rPr>
              <a:t>are</a:t>
            </a:r>
            <a:r>
              <a:rPr sz="2600" spc="-5" dirty="0">
                <a:latin typeface="Cambria"/>
                <a:cs typeface="Cambria"/>
              </a:rPr>
              <a:t> the</a:t>
            </a:r>
            <a:r>
              <a:rPr sz="2600" spc="-1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data on</a:t>
            </a:r>
            <a:r>
              <a:rPr sz="2600" spc="-10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which</a:t>
            </a:r>
            <a:r>
              <a:rPr sz="2600" spc="5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the</a:t>
            </a:r>
            <a:r>
              <a:rPr sz="2600" spc="-2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operation </a:t>
            </a:r>
            <a:r>
              <a:rPr sz="2600" dirty="0">
                <a:latin typeface="Cambria"/>
                <a:cs typeface="Cambria"/>
              </a:rPr>
              <a:t>is</a:t>
            </a:r>
            <a:r>
              <a:rPr sz="2600" spc="-5" dirty="0">
                <a:latin typeface="Cambria"/>
                <a:cs typeface="Cambria"/>
              </a:rPr>
              <a:t> </a:t>
            </a:r>
            <a:r>
              <a:rPr sz="2600" spc="-15" dirty="0">
                <a:latin typeface="Cambria"/>
                <a:cs typeface="Cambria"/>
              </a:rPr>
              <a:t>to</a:t>
            </a:r>
            <a:r>
              <a:rPr sz="2600" spc="-1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be </a:t>
            </a:r>
            <a:r>
              <a:rPr sz="2600" spc="-5" dirty="0">
                <a:latin typeface="Cambria"/>
                <a:cs typeface="Cambria"/>
              </a:rPr>
              <a:t>performed.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70022" y="4989402"/>
            <a:ext cx="1404620" cy="994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9734" marR="5080" indent="-407670">
              <a:lnSpc>
                <a:spcPct val="122300"/>
              </a:lnSpc>
              <a:spcBef>
                <a:spcPts val="95"/>
              </a:spcBef>
            </a:pPr>
            <a:r>
              <a:rPr sz="2600" b="1" spc="-20" dirty="0">
                <a:latin typeface="Cambria"/>
                <a:cs typeface="Cambria"/>
              </a:rPr>
              <a:t>MOV </a:t>
            </a:r>
            <a:r>
              <a:rPr sz="2600" b="1" spc="-5" dirty="0">
                <a:solidFill>
                  <a:srgbClr val="00AF50"/>
                </a:solidFill>
                <a:latin typeface="Cambria"/>
                <a:cs typeface="Cambria"/>
              </a:rPr>
              <a:t>B</a:t>
            </a:r>
            <a:r>
              <a:rPr sz="2600" b="1" spc="-5">
                <a:solidFill>
                  <a:srgbClr val="00AF50"/>
                </a:solidFill>
                <a:latin typeface="Cambria"/>
                <a:cs typeface="Cambria"/>
              </a:rPr>
              <a:t>, </a:t>
            </a:r>
            <a:r>
              <a:rPr sz="2600" b="1" smtClean="0">
                <a:solidFill>
                  <a:srgbClr val="00AF50"/>
                </a:solidFill>
                <a:latin typeface="Cambria"/>
                <a:cs typeface="Cambria"/>
              </a:rPr>
              <a:t>A </a:t>
            </a:r>
            <a:r>
              <a:rPr sz="2600" b="1" spc="-560" smtClean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600" b="1" smtClean="0">
                <a:latin typeface="Cambria"/>
                <a:cs typeface="Cambria"/>
              </a:rPr>
              <a:t>ADD</a:t>
            </a:r>
            <a:r>
              <a:rPr sz="2600" b="1" spc="-80" smtClean="0">
                <a:latin typeface="Cambria"/>
                <a:cs typeface="Cambria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mbria"/>
                <a:cs typeface="Cambria"/>
              </a:rPr>
              <a:t>B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0600" y="5181600"/>
            <a:ext cx="5715000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FF0000"/>
                </a:solidFill>
                <a:latin typeface="Cambria"/>
                <a:cs typeface="Cambria"/>
              </a:rPr>
              <a:t>Here</a:t>
            </a:r>
            <a:r>
              <a:rPr sz="1700" b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Cambria"/>
                <a:cs typeface="Cambria"/>
              </a:rPr>
              <a:t>MOV </a:t>
            </a:r>
            <a:r>
              <a:rPr sz="1700" b="1" spc="-5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1700" b="1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Cambria"/>
                <a:cs typeface="Cambria"/>
              </a:rPr>
              <a:t>operation </a:t>
            </a:r>
            <a:r>
              <a:rPr sz="1700" b="1" spc="-5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700" b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ambria"/>
                <a:cs typeface="Cambria"/>
              </a:rPr>
              <a:t>(B &amp; </a:t>
            </a:r>
            <a:r>
              <a:rPr sz="1700" b="1" spc="-5" dirty="0">
                <a:solidFill>
                  <a:srgbClr val="FF0000"/>
                </a:solidFill>
                <a:latin typeface="Cambria"/>
                <a:cs typeface="Cambria"/>
              </a:rPr>
              <a:t>A)</a:t>
            </a:r>
            <a:r>
              <a:rPr sz="1700" b="1" spc="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Cambria"/>
                <a:cs typeface="Cambria"/>
              </a:rPr>
              <a:t>are</a:t>
            </a:r>
            <a:r>
              <a:rPr sz="1700" b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Cambria"/>
                <a:cs typeface="Cambria"/>
              </a:rPr>
              <a:t>operands</a:t>
            </a:r>
            <a:r>
              <a:rPr sz="1700" spc="-5" dirty="0">
                <a:solidFill>
                  <a:srgbClr val="FF0000"/>
                </a:solidFill>
                <a:latin typeface="Cambria"/>
                <a:cs typeface="Cambria"/>
              </a:rPr>
              <a:t>.</a:t>
            </a:r>
            <a:endParaRPr sz="1700">
              <a:solidFill>
                <a:srgbClr val="FF0000"/>
              </a:solidFill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31790" y="5675477"/>
            <a:ext cx="4288410" cy="275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10" dirty="0">
                <a:solidFill>
                  <a:srgbClr val="FF0000"/>
                </a:solidFill>
                <a:latin typeface="Cambria"/>
                <a:cs typeface="Cambria"/>
              </a:rPr>
              <a:t>Here</a:t>
            </a:r>
            <a:r>
              <a:rPr sz="1700" b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ambria"/>
                <a:cs typeface="Cambria"/>
              </a:rPr>
              <a:t>ADD</a:t>
            </a:r>
            <a:r>
              <a:rPr sz="1700" b="1" spc="-5" dirty="0">
                <a:solidFill>
                  <a:srgbClr val="FF0000"/>
                </a:solidFill>
                <a:latin typeface="Cambria"/>
                <a:cs typeface="Cambria"/>
              </a:rPr>
              <a:t> is</a:t>
            </a:r>
            <a:r>
              <a:rPr sz="1700" b="1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Cambria"/>
                <a:cs typeface="Cambria"/>
              </a:rPr>
              <a:t>operation </a:t>
            </a:r>
            <a:r>
              <a:rPr sz="1700" b="1" spc="-5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700" b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ambria"/>
                <a:cs typeface="Cambria"/>
              </a:rPr>
              <a:t>(B)</a:t>
            </a:r>
            <a:r>
              <a:rPr sz="1700" b="1" spc="-5" dirty="0">
                <a:solidFill>
                  <a:srgbClr val="FF0000"/>
                </a:solidFill>
                <a:latin typeface="Cambria"/>
                <a:cs typeface="Cambria"/>
              </a:rPr>
              <a:t> is </a:t>
            </a:r>
            <a:r>
              <a:rPr sz="1700" b="1" spc="-10" dirty="0">
                <a:solidFill>
                  <a:srgbClr val="FF0000"/>
                </a:solidFill>
                <a:latin typeface="Cambria"/>
                <a:cs typeface="Cambria"/>
              </a:rPr>
              <a:t>operand</a:t>
            </a:r>
            <a:r>
              <a:rPr sz="1700" spc="-10" dirty="0">
                <a:solidFill>
                  <a:srgbClr val="FF0000"/>
                </a:solidFill>
                <a:latin typeface="Cambria"/>
                <a:cs typeface="Cambria"/>
              </a:rPr>
              <a:t>.</a:t>
            </a:r>
            <a:endParaRPr sz="1700">
              <a:solidFill>
                <a:srgbClr val="FF0000"/>
              </a:solidFill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44088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1F5F"/>
                </a:solidFill>
              </a:rPr>
              <a:t>Addressing</a:t>
            </a:r>
            <a:r>
              <a:rPr sz="4400" spc="-85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807210"/>
            <a:ext cx="10238105" cy="3264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ts val="3190"/>
              </a:lnSpc>
              <a:spcBef>
                <a:spcPts val="9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mbria"/>
                <a:cs typeface="Cambria"/>
              </a:rPr>
              <a:t>Operand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can</a:t>
            </a:r>
            <a:r>
              <a:rPr sz="2800" dirty="0">
                <a:latin typeface="Cambria"/>
                <a:cs typeface="Cambria"/>
              </a:rPr>
              <a:t> be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place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either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one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the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processor</a:t>
            </a:r>
            <a:r>
              <a:rPr sz="2800" spc="30" dirty="0">
                <a:latin typeface="Cambria"/>
                <a:cs typeface="Cambria"/>
              </a:rPr>
              <a:t> </a:t>
            </a:r>
            <a:r>
              <a:rPr sz="2800" b="1" spc="-15" dirty="0">
                <a:solidFill>
                  <a:srgbClr val="00AF50"/>
                </a:solidFill>
                <a:latin typeface="Cambria"/>
                <a:cs typeface="Cambria"/>
              </a:rPr>
              <a:t>register</a:t>
            </a:r>
            <a:r>
              <a:rPr sz="2800" b="1" spc="-2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or</a:t>
            </a:r>
            <a:r>
              <a:rPr sz="2800" dirty="0">
                <a:latin typeface="Cambria"/>
                <a:cs typeface="Cambria"/>
              </a:rPr>
              <a:t> in</a:t>
            </a:r>
            <a:endParaRPr sz="2800">
              <a:latin typeface="Cambria"/>
              <a:cs typeface="Cambria"/>
            </a:endParaRPr>
          </a:p>
          <a:p>
            <a:pPr marL="241300">
              <a:lnSpc>
                <a:spcPts val="3190"/>
              </a:lnSpc>
            </a:pPr>
            <a:r>
              <a:rPr sz="2800" b="1" spc="-10" dirty="0">
                <a:solidFill>
                  <a:srgbClr val="00AF50"/>
                </a:solidFill>
                <a:latin typeface="Cambria"/>
                <a:cs typeface="Cambria"/>
              </a:rPr>
              <a:t>memory</a:t>
            </a:r>
            <a:r>
              <a:rPr sz="2800" spc="-10" dirty="0">
                <a:latin typeface="Cambria"/>
                <a:cs typeface="Cambria"/>
              </a:rPr>
              <a:t>.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00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mbria"/>
                <a:cs typeface="Cambria"/>
              </a:rPr>
              <a:t>There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are</a:t>
            </a:r>
            <a:r>
              <a:rPr sz="2800" spc="-10" dirty="0">
                <a:latin typeface="Cambria"/>
                <a:cs typeface="Cambria"/>
              </a:rPr>
              <a:t> different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40" dirty="0">
                <a:latin typeface="Cambria"/>
                <a:cs typeface="Cambria"/>
              </a:rPr>
              <a:t>ways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to get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spc="-10" dirty="0">
                <a:latin typeface="Cambria"/>
                <a:cs typeface="Cambria"/>
              </a:rPr>
              <a:t> operands.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4300">
              <a:latin typeface="Cambria"/>
              <a:cs typeface="Cambria"/>
            </a:endParaRPr>
          </a:p>
          <a:p>
            <a:pPr marL="241300" marR="5080" indent="-229235">
              <a:lnSpc>
                <a:spcPts val="3020"/>
              </a:lnSpc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45" dirty="0">
                <a:latin typeface="Cambria"/>
                <a:cs typeface="Cambria"/>
              </a:rPr>
              <a:t>way</a:t>
            </a:r>
            <a:r>
              <a:rPr sz="2800" spc="-5" dirty="0">
                <a:latin typeface="Cambria"/>
                <a:cs typeface="Cambria"/>
              </a:rPr>
              <a:t> in </a:t>
            </a:r>
            <a:r>
              <a:rPr sz="2800" spc="-10" dirty="0">
                <a:latin typeface="Cambria"/>
                <a:cs typeface="Cambria"/>
              </a:rPr>
              <a:t>which</a:t>
            </a:r>
            <a:r>
              <a:rPr sz="2800" spc="-5" dirty="0">
                <a:latin typeface="Cambria"/>
                <a:cs typeface="Cambria"/>
              </a:rPr>
              <a:t> the</a:t>
            </a:r>
            <a:r>
              <a:rPr sz="2800" spc="-10" dirty="0">
                <a:latin typeface="Cambria"/>
                <a:cs typeface="Cambria"/>
              </a:rPr>
              <a:t> operand</a:t>
            </a:r>
            <a:r>
              <a:rPr sz="2800" spc="-5" dirty="0">
                <a:latin typeface="Cambria"/>
                <a:cs typeface="Cambria"/>
              </a:rPr>
              <a:t> is </a:t>
            </a:r>
            <a:r>
              <a:rPr sz="2800" spc="-15" dirty="0">
                <a:latin typeface="Cambria"/>
                <a:cs typeface="Cambria"/>
              </a:rPr>
              <a:t>taken from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register </a:t>
            </a:r>
            <a:r>
              <a:rPr sz="2800" dirty="0">
                <a:latin typeface="Cambria"/>
                <a:cs typeface="Cambria"/>
              </a:rPr>
              <a:t>or </a:t>
            </a:r>
            <a:r>
              <a:rPr sz="2800" spc="-5" dirty="0">
                <a:latin typeface="Cambria"/>
                <a:cs typeface="Cambria"/>
              </a:rPr>
              <a:t>memory is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named</a:t>
            </a:r>
            <a:r>
              <a:rPr sz="2800" spc="-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mbria"/>
                <a:cs typeface="Cambria"/>
              </a:rPr>
              <a:t>addressing</a:t>
            </a:r>
            <a:r>
              <a:rPr sz="2800" b="1" spc="-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mbria"/>
                <a:cs typeface="Cambria"/>
              </a:rPr>
              <a:t>mode</a:t>
            </a:r>
            <a:r>
              <a:rPr sz="2800" spc="-10" dirty="0">
                <a:latin typeface="Cambria"/>
                <a:cs typeface="Cambria"/>
              </a:rPr>
              <a:t>.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83794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solidFill>
                  <a:srgbClr val="001F5F"/>
                </a:solidFill>
              </a:rPr>
              <a:t>Addressing</a:t>
            </a:r>
            <a:r>
              <a:rPr sz="4400" b="1" spc="-85" dirty="0">
                <a:solidFill>
                  <a:srgbClr val="001F5F"/>
                </a:solidFill>
              </a:rPr>
              <a:t> </a:t>
            </a:r>
            <a:r>
              <a:rPr sz="4400" b="1" spc="-5" dirty="0">
                <a:solidFill>
                  <a:srgbClr val="001F5F"/>
                </a:solidFill>
              </a:rPr>
              <a:t>Modes</a:t>
            </a:r>
            <a:endParaRPr sz="4400" b="1"/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7807959" cy="45300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b="1" spc="-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Immediate</a:t>
            </a:r>
            <a:r>
              <a:rPr sz="2600" b="1" spc="-5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1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Addressing</a:t>
            </a:r>
            <a:r>
              <a:rPr sz="2600" b="1" spc="-3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Mode</a:t>
            </a:r>
            <a:endParaRPr sz="2600" b="1">
              <a:solidFill>
                <a:schemeClr val="accent6">
                  <a:lumMod val="50000"/>
                </a:schemeClr>
              </a:solidFill>
              <a:latin typeface="Cambria"/>
              <a:cs typeface="Cambria"/>
            </a:endParaRPr>
          </a:p>
          <a:p>
            <a:pPr marL="527685" indent="-515620">
              <a:lnSpc>
                <a:spcPct val="100000"/>
              </a:lnSpc>
              <a:spcBef>
                <a:spcPts val="5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b="1" spc="-1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Register</a:t>
            </a:r>
            <a:r>
              <a:rPr sz="2600" b="1" spc="-3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1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Addressing</a:t>
            </a:r>
            <a:r>
              <a:rPr sz="2600" b="1" spc="-3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Mode</a:t>
            </a:r>
            <a:endParaRPr sz="2600" b="1">
              <a:solidFill>
                <a:schemeClr val="accent6">
                  <a:lumMod val="50000"/>
                </a:schemeClr>
              </a:solidFill>
              <a:latin typeface="Cambria"/>
              <a:cs typeface="Cambria"/>
            </a:endParaRPr>
          </a:p>
          <a:p>
            <a:pPr marL="527685" indent="-515620">
              <a:lnSpc>
                <a:spcPct val="100000"/>
              </a:lnSpc>
              <a:spcBef>
                <a:spcPts val="6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b="1" spc="-1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Register</a:t>
            </a:r>
            <a:r>
              <a:rPr sz="2600" b="1" spc="-2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1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Indirect</a:t>
            </a:r>
            <a:r>
              <a:rPr sz="2600" b="1" spc="-2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1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Addressing</a:t>
            </a:r>
            <a:r>
              <a:rPr sz="2600" b="1" spc="-2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Mode</a:t>
            </a:r>
            <a:endParaRPr sz="2600" b="1">
              <a:solidFill>
                <a:schemeClr val="accent6">
                  <a:lumMod val="50000"/>
                </a:schemeClr>
              </a:solidFill>
              <a:latin typeface="Cambria"/>
              <a:cs typeface="Cambria"/>
            </a:endParaRPr>
          </a:p>
          <a:p>
            <a:pPr marL="527685" indent="-515620">
              <a:lnSpc>
                <a:spcPct val="100000"/>
              </a:lnSpc>
              <a:spcBef>
                <a:spcPts val="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b="1" spc="-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Direct</a:t>
            </a:r>
            <a:r>
              <a:rPr sz="2600" b="1" spc="-4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1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Addressing</a:t>
            </a:r>
            <a:r>
              <a:rPr sz="2600" b="1" spc="-3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Mode</a:t>
            </a:r>
            <a:endParaRPr sz="2600" b="1">
              <a:solidFill>
                <a:schemeClr val="accent6">
                  <a:lumMod val="50000"/>
                </a:schemeClr>
              </a:solidFill>
              <a:latin typeface="Cambria"/>
              <a:cs typeface="Cambria"/>
            </a:endParaRPr>
          </a:p>
          <a:p>
            <a:pPr marL="527685" indent="-515620">
              <a:lnSpc>
                <a:spcPct val="100000"/>
              </a:lnSpc>
              <a:spcBef>
                <a:spcPts val="6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b="1" spc="-1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Indirect</a:t>
            </a:r>
            <a:r>
              <a:rPr sz="2600" b="1" spc="-3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1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Addressing</a:t>
            </a:r>
            <a:r>
              <a:rPr sz="2600" b="1" spc="-2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Mode</a:t>
            </a:r>
            <a:endParaRPr sz="2600" b="1">
              <a:solidFill>
                <a:schemeClr val="accent6">
                  <a:lumMod val="50000"/>
                </a:schemeClr>
              </a:solidFill>
              <a:latin typeface="Cambria"/>
              <a:cs typeface="Cambria"/>
            </a:endParaRPr>
          </a:p>
          <a:p>
            <a:pPr marL="527685" indent="-515620">
              <a:lnSpc>
                <a:spcPct val="100000"/>
              </a:lnSpc>
              <a:spcBef>
                <a:spcPts val="6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b="1" spc="-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Implied</a:t>
            </a:r>
            <a:r>
              <a:rPr sz="2600" b="1" spc="-5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1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Addressing</a:t>
            </a:r>
            <a:r>
              <a:rPr sz="2600" b="1" spc="-2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Mode</a:t>
            </a:r>
            <a:endParaRPr sz="2600" b="1">
              <a:solidFill>
                <a:schemeClr val="accent6">
                  <a:lumMod val="50000"/>
                </a:schemeClr>
              </a:solidFill>
              <a:latin typeface="Cambria"/>
              <a:cs typeface="Cambria"/>
            </a:endParaRPr>
          </a:p>
          <a:p>
            <a:pPr marL="527685" indent="-515620">
              <a:lnSpc>
                <a:spcPct val="100000"/>
              </a:lnSpc>
              <a:spcBef>
                <a:spcPts val="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b="1" spc="-2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Relative</a:t>
            </a:r>
            <a:r>
              <a:rPr sz="2600" b="1" spc="-5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1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Addressing</a:t>
            </a:r>
            <a:r>
              <a:rPr sz="2600" b="1" spc="-3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Mode</a:t>
            </a:r>
            <a:endParaRPr sz="2600" b="1">
              <a:solidFill>
                <a:schemeClr val="accent6">
                  <a:lumMod val="50000"/>
                </a:schemeClr>
              </a:solidFill>
              <a:latin typeface="Cambria"/>
              <a:cs typeface="Cambria"/>
            </a:endParaRPr>
          </a:p>
          <a:p>
            <a:pPr marL="527685" indent="-515620">
              <a:lnSpc>
                <a:spcPct val="100000"/>
              </a:lnSpc>
              <a:spcBef>
                <a:spcPts val="6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b="1" spc="-2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Indexed</a:t>
            </a:r>
            <a:r>
              <a:rPr sz="2600" b="1" spc="-4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1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Addressing</a:t>
            </a:r>
            <a:r>
              <a:rPr sz="2600" b="1" spc="-3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Mode</a:t>
            </a:r>
            <a:endParaRPr sz="2600" b="1">
              <a:solidFill>
                <a:schemeClr val="accent6">
                  <a:lumMod val="50000"/>
                </a:schemeClr>
              </a:solidFill>
              <a:latin typeface="Cambria"/>
              <a:cs typeface="Cambria"/>
            </a:endParaRPr>
          </a:p>
          <a:p>
            <a:pPr marL="527685" indent="-515620">
              <a:lnSpc>
                <a:spcPct val="100000"/>
              </a:lnSpc>
              <a:spcBef>
                <a:spcPts val="6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600" b="1" spc="-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Base</a:t>
            </a:r>
            <a:r>
              <a:rPr sz="2600" b="1" spc="-3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1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Register</a:t>
            </a:r>
            <a:r>
              <a:rPr sz="2600" b="1" spc="-3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1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Addressing</a:t>
            </a:r>
            <a:r>
              <a:rPr sz="2600" b="1" spc="-2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Mode</a:t>
            </a:r>
            <a:endParaRPr sz="2600" b="1">
              <a:solidFill>
                <a:schemeClr val="accent6">
                  <a:lumMod val="50000"/>
                </a:schemeClr>
              </a:solidFill>
              <a:latin typeface="Cambria"/>
              <a:cs typeface="Cambria"/>
            </a:endParaRPr>
          </a:p>
          <a:p>
            <a:pPr marL="527685" indent="-515620">
              <a:lnSpc>
                <a:spcPct val="100000"/>
              </a:lnSpc>
              <a:spcBef>
                <a:spcPts val="75"/>
              </a:spcBef>
              <a:buAutoNum type="arabicPeriod"/>
              <a:tabLst>
                <a:tab pos="528320" algn="l"/>
              </a:tabLst>
            </a:pPr>
            <a:r>
              <a:rPr sz="2600" b="1" spc="-1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Autoincrement</a:t>
            </a:r>
            <a:r>
              <a:rPr sz="2600" b="1" spc="-3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or</a:t>
            </a:r>
            <a:r>
              <a:rPr sz="2600" b="1" spc="-1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Autodecrement</a:t>
            </a:r>
            <a:r>
              <a:rPr sz="2600" b="1" spc="-4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10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Addressing</a:t>
            </a:r>
            <a:r>
              <a:rPr sz="2600" b="1" spc="-1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2600" b="1" spc="-5" dirty="0">
                <a:solidFill>
                  <a:schemeClr val="accent6">
                    <a:lumMod val="50000"/>
                  </a:schemeClr>
                </a:solidFill>
                <a:latin typeface="Cambria"/>
                <a:cs typeface="Cambria"/>
              </a:rPr>
              <a:t>Mode</a:t>
            </a:r>
            <a:endParaRPr sz="2600" b="1">
              <a:solidFill>
                <a:schemeClr val="accent6">
                  <a:lumMod val="50000"/>
                </a:schemeClr>
              </a:solidFill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74199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1.</a:t>
            </a:r>
            <a:r>
              <a:rPr sz="4400" spc="-10" dirty="0">
                <a:solidFill>
                  <a:srgbClr val="001F5F"/>
                </a:solidFill>
              </a:rPr>
              <a:t> Immediate Addressing</a:t>
            </a:r>
            <a:r>
              <a:rPr sz="4400" spc="-35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23157"/>
            <a:ext cx="9113520" cy="1888489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mbria"/>
                <a:cs typeface="Cambria"/>
              </a:rPr>
              <a:t>The </a:t>
            </a:r>
            <a:r>
              <a:rPr sz="2800" spc="-10" dirty="0">
                <a:latin typeface="Cambria"/>
                <a:cs typeface="Cambria"/>
              </a:rPr>
              <a:t>operand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is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specified</a:t>
            </a:r>
            <a:r>
              <a:rPr sz="2800" spc="-10" dirty="0">
                <a:latin typeface="Cambria"/>
                <a:cs typeface="Cambria"/>
              </a:rPr>
              <a:t> with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 the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instruction.</a:t>
            </a:r>
            <a:endParaRPr sz="2800">
              <a:latin typeface="Cambria"/>
              <a:cs typeface="Cambria"/>
            </a:endParaRPr>
          </a:p>
          <a:p>
            <a:pPr marL="241300" marR="5080" indent="-229235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mbria"/>
                <a:cs typeface="Cambria"/>
              </a:rPr>
              <a:t>Operand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itself is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provided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instruction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rather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than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its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address.</a:t>
            </a:r>
            <a:endParaRPr sz="2800">
              <a:latin typeface="Cambria"/>
              <a:cs typeface="Cambria"/>
            </a:endParaRPr>
          </a:p>
          <a:p>
            <a:pPr marL="4015104">
              <a:lnSpc>
                <a:spcPct val="100000"/>
              </a:lnSpc>
              <a:spcBef>
                <a:spcPts val="675"/>
              </a:spcBef>
            </a:pPr>
            <a:r>
              <a:rPr sz="2400" b="1" spc="-35" dirty="0">
                <a:solidFill>
                  <a:srgbClr val="6F2F9F"/>
                </a:solidFill>
                <a:latin typeface="Cambria"/>
                <a:cs typeface="Cambria"/>
              </a:rPr>
              <a:t>Move</a:t>
            </a:r>
            <a:r>
              <a:rPr sz="2400" b="1" spc="-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mbria"/>
                <a:cs typeface="Cambria"/>
              </a:rPr>
              <a:t>Immediate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9233" y="3669919"/>
            <a:ext cx="3825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46985" algn="l"/>
              </a:tabLst>
            </a:pPr>
            <a:r>
              <a:rPr sz="2800" b="1" spc="-10" dirty="0">
                <a:latin typeface="Cambria"/>
                <a:cs typeface="Cambria"/>
              </a:rPr>
              <a:t>MVI</a:t>
            </a:r>
            <a:r>
              <a:rPr sz="2800" b="1" spc="5" dirty="0">
                <a:latin typeface="Cambria"/>
                <a:cs typeface="Cambria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Cambria"/>
                <a:cs typeface="Cambria"/>
              </a:rPr>
              <a:t>A</a:t>
            </a:r>
            <a:r>
              <a:rPr sz="2800" b="1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Cambria"/>
                <a:cs typeface="Cambria"/>
              </a:rPr>
              <a:t>,</a:t>
            </a:r>
            <a:r>
              <a:rPr sz="2800" b="1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mbria"/>
                <a:cs typeface="Cambria"/>
              </a:rPr>
              <a:t>15h	</a:t>
            </a:r>
            <a:r>
              <a:rPr sz="2800" spc="-5" dirty="0">
                <a:latin typeface="Cambria"/>
                <a:cs typeface="Cambria"/>
              </a:rPr>
              <a:t>A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←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15h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44792" y="3770502"/>
            <a:ext cx="384682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mbria"/>
                <a:cs typeface="Cambria"/>
              </a:rPr>
              <a:t>Here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15h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immediate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operand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9515" y="4644008"/>
            <a:ext cx="2171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6F2F9F"/>
                </a:solidFill>
                <a:latin typeface="Cambria"/>
                <a:cs typeface="Cambria"/>
              </a:rPr>
              <a:t>Add</a:t>
            </a:r>
            <a:r>
              <a:rPr sz="2400" b="1" spc="-3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mbria"/>
                <a:cs typeface="Cambria"/>
              </a:rPr>
              <a:t>Immediate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7229" y="5093589"/>
            <a:ext cx="13366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Cambria"/>
                <a:cs typeface="Cambria"/>
              </a:rPr>
              <a:t>ADI</a:t>
            </a:r>
            <a:r>
              <a:rPr sz="2800" b="1" spc="-75" dirty="0"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mbria"/>
                <a:cs typeface="Cambria"/>
              </a:rPr>
              <a:t>3Eh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80815" y="5093589"/>
            <a:ext cx="1873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"/>
                <a:cs typeface="Cambria"/>
              </a:rPr>
              <a:t>A</a:t>
            </a:r>
            <a:r>
              <a:rPr sz="2800" spc="-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←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</a:t>
            </a:r>
            <a:r>
              <a:rPr sz="2800" spc="-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+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3Eh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75272" y="5194172"/>
            <a:ext cx="384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mbria"/>
                <a:cs typeface="Cambria"/>
              </a:rPr>
              <a:t>Here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3Eh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immediate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operand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68129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2.</a:t>
            </a:r>
            <a:r>
              <a:rPr sz="4400" spc="-15" dirty="0">
                <a:solidFill>
                  <a:srgbClr val="001F5F"/>
                </a:solidFill>
              </a:rPr>
              <a:t> Register</a:t>
            </a:r>
            <a:r>
              <a:rPr sz="4400" spc="-10" dirty="0">
                <a:solidFill>
                  <a:srgbClr val="001F5F"/>
                </a:solidFill>
              </a:rPr>
              <a:t> Addressing</a:t>
            </a:r>
            <a:r>
              <a:rPr sz="4400" spc="-35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23157"/>
            <a:ext cx="9903460" cy="104648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mbria"/>
                <a:cs typeface="Cambria"/>
              </a:rPr>
              <a:t>The </a:t>
            </a:r>
            <a:r>
              <a:rPr sz="2800" spc="-10" dirty="0">
                <a:latin typeface="Cambria"/>
                <a:cs typeface="Cambria"/>
              </a:rPr>
              <a:t>operand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is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specified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with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one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processor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40" dirty="0">
                <a:latin typeface="Cambria"/>
                <a:cs typeface="Cambria"/>
              </a:rPr>
              <a:t>register.</a:t>
            </a:r>
            <a:endParaRPr sz="280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mbria"/>
                <a:cs typeface="Cambria"/>
              </a:rPr>
              <a:t>Instruction</a:t>
            </a:r>
            <a:r>
              <a:rPr sz="2800" spc="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specifies</a:t>
            </a:r>
            <a:r>
              <a:rPr sz="2800" spc="-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register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which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spc="-10" dirty="0">
                <a:latin typeface="Cambria"/>
                <a:cs typeface="Cambria"/>
              </a:rPr>
              <a:t> operand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is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stored.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5510" y="3222850"/>
            <a:ext cx="5979795" cy="97028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510665">
              <a:lnSpc>
                <a:spcPct val="100000"/>
              </a:lnSpc>
              <a:spcBef>
                <a:spcPts val="655"/>
              </a:spcBef>
            </a:pPr>
            <a:r>
              <a:rPr sz="2400" b="1" spc="-35" dirty="0">
                <a:solidFill>
                  <a:srgbClr val="6F2F9F"/>
                </a:solidFill>
                <a:latin typeface="Cambria"/>
                <a:cs typeface="Cambria"/>
              </a:rPr>
              <a:t>Move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  <a:tabLst>
                <a:tab pos="1432560" algn="l"/>
              </a:tabLst>
            </a:pPr>
            <a:r>
              <a:rPr sz="2800" spc="-5" dirty="0">
                <a:latin typeface="Cambria"/>
                <a:cs typeface="Cambria"/>
              </a:rPr>
              <a:t>C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← A	</a:t>
            </a:r>
            <a:r>
              <a:rPr sz="2000" spc="-10" dirty="0">
                <a:latin typeface="Cambria"/>
                <a:cs typeface="Cambria"/>
              </a:rPr>
              <a:t>Here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operand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specified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register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7710" y="3741547"/>
            <a:ext cx="15424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0" dirty="0">
                <a:latin typeface="Cambria"/>
                <a:cs typeface="Cambria"/>
              </a:rPr>
              <a:t>MOV</a:t>
            </a:r>
            <a:r>
              <a:rPr sz="2800" b="1" spc="-10" dirty="0">
                <a:latin typeface="Cambria"/>
                <a:cs typeface="Cambria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Cambria"/>
                <a:cs typeface="Cambria"/>
              </a:rPr>
              <a:t>C</a:t>
            </a:r>
            <a:r>
              <a:rPr sz="2800" b="1" spc="-4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Cambria"/>
                <a:cs typeface="Cambria"/>
              </a:rPr>
              <a:t>,</a:t>
            </a:r>
            <a:r>
              <a:rPr sz="2800" b="1" spc="-3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Cambria"/>
                <a:cs typeface="Cambria"/>
              </a:rPr>
              <a:t>A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97092" y="4717160"/>
            <a:ext cx="455422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6F2F9F"/>
                </a:solidFill>
                <a:latin typeface="Cambria"/>
                <a:cs typeface="Cambria"/>
              </a:rPr>
              <a:t>Add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000" spc="-10" dirty="0">
                <a:latin typeface="Cambria"/>
                <a:cs typeface="Cambria"/>
              </a:rPr>
              <a:t>Here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operand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specified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register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39798" y="5165216"/>
            <a:ext cx="10680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Cambria"/>
                <a:cs typeface="Cambria"/>
              </a:rPr>
              <a:t>ADD</a:t>
            </a:r>
            <a:r>
              <a:rPr sz="2800" b="1" spc="-80" dirty="0">
                <a:latin typeface="Cambria"/>
                <a:cs typeface="Cambria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Cambria"/>
                <a:cs typeface="Cambria"/>
              </a:rPr>
              <a:t>B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83634" y="5165216"/>
            <a:ext cx="14935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"/>
                <a:cs typeface="Cambria"/>
              </a:rPr>
              <a:t>A</a:t>
            </a:r>
            <a:r>
              <a:rPr sz="2800" spc="-3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←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</a:t>
            </a:r>
            <a:r>
              <a:rPr sz="2800" spc="-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+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B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8825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3.</a:t>
            </a:r>
            <a:r>
              <a:rPr sz="4400" spc="-10" dirty="0">
                <a:solidFill>
                  <a:srgbClr val="001F5F"/>
                </a:solidFill>
              </a:rPr>
              <a:t> </a:t>
            </a:r>
            <a:r>
              <a:rPr sz="4400" spc="-15" dirty="0">
                <a:solidFill>
                  <a:srgbClr val="001F5F"/>
                </a:solidFill>
              </a:rPr>
              <a:t>Register</a:t>
            </a:r>
            <a:r>
              <a:rPr sz="4400" spc="-10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Indirect</a:t>
            </a:r>
            <a:r>
              <a:rPr sz="4400" spc="-3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Addressing</a:t>
            </a:r>
            <a:r>
              <a:rPr sz="4400" spc="-55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807210"/>
            <a:ext cx="9474200" cy="17310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375285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mbria"/>
                <a:cs typeface="Cambria"/>
              </a:rPr>
              <a:t>The instruction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specifies</a:t>
            </a:r>
            <a:r>
              <a:rPr sz="2800" spc="-10" dirty="0">
                <a:latin typeface="Cambria"/>
                <a:cs typeface="Cambria"/>
              </a:rPr>
              <a:t> the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register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in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which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memory </a:t>
            </a:r>
            <a:r>
              <a:rPr sz="2800" spc="-60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address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 </a:t>
            </a:r>
            <a:r>
              <a:rPr sz="2800" spc="-10" dirty="0">
                <a:latin typeface="Cambria"/>
                <a:cs typeface="Cambria"/>
              </a:rPr>
              <a:t>operand</a:t>
            </a:r>
            <a:r>
              <a:rPr sz="2800" spc="-5" dirty="0">
                <a:latin typeface="Cambria"/>
                <a:cs typeface="Cambria"/>
              </a:rPr>
              <a:t> is </a:t>
            </a:r>
            <a:r>
              <a:rPr sz="2800" spc="-10" dirty="0">
                <a:latin typeface="Cambria"/>
                <a:cs typeface="Cambria"/>
              </a:rPr>
              <a:t>placed.</a:t>
            </a:r>
            <a:endParaRPr sz="2800">
              <a:latin typeface="Cambria"/>
              <a:cs typeface="Cambria"/>
            </a:endParaRPr>
          </a:p>
          <a:p>
            <a:pPr marL="241300" marR="5080" indent="-22923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mbria"/>
                <a:cs typeface="Cambria"/>
              </a:rPr>
              <a:t>It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do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not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specify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the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operand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itself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but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its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location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with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</a:t>
            </a:r>
            <a:r>
              <a:rPr sz="2800" spc="-10" dirty="0">
                <a:latin typeface="Cambria"/>
                <a:cs typeface="Cambria"/>
              </a:rPr>
              <a:t> the </a:t>
            </a:r>
            <a:r>
              <a:rPr sz="2800" spc="-60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memory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where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operand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is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placed.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13856" y="3990405"/>
            <a:ext cx="2820543" cy="961802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400" b="1" spc="-35" dirty="0">
                <a:solidFill>
                  <a:srgbClr val="6F2F9F"/>
                </a:solidFill>
                <a:latin typeface="Cambria"/>
                <a:cs typeface="Cambria"/>
              </a:rPr>
              <a:t>Move</a:t>
            </a:r>
            <a:endParaRPr sz="2400">
              <a:latin typeface="Cambria"/>
              <a:cs typeface="Cambria"/>
            </a:endParaRPr>
          </a:p>
          <a:p>
            <a:pPr marL="609600">
              <a:lnSpc>
                <a:spcPct val="100000"/>
              </a:lnSpc>
              <a:spcBef>
                <a:spcPts val="645"/>
              </a:spcBef>
            </a:pPr>
            <a:r>
              <a:rPr lang="en-US" sz="2800" spc="-5" dirty="0" smtClean="0">
                <a:latin typeface="Cambria"/>
                <a:cs typeface="Cambria"/>
              </a:rPr>
              <a:t>M</a:t>
            </a:r>
            <a:r>
              <a:rPr sz="2800" spc="-35" smtClean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←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[[H][L]]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96054" y="4509897"/>
            <a:ext cx="164083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0" dirty="0">
                <a:latin typeface="Cambria"/>
                <a:cs typeface="Cambria"/>
              </a:rPr>
              <a:t>MOV</a:t>
            </a:r>
            <a:r>
              <a:rPr sz="2800" b="1" spc="-10" dirty="0">
                <a:latin typeface="Cambria"/>
                <a:cs typeface="Cambria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Cambria"/>
                <a:cs typeface="Cambria"/>
              </a:rPr>
              <a:t>A</a:t>
            </a:r>
            <a:r>
              <a:rPr sz="2800" b="1" spc="-3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Cambria"/>
                <a:cs typeface="Cambria"/>
              </a:rPr>
              <a:t>,</a:t>
            </a:r>
            <a:r>
              <a:rPr sz="2800" b="1" spc="-3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Cambria"/>
                <a:cs typeface="Cambria"/>
              </a:rPr>
              <a:t>M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93722" y="5491378"/>
            <a:ext cx="80029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mbria"/>
                <a:cs typeface="Cambria"/>
              </a:rPr>
              <a:t>It </a:t>
            </a:r>
            <a:r>
              <a:rPr sz="2000" spc="-15" dirty="0">
                <a:latin typeface="Cambria"/>
                <a:cs typeface="Cambria"/>
              </a:rPr>
              <a:t>moves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from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memory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location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specified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15" dirty="0">
                <a:latin typeface="Cambria"/>
                <a:cs typeface="Cambria"/>
              </a:rPr>
              <a:t>by</a:t>
            </a:r>
            <a:r>
              <a:rPr sz="2000" dirty="0">
                <a:latin typeface="Cambria"/>
                <a:cs typeface="Cambria"/>
              </a:rPr>
              <a:t> HL</a:t>
            </a:r>
            <a:r>
              <a:rPr sz="2000" spc="-5" dirty="0">
                <a:latin typeface="Cambria"/>
                <a:cs typeface="Cambria"/>
              </a:rPr>
              <a:t> register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pair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to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A.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8825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3.</a:t>
            </a:r>
            <a:r>
              <a:rPr sz="4400" spc="-10" dirty="0">
                <a:solidFill>
                  <a:srgbClr val="001F5F"/>
                </a:solidFill>
              </a:rPr>
              <a:t> </a:t>
            </a:r>
            <a:r>
              <a:rPr sz="4400" spc="-15" dirty="0">
                <a:solidFill>
                  <a:srgbClr val="001F5F"/>
                </a:solidFill>
              </a:rPr>
              <a:t>Register</a:t>
            </a:r>
            <a:r>
              <a:rPr sz="4400" spc="-10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Indirect</a:t>
            </a:r>
            <a:r>
              <a:rPr sz="4400" spc="-3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Addressing</a:t>
            </a:r>
            <a:r>
              <a:rPr sz="4400" spc="-55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89782" y="3732148"/>
          <a:ext cx="1334770" cy="24384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85"/>
                <a:gridCol w="807085"/>
              </a:tblGrid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A9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926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736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112951" y="3765803"/>
            <a:ext cx="1421765" cy="347980"/>
            <a:chOff x="1112951" y="3765803"/>
            <a:chExt cx="1421765" cy="347980"/>
          </a:xfrm>
        </p:grpSpPr>
        <p:sp>
          <p:nvSpPr>
            <p:cNvPr id="5" name="object 5"/>
            <p:cNvSpPr/>
            <p:nvPr/>
          </p:nvSpPr>
          <p:spPr>
            <a:xfrm>
              <a:off x="1119301" y="3772153"/>
              <a:ext cx="1409065" cy="335280"/>
            </a:xfrm>
            <a:custGeom>
              <a:avLst/>
              <a:gdLst/>
              <a:ahLst/>
              <a:cxnLst/>
              <a:rect l="l" t="t" r="r" b="b"/>
              <a:pathLst>
                <a:path w="1409064" h="335279">
                  <a:moveTo>
                    <a:pt x="1408684" y="0"/>
                  </a:moveTo>
                  <a:lnTo>
                    <a:pt x="0" y="0"/>
                  </a:lnTo>
                  <a:lnTo>
                    <a:pt x="0" y="335280"/>
                  </a:lnTo>
                  <a:lnTo>
                    <a:pt x="1408684" y="335280"/>
                  </a:lnTo>
                  <a:lnTo>
                    <a:pt x="1408684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9301" y="3765803"/>
              <a:ext cx="1409065" cy="347980"/>
            </a:xfrm>
            <a:custGeom>
              <a:avLst/>
              <a:gdLst/>
              <a:ahLst/>
              <a:cxnLst/>
              <a:rect l="l" t="t" r="r" b="b"/>
              <a:pathLst>
                <a:path w="1409064" h="347979">
                  <a:moveTo>
                    <a:pt x="0" y="0"/>
                  </a:moveTo>
                  <a:lnTo>
                    <a:pt x="0" y="347980"/>
                  </a:lnTo>
                </a:path>
                <a:path w="1409064" h="347979">
                  <a:moveTo>
                    <a:pt x="1408760" y="0"/>
                  </a:moveTo>
                  <a:lnTo>
                    <a:pt x="1408760" y="34798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12951" y="3765803"/>
              <a:ext cx="1421765" cy="12700"/>
            </a:xfrm>
            <a:custGeom>
              <a:avLst/>
              <a:gdLst/>
              <a:ahLst/>
              <a:cxnLst/>
              <a:rect l="l" t="t" r="r" b="b"/>
              <a:pathLst>
                <a:path w="1421764" h="12700">
                  <a:moveTo>
                    <a:pt x="0" y="12700"/>
                  </a:moveTo>
                  <a:lnTo>
                    <a:pt x="1421460" y="12700"/>
                  </a:lnTo>
                  <a:lnTo>
                    <a:pt x="142146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12951" y="4107433"/>
              <a:ext cx="1421765" cy="0"/>
            </a:xfrm>
            <a:custGeom>
              <a:avLst/>
              <a:gdLst/>
              <a:ahLst/>
              <a:cxnLst/>
              <a:rect l="l" t="t" r="r" b="b"/>
              <a:pathLst>
                <a:path w="1421764">
                  <a:moveTo>
                    <a:pt x="0" y="0"/>
                  </a:moveTo>
                  <a:lnTo>
                    <a:pt x="142146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58748" y="4308221"/>
          <a:ext cx="1774189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125"/>
                <a:gridCol w="1409064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Cambria"/>
                          <a:cs typeface="Cambria"/>
                        </a:rPr>
                        <a:t>H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93800" y="4832603"/>
          <a:ext cx="1739264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200"/>
                <a:gridCol w="1409064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Cambria"/>
                          <a:cs typeface="Cambria"/>
                        </a:rPr>
                        <a:t>L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05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9025128" y="3732148"/>
          <a:ext cx="1334135" cy="24384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050"/>
                <a:gridCol w="807085"/>
              </a:tblGrid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A9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926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736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703314" y="3765803"/>
          <a:ext cx="1758950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"/>
                <a:gridCol w="1408430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Cambria"/>
                          <a:cs typeface="Cambria"/>
                        </a:rPr>
                        <a:t>A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A9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882192" y="1670276"/>
            <a:ext cx="9214485" cy="2428229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13485" algn="ctr">
              <a:lnSpc>
                <a:spcPct val="100000"/>
              </a:lnSpc>
              <a:spcBef>
                <a:spcPts val="1175"/>
              </a:spcBef>
              <a:tabLst>
                <a:tab pos="3528695" algn="l"/>
              </a:tabLst>
            </a:pPr>
            <a:r>
              <a:rPr sz="2800" b="1" spc="-30" dirty="0">
                <a:latin typeface="Cambria"/>
                <a:cs typeface="Cambria"/>
              </a:rPr>
              <a:t>MOV</a:t>
            </a:r>
            <a:r>
              <a:rPr sz="2800" b="1" spc="20" dirty="0">
                <a:latin typeface="Cambria"/>
                <a:cs typeface="Cambria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Cambria"/>
                <a:cs typeface="Cambria"/>
              </a:rPr>
              <a:t>A , M</a:t>
            </a:r>
            <a:r>
              <a:rPr sz="2800" b="1" spc="-5">
                <a:solidFill>
                  <a:srgbClr val="00AF50"/>
                </a:solidFill>
                <a:latin typeface="Cambria"/>
                <a:cs typeface="Cambria"/>
              </a:rPr>
              <a:t>	</a:t>
            </a:r>
            <a:r>
              <a:rPr lang="en-US" sz="2800" b="1" spc="-5" dirty="0" smtClean="0">
                <a:solidFill>
                  <a:srgbClr val="00AF50"/>
                </a:solidFill>
                <a:latin typeface="Cambria"/>
                <a:cs typeface="Cambria"/>
              </a:rPr>
              <a:t>A</a:t>
            </a:r>
            <a:r>
              <a:rPr sz="2800" spc="-20" smtClean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←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[[H][L]]</a:t>
            </a:r>
            <a:endParaRPr sz="2800">
              <a:latin typeface="Cambria"/>
              <a:cs typeface="Cambria"/>
            </a:endParaRPr>
          </a:p>
          <a:p>
            <a:pPr marL="1210945" algn="ctr">
              <a:lnSpc>
                <a:spcPct val="100000"/>
              </a:lnSpc>
              <a:spcBef>
                <a:spcPts val="775"/>
              </a:spcBef>
            </a:pPr>
            <a:r>
              <a:rPr sz="2000" spc="-5" dirty="0">
                <a:latin typeface="Cambria"/>
                <a:cs typeface="Cambria"/>
              </a:rPr>
              <a:t>It </a:t>
            </a:r>
            <a:r>
              <a:rPr sz="2000" spc="-15" dirty="0">
                <a:latin typeface="Cambria"/>
                <a:cs typeface="Cambria"/>
              </a:rPr>
              <a:t>moves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from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memory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location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specified</a:t>
            </a:r>
            <a:r>
              <a:rPr sz="2000" spc="-15" dirty="0">
                <a:latin typeface="Cambria"/>
                <a:cs typeface="Cambria"/>
              </a:rPr>
              <a:t> by</a:t>
            </a:r>
            <a:r>
              <a:rPr sz="2000" dirty="0">
                <a:latin typeface="Cambria"/>
                <a:cs typeface="Cambria"/>
              </a:rPr>
              <a:t> HL</a:t>
            </a:r>
            <a:r>
              <a:rPr sz="2000" spc="-5" dirty="0">
                <a:latin typeface="Cambria"/>
                <a:cs typeface="Cambria"/>
              </a:rPr>
              <a:t> register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pair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to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A.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00">
              <a:latin typeface="Cambria"/>
              <a:cs typeface="Cambria"/>
            </a:endParaRPr>
          </a:p>
          <a:p>
            <a:pPr marL="1604645">
              <a:lnSpc>
                <a:spcPct val="100000"/>
              </a:lnSpc>
              <a:spcBef>
                <a:spcPts val="5"/>
              </a:spcBef>
              <a:tabLst>
                <a:tab pos="7623809" algn="l"/>
              </a:tabLst>
            </a:pPr>
            <a:r>
              <a:rPr sz="1800" b="1" spc="-10" dirty="0">
                <a:solidFill>
                  <a:srgbClr val="00AF50"/>
                </a:solidFill>
                <a:latin typeface="Cambria"/>
                <a:cs typeface="Cambria"/>
              </a:rPr>
              <a:t>Before	</a:t>
            </a:r>
            <a:r>
              <a:rPr sz="1800" b="1" spc="-5" dirty="0">
                <a:solidFill>
                  <a:srgbClr val="00AF50"/>
                </a:solidFill>
                <a:latin typeface="Cambria"/>
                <a:cs typeface="Cambria"/>
              </a:rPr>
              <a:t>After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lang="en-US" sz="1600" b="1" spc="-5" dirty="0" smtClean="0">
                <a:latin typeface="Cambria"/>
                <a:cs typeface="Cambria"/>
              </a:rPr>
              <a:t>A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694169" y="4308221"/>
          <a:ext cx="1773555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4490"/>
                <a:gridCol w="1409065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Cambria"/>
                          <a:cs typeface="Cambria"/>
                        </a:rPr>
                        <a:t>H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6729221" y="4832603"/>
          <a:ext cx="1737360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930"/>
                <a:gridCol w="1408430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Cambria"/>
                          <a:cs typeface="Cambria"/>
                        </a:rPr>
                        <a:t>L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05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1182420" y="5680354"/>
            <a:ext cx="133218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spc="-45" dirty="0" smtClean="0">
                <a:latin typeface="Cambria"/>
                <a:cs typeface="Cambria"/>
              </a:rPr>
              <a:t>M</a:t>
            </a:r>
            <a:r>
              <a:rPr sz="1800" b="1" spc="-45" smtClean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←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[2805]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85050" y="5680354"/>
            <a:ext cx="753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A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←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A9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62979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4.</a:t>
            </a:r>
            <a:r>
              <a:rPr sz="4400" spc="-1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Direct</a:t>
            </a:r>
            <a:r>
              <a:rPr sz="4400" spc="-1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Addressing</a:t>
            </a:r>
            <a:r>
              <a:rPr sz="4400" spc="-60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23157"/>
            <a:ext cx="9565005" cy="43910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mbria"/>
                <a:cs typeface="Cambria"/>
              </a:rPr>
              <a:t>The instruction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specifies</a:t>
            </a:r>
            <a:r>
              <a:rPr sz="2800" spc="-10" dirty="0">
                <a:latin typeface="Cambria"/>
                <a:cs typeface="Cambria"/>
              </a:rPr>
              <a:t> the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direct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address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operand.</a:t>
            </a:r>
            <a:endParaRPr sz="280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memory address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is</a:t>
            </a:r>
            <a:r>
              <a:rPr sz="2800" spc="-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specified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where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actual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operand</a:t>
            </a:r>
            <a:r>
              <a:rPr sz="2800" spc="-5" dirty="0">
                <a:latin typeface="Cambria"/>
                <a:cs typeface="Cambria"/>
              </a:rPr>
              <a:t> is.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650">
              <a:latin typeface="Cambria"/>
              <a:cs typeface="Cambria"/>
            </a:endParaRPr>
          </a:p>
          <a:p>
            <a:pPr marL="792480" algn="ctr">
              <a:lnSpc>
                <a:spcPct val="100000"/>
              </a:lnSpc>
            </a:pPr>
            <a:r>
              <a:rPr sz="2400" b="1" dirty="0">
                <a:solidFill>
                  <a:srgbClr val="6F2F9F"/>
                </a:solidFill>
                <a:latin typeface="Cambria"/>
                <a:cs typeface="Cambria"/>
              </a:rPr>
              <a:t>Load</a:t>
            </a:r>
            <a:r>
              <a:rPr sz="2400" b="1" spc="-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spc="-15" dirty="0">
                <a:solidFill>
                  <a:srgbClr val="6F2F9F"/>
                </a:solidFill>
                <a:latin typeface="Cambria"/>
                <a:cs typeface="Cambria"/>
              </a:rPr>
              <a:t>Accumulator</a:t>
            </a:r>
            <a:endParaRPr sz="2400">
              <a:latin typeface="Cambria"/>
              <a:cs typeface="Cambria"/>
            </a:endParaRPr>
          </a:p>
          <a:p>
            <a:pPr marL="791210" algn="ctr">
              <a:lnSpc>
                <a:spcPts val="3250"/>
              </a:lnSpc>
              <a:spcBef>
                <a:spcPts val="645"/>
              </a:spcBef>
              <a:tabLst>
                <a:tab pos="3057525" algn="l"/>
              </a:tabLst>
            </a:pPr>
            <a:r>
              <a:rPr sz="2800" b="1" spc="-45" dirty="0">
                <a:latin typeface="Cambria"/>
                <a:cs typeface="Cambria"/>
              </a:rPr>
              <a:t>LDA</a:t>
            </a:r>
            <a:r>
              <a:rPr sz="2800" b="1" spc="10" dirty="0"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mbria"/>
                <a:cs typeface="Cambria"/>
              </a:rPr>
              <a:t>2805h	</a:t>
            </a:r>
            <a:r>
              <a:rPr sz="2800" spc="-5" dirty="0">
                <a:latin typeface="Cambria"/>
                <a:cs typeface="Cambria"/>
              </a:rPr>
              <a:t>A</a:t>
            </a:r>
            <a:r>
              <a:rPr sz="2800" spc="-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←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[2805]</a:t>
            </a:r>
            <a:endParaRPr sz="2800">
              <a:latin typeface="Cambria"/>
              <a:cs typeface="Cambria"/>
            </a:endParaRPr>
          </a:p>
          <a:p>
            <a:pPr marL="789305" algn="ctr">
              <a:lnSpc>
                <a:spcPts val="2290"/>
              </a:lnSpc>
            </a:pPr>
            <a:r>
              <a:rPr sz="2000" spc="-5" dirty="0">
                <a:latin typeface="Cambria"/>
                <a:cs typeface="Cambria"/>
              </a:rPr>
              <a:t>It</a:t>
            </a:r>
            <a:r>
              <a:rPr sz="2000" dirty="0">
                <a:latin typeface="Cambria"/>
                <a:cs typeface="Cambria"/>
              </a:rPr>
              <a:t> loads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the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from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memory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location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2805</a:t>
            </a:r>
            <a:r>
              <a:rPr sz="2000" spc="1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to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A.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300">
              <a:latin typeface="Cambria"/>
              <a:cs typeface="Cambria"/>
            </a:endParaRPr>
          </a:p>
          <a:p>
            <a:pPr marL="791845" algn="ctr">
              <a:lnSpc>
                <a:spcPct val="100000"/>
              </a:lnSpc>
              <a:spcBef>
                <a:spcPts val="5"/>
              </a:spcBef>
            </a:pPr>
            <a:r>
              <a:rPr sz="2400" b="1" spc="-20" dirty="0">
                <a:solidFill>
                  <a:srgbClr val="6F2F9F"/>
                </a:solidFill>
                <a:latin typeface="Cambria"/>
                <a:cs typeface="Cambria"/>
              </a:rPr>
              <a:t>Store</a:t>
            </a:r>
            <a:r>
              <a:rPr sz="2400" b="1" spc="-15" dirty="0">
                <a:solidFill>
                  <a:srgbClr val="6F2F9F"/>
                </a:solidFill>
                <a:latin typeface="Cambria"/>
                <a:cs typeface="Cambria"/>
              </a:rPr>
              <a:t> Accumulator</a:t>
            </a:r>
            <a:endParaRPr sz="2400">
              <a:latin typeface="Cambria"/>
              <a:cs typeface="Cambria"/>
            </a:endParaRPr>
          </a:p>
          <a:p>
            <a:pPr marL="793115" algn="ctr">
              <a:lnSpc>
                <a:spcPts val="3250"/>
              </a:lnSpc>
              <a:spcBef>
                <a:spcPts val="645"/>
              </a:spcBef>
              <a:tabLst>
                <a:tab pos="2992120" algn="l"/>
              </a:tabLst>
            </a:pPr>
            <a:r>
              <a:rPr sz="2800" b="1" spc="-120" dirty="0">
                <a:latin typeface="Cambria"/>
                <a:cs typeface="Cambria"/>
              </a:rPr>
              <a:t>STA</a:t>
            </a:r>
            <a:r>
              <a:rPr sz="2800" b="1" spc="-5" dirty="0"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mbria"/>
                <a:cs typeface="Cambria"/>
              </a:rPr>
              <a:t>2803h	</a:t>
            </a:r>
            <a:r>
              <a:rPr sz="2800" spc="-10" dirty="0">
                <a:latin typeface="Cambria"/>
                <a:cs typeface="Cambria"/>
              </a:rPr>
              <a:t>[2803]</a:t>
            </a:r>
            <a:r>
              <a:rPr sz="2800" spc="-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←</a:t>
            </a:r>
            <a:r>
              <a:rPr sz="2800" spc="-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</a:t>
            </a:r>
            <a:endParaRPr sz="2800">
              <a:latin typeface="Cambria"/>
              <a:cs typeface="Cambria"/>
            </a:endParaRPr>
          </a:p>
          <a:p>
            <a:pPr marL="793115" algn="ctr">
              <a:lnSpc>
                <a:spcPts val="2290"/>
              </a:lnSpc>
            </a:pPr>
            <a:r>
              <a:rPr sz="2000" spc="-5" dirty="0">
                <a:latin typeface="Cambria"/>
                <a:cs typeface="Cambria"/>
              </a:rPr>
              <a:t>It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stores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from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 </a:t>
            </a:r>
            <a:r>
              <a:rPr sz="2000" spc="-5" dirty="0">
                <a:latin typeface="Cambria"/>
                <a:cs typeface="Cambria"/>
              </a:rPr>
              <a:t>to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memory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location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2803.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62953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4.</a:t>
            </a:r>
            <a:r>
              <a:rPr sz="4400" spc="-1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Direct</a:t>
            </a:r>
            <a:r>
              <a:rPr sz="4400" spc="-1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Addressing</a:t>
            </a:r>
            <a:r>
              <a:rPr sz="4400" spc="-75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320798" y="1807210"/>
            <a:ext cx="7548880" cy="1505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190"/>
              </a:lnSpc>
              <a:spcBef>
                <a:spcPts val="95"/>
              </a:spcBef>
              <a:tabLst>
                <a:tab pos="2266315" algn="l"/>
              </a:tabLst>
            </a:pPr>
            <a:r>
              <a:rPr sz="2800" b="1" spc="-45" dirty="0">
                <a:latin typeface="Cambria"/>
                <a:cs typeface="Cambria"/>
              </a:rPr>
              <a:t>LDA</a:t>
            </a:r>
            <a:r>
              <a:rPr sz="2800" b="1" spc="10" dirty="0"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mbria"/>
                <a:cs typeface="Cambria"/>
              </a:rPr>
              <a:t>2805h	</a:t>
            </a:r>
            <a:r>
              <a:rPr sz="2800" spc="-5" dirty="0">
                <a:latin typeface="Cambria"/>
                <a:cs typeface="Cambria"/>
              </a:rPr>
              <a:t>A</a:t>
            </a:r>
            <a:r>
              <a:rPr sz="2800" spc="-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←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[2805]</a:t>
            </a:r>
            <a:endParaRPr sz="2800">
              <a:latin typeface="Cambria"/>
              <a:cs typeface="Cambria"/>
            </a:endParaRPr>
          </a:p>
          <a:p>
            <a:pPr algn="ctr">
              <a:lnSpc>
                <a:spcPts val="3190"/>
              </a:lnSpc>
            </a:pPr>
            <a:r>
              <a:rPr sz="2800" spc="-5" dirty="0">
                <a:latin typeface="Cambria"/>
                <a:cs typeface="Cambria"/>
              </a:rPr>
              <a:t>It </a:t>
            </a:r>
            <a:r>
              <a:rPr sz="2800" spc="-10" dirty="0">
                <a:latin typeface="Cambria"/>
                <a:cs typeface="Cambria"/>
              </a:rPr>
              <a:t>loads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the</a:t>
            </a:r>
            <a:r>
              <a:rPr sz="2800" spc="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data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from</a:t>
            </a:r>
            <a:r>
              <a:rPr sz="2800" spc="-5" dirty="0">
                <a:latin typeface="Cambria"/>
                <a:cs typeface="Cambria"/>
              </a:rPr>
              <a:t> memory location 2805</a:t>
            </a:r>
            <a:r>
              <a:rPr sz="2800" spc="-15" dirty="0">
                <a:latin typeface="Cambria"/>
                <a:cs typeface="Cambria"/>
              </a:rPr>
              <a:t> to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A.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50">
              <a:latin typeface="Cambria"/>
              <a:cs typeface="Cambria"/>
            </a:endParaRPr>
          </a:p>
          <a:p>
            <a:pPr marL="165735">
              <a:lnSpc>
                <a:spcPct val="100000"/>
              </a:lnSpc>
              <a:tabLst>
                <a:tab pos="6184900" algn="l"/>
              </a:tabLst>
            </a:pPr>
            <a:r>
              <a:rPr sz="1800" b="1" spc="-10" dirty="0">
                <a:solidFill>
                  <a:srgbClr val="00AF50"/>
                </a:solidFill>
                <a:latin typeface="Cambria"/>
                <a:cs typeface="Cambria"/>
              </a:rPr>
              <a:t>Before	</a:t>
            </a:r>
            <a:r>
              <a:rPr sz="1800" b="1" spc="-5" dirty="0">
                <a:solidFill>
                  <a:srgbClr val="00AF50"/>
                </a:solidFill>
                <a:latin typeface="Cambria"/>
                <a:cs typeface="Cambria"/>
              </a:rPr>
              <a:t>After</a:t>
            </a:r>
            <a:endParaRPr sz="1800">
              <a:latin typeface="Cambria"/>
              <a:cs typeface="Cambr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89782" y="3732148"/>
          <a:ext cx="1334770" cy="24384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85"/>
                <a:gridCol w="807085"/>
              </a:tblGrid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5C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926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736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1112951" y="3765803"/>
            <a:ext cx="1421765" cy="347980"/>
            <a:chOff x="1112951" y="3765803"/>
            <a:chExt cx="1421765" cy="347980"/>
          </a:xfrm>
        </p:grpSpPr>
        <p:sp>
          <p:nvSpPr>
            <p:cNvPr id="6" name="object 6"/>
            <p:cNvSpPr/>
            <p:nvPr/>
          </p:nvSpPr>
          <p:spPr>
            <a:xfrm>
              <a:off x="1119301" y="3772153"/>
              <a:ext cx="1409065" cy="335280"/>
            </a:xfrm>
            <a:custGeom>
              <a:avLst/>
              <a:gdLst/>
              <a:ahLst/>
              <a:cxnLst/>
              <a:rect l="l" t="t" r="r" b="b"/>
              <a:pathLst>
                <a:path w="1409064" h="335279">
                  <a:moveTo>
                    <a:pt x="1408684" y="0"/>
                  </a:moveTo>
                  <a:lnTo>
                    <a:pt x="0" y="0"/>
                  </a:lnTo>
                  <a:lnTo>
                    <a:pt x="0" y="335280"/>
                  </a:lnTo>
                  <a:lnTo>
                    <a:pt x="1408684" y="335280"/>
                  </a:lnTo>
                  <a:lnTo>
                    <a:pt x="1408684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19301" y="3765803"/>
              <a:ext cx="1409065" cy="347980"/>
            </a:xfrm>
            <a:custGeom>
              <a:avLst/>
              <a:gdLst/>
              <a:ahLst/>
              <a:cxnLst/>
              <a:rect l="l" t="t" r="r" b="b"/>
              <a:pathLst>
                <a:path w="1409064" h="347979">
                  <a:moveTo>
                    <a:pt x="0" y="0"/>
                  </a:moveTo>
                  <a:lnTo>
                    <a:pt x="0" y="347980"/>
                  </a:lnTo>
                </a:path>
                <a:path w="1409064" h="347979">
                  <a:moveTo>
                    <a:pt x="1408760" y="0"/>
                  </a:moveTo>
                  <a:lnTo>
                    <a:pt x="1408760" y="34798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12951" y="3765803"/>
              <a:ext cx="1421765" cy="12700"/>
            </a:xfrm>
            <a:custGeom>
              <a:avLst/>
              <a:gdLst/>
              <a:ahLst/>
              <a:cxnLst/>
              <a:rect l="l" t="t" r="r" b="b"/>
              <a:pathLst>
                <a:path w="1421764" h="12700">
                  <a:moveTo>
                    <a:pt x="0" y="12700"/>
                  </a:moveTo>
                  <a:lnTo>
                    <a:pt x="1421460" y="12700"/>
                  </a:lnTo>
                  <a:lnTo>
                    <a:pt x="142146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12951" y="4107433"/>
              <a:ext cx="1421765" cy="0"/>
            </a:xfrm>
            <a:custGeom>
              <a:avLst/>
              <a:gdLst/>
              <a:ahLst/>
              <a:cxnLst/>
              <a:rect l="l" t="t" r="r" b="b"/>
              <a:pathLst>
                <a:path w="1421764">
                  <a:moveTo>
                    <a:pt x="0" y="0"/>
                  </a:moveTo>
                  <a:lnTo>
                    <a:pt x="142146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82192" y="3800932"/>
            <a:ext cx="1581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ambria"/>
                <a:cs typeface="Cambria"/>
              </a:rPr>
              <a:t>A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9025128" y="3732148"/>
          <a:ext cx="1334135" cy="24384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050"/>
                <a:gridCol w="807085"/>
              </a:tblGrid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5C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926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736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703314" y="3765803"/>
          <a:ext cx="1758950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"/>
                <a:gridCol w="1408430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Cambria"/>
                          <a:cs typeface="Cambria"/>
                        </a:rPr>
                        <a:t>A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5C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182420" y="4608957"/>
            <a:ext cx="1179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A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←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[2805]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94193" y="4608957"/>
            <a:ext cx="735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A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←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spc="-5" dirty="0">
                <a:latin typeface="Cambria"/>
                <a:cs typeface="Cambria"/>
              </a:rPr>
              <a:t>5C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62953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4.</a:t>
            </a:r>
            <a:r>
              <a:rPr sz="4400" spc="-1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Direct</a:t>
            </a:r>
            <a:r>
              <a:rPr sz="4400" spc="-1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Addressing</a:t>
            </a:r>
            <a:r>
              <a:rPr sz="4400" spc="-75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261361" y="1807210"/>
            <a:ext cx="7668259" cy="1505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190"/>
              </a:lnSpc>
              <a:spcBef>
                <a:spcPts val="95"/>
              </a:spcBef>
              <a:tabLst>
                <a:tab pos="2199640" algn="l"/>
              </a:tabLst>
            </a:pPr>
            <a:r>
              <a:rPr sz="2800" b="1" spc="-120" dirty="0">
                <a:latin typeface="Cambria"/>
                <a:cs typeface="Cambria"/>
              </a:rPr>
              <a:t>STA</a:t>
            </a:r>
            <a:r>
              <a:rPr sz="2800" b="1" spc="-5" dirty="0"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mbria"/>
                <a:cs typeface="Cambria"/>
              </a:rPr>
              <a:t>2803h	</a:t>
            </a:r>
            <a:r>
              <a:rPr sz="2800" spc="-10" dirty="0">
                <a:latin typeface="Cambria"/>
                <a:cs typeface="Cambria"/>
              </a:rPr>
              <a:t>[2803]</a:t>
            </a:r>
            <a:r>
              <a:rPr sz="2800" spc="-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←</a:t>
            </a:r>
            <a:r>
              <a:rPr sz="2800" spc="-3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</a:t>
            </a:r>
            <a:endParaRPr sz="2800">
              <a:latin typeface="Cambria"/>
              <a:cs typeface="Cambria"/>
            </a:endParaRPr>
          </a:p>
          <a:p>
            <a:pPr algn="ctr">
              <a:lnSpc>
                <a:spcPts val="3190"/>
              </a:lnSpc>
            </a:pPr>
            <a:r>
              <a:rPr sz="2800" spc="-5" dirty="0">
                <a:latin typeface="Cambria"/>
                <a:cs typeface="Cambria"/>
              </a:rPr>
              <a:t>It </a:t>
            </a:r>
            <a:r>
              <a:rPr sz="2800" spc="-15" dirty="0">
                <a:latin typeface="Cambria"/>
                <a:cs typeface="Cambria"/>
              </a:rPr>
              <a:t>stores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the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data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from</a:t>
            </a:r>
            <a:r>
              <a:rPr sz="2800" spc="-5" dirty="0">
                <a:latin typeface="Cambria"/>
                <a:cs typeface="Cambria"/>
              </a:rPr>
              <a:t> A </a:t>
            </a:r>
            <a:r>
              <a:rPr sz="2800" spc="-15" dirty="0">
                <a:latin typeface="Cambria"/>
                <a:cs typeface="Cambria"/>
              </a:rPr>
              <a:t>to</a:t>
            </a:r>
            <a:r>
              <a:rPr sz="2800" spc="-5" dirty="0">
                <a:latin typeface="Cambria"/>
                <a:cs typeface="Cambria"/>
              </a:rPr>
              <a:t> memory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location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2803.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50">
              <a:latin typeface="Cambria"/>
              <a:cs typeface="Cambria"/>
            </a:endParaRPr>
          </a:p>
          <a:p>
            <a:pPr marL="225425">
              <a:lnSpc>
                <a:spcPct val="100000"/>
              </a:lnSpc>
              <a:tabLst>
                <a:tab pos="6244590" algn="l"/>
              </a:tabLst>
            </a:pPr>
            <a:r>
              <a:rPr sz="1800" b="1" spc="-10" dirty="0">
                <a:solidFill>
                  <a:srgbClr val="00AF50"/>
                </a:solidFill>
                <a:latin typeface="Cambria"/>
                <a:cs typeface="Cambria"/>
              </a:rPr>
              <a:t>Before	</a:t>
            </a:r>
            <a:r>
              <a:rPr sz="1800" b="1" spc="-5" dirty="0">
                <a:solidFill>
                  <a:srgbClr val="00AF50"/>
                </a:solidFill>
                <a:latin typeface="Cambria"/>
                <a:cs typeface="Cambria"/>
              </a:rPr>
              <a:t>After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0864" y="3732148"/>
            <a:ext cx="819785" cy="2451735"/>
          </a:xfrm>
          <a:custGeom>
            <a:avLst/>
            <a:gdLst/>
            <a:ahLst/>
            <a:cxnLst/>
            <a:rect l="l" t="t" r="r" b="b"/>
            <a:pathLst>
              <a:path w="819785" h="2451735">
                <a:moveTo>
                  <a:pt x="6350" y="0"/>
                </a:moveTo>
                <a:lnTo>
                  <a:pt x="6350" y="2451163"/>
                </a:lnTo>
              </a:path>
              <a:path w="819785" h="2451735">
                <a:moveTo>
                  <a:pt x="0" y="311150"/>
                </a:moveTo>
                <a:lnTo>
                  <a:pt x="819531" y="311150"/>
                </a:lnTo>
              </a:path>
              <a:path w="819785" h="2451735">
                <a:moveTo>
                  <a:pt x="0" y="615950"/>
                </a:moveTo>
                <a:lnTo>
                  <a:pt x="819531" y="615950"/>
                </a:lnTo>
              </a:path>
              <a:path w="819785" h="2451735">
                <a:moveTo>
                  <a:pt x="0" y="920750"/>
                </a:moveTo>
                <a:lnTo>
                  <a:pt x="819531" y="920750"/>
                </a:lnTo>
              </a:path>
              <a:path w="819785" h="2451735">
                <a:moveTo>
                  <a:pt x="0" y="1225550"/>
                </a:moveTo>
                <a:lnTo>
                  <a:pt x="819531" y="1225550"/>
                </a:lnTo>
              </a:path>
              <a:path w="819785" h="2451735">
                <a:moveTo>
                  <a:pt x="0" y="1530477"/>
                </a:moveTo>
                <a:lnTo>
                  <a:pt x="819531" y="1530477"/>
                </a:lnTo>
              </a:path>
              <a:path w="819785" h="2451735">
                <a:moveTo>
                  <a:pt x="0" y="1835277"/>
                </a:moveTo>
                <a:lnTo>
                  <a:pt x="819531" y="1835277"/>
                </a:lnTo>
              </a:path>
              <a:path w="819785" h="2451735">
                <a:moveTo>
                  <a:pt x="0" y="2140013"/>
                </a:moveTo>
                <a:lnTo>
                  <a:pt x="819531" y="2140013"/>
                </a:lnTo>
              </a:path>
              <a:path w="819785" h="2451735">
                <a:moveTo>
                  <a:pt x="813181" y="0"/>
                </a:moveTo>
                <a:lnTo>
                  <a:pt x="813181" y="2451163"/>
                </a:lnTo>
              </a:path>
              <a:path w="819785" h="2451735">
                <a:moveTo>
                  <a:pt x="0" y="6350"/>
                </a:moveTo>
                <a:lnTo>
                  <a:pt x="819531" y="6350"/>
                </a:lnTo>
              </a:path>
              <a:path w="819785" h="2451735">
                <a:moveTo>
                  <a:pt x="0" y="2444813"/>
                </a:moveTo>
                <a:lnTo>
                  <a:pt x="819531" y="2444813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78657" y="3787765"/>
          <a:ext cx="674370" cy="23432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/>
              </a:tblGrid>
              <a:tr h="256920">
                <a:tc>
                  <a:txBody>
                    <a:bodyPr/>
                    <a:lstStyle/>
                    <a:p>
                      <a:pPr marL="127000">
                        <a:lnSpc>
                          <a:spcPts val="1614"/>
                        </a:lnSpc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</a:tr>
              <a:tr h="30499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39370" marB="0"/>
                </a:tc>
              </a:tr>
              <a:tr h="30499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39370" marB="0"/>
                </a:tc>
              </a:tr>
              <a:tr h="3048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39370" marB="0"/>
                </a:tc>
              </a:tr>
              <a:tr h="3048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39370" marB="0"/>
                </a:tc>
              </a:tr>
              <a:tr h="30477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39370" marB="0"/>
                </a:tc>
              </a:tr>
              <a:tr h="304927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39370" marB="0"/>
                </a:tc>
              </a:tr>
              <a:tr h="257073">
                <a:tc>
                  <a:txBody>
                    <a:bodyPr/>
                    <a:lstStyle/>
                    <a:p>
                      <a:pPr marL="127000">
                        <a:lnSpc>
                          <a:spcPts val="1610"/>
                        </a:lnSpc>
                        <a:spcBef>
                          <a:spcPts val="31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39370" marB="0"/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67892" y="3765803"/>
          <a:ext cx="1759585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155"/>
                <a:gridCol w="1408430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Cambria"/>
                          <a:cs typeface="Cambria"/>
                        </a:rPr>
                        <a:t>A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9B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025128" y="3732148"/>
          <a:ext cx="1334135" cy="24384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050"/>
                <a:gridCol w="807085"/>
              </a:tblGrid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926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9B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736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703314" y="3765803"/>
          <a:ext cx="1758950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"/>
                <a:gridCol w="1408430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Cambria"/>
                          <a:cs typeface="Cambria"/>
                        </a:rPr>
                        <a:t>A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9B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183944" y="4608957"/>
            <a:ext cx="1176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[2803]</a:t>
            </a:r>
            <a:r>
              <a:rPr sz="1800" b="1" spc="-6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←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6157" y="4608957"/>
            <a:ext cx="1311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[2803]</a:t>
            </a:r>
            <a:r>
              <a:rPr sz="1800" b="1" spc="-6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←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9B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67297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5.</a:t>
            </a:r>
            <a:r>
              <a:rPr sz="4400" spc="-1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Indirect</a:t>
            </a:r>
            <a:r>
              <a:rPr sz="4400" spc="-3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Addressing</a:t>
            </a:r>
            <a:r>
              <a:rPr sz="4400" spc="-45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807210"/>
            <a:ext cx="10026650" cy="343154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instruction</a:t>
            </a:r>
            <a:r>
              <a:rPr sz="2800" spc="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specifies </a:t>
            </a:r>
            <a:r>
              <a:rPr sz="2800" spc="-10" dirty="0">
                <a:latin typeface="Cambria"/>
                <a:cs typeface="Cambria"/>
              </a:rPr>
              <a:t>the</a:t>
            </a:r>
            <a:r>
              <a:rPr sz="2800" spc="2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indirect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address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where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the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effective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address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 the </a:t>
            </a:r>
            <a:r>
              <a:rPr sz="2800" spc="-10" dirty="0">
                <a:latin typeface="Cambria"/>
                <a:cs typeface="Cambria"/>
              </a:rPr>
              <a:t>operand</a:t>
            </a:r>
            <a:r>
              <a:rPr sz="2800" spc="-5" dirty="0">
                <a:latin typeface="Cambria"/>
                <a:cs typeface="Cambria"/>
              </a:rPr>
              <a:t> is </a:t>
            </a:r>
            <a:r>
              <a:rPr sz="2800" spc="-10" dirty="0">
                <a:latin typeface="Cambria"/>
                <a:cs typeface="Cambria"/>
              </a:rPr>
              <a:t>placed.</a:t>
            </a:r>
            <a:endParaRPr sz="2800">
              <a:latin typeface="Cambria"/>
              <a:cs typeface="Cambria"/>
            </a:endParaRPr>
          </a:p>
          <a:p>
            <a:pPr marL="241300" marR="576580" indent="-22923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memory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address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is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specified </a:t>
            </a:r>
            <a:r>
              <a:rPr sz="2800" spc="-20" dirty="0">
                <a:latin typeface="Cambria"/>
                <a:cs typeface="Cambria"/>
              </a:rPr>
              <a:t>where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the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actual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address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operand</a:t>
            </a:r>
            <a:r>
              <a:rPr sz="2800" spc="-5" dirty="0">
                <a:latin typeface="Cambria"/>
                <a:cs typeface="Cambria"/>
              </a:rPr>
              <a:t> is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placed.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650">
              <a:latin typeface="Cambria"/>
              <a:cs typeface="Cambria"/>
            </a:endParaRPr>
          </a:p>
          <a:p>
            <a:pPr marL="332105" algn="ctr">
              <a:lnSpc>
                <a:spcPct val="100000"/>
              </a:lnSpc>
            </a:pPr>
            <a:r>
              <a:rPr sz="2400" b="1" spc="-35" dirty="0">
                <a:solidFill>
                  <a:srgbClr val="6F2F9F"/>
                </a:solidFill>
                <a:latin typeface="Cambria"/>
                <a:cs typeface="Cambria"/>
              </a:rPr>
              <a:t>Move</a:t>
            </a:r>
            <a:endParaRPr sz="2400">
              <a:latin typeface="Cambria"/>
              <a:cs typeface="Cambria"/>
            </a:endParaRPr>
          </a:p>
          <a:p>
            <a:pPr marL="330835" algn="ctr">
              <a:lnSpc>
                <a:spcPts val="3250"/>
              </a:lnSpc>
              <a:spcBef>
                <a:spcPts val="645"/>
              </a:spcBef>
              <a:tabLst>
                <a:tab pos="3091180" algn="l"/>
              </a:tabLst>
            </a:pPr>
            <a:r>
              <a:rPr sz="2800" b="1" spc="-30" dirty="0">
                <a:latin typeface="Cambria"/>
                <a:cs typeface="Cambria"/>
              </a:rPr>
              <a:t>MOV</a:t>
            </a:r>
            <a:r>
              <a:rPr sz="2800" b="1" spc="25" dirty="0">
                <a:latin typeface="Cambria"/>
                <a:cs typeface="Cambria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Cambria"/>
                <a:cs typeface="Cambria"/>
              </a:rPr>
              <a:t>A, </a:t>
            </a:r>
            <a:r>
              <a:rPr sz="2800" b="1" spc="-10" dirty="0">
                <a:solidFill>
                  <a:srgbClr val="00AF50"/>
                </a:solidFill>
                <a:latin typeface="Cambria"/>
                <a:cs typeface="Cambria"/>
              </a:rPr>
              <a:t>2802h	</a:t>
            </a:r>
            <a:r>
              <a:rPr sz="2800" spc="-5" dirty="0">
                <a:latin typeface="Cambria"/>
                <a:cs typeface="Cambria"/>
              </a:rPr>
              <a:t>A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←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[[2802]]</a:t>
            </a:r>
            <a:endParaRPr sz="2800">
              <a:latin typeface="Cambria"/>
              <a:cs typeface="Cambria"/>
            </a:endParaRPr>
          </a:p>
          <a:p>
            <a:pPr marL="328295" algn="ctr">
              <a:lnSpc>
                <a:spcPts val="2290"/>
              </a:lnSpc>
            </a:pPr>
            <a:r>
              <a:rPr sz="2000" spc="-5" dirty="0">
                <a:latin typeface="Cambria"/>
                <a:cs typeface="Cambria"/>
              </a:rPr>
              <a:t>It </a:t>
            </a:r>
            <a:r>
              <a:rPr sz="2000" spc="-15" dirty="0">
                <a:latin typeface="Cambria"/>
                <a:cs typeface="Cambria"/>
              </a:rPr>
              <a:t>moves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from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memory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location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specified</a:t>
            </a:r>
            <a:r>
              <a:rPr sz="2000" spc="-15" dirty="0">
                <a:latin typeface="Cambria"/>
                <a:cs typeface="Cambria"/>
              </a:rPr>
              <a:t> by</a:t>
            </a:r>
            <a:r>
              <a:rPr sz="2000" dirty="0">
                <a:latin typeface="Cambria"/>
                <a:cs typeface="Cambria"/>
              </a:rPr>
              <a:t> the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location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2802</a:t>
            </a:r>
            <a:r>
              <a:rPr sz="2000" spc="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to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A.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67284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5.</a:t>
            </a:r>
            <a:r>
              <a:rPr sz="4400" spc="-1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Indirect</a:t>
            </a:r>
            <a:r>
              <a:rPr sz="4400" spc="-3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Addressing</a:t>
            </a:r>
            <a:r>
              <a:rPr sz="4400" spc="-55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173276" y="1807210"/>
            <a:ext cx="9841230" cy="1505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" algn="ctr">
              <a:lnSpc>
                <a:spcPts val="3190"/>
              </a:lnSpc>
              <a:spcBef>
                <a:spcPts val="95"/>
              </a:spcBef>
              <a:tabLst>
                <a:tab pos="2764155" algn="l"/>
              </a:tabLst>
            </a:pPr>
            <a:r>
              <a:rPr sz="2800" b="1" spc="-30" dirty="0">
                <a:latin typeface="Cambria"/>
                <a:cs typeface="Cambria"/>
              </a:rPr>
              <a:t>MOV</a:t>
            </a:r>
            <a:r>
              <a:rPr sz="2800" b="1" spc="25" dirty="0">
                <a:latin typeface="Cambria"/>
                <a:cs typeface="Cambria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Cambria"/>
                <a:cs typeface="Cambria"/>
              </a:rPr>
              <a:t>A, </a:t>
            </a:r>
            <a:r>
              <a:rPr sz="2800" b="1" spc="-10" dirty="0">
                <a:solidFill>
                  <a:srgbClr val="00AF50"/>
                </a:solidFill>
                <a:latin typeface="Cambria"/>
                <a:cs typeface="Cambria"/>
              </a:rPr>
              <a:t>2802h	</a:t>
            </a:r>
            <a:r>
              <a:rPr sz="2800" spc="-5" dirty="0">
                <a:latin typeface="Cambria"/>
                <a:cs typeface="Cambria"/>
              </a:rPr>
              <a:t>A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←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[[2802]]</a:t>
            </a:r>
            <a:endParaRPr sz="2800">
              <a:latin typeface="Cambria"/>
              <a:cs typeface="Cambria"/>
            </a:endParaRPr>
          </a:p>
          <a:p>
            <a:pPr marL="12700" marR="5080" algn="ctr">
              <a:lnSpc>
                <a:spcPts val="3030"/>
              </a:lnSpc>
              <a:spcBef>
                <a:spcPts val="204"/>
              </a:spcBef>
            </a:pPr>
            <a:r>
              <a:rPr sz="2800" spc="-5" dirty="0">
                <a:latin typeface="Cambria"/>
                <a:cs typeface="Cambria"/>
              </a:rPr>
              <a:t>It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moves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the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data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from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memory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location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specified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by</a:t>
            </a:r>
            <a:r>
              <a:rPr sz="2800" spc="-5" dirty="0">
                <a:latin typeface="Cambria"/>
                <a:cs typeface="Cambria"/>
              </a:rPr>
              <a:t> the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location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2802 </a:t>
            </a:r>
            <a:r>
              <a:rPr sz="2800" spc="-15" dirty="0">
                <a:latin typeface="Cambria"/>
                <a:cs typeface="Cambria"/>
              </a:rPr>
              <a:t>to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A.</a:t>
            </a:r>
            <a:endParaRPr sz="2800">
              <a:latin typeface="Cambria"/>
              <a:cs typeface="Cambria"/>
            </a:endParaRPr>
          </a:p>
          <a:p>
            <a:pPr marL="1313815">
              <a:lnSpc>
                <a:spcPct val="100000"/>
              </a:lnSpc>
              <a:spcBef>
                <a:spcPts val="40"/>
              </a:spcBef>
              <a:tabLst>
                <a:tab pos="7332980" algn="l"/>
              </a:tabLst>
            </a:pPr>
            <a:r>
              <a:rPr sz="1800" b="1" spc="-10" dirty="0">
                <a:solidFill>
                  <a:srgbClr val="00AF50"/>
                </a:solidFill>
                <a:latin typeface="Cambria"/>
                <a:cs typeface="Cambria"/>
              </a:rPr>
              <a:t>Before	</a:t>
            </a:r>
            <a:r>
              <a:rPr sz="1800" b="1" spc="-5" dirty="0">
                <a:solidFill>
                  <a:srgbClr val="00AF50"/>
                </a:solidFill>
                <a:latin typeface="Cambria"/>
                <a:cs typeface="Cambria"/>
              </a:rPr>
              <a:t>After</a:t>
            </a:r>
            <a:endParaRPr sz="1800">
              <a:latin typeface="Cambria"/>
              <a:cs typeface="Cambr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78657" y="3732148"/>
          <a:ext cx="1445895" cy="24384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/>
                <a:gridCol w="807085"/>
              </a:tblGrid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926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smtClean="0">
                          <a:latin typeface="Cambria"/>
                          <a:cs typeface="Cambria"/>
                        </a:rPr>
                        <a:t>28</a:t>
                      </a:r>
                      <a:r>
                        <a:rPr lang="en-US" sz="1400" b="1" spc="-5" dirty="0" smtClean="0">
                          <a:latin typeface="Cambria"/>
                          <a:cs typeface="Cambria"/>
                        </a:rPr>
                        <a:t>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736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1112951" y="3765803"/>
            <a:ext cx="1421765" cy="347980"/>
            <a:chOff x="1112951" y="3765803"/>
            <a:chExt cx="1421765" cy="347980"/>
          </a:xfrm>
        </p:grpSpPr>
        <p:sp>
          <p:nvSpPr>
            <p:cNvPr id="6" name="object 6"/>
            <p:cNvSpPr/>
            <p:nvPr/>
          </p:nvSpPr>
          <p:spPr>
            <a:xfrm>
              <a:off x="1119301" y="3772153"/>
              <a:ext cx="1409065" cy="335280"/>
            </a:xfrm>
            <a:custGeom>
              <a:avLst/>
              <a:gdLst/>
              <a:ahLst/>
              <a:cxnLst/>
              <a:rect l="l" t="t" r="r" b="b"/>
              <a:pathLst>
                <a:path w="1409064" h="335279">
                  <a:moveTo>
                    <a:pt x="1408684" y="0"/>
                  </a:moveTo>
                  <a:lnTo>
                    <a:pt x="0" y="0"/>
                  </a:lnTo>
                  <a:lnTo>
                    <a:pt x="0" y="335280"/>
                  </a:lnTo>
                  <a:lnTo>
                    <a:pt x="1408684" y="335280"/>
                  </a:lnTo>
                  <a:lnTo>
                    <a:pt x="1408684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19301" y="3765803"/>
              <a:ext cx="1409065" cy="347980"/>
            </a:xfrm>
            <a:custGeom>
              <a:avLst/>
              <a:gdLst/>
              <a:ahLst/>
              <a:cxnLst/>
              <a:rect l="l" t="t" r="r" b="b"/>
              <a:pathLst>
                <a:path w="1409064" h="347979">
                  <a:moveTo>
                    <a:pt x="0" y="0"/>
                  </a:moveTo>
                  <a:lnTo>
                    <a:pt x="0" y="347980"/>
                  </a:lnTo>
                </a:path>
                <a:path w="1409064" h="347979">
                  <a:moveTo>
                    <a:pt x="1408760" y="0"/>
                  </a:moveTo>
                  <a:lnTo>
                    <a:pt x="1408760" y="34798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12951" y="3765803"/>
              <a:ext cx="1421765" cy="12700"/>
            </a:xfrm>
            <a:custGeom>
              <a:avLst/>
              <a:gdLst/>
              <a:ahLst/>
              <a:cxnLst/>
              <a:rect l="l" t="t" r="r" b="b"/>
              <a:pathLst>
                <a:path w="1421764" h="12700">
                  <a:moveTo>
                    <a:pt x="0" y="12700"/>
                  </a:moveTo>
                  <a:lnTo>
                    <a:pt x="1421460" y="12700"/>
                  </a:lnTo>
                  <a:lnTo>
                    <a:pt x="142146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12951" y="4107433"/>
              <a:ext cx="1421765" cy="0"/>
            </a:xfrm>
            <a:custGeom>
              <a:avLst/>
              <a:gdLst/>
              <a:ahLst/>
              <a:cxnLst/>
              <a:rect l="l" t="t" r="r" b="b"/>
              <a:pathLst>
                <a:path w="1421764">
                  <a:moveTo>
                    <a:pt x="0" y="0"/>
                  </a:moveTo>
                  <a:lnTo>
                    <a:pt x="142146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82192" y="3800932"/>
            <a:ext cx="1581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ambria"/>
                <a:cs typeface="Cambria"/>
              </a:rPr>
              <a:t>A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914003" y="3732148"/>
          <a:ext cx="1445260" cy="24384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175"/>
                <a:gridCol w="807085"/>
              </a:tblGrid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926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smtClean="0">
                          <a:latin typeface="Cambria"/>
                          <a:cs typeface="Cambria"/>
                        </a:rPr>
                        <a:t>28</a:t>
                      </a:r>
                      <a:r>
                        <a:rPr lang="en-US" sz="1400" b="1" spc="-5" dirty="0" smtClean="0">
                          <a:latin typeface="Cambria"/>
                          <a:cs typeface="Cambria"/>
                        </a:rPr>
                        <a:t>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736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703314" y="3765803"/>
          <a:ext cx="1758950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"/>
                <a:gridCol w="1408430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Cambria"/>
                          <a:cs typeface="Cambria"/>
                        </a:rPr>
                        <a:t>A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FF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098600" y="4608957"/>
            <a:ext cx="1347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A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←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[[2802]]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00290" y="4608957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A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←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FF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66878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6.</a:t>
            </a:r>
            <a:r>
              <a:rPr sz="4400" spc="-10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Implied</a:t>
            </a:r>
            <a:r>
              <a:rPr sz="4400" spc="-1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Addressing</a:t>
            </a:r>
            <a:r>
              <a:rPr sz="4400" spc="-40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46250"/>
            <a:ext cx="8457565" cy="4182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5" dirty="0">
                <a:latin typeface="Cambria"/>
                <a:cs typeface="Cambria"/>
              </a:rPr>
              <a:t>It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also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called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inherent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addressing mode.</a:t>
            </a:r>
            <a:endParaRPr sz="240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operand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implied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by </a:t>
            </a:r>
            <a:r>
              <a:rPr sz="2400" spc="-5" dirty="0">
                <a:latin typeface="Cambria"/>
                <a:cs typeface="Cambria"/>
              </a:rPr>
              <a:t>the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instruction.</a:t>
            </a:r>
            <a:endParaRPr sz="240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operand</a:t>
            </a:r>
            <a:r>
              <a:rPr sz="2400" dirty="0">
                <a:latin typeface="Cambria"/>
                <a:cs typeface="Cambria"/>
              </a:rPr>
              <a:t> is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hidden/fixed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inside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the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instruction.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50">
              <a:latin typeface="Cambria"/>
              <a:cs typeface="Cambria"/>
            </a:endParaRPr>
          </a:p>
          <a:p>
            <a:pPr marL="1898650" algn="ctr">
              <a:lnSpc>
                <a:spcPts val="2450"/>
              </a:lnSpc>
              <a:tabLst>
                <a:tab pos="5742305" algn="l"/>
              </a:tabLst>
            </a:pPr>
            <a:r>
              <a:rPr sz="2400" b="1" spc="-5" dirty="0">
                <a:solidFill>
                  <a:srgbClr val="6F2F9F"/>
                </a:solidFill>
                <a:latin typeface="Cambria"/>
                <a:cs typeface="Cambria"/>
              </a:rPr>
              <a:t>Complement </a:t>
            </a:r>
            <a:r>
              <a:rPr sz="2400" b="1" spc="-15" dirty="0">
                <a:solidFill>
                  <a:srgbClr val="6F2F9F"/>
                </a:solidFill>
                <a:latin typeface="Cambria"/>
                <a:cs typeface="Cambria"/>
              </a:rPr>
              <a:t>Accumulator	</a:t>
            </a:r>
            <a:r>
              <a:rPr sz="2400" b="1" spc="-5" dirty="0">
                <a:latin typeface="Cambria"/>
                <a:cs typeface="Cambria"/>
              </a:rPr>
              <a:t>CMA</a:t>
            </a:r>
            <a:endParaRPr sz="2400">
              <a:latin typeface="Cambria"/>
              <a:cs typeface="Cambria"/>
            </a:endParaRPr>
          </a:p>
          <a:p>
            <a:pPr marL="1898650" algn="ctr">
              <a:lnSpc>
                <a:spcPts val="2450"/>
              </a:lnSpc>
            </a:pPr>
            <a:r>
              <a:rPr sz="2400" spc="-10" dirty="0">
                <a:latin typeface="Cambria"/>
                <a:cs typeface="Cambria"/>
              </a:rPr>
              <a:t>(Here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accumulator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implied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by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the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instruction)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>
              <a:latin typeface="Cambria"/>
              <a:cs typeface="Cambria"/>
            </a:endParaRPr>
          </a:p>
          <a:p>
            <a:pPr marL="1899285" algn="ctr">
              <a:lnSpc>
                <a:spcPts val="2450"/>
              </a:lnSpc>
              <a:tabLst>
                <a:tab pos="5383530" algn="l"/>
              </a:tabLst>
            </a:pPr>
            <a:r>
              <a:rPr sz="2400" b="1" spc="-5" dirty="0">
                <a:solidFill>
                  <a:srgbClr val="6F2F9F"/>
                </a:solidFill>
                <a:latin typeface="Cambria"/>
                <a:cs typeface="Cambria"/>
              </a:rPr>
              <a:t>Complement</a:t>
            </a:r>
            <a:r>
              <a:rPr sz="2400" b="1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6F2F9F"/>
                </a:solidFill>
                <a:latin typeface="Cambria"/>
                <a:cs typeface="Cambria"/>
              </a:rPr>
              <a:t>Carry</a:t>
            </a:r>
            <a:r>
              <a:rPr sz="2400" b="1" spc="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6F2F9F"/>
                </a:solidFill>
                <a:latin typeface="Cambria"/>
                <a:cs typeface="Cambria"/>
              </a:rPr>
              <a:t>Flag	</a:t>
            </a:r>
            <a:r>
              <a:rPr sz="2400" b="1" spc="-5" dirty="0">
                <a:latin typeface="Cambria"/>
                <a:cs typeface="Cambria"/>
              </a:rPr>
              <a:t>CMC</a:t>
            </a:r>
            <a:endParaRPr sz="2400">
              <a:latin typeface="Cambria"/>
              <a:cs typeface="Cambria"/>
            </a:endParaRPr>
          </a:p>
          <a:p>
            <a:pPr marL="1901825" algn="ctr">
              <a:lnSpc>
                <a:spcPts val="2450"/>
              </a:lnSpc>
            </a:pPr>
            <a:r>
              <a:rPr sz="2400" spc="-10" dirty="0">
                <a:latin typeface="Cambria"/>
                <a:cs typeface="Cambria"/>
              </a:rPr>
              <a:t>(Here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Flags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register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implied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by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 instruction)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>
              <a:latin typeface="Cambria"/>
              <a:cs typeface="Cambria"/>
            </a:endParaRPr>
          </a:p>
          <a:p>
            <a:pPr marL="1899920" algn="ctr">
              <a:lnSpc>
                <a:spcPts val="2450"/>
              </a:lnSpc>
              <a:tabLst>
                <a:tab pos="4032250" algn="l"/>
              </a:tabLst>
            </a:pPr>
            <a:r>
              <a:rPr sz="2400" b="1" dirty="0">
                <a:solidFill>
                  <a:srgbClr val="6F2F9F"/>
                </a:solidFill>
                <a:latin typeface="Cambria"/>
                <a:cs typeface="Cambria"/>
              </a:rPr>
              <a:t>Set </a:t>
            </a:r>
            <a:r>
              <a:rPr sz="2400" b="1" spc="-5" dirty="0">
                <a:solidFill>
                  <a:srgbClr val="6F2F9F"/>
                </a:solidFill>
                <a:latin typeface="Cambria"/>
                <a:cs typeface="Cambria"/>
              </a:rPr>
              <a:t>Carry</a:t>
            </a:r>
            <a:r>
              <a:rPr sz="2400" b="1" spc="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6F2F9F"/>
                </a:solidFill>
                <a:latin typeface="Cambria"/>
                <a:cs typeface="Cambria"/>
              </a:rPr>
              <a:t>Flag	</a:t>
            </a:r>
            <a:r>
              <a:rPr sz="2400" b="1" spc="-30" dirty="0">
                <a:latin typeface="Cambria"/>
                <a:cs typeface="Cambria"/>
              </a:rPr>
              <a:t>STC</a:t>
            </a:r>
            <a:endParaRPr sz="2400">
              <a:latin typeface="Cambria"/>
              <a:cs typeface="Cambria"/>
            </a:endParaRPr>
          </a:p>
          <a:p>
            <a:pPr marL="1899285" algn="ctr">
              <a:lnSpc>
                <a:spcPts val="2450"/>
              </a:lnSpc>
            </a:pPr>
            <a:r>
              <a:rPr sz="2400" spc="-10" dirty="0">
                <a:latin typeface="Cambria"/>
                <a:cs typeface="Cambria"/>
              </a:rPr>
              <a:t>(Here </a:t>
            </a:r>
            <a:r>
              <a:rPr sz="2400" spc="-5" dirty="0">
                <a:latin typeface="Cambria"/>
                <a:cs typeface="Cambria"/>
              </a:rPr>
              <a:t>Flags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register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implied </a:t>
            </a:r>
            <a:r>
              <a:rPr sz="2400" spc="-25" dirty="0">
                <a:latin typeface="Cambria"/>
                <a:cs typeface="Cambria"/>
              </a:rPr>
              <a:t>by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the </a:t>
            </a:r>
            <a:r>
              <a:rPr sz="2400" dirty="0">
                <a:latin typeface="Cambria"/>
                <a:cs typeface="Cambria"/>
              </a:rPr>
              <a:t>instruction)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67544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7.</a:t>
            </a:r>
            <a:r>
              <a:rPr sz="4400" spc="-15" dirty="0">
                <a:solidFill>
                  <a:srgbClr val="001F5F"/>
                </a:solidFill>
              </a:rPr>
              <a:t> </a:t>
            </a:r>
            <a:r>
              <a:rPr sz="4400" spc="-30" dirty="0">
                <a:solidFill>
                  <a:srgbClr val="001F5F"/>
                </a:solidFill>
              </a:rPr>
              <a:t>Relative</a:t>
            </a:r>
            <a:r>
              <a:rPr sz="4400" spc="-10" dirty="0">
                <a:solidFill>
                  <a:srgbClr val="001F5F"/>
                </a:solidFill>
              </a:rPr>
              <a:t> Addressing</a:t>
            </a:r>
            <a:r>
              <a:rPr sz="4400" spc="-60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807210"/>
            <a:ext cx="10306685" cy="369075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292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mbria"/>
                <a:cs typeface="Cambria"/>
              </a:rPr>
              <a:t>In </a:t>
            </a:r>
            <a:r>
              <a:rPr sz="2800" spc="-25" dirty="0">
                <a:latin typeface="Cambria"/>
                <a:cs typeface="Cambria"/>
              </a:rPr>
              <a:t>relative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addressing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mode,</a:t>
            </a:r>
            <a:r>
              <a:rPr sz="2800" spc="-5" dirty="0">
                <a:latin typeface="Cambria"/>
                <a:cs typeface="Cambria"/>
              </a:rPr>
              <a:t> contents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Program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Counter PC is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added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to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address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part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 instruction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to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obtain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effective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address.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4250">
              <a:latin typeface="Cambria"/>
              <a:cs typeface="Cambria"/>
            </a:endParaRPr>
          </a:p>
          <a:p>
            <a:pPr marL="241300" marR="5080" indent="-229235">
              <a:lnSpc>
                <a:spcPts val="3020"/>
              </a:lnSpc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address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part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instruction</a:t>
            </a:r>
            <a:r>
              <a:rPr sz="2800" spc="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called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as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mbria"/>
                <a:cs typeface="Cambria"/>
              </a:rPr>
              <a:t>offset</a:t>
            </a:r>
            <a:r>
              <a:rPr sz="2800" spc="-10" dirty="0">
                <a:latin typeface="Cambria"/>
                <a:cs typeface="Cambria"/>
              </a:rPr>
              <a:t> and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it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can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45" dirty="0">
                <a:latin typeface="Cambria"/>
                <a:cs typeface="Cambria"/>
              </a:rPr>
              <a:t>+ve </a:t>
            </a:r>
            <a:r>
              <a:rPr sz="2800" spc="-60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or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–ve.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4250">
              <a:latin typeface="Cambria"/>
              <a:cs typeface="Cambria"/>
            </a:endParaRPr>
          </a:p>
          <a:p>
            <a:pPr marL="241300" marR="695325" indent="-229235">
              <a:lnSpc>
                <a:spcPts val="3020"/>
              </a:lnSpc>
              <a:spcBef>
                <a:spcPts val="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mbria"/>
                <a:cs typeface="Cambria"/>
              </a:rPr>
              <a:t>When </a:t>
            </a:r>
            <a:r>
              <a:rPr sz="2800" spc="-10" dirty="0">
                <a:latin typeface="Cambria"/>
                <a:cs typeface="Cambria"/>
              </a:rPr>
              <a:t>the</a:t>
            </a:r>
            <a:r>
              <a:rPr sz="2800" spc="-5" dirty="0">
                <a:latin typeface="Cambria"/>
                <a:cs typeface="Cambria"/>
              </a:rPr>
              <a:t> offset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added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to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the</a:t>
            </a:r>
            <a:r>
              <a:rPr sz="2800" spc="-5" dirty="0">
                <a:latin typeface="Cambria"/>
                <a:cs typeface="Cambria"/>
              </a:rPr>
              <a:t> PC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 </a:t>
            </a:r>
            <a:r>
              <a:rPr sz="2800" spc="-10" dirty="0">
                <a:latin typeface="Cambria"/>
                <a:cs typeface="Cambria"/>
              </a:rPr>
              <a:t>resultant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number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is </a:t>
            </a:r>
            <a:r>
              <a:rPr sz="2800" spc="-10" dirty="0">
                <a:latin typeface="Cambria"/>
                <a:cs typeface="Cambria"/>
              </a:rPr>
              <a:t>the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memory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location </a:t>
            </a:r>
            <a:r>
              <a:rPr sz="2800" spc="-20" dirty="0">
                <a:latin typeface="Cambria"/>
                <a:cs typeface="Cambria"/>
              </a:rPr>
              <a:t>where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the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operand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will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be</a:t>
            </a:r>
            <a:r>
              <a:rPr sz="2800" spc="-5" dirty="0">
                <a:latin typeface="Cambria"/>
                <a:cs typeface="Cambria"/>
              </a:rPr>
              <a:t> placed.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67513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7.</a:t>
            </a:r>
            <a:r>
              <a:rPr sz="4400" spc="-15" dirty="0">
                <a:solidFill>
                  <a:srgbClr val="001F5F"/>
                </a:solidFill>
              </a:rPr>
              <a:t> </a:t>
            </a:r>
            <a:r>
              <a:rPr sz="4400" spc="-30" dirty="0">
                <a:solidFill>
                  <a:srgbClr val="001F5F"/>
                </a:solidFill>
              </a:rPr>
              <a:t>Relative</a:t>
            </a:r>
            <a:r>
              <a:rPr sz="4400" spc="-10" dirty="0">
                <a:solidFill>
                  <a:srgbClr val="001F5F"/>
                </a:solidFill>
              </a:rPr>
              <a:t> Addressing</a:t>
            </a:r>
            <a:r>
              <a:rPr sz="4400" spc="-85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207257" y="2616073"/>
          <a:ext cx="1445895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/>
                <a:gridCol w="807085"/>
              </a:tblGrid>
              <a:tr h="304800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22452" y="3827271"/>
          <a:ext cx="1867535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/>
                <a:gridCol w="1409065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PC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635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smtClean="0">
                          <a:latin typeface="Cambria"/>
                          <a:cs typeface="Cambria"/>
                        </a:rPr>
                        <a:t>280</a:t>
                      </a:r>
                      <a:r>
                        <a:rPr lang="en-US" sz="1600" b="1" spc="-5" dirty="0" smtClean="0">
                          <a:latin typeface="Cambria"/>
                          <a:cs typeface="Cambria"/>
                        </a:rPr>
                        <a:t>2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76680" y="3087700"/>
            <a:ext cx="12858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mbria"/>
                <a:cs typeface="Cambria"/>
              </a:rPr>
              <a:t>Offset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=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spc="-5" dirty="0">
                <a:latin typeface="Cambria"/>
                <a:cs typeface="Cambria"/>
              </a:rPr>
              <a:t>04h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5325236"/>
            <a:ext cx="46183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mbria"/>
                <a:cs typeface="Cambria"/>
              </a:rPr>
              <a:t>Effective </a:t>
            </a:r>
            <a:r>
              <a:rPr sz="1800" spc="-10" dirty="0">
                <a:latin typeface="Cambria"/>
                <a:cs typeface="Cambria"/>
              </a:rPr>
              <a:t>address </a:t>
            </a:r>
            <a:r>
              <a:rPr sz="1800" dirty="0">
                <a:latin typeface="Cambria"/>
                <a:cs typeface="Cambria"/>
              </a:rPr>
              <a:t>of </a:t>
            </a:r>
            <a:r>
              <a:rPr sz="1800" spc="-10" dirty="0">
                <a:latin typeface="Cambria"/>
                <a:cs typeface="Cambria"/>
              </a:rPr>
              <a:t>operand </a:t>
            </a:r>
            <a:r>
              <a:rPr sz="1800" dirty="0">
                <a:latin typeface="Cambria"/>
                <a:cs typeface="Cambria"/>
              </a:rPr>
              <a:t>= </a:t>
            </a:r>
            <a:r>
              <a:rPr sz="1800" b="1" spc="-10">
                <a:latin typeface="Cambria"/>
                <a:cs typeface="Cambria"/>
              </a:rPr>
              <a:t>PC </a:t>
            </a:r>
            <a:r>
              <a:rPr sz="1800" b="1" smtClean="0">
                <a:latin typeface="Cambria"/>
                <a:cs typeface="Cambria"/>
              </a:rPr>
              <a:t>+</a:t>
            </a:r>
            <a:r>
              <a:rPr lang="en-US" sz="1800" b="1" dirty="0" smtClean="0">
                <a:latin typeface="Cambria"/>
                <a:cs typeface="Cambria"/>
              </a:rPr>
              <a:t> </a:t>
            </a:r>
            <a:r>
              <a:rPr sz="1800" b="1" spc="-5" smtClean="0">
                <a:latin typeface="Cambria"/>
                <a:cs typeface="Cambria"/>
              </a:rPr>
              <a:t>offset </a:t>
            </a:r>
            <a:r>
              <a:rPr sz="1800" b="1" spc="-385" smtClean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Effective </a:t>
            </a:r>
            <a:r>
              <a:rPr sz="1800" spc="-10" dirty="0">
                <a:latin typeface="Cambria"/>
                <a:cs typeface="Cambria"/>
              </a:rPr>
              <a:t>address </a:t>
            </a:r>
            <a:r>
              <a:rPr sz="1800" dirty="0">
                <a:latin typeface="Cambria"/>
                <a:cs typeface="Cambria"/>
              </a:rPr>
              <a:t>of </a:t>
            </a:r>
            <a:r>
              <a:rPr sz="1800" spc="-10" dirty="0">
                <a:latin typeface="Cambria"/>
                <a:cs typeface="Cambria"/>
              </a:rPr>
              <a:t>operand </a:t>
            </a:r>
            <a:r>
              <a:rPr sz="1800">
                <a:latin typeface="Cambria"/>
                <a:cs typeface="Cambria"/>
              </a:rPr>
              <a:t>= </a:t>
            </a:r>
            <a:r>
              <a:rPr sz="1800" b="1" smtClean="0">
                <a:latin typeface="Cambria"/>
                <a:cs typeface="Cambria"/>
              </a:rPr>
              <a:t>280</a:t>
            </a:r>
            <a:r>
              <a:rPr lang="en-US" sz="1800" b="1" dirty="0" smtClean="0">
                <a:latin typeface="Cambria"/>
                <a:cs typeface="Cambria"/>
              </a:rPr>
              <a:t>2</a:t>
            </a:r>
            <a:r>
              <a:rPr sz="1800" b="1" smtClean="0">
                <a:latin typeface="Cambria"/>
                <a:cs typeface="Cambria"/>
              </a:rPr>
              <a:t> + </a:t>
            </a:r>
            <a:r>
              <a:rPr sz="1800" b="1" dirty="0">
                <a:latin typeface="Cambria"/>
                <a:cs typeface="Cambria"/>
              </a:rPr>
              <a:t>04 </a:t>
            </a:r>
            <a:r>
              <a:rPr sz="1800" b="1" spc="5" dirty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Effective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 </a:t>
            </a:r>
            <a:r>
              <a:rPr sz="1800" spc="-10" dirty="0">
                <a:latin typeface="Cambria"/>
                <a:cs typeface="Cambria"/>
              </a:rPr>
              <a:t>operand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mbria"/>
                <a:cs typeface="Cambria"/>
              </a:rPr>
              <a:t>2806h</a:t>
            </a:r>
            <a:endParaRPr sz="1800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950456" y="2628900"/>
          <a:ext cx="144526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175"/>
                <a:gridCol w="807085"/>
              </a:tblGrid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B08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521065" y="2930397"/>
            <a:ext cx="1658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Cambria"/>
                <a:cs typeface="Cambria"/>
              </a:rPr>
              <a:t>Actual</a:t>
            </a:r>
            <a:r>
              <a:rPr sz="1800" b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Operand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67513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7.</a:t>
            </a:r>
            <a:r>
              <a:rPr sz="4400" spc="-15" dirty="0">
                <a:solidFill>
                  <a:srgbClr val="001F5F"/>
                </a:solidFill>
              </a:rPr>
              <a:t> </a:t>
            </a:r>
            <a:r>
              <a:rPr sz="4400" spc="-30" dirty="0">
                <a:solidFill>
                  <a:srgbClr val="001F5F"/>
                </a:solidFill>
              </a:rPr>
              <a:t>Relative</a:t>
            </a:r>
            <a:r>
              <a:rPr sz="4400" spc="-10" dirty="0">
                <a:solidFill>
                  <a:srgbClr val="001F5F"/>
                </a:solidFill>
              </a:rPr>
              <a:t> Addressing</a:t>
            </a:r>
            <a:r>
              <a:rPr sz="4400" spc="-85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207257" y="2616073"/>
          <a:ext cx="1445895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/>
                <a:gridCol w="807085"/>
              </a:tblGrid>
              <a:tr h="304800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22452" y="3827271"/>
          <a:ext cx="1867535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/>
                <a:gridCol w="1409065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PC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635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smtClean="0">
                          <a:latin typeface="Cambria"/>
                          <a:cs typeface="Cambria"/>
                        </a:rPr>
                        <a:t>280</a:t>
                      </a:r>
                      <a:r>
                        <a:rPr lang="en-US" sz="1600" b="1" spc="-5" dirty="0" smtClean="0">
                          <a:latin typeface="Cambria"/>
                          <a:cs typeface="Cambria"/>
                        </a:rPr>
                        <a:t>4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76680" y="3087700"/>
            <a:ext cx="12858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mbria"/>
                <a:cs typeface="Cambria"/>
              </a:rPr>
              <a:t>Offset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=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spc="-5" dirty="0">
                <a:latin typeface="Cambria"/>
                <a:cs typeface="Cambria"/>
              </a:rPr>
              <a:t>03h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5325236"/>
            <a:ext cx="46183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mbria"/>
                <a:cs typeface="Cambria"/>
              </a:rPr>
              <a:t>Effective </a:t>
            </a:r>
            <a:r>
              <a:rPr sz="1800" spc="-10" dirty="0">
                <a:latin typeface="Cambria"/>
                <a:cs typeface="Cambria"/>
              </a:rPr>
              <a:t>address </a:t>
            </a:r>
            <a:r>
              <a:rPr sz="1800" dirty="0">
                <a:latin typeface="Cambria"/>
                <a:cs typeface="Cambria"/>
              </a:rPr>
              <a:t>of </a:t>
            </a:r>
            <a:r>
              <a:rPr sz="1800" spc="-10" dirty="0">
                <a:latin typeface="Cambria"/>
                <a:cs typeface="Cambria"/>
              </a:rPr>
              <a:t>operand </a:t>
            </a:r>
            <a:r>
              <a:rPr sz="1800" dirty="0">
                <a:latin typeface="Cambria"/>
                <a:cs typeface="Cambria"/>
              </a:rPr>
              <a:t>= </a:t>
            </a:r>
            <a:r>
              <a:rPr sz="1800" b="1" spc="-10">
                <a:latin typeface="Cambria"/>
                <a:cs typeface="Cambria"/>
              </a:rPr>
              <a:t>PC </a:t>
            </a:r>
            <a:r>
              <a:rPr sz="1800" b="1" smtClean="0">
                <a:latin typeface="Cambria"/>
                <a:cs typeface="Cambria"/>
              </a:rPr>
              <a:t>+ </a:t>
            </a:r>
            <a:r>
              <a:rPr sz="1800" b="1" spc="-5" dirty="0">
                <a:latin typeface="Cambria"/>
                <a:cs typeface="Cambria"/>
              </a:rPr>
              <a:t>offset </a:t>
            </a:r>
            <a:r>
              <a:rPr sz="1800" b="1" spc="-385" dirty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Effective </a:t>
            </a:r>
            <a:r>
              <a:rPr sz="1800" spc="-10" dirty="0">
                <a:latin typeface="Cambria"/>
                <a:cs typeface="Cambria"/>
              </a:rPr>
              <a:t>address </a:t>
            </a:r>
            <a:r>
              <a:rPr sz="1800" dirty="0">
                <a:latin typeface="Cambria"/>
                <a:cs typeface="Cambria"/>
              </a:rPr>
              <a:t>of </a:t>
            </a:r>
            <a:r>
              <a:rPr sz="1800" spc="-10" dirty="0">
                <a:latin typeface="Cambria"/>
                <a:cs typeface="Cambria"/>
              </a:rPr>
              <a:t>operand </a:t>
            </a:r>
            <a:r>
              <a:rPr sz="1800">
                <a:latin typeface="Cambria"/>
                <a:cs typeface="Cambria"/>
              </a:rPr>
              <a:t>= </a:t>
            </a:r>
            <a:r>
              <a:rPr sz="1800" b="1" smtClean="0">
                <a:latin typeface="Cambria"/>
                <a:cs typeface="Cambria"/>
              </a:rPr>
              <a:t>280</a:t>
            </a:r>
            <a:r>
              <a:rPr lang="en-US" sz="1800" b="1" dirty="0" smtClean="0">
                <a:latin typeface="Cambria"/>
                <a:cs typeface="Cambria"/>
              </a:rPr>
              <a:t>4</a:t>
            </a:r>
            <a:r>
              <a:rPr sz="1800" b="1" smtClean="0">
                <a:latin typeface="Cambria"/>
                <a:cs typeface="Cambria"/>
              </a:rPr>
              <a:t> </a:t>
            </a:r>
            <a:r>
              <a:rPr sz="1800" b="1">
                <a:latin typeface="Cambria"/>
                <a:cs typeface="Cambria"/>
              </a:rPr>
              <a:t>+ </a:t>
            </a:r>
            <a:r>
              <a:rPr sz="1800" b="1" smtClean="0">
                <a:latin typeface="Cambria"/>
                <a:cs typeface="Cambria"/>
              </a:rPr>
              <a:t>03 </a:t>
            </a:r>
            <a:r>
              <a:rPr sz="1800" b="1" spc="5" smtClean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Effective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 </a:t>
            </a:r>
            <a:r>
              <a:rPr sz="1800" spc="-10" dirty="0">
                <a:latin typeface="Cambria"/>
                <a:cs typeface="Cambria"/>
              </a:rPr>
              <a:t>operand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mbria"/>
                <a:cs typeface="Cambria"/>
              </a:rPr>
              <a:t>2807h</a:t>
            </a:r>
            <a:endParaRPr sz="1800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950456" y="2628900"/>
          <a:ext cx="144526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175"/>
                <a:gridCol w="807085"/>
              </a:tblGrid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B08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521065" y="2594228"/>
            <a:ext cx="1658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Cambria"/>
                <a:cs typeface="Cambria"/>
              </a:rPr>
              <a:t>Actual</a:t>
            </a:r>
            <a:r>
              <a:rPr sz="1800" b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Operand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6750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8.</a:t>
            </a:r>
            <a:r>
              <a:rPr sz="4400" spc="-10" dirty="0">
                <a:solidFill>
                  <a:srgbClr val="001F5F"/>
                </a:solidFill>
              </a:rPr>
              <a:t> </a:t>
            </a:r>
            <a:r>
              <a:rPr sz="4400" spc="-25" dirty="0">
                <a:solidFill>
                  <a:srgbClr val="001F5F"/>
                </a:solidFill>
              </a:rPr>
              <a:t>Indexed</a:t>
            </a:r>
            <a:r>
              <a:rPr sz="4400" spc="-30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Addressing</a:t>
            </a:r>
            <a:r>
              <a:rPr sz="4400" spc="-40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10349230" cy="4422236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1146175" indent="-229235">
              <a:lnSpc>
                <a:spcPct val="70000"/>
              </a:lnSpc>
              <a:spcBef>
                <a:spcPts val="1040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spc="-5" dirty="0">
                <a:latin typeface="Cambria"/>
                <a:cs typeface="Cambria"/>
              </a:rPr>
              <a:t>In </a:t>
            </a:r>
            <a:r>
              <a:rPr sz="2600" spc="-10" dirty="0">
                <a:latin typeface="Cambria"/>
                <a:cs typeface="Cambria"/>
              </a:rPr>
              <a:t>index addressing </a:t>
            </a:r>
            <a:r>
              <a:rPr sz="2600" spc="-5" dirty="0">
                <a:latin typeface="Cambria"/>
                <a:cs typeface="Cambria"/>
              </a:rPr>
              <a:t>mode, contents </a:t>
            </a:r>
            <a:r>
              <a:rPr sz="2600" dirty="0">
                <a:latin typeface="Cambria"/>
                <a:cs typeface="Cambria"/>
              </a:rPr>
              <a:t>of </a:t>
            </a:r>
            <a:r>
              <a:rPr sz="2600" spc="-15" dirty="0">
                <a:latin typeface="Cambria"/>
                <a:cs typeface="Cambria"/>
              </a:rPr>
              <a:t>Index </a:t>
            </a:r>
            <a:r>
              <a:rPr sz="2600" spc="-10" dirty="0">
                <a:latin typeface="Cambria"/>
                <a:cs typeface="Cambria"/>
              </a:rPr>
              <a:t>register </a:t>
            </a:r>
            <a:r>
              <a:rPr sz="2600" dirty="0">
                <a:latin typeface="Cambria"/>
                <a:cs typeface="Cambria"/>
              </a:rPr>
              <a:t>is </a:t>
            </a:r>
            <a:r>
              <a:rPr sz="2600" spc="-5" dirty="0">
                <a:latin typeface="Cambria"/>
                <a:cs typeface="Cambria"/>
              </a:rPr>
              <a:t>added </a:t>
            </a:r>
            <a:r>
              <a:rPr sz="2600" spc="-15" dirty="0">
                <a:latin typeface="Cambria"/>
                <a:cs typeface="Cambria"/>
              </a:rPr>
              <a:t>to </a:t>
            </a:r>
            <a:r>
              <a:rPr sz="2600" spc="-56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address</a:t>
            </a:r>
            <a:r>
              <a:rPr sz="2600" spc="-25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part of</a:t>
            </a:r>
            <a:r>
              <a:rPr sz="2600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instruction</a:t>
            </a:r>
            <a:r>
              <a:rPr sz="2600" spc="-15" dirty="0">
                <a:latin typeface="Cambria"/>
                <a:cs typeface="Cambria"/>
              </a:rPr>
              <a:t> to</a:t>
            </a:r>
            <a:r>
              <a:rPr sz="2600" spc="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obtain</a:t>
            </a:r>
            <a:r>
              <a:rPr sz="2600" spc="-15" dirty="0">
                <a:latin typeface="Cambria"/>
                <a:cs typeface="Cambria"/>
              </a:rPr>
              <a:t> effective</a:t>
            </a:r>
            <a:r>
              <a:rPr sz="2600" spc="-3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address.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3550">
              <a:latin typeface="Cambria"/>
              <a:cs typeface="Cambria"/>
            </a:endParaRPr>
          </a:p>
          <a:p>
            <a:pPr marL="241300" marR="5080" indent="-229235">
              <a:lnSpc>
                <a:spcPct val="70000"/>
              </a:lnSpc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ambria"/>
                <a:cs typeface="Cambria"/>
              </a:rPr>
              <a:t>The </a:t>
            </a:r>
            <a:r>
              <a:rPr sz="2600" spc="-10" dirty="0">
                <a:latin typeface="Cambria"/>
                <a:cs typeface="Cambria"/>
              </a:rPr>
              <a:t>address </a:t>
            </a:r>
            <a:r>
              <a:rPr sz="2600" spc="-5" dirty="0">
                <a:latin typeface="Cambria"/>
                <a:cs typeface="Cambria"/>
              </a:rPr>
              <a:t>part of instruction </a:t>
            </a:r>
            <a:r>
              <a:rPr sz="2600" dirty="0">
                <a:latin typeface="Cambria"/>
                <a:cs typeface="Cambria"/>
              </a:rPr>
              <a:t>holds </a:t>
            </a:r>
            <a:r>
              <a:rPr sz="2600" spc="-5" dirty="0">
                <a:latin typeface="Cambria"/>
                <a:cs typeface="Cambria"/>
              </a:rPr>
              <a:t>the beginning/base </a:t>
            </a:r>
            <a:r>
              <a:rPr sz="2600" spc="-10" dirty="0">
                <a:latin typeface="Cambria"/>
                <a:cs typeface="Cambria"/>
              </a:rPr>
              <a:t>address </a:t>
            </a:r>
            <a:r>
              <a:rPr sz="2600" spc="-5" dirty="0">
                <a:latin typeface="Cambria"/>
                <a:cs typeface="Cambria"/>
              </a:rPr>
              <a:t>and </a:t>
            </a:r>
            <a:r>
              <a:rPr sz="2600" dirty="0">
                <a:latin typeface="Cambria"/>
                <a:cs typeface="Cambria"/>
              </a:rPr>
              <a:t>is </a:t>
            </a:r>
            <a:r>
              <a:rPr sz="2600" spc="-56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called</a:t>
            </a:r>
            <a:r>
              <a:rPr sz="2600" spc="-30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as </a:t>
            </a:r>
            <a:r>
              <a:rPr sz="2600" b="1" spc="-5" dirty="0">
                <a:solidFill>
                  <a:srgbClr val="FF0000"/>
                </a:solidFill>
                <a:latin typeface="Cambria"/>
                <a:cs typeface="Cambria"/>
              </a:rPr>
              <a:t>base.</a:t>
            </a:r>
            <a:endParaRPr sz="2600" b="1">
              <a:solidFill>
                <a:srgbClr val="FF0000"/>
              </a:solidFill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275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ambria"/>
                <a:cs typeface="Cambria"/>
              </a:rPr>
              <a:t>The</a:t>
            </a:r>
            <a:r>
              <a:rPr sz="2600" spc="-2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index</a:t>
            </a:r>
            <a:r>
              <a:rPr sz="260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register</a:t>
            </a:r>
            <a:r>
              <a:rPr sz="2600" spc="-1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hold</a:t>
            </a:r>
            <a:r>
              <a:rPr sz="2600" spc="-30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the</a:t>
            </a:r>
            <a:r>
              <a:rPr sz="2600" spc="-10" dirty="0">
                <a:latin typeface="Cambria"/>
                <a:cs typeface="Cambria"/>
              </a:rPr>
              <a:t> index</a:t>
            </a:r>
            <a:r>
              <a:rPr sz="2600" spc="-5" dirty="0">
                <a:latin typeface="Cambria"/>
                <a:cs typeface="Cambria"/>
              </a:rPr>
              <a:t> </a:t>
            </a:r>
            <a:r>
              <a:rPr sz="2600" spc="-15" dirty="0">
                <a:latin typeface="Cambria"/>
                <a:cs typeface="Cambria"/>
              </a:rPr>
              <a:t>value,</a:t>
            </a:r>
            <a:r>
              <a:rPr sz="2600" spc="-10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which </a:t>
            </a:r>
            <a:r>
              <a:rPr sz="2600" dirty="0">
                <a:latin typeface="Cambria"/>
                <a:cs typeface="Cambria"/>
              </a:rPr>
              <a:t>is</a:t>
            </a:r>
            <a:r>
              <a:rPr sz="2600" spc="-10" dirty="0">
                <a:latin typeface="Cambria"/>
                <a:cs typeface="Cambria"/>
              </a:rPr>
              <a:t> +ve.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275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buFont typeface="Arial MT"/>
              <a:buChar char="•"/>
              <a:tabLst>
                <a:tab pos="241935" algn="l"/>
              </a:tabLst>
            </a:pPr>
            <a:r>
              <a:rPr sz="2600" spc="-5" dirty="0">
                <a:latin typeface="Cambria"/>
                <a:cs typeface="Cambria"/>
              </a:rPr>
              <a:t>Base</a:t>
            </a:r>
            <a:r>
              <a:rPr sz="2600" spc="-25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remains</a:t>
            </a:r>
            <a:r>
              <a:rPr sz="2600" spc="-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same,</a:t>
            </a:r>
            <a:r>
              <a:rPr sz="2600" spc="-20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the</a:t>
            </a:r>
            <a:r>
              <a:rPr sz="2600" spc="-1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index </a:t>
            </a:r>
            <a:r>
              <a:rPr sz="2600" dirty="0">
                <a:latin typeface="Cambria"/>
                <a:cs typeface="Cambria"/>
              </a:rPr>
              <a:t>changes.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2700">
              <a:latin typeface="Cambria"/>
              <a:cs typeface="Cambria"/>
            </a:endParaRPr>
          </a:p>
          <a:p>
            <a:pPr marL="241300" marR="504190" indent="-229235">
              <a:lnSpc>
                <a:spcPct val="70000"/>
              </a:lnSpc>
              <a:spcBef>
                <a:spcPts val="5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spc="-5" dirty="0">
                <a:latin typeface="Cambria"/>
                <a:cs typeface="Cambria"/>
              </a:rPr>
              <a:t>When the base </a:t>
            </a:r>
            <a:r>
              <a:rPr sz="2600" dirty="0">
                <a:latin typeface="Cambria"/>
                <a:cs typeface="Cambria"/>
              </a:rPr>
              <a:t>is </a:t>
            </a:r>
            <a:r>
              <a:rPr sz="2600" spc="-5" dirty="0">
                <a:latin typeface="Cambria"/>
                <a:cs typeface="Cambria"/>
              </a:rPr>
              <a:t>added </a:t>
            </a:r>
            <a:r>
              <a:rPr sz="2600" spc="-15" dirty="0">
                <a:latin typeface="Cambria"/>
                <a:cs typeface="Cambria"/>
              </a:rPr>
              <a:t>to </a:t>
            </a:r>
            <a:r>
              <a:rPr sz="2600" spc="-5" dirty="0">
                <a:latin typeface="Cambria"/>
                <a:cs typeface="Cambria"/>
              </a:rPr>
              <a:t>the </a:t>
            </a:r>
            <a:r>
              <a:rPr sz="2600" spc="-10" dirty="0">
                <a:latin typeface="Cambria"/>
                <a:cs typeface="Cambria"/>
              </a:rPr>
              <a:t>index register </a:t>
            </a:r>
            <a:r>
              <a:rPr sz="2600" spc="-5" dirty="0">
                <a:latin typeface="Cambria"/>
                <a:cs typeface="Cambria"/>
              </a:rPr>
              <a:t>the resultant </a:t>
            </a:r>
            <a:r>
              <a:rPr sz="2600" dirty="0">
                <a:latin typeface="Cambria"/>
                <a:cs typeface="Cambria"/>
              </a:rPr>
              <a:t>number is </a:t>
            </a:r>
            <a:r>
              <a:rPr sz="2600" spc="-560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the</a:t>
            </a:r>
            <a:r>
              <a:rPr sz="2600" spc="-15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memory</a:t>
            </a:r>
            <a:r>
              <a:rPr sz="2600" spc="-35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location</a:t>
            </a:r>
            <a:r>
              <a:rPr sz="2600" spc="-1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where</a:t>
            </a:r>
            <a:r>
              <a:rPr sz="2600" spc="-30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the</a:t>
            </a:r>
            <a:r>
              <a:rPr sz="2600" spc="-1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operand</a:t>
            </a:r>
            <a:r>
              <a:rPr sz="2600" spc="-30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will</a:t>
            </a:r>
            <a:r>
              <a:rPr sz="2600" spc="-1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be</a:t>
            </a:r>
            <a:r>
              <a:rPr sz="2600" spc="-15" dirty="0">
                <a:latin typeface="Cambria"/>
                <a:cs typeface="Cambria"/>
              </a:rPr>
              <a:t> </a:t>
            </a:r>
            <a:r>
              <a:rPr sz="2600" spc="-5" dirty="0">
                <a:latin typeface="Cambria"/>
                <a:cs typeface="Cambria"/>
              </a:rPr>
              <a:t>placed.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6750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8.</a:t>
            </a:r>
            <a:r>
              <a:rPr sz="4400" spc="-10" dirty="0">
                <a:solidFill>
                  <a:srgbClr val="001F5F"/>
                </a:solidFill>
              </a:rPr>
              <a:t> </a:t>
            </a:r>
            <a:r>
              <a:rPr sz="4400" spc="-25" dirty="0">
                <a:solidFill>
                  <a:srgbClr val="001F5F"/>
                </a:solidFill>
              </a:rPr>
              <a:t>Indexed</a:t>
            </a:r>
            <a:r>
              <a:rPr sz="4400" spc="-30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Addressing</a:t>
            </a:r>
            <a:r>
              <a:rPr sz="4400" spc="-40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09599" y="2825114"/>
          <a:ext cx="144526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/>
                <a:gridCol w="806450"/>
              </a:tblGrid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9825" y="5535040"/>
          <a:ext cx="1823085" cy="335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020"/>
                <a:gridCol w="1409065"/>
              </a:tblGrid>
              <a:tr h="335318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IX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635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0000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30630" y="1890141"/>
            <a:ext cx="3972560" cy="76454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800" b="1" spc="-5" dirty="0">
                <a:latin typeface="Cambria"/>
                <a:cs typeface="Cambria"/>
              </a:rPr>
              <a:t>Base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=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spc="-5" dirty="0">
                <a:latin typeface="Cambria"/>
                <a:cs typeface="Cambria"/>
              </a:rPr>
              <a:t>2800h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800" spc="-15" dirty="0">
                <a:latin typeface="Cambria"/>
                <a:cs typeface="Cambria"/>
              </a:rPr>
              <a:t>Effective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 </a:t>
            </a:r>
            <a:r>
              <a:rPr sz="1800" spc="-10" dirty="0">
                <a:latin typeface="Cambria"/>
                <a:cs typeface="Cambria"/>
              </a:rPr>
              <a:t>operand </a:t>
            </a:r>
            <a:r>
              <a:rPr sz="1800" dirty="0">
                <a:latin typeface="Cambria"/>
                <a:cs typeface="Cambria"/>
              </a:rPr>
              <a:t>= </a:t>
            </a:r>
            <a:r>
              <a:rPr sz="1800" b="1" spc="-5" dirty="0">
                <a:latin typeface="Cambria"/>
                <a:cs typeface="Cambria"/>
              </a:rPr>
              <a:t>Base </a:t>
            </a:r>
            <a:r>
              <a:rPr sz="1800" b="1" dirty="0">
                <a:latin typeface="Cambria"/>
                <a:cs typeface="Cambria"/>
              </a:rPr>
              <a:t>+</a:t>
            </a:r>
            <a:r>
              <a:rPr sz="1800" b="1" spc="-1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IX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0889" y="5968085"/>
            <a:ext cx="19710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mbria"/>
                <a:cs typeface="Cambria"/>
              </a:rPr>
              <a:t>2800h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+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0000h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=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2800h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85820" y="2822575"/>
          <a:ext cx="1445895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/>
                <a:gridCol w="807085"/>
              </a:tblGrid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215767" y="5532501"/>
          <a:ext cx="1821814" cy="3352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3384"/>
                <a:gridCol w="1408430"/>
              </a:tblGrid>
              <a:tr h="335216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IX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635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0001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346830" y="5965342"/>
            <a:ext cx="19710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mbria"/>
                <a:cs typeface="Cambria"/>
              </a:rPr>
              <a:t>2800h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+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0001h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=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2801h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842508" y="2822575"/>
          <a:ext cx="144526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175"/>
                <a:gridCol w="807085"/>
              </a:tblGrid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672454" y="5532501"/>
          <a:ext cx="1822449" cy="3352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3384"/>
                <a:gridCol w="1409065"/>
              </a:tblGrid>
              <a:tr h="335216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IX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0002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5803519" y="5965342"/>
            <a:ext cx="19710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mbria"/>
                <a:cs typeface="Cambria"/>
              </a:rPr>
              <a:t>2800h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+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0002h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=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2802h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379714" y="2835148"/>
          <a:ext cx="1445260" cy="2438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175"/>
                <a:gridCol w="807085"/>
              </a:tblGrid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60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97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799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8209915" y="5544946"/>
          <a:ext cx="1821180" cy="335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750"/>
                <a:gridCol w="1408430"/>
              </a:tblGrid>
              <a:tr h="335343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IX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0003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8340979" y="5978144"/>
            <a:ext cx="19710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mbria"/>
                <a:cs typeface="Cambria"/>
              </a:rPr>
              <a:t>2800h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+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0003h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=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2803h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6750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8.</a:t>
            </a:r>
            <a:r>
              <a:rPr sz="4400" spc="-10" dirty="0">
                <a:solidFill>
                  <a:srgbClr val="001F5F"/>
                </a:solidFill>
              </a:rPr>
              <a:t> </a:t>
            </a:r>
            <a:r>
              <a:rPr sz="4400" spc="-25" dirty="0">
                <a:solidFill>
                  <a:srgbClr val="001F5F"/>
                </a:solidFill>
              </a:rPr>
              <a:t>Indexed</a:t>
            </a:r>
            <a:r>
              <a:rPr sz="4400" spc="-30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Addressing</a:t>
            </a:r>
            <a:r>
              <a:rPr sz="4400" spc="-40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09599" y="2825114"/>
          <a:ext cx="144526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/>
                <a:gridCol w="806450"/>
              </a:tblGrid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9825" y="5535040"/>
          <a:ext cx="1823085" cy="335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020"/>
                <a:gridCol w="1409065"/>
              </a:tblGrid>
              <a:tr h="335318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IX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635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0000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30630" y="1890141"/>
            <a:ext cx="3972560" cy="76454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800" b="1" spc="-5" dirty="0">
                <a:latin typeface="Cambria"/>
                <a:cs typeface="Cambria"/>
              </a:rPr>
              <a:t>Base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=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spc="-5" dirty="0">
                <a:latin typeface="Cambria"/>
                <a:cs typeface="Cambria"/>
              </a:rPr>
              <a:t>2802h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800" spc="-15" dirty="0">
                <a:latin typeface="Cambria"/>
                <a:cs typeface="Cambria"/>
              </a:rPr>
              <a:t>Effective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 </a:t>
            </a:r>
            <a:r>
              <a:rPr sz="1800" spc="-10" dirty="0">
                <a:latin typeface="Cambria"/>
                <a:cs typeface="Cambria"/>
              </a:rPr>
              <a:t>operand </a:t>
            </a:r>
            <a:r>
              <a:rPr sz="1800" dirty="0">
                <a:latin typeface="Cambria"/>
                <a:cs typeface="Cambria"/>
              </a:rPr>
              <a:t>= </a:t>
            </a:r>
            <a:r>
              <a:rPr sz="1800" b="1" spc="-5" dirty="0">
                <a:latin typeface="Cambria"/>
                <a:cs typeface="Cambria"/>
              </a:rPr>
              <a:t>Base </a:t>
            </a:r>
            <a:r>
              <a:rPr sz="1800" b="1" dirty="0">
                <a:latin typeface="Cambria"/>
                <a:cs typeface="Cambria"/>
              </a:rPr>
              <a:t>+</a:t>
            </a:r>
            <a:r>
              <a:rPr sz="1800" b="1" spc="-1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IX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0889" y="5968085"/>
            <a:ext cx="19710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mbria"/>
                <a:cs typeface="Cambria"/>
              </a:rPr>
              <a:t>2802h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+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0000h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=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2802h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85820" y="2822575"/>
          <a:ext cx="1445895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/>
                <a:gridCol w="807085"/>
              </a:tblGrid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215767" y="5532501"/>
          <a:ext cx="1821814" cy="3352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3384"/>
                <a:gridCol w="1408430"/>
              </a:tblGrid>
              <a:tr h="335216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IX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635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0001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346830" y="5965342"/>
            <a:ext cx="19710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mbria"/>
                <a:cs typeface="Cambria"/>
              </a:rPr>
              <a:t>2802h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+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0001h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=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2803h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842508" y="2822575"/>
          <a:ext cx="144526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175"/>
                <a:gridCol w="807085"/>
              </a:tblGrid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672454" y="5532501"/>
          <a:ext cx="1822449" cy="3352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3384"/>
                <a:gridCol w="1409065"/>
              </a:tblGrid>
              <a:tr h="335216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IX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0002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5803519" y="5965342"/>
            <a:ext cx="19710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mbria"/>
                <a:cs typeface="Cambria"/>
              </a:rPr>
              <a:t>2802h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+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0002h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=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2804h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379714" y="2835148"/>
          <a:ext cx="1445260" cy="2438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175"/>
                <a:gridCol w="807085"/>
              </a:tblGrid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60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97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799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8209915" y="5544946"/>
          <a:ext cx="1821180" cy="335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750"/>
                <a:gridCol w="1408430"/>
              </a:tblGrid>
              <a:tr h="335343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IX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0003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8340979" y="5978144"/>
            <a:ext cx="19710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mbria"/>
                <a:cs typeface="Cambria"/>
              </a:rPr>
              <a:t>2802h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+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0003h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=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2805h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8061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9.</a:t>
            </a:r>
            <a:r>
              <a:rPr sz="4400" spc="-5" dirty="0">
                <a:solidFill>
                  <a:srgbClr val="001F5F"/>
                </a:solidFill>
              </a:rPr>
              <a:t> Base</a:t>
            </a:r>
            <a:r>
              <a:rPr sz="4400" spc="-10" dirty="0">
                <a:solidFill>
                  <a:srgbClr val="001F5F"/>
                </a:solidFill>
              </a:rPr>
              <a:t> </a:t>
            </a:r>
            <a:r>
              <a:rPr sz="4400" spc="-15" dirty="0">
                <a:solidFill>
                  <a:srgbClr val="001F5F"/>
                </a:solidFill>
              </a:rPr>
              <a:t>Register</a:t>
            </a:r>
            <a:r>
              <a:rPr sz="4400" spc="-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Addressing</a:t>
            </a:r>
            <a:r>
              <a:rPr sz="4400" spc="-50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56917"/>
            <a:ext cx="10258425" cy="468185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 marR="97155" indent="-229235">
              <a:lnSpc>
                <a:spcPct val="70000"/>
              </a:lnSpc>
              <a:spcBef>
                <a:spcPts val="88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Cambria"/>
                <a:cs typeface="Cambria"/>
              </a:rPr>
              <a:t>In </a:t>
            </a:r>
            <a:r>
              <a:rPr sz="2200" spc="-10" dirty="0">
                <a:latin typeface="Cambria"/>
                <a:cs typeface="Cambria"/>
              </a:rPr>
              <a:t>base</a:t>
            </a:r>
            <a:r>
              <a:rPr sz="2200" spc="1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register</a:t>
            </a:r>
            <a:r>
              <a:rPr sz="2200" spc="4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addressing</a:t>
            </a:r>
            <a:r>
              <a:rPr sz="2200" spc="3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mode,</a:t>
            </a:r>
            <a:r>
              <a:rPr sz="2200" spc="5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contents</a:t>
            </a:r>
            <a:r>
              <a:rPr sz="2200" spc="35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of</a:t>
            </a:r>
            <a:r>
              <a:rPr sz="220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base</a:t>
            </a:r>
            <a:r>
              <a:rPr sz="2200" spc="1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register</a:t>
            </a:r>
            <a:r>
              <a:rPr sz="2200" spc="45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is</a:t>
            </a:r>
            <a:r>
              <a:rPr sz="2200" spc="1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added</a:t>
            </a:r>
            <a:r>
              <a:rPr sz="2200" spc="20" dirty="0">
                <a:latin typeface="Cambria"/>
                <a:cs typeface="Cambria"/>
              </a:rPr>
              <a:t> </a:t>
            </a:r>
            <a:r>
              <a:rPr sz="2200" spc="-15" dirty="0">
                <a:latin typeface="Cambria"/>
                <a:cs typeface="Cambria"/>
              </a:rPr>
              <a:t>to</a:t>
            </a:r>
            <a:r>
              <a:rPr sz="2200" spc="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address</a:t>
            </a:r>
            <a:r>
              <a:rPr sz="2200" spc="3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part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of instruction</a:t>
            </a:r>
            <a:r>
              <a:rPr sz="2200" spc="15" dirty="0">
                <a:latin typeface="Cambria"/>
                <a:cs typeface="Cambria"/>
              </a:rPr>
              <a:t> </a:t>
            </a:r>
            <a:r>
              <a:rPr sz="2200" spc="-15" dirty="0">
                <a:latin typeface="Cambria"/>
                <a:cs typeface="Cambria"/>
              </a:rPr>
              <a:t>to</a:t>
            </a:r>
            <a:r>
              <a:rPr sz="220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obtain</a:t>
            </a:r>
            <a:r>
              <a:rPr sz="2200" spc="10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effective</a:t>
            </a:r>
            <a:r>
              <a:rPr sz="2200" spc="5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address.</a:t>
            </a:r>
            <a:endParaRPr sz="2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3250">
              <a:latin typeface="Cambria"/>
              <a:cs typeface="Cambria"/>
            </a:endParaRPr>
          </a:p>
          <a:p>
            <a:pPr marL="241300" marR="5080" indent="-229235">
              <a:lnSpc>
                <a:spcPct val="70000"/>
              </a:lnSpc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Cambria"/>
                <a:cs typeface="Cambria"/>
              </a:rPr>
              <a:t>It</a:t>
            </a:r>
            <a:r>
              <a:rPr sz="2200" spc="5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is</a:t>
            </a:r>
            <a:r>
              <a:rPr sz="2200" spc="15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similar</a:t>
            </a:r>
            <a:r>
              <a:rPr sz="2200" spc="25" dirty="0">
                <a:latin typeface="Cambria"/>
                <a:cs typeface="Cambria"/>
              </a:rPr>
              <a:t> </a:t>
            </a:r>
            <a:r>
              <a:rPr sz="2200" spc="-15" dirty="0">
                <a:latin typeface="Cambria"/>
                <a:cs typeface="Cambria"/>
              </a:rPr>
              <a:t>to</a:t>
            </a:r>
            <a:r>
              <a:rPr sz="2200" spc="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the</a:t>
            </a:r>
            <a:r>
              <a:rPr sz="2200" spc="20" dirty="0">
                <a:latin typeface="Cambria"/>
                <a:cs typeface="Cambria"/>
              </a:rPr>
              <a:t> </a:t>
            </a:r>
            <a:r>
              <a:rPr sz="2200" spc="-15" dirty="0">
                <a:latin typeface="Cambria"/>
                <a:cs typeface="Cambria"/>
              </a:rPr>
              <a:t>indexed</a:t>
            </a:r>
            <a:r>
              <a:rPr sz="2200" spc="2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addressing</a:t>
            </a:r>
            <a:r>
              <a:rPr sz="2200" spc="5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mode</a:t>
            </a:r>
            <a:r>
              <a:rPr sz="2200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except</a:t>
            </a:r>
            <a:r>
              <a:rPr sz="2200" spc="4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the</a:t>
            </a:r>
            <a:r>
              <a:rPr sz="2200" spc="1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register</a:t>
            </a:r>
            <a:r>
              <a:rPr sz="2200" spc="50" dirty="0">
                <a:latin typeface="Cambria"/>
                <a:cs typeface="Cambria"/>
              </a:rPr>
              <a:t> </a:t>
            </a:r>
            <a:r>
              <a:rPr sz="2200" spc="-15" dirty="0">
                <a:latin typeface="Cambria"/>
                <a:cs typeface="Cambria"/>
              </a:rPr>
              <a:t>now</a:t>
            </a:r>
            <a:r>
              <a:rPr sz="220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is</a:t>
            </a:r>
            <a:r>
              <a:rPr sz="2200" spc="2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called</a:t>
            </a:r>
            <a:r>
              <a:rPr sz="2200" spc="2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as</a:t>
            </a:r>
            <a:r>
              <a:rPr sz="2200" spc="1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base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instead</a:t>
            </a:r>
            <a:r>
              <a:rPr sz="2200" spc="3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of </a:t>
            </a:r>
            <a:r>
              <a:rPr sz="2200" spc="-10" dirty="0">
                <a:latin typeface="Cambria"/>
                <a:cs typeface="Cambria"/>
              </a:rPr>
              <a:t>index.</a:t>
            </a:r>
            <a:endParaRPr sz="2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260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Cambria"/>
                <a:cs typeface="Cambria"/>
              </a:rPr>
              <a:t>The</a:t>
            </a:r>
            <a:r>
              <a:rPr sz="220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base</a:t>
            </a:r>
            <a:r>
              <a:rPr sz="2200" spc="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register</a:t>
            </a:r>
            <a:r>
              <a:rPr sz="2200" spc="3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hold</a:t>
            </a:r>
            <a:r>
              <a:rPr sz="2200" spc="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the</a:t>
            </a:r>
            <a:r>
              <a:rPr sz="2200" spc="1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beginning/base</a:t>
            </a:r>
            <a:r>
              <a:rPr sz="2200" spc="35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address.</a:t>
            </a:r>
            <a:endParaRPr sz="2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260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Cambria"/>
                <a:cs typeface="Cambria"/>
              </a:rPr>
              <a:t>The</a:t>
            </a:r>
            <a:r>
              <a:rPr sz="2200" spc="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address</a:t>
            </a:r>
            <a:r>
              <a:rPr sz="2200" spc="2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part</a:t>
            </a:r>
            <a:r>
              <a:rPr sz="2200" spc="2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of</a:t>
            </a:r>
            <a:r>
              <a:rPr sz="220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instruction</a:t>
            </a:r>
            <a:r>
              <a:rPr sz="2200" spc="2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holds</a:t>
            </a:r>
            <a:r>
              <a:rPr sz="2200" spc="1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the</a:t>
            </a:r>
            <a:r>
              <a:rPr sz="2200" spc="45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offset.</a:t>
            </a:r>
            <a:endParaRPr sz="22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60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10" dirty="0">
                <a:latin typeface="Cambria"/>
                <a:cs typeface="Cambria"/>
              </a:rPr>
              <a:t>Offset</a:t>
            </a:r>
            <a:r>
              <a:rPr sz="2200" spc="10" dirty="0">
                <a:latin typeface="Cambria"/>
                <a:cs typeface="Cambria"/>
              </a:rPr>
              <a:t> </a:t>
            </a:r>
            <a:r>
              <a:rPr sz="2200" spc="-15" dirty="0">
                <a:latin typeface="Cambria"/>
                <a:cs typeface="Cambria"/>
              </a:rPr>
              <a:t>remains</a:t>
            </a:r>
            <a:r>
              <a:rPr sz="2200" spc="15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same,</a:t>
            </a:r>
            <a:r>
              <a:rPr sz="2200" spc="2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the</a:t>
            </a:r>
            <a:r>
              <a:rPr sz="2200" spc="1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base</a:t>
            </a:r>
            <a:r>
              <a:rPr sz="2200" spc="1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changes.</a:t>
            </a:r>
            <a:endParaRPr sz="2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3250">
              <a:latin typeface="Cambria"/>
              <a:cs typeface="Cambria"/>
            </a:endParaRPr>
          </a:p>
          <a:p>
            <a:pPr marL="241300" marR="351155" indent="-229235">
              <a:lnSpc>
                <a:spcPct val="70000"/>
              </a:lnSpc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10" dirty="0">
                <a:latin typeface="Cambria"/>
                <a:cs typeface="Cambria"/>
              </a:rPr>
              <a:t>When</a:t>
            </a:r>
            <a:r>
              <a:rPr sz="2200" spc="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the</a:t>
            </a:r>
            <a:r>
              <a:rPr sz="2200" spc="1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offset</a:t>
            </a:r>
            <a:r>
              <a:rPr sz="2200" spc="25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is</a:t>
            </a:r>
            <a:r>
              <a:rPr sz="2200" spc="15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added</a:t>
            </a:r>
            <a:r>
              <a:rPr sz="2200" spc="20" dirty="0">
                <a:latin typeface="Cambria"/>
                <a:cs typeface="Cambria"/>
              </a:rPr>
              <a:t> </a:t>
            </a:r>
            <a:r>
              <a:rPr sz="2200" spc="-15" dirty="0">
                <a:latin typeface="Cambria"/>
                <a:cs typeface="Cambria"/>
              </a:rPr>
              <a:t>to</a:t>
            </a:r>
            <a:r>
              <a:rPr sz="2200" spc="1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the</a:t>
            </a:r>
            <a:r>
              <a:rPr sz="2200" spc="1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base</a:t>
            </a:r>
            <a:r>
              <a:rPr sz="2200" spc="1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register</a:t>
            </a:r>
            <a:r>
              <a:rPr sz="2200" spc="5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the</a:t>
            </a:r>
            <a:r>
              <a:rPr sz="2200" spc="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resultant</a:t>
            </a:r>
            <a:r>
              <a:rPr sz="2200" spc="5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number</a:t>
            </a:r>
            <a:r>
              <a:rPr sz="2200" spc="1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is</a:t>
            </a:r>
            <a:r>
              <a:rPr sz="2200" spc="1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the</a:t>
            </a:r>
            <a:r>
              <a:rPr sz="2200" spc="2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memory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location</a:t>
            </a:r>
            <a:r>
              <a:rPr sz="2200" spc="15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where</a:t>
            </a:r>
            <a:r>
              <a:rPr sz="2200" spc="1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the</a:t>
            </a:r>
            <a:r>
              <a:rPr sz="2200" spc="1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operand</a:t>
            </a:r>
            <a:r>
              <a:rPr sz="2200" spc="15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will be </a:t>
            </a:r>
            <a:r>
              <a:rPr sz="2200" spc="-10" dirty="0">
                <a:latin typeface="Cambria"/>
                <a:cs typeface="Cambria"/>
              </a:rPr>
              <a:t>placed.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8061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9.</a:t>
            </a:r>
            <a:r>
              <a:rPr sz="4400" spc="-5" dirty="0">
                <a:solidFill>
                  <a:srgbClr val="001F5F"/>
                </a:solidFill>
              </a:rPr>
              <a:t> Base</a:t>
            </a:r>
            <a:r>
              <a:rPr sz="4400" spc="-10" dirty="0">
                <a:solidFill>
                  <a:srgbClr val="001F5F"/>
                </a:solidFill>
              </a:rPr>
              <a:t> </a:t>
            </a:r>
            <a:r>
              <a:rPr sz="4400" spc="-15" dirty="0">
                <a:solidFill>
                  <a:srgbClr val="001F5F"/>
                </a:solidFill>
              </a:rPr>
              <a:t>Register</a:t>
            </a:r>
            <a:r>
              <a:rPr sz="4400" spc="-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Addressing</a:t>
            </a:r>
            <a:r>
              <a:rPr sz="4400" spc="-50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09599" y="2825114"/>
          <a:ext cx="144526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/>
                <a:gridCol w="806450"/>
              </a:tblGrid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78865" y="5535040"/>
          <a:ext cx="1883410" cy="335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765"/>
                <a:gridCol w="1223645"/>
              </a:tblGrid>
              <a:tr h="335318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Base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08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31239" y="1890141"/>
            <a:ext cx="5259070" cy="76454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800" b="1" spc="-5" dirty="0">
                <a:latin typeface="Cambria"/>
                <a:cs typeface="Cambria"/>
              </a:rPr>
              <a:t>Offset=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spc="-5" dirty="0">
                <a:latin typeface="Cambria"/>
                <a:cs typeface="Cambria"/>
              </a:rPr>
              <a:t>0001h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800" spc="-15" dirty="0">
                <a:latin typeface="Cambria"/>
                <a:cs typeface="Cambria"/>
              </a:rPr>
              <a:t>Effective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operand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 </a:t>
            </a:r>
            <a:r>
              <a:rPr sz="1800" b="1" spc="-5" dirty="0">
                <a:latin typeface="Cambria"/>
                <a:cs typeface="Cambria"/>
              </a:rPr>
              <a:t>Base</a:t>
            </a:r>
            <a:r>
              <a:rPr sz="1800" b="1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Register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+</a:t>
            </a:r>
            <a:r>
              <a:rPr sz="1800" b="1" spc="-5" dirty="0">
                <a:latin typeface="Cambria"/>
                <a:cs typeface="Cambria"/>
              </a:rPr>
              <a:t> offset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0889" y="5968085"/>
            <a:ext cx="19710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mbria"/>
                <a:cs typeface="Cambria"/>
              </a:rPr>
              <a:t>2800h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+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0001h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=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2801h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85820" y="2822575"/>
          <a:ext cx="1445895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/>
                <a:gridCol w="807085"/>
              </a:tblGrid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346830" y="5965342"/>
            <a:ext cx="19710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mbria"/>
                <a:cs typeface="Cambria"/>
              </a:rPr>
              <a:t>2801h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+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0001h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=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2802h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842508" y="2822575"/>
          <a:ext cx="144526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175"/>
                <a:gridCol w="807085"/>
              </a:tblGrid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5803519" y="5965342"/>
            <a:ext cx="19710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mbria"/>
                <a:cs typeface="Cambria"/>
              </a:rPr>
              <a:t>2802h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+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0001h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=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2803h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379714" y="2835148"/>
          <a:ext cx="1445260" cy="2438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175"/>
                <a:gridCol w="807085"/>
              </a:tblGrid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60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97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799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8340979" y="5978144"/>
            <a:ext cx="19710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mbria"/>
                <a:cs typeface="Cambria"/>
              </a:rPr>
              <a:t>2803h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+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0001h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=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2804h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141345" y="5480939"/>
          <a:ext cx="1883410" cy="3352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765"/>
                <a:gridCol w="1223645"/>
              </a:tblGrid>
              <a:tr h="33522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Base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611495" y="5472303"/>
          <a:ext cx="1882775" cy="335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130"/>
                <a:gridCol w="1223645"/>
              </a:tblGrid>
              <a:tr h="33530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Base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8229727" y="5449951"/>
          <a:ext cx="1882140" cy="3352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/>
                <a:gridCol w="1223645"/>
              </a:tblGrid>
              <a:tr h="335241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Base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21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8061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</a:rPr>
              <a:t>9.</a:t>
            </a:r>
            <a:r>
              <a:rPr sz="4400" spc="-5" dirty="0">
                <a:solidFill>
                  <a:srgbClr val="001F5F"/>
                </a:solidFill>
              </a:rPr>
              <a:t> Base</a:t>
            </a:r>
            <a:r>
              <a:rPr sz="4400" spc="-10" dirty="0">
                <a:solidFill>
                  <a:srgbClr val="001F5F"/>
                </a:solidFill>
              </a:rPr>
              <a:t> </a:t>
            </a:r>
            <a:r>
              <a:rPr sz="4400" spc="-15" dirty="0">
                <a:solidFill>
                  <a:srgbClr val="001F5F"/>
                </a:solidFill>
              </a:rPr>
              <a:t>Register</a:t>
            </a:r>
            <a:r>
              <a:rPr sz="4400" spc="-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Addressing</a:t>
            </a:r>
            <a:r>
              <a:rPr sz="4400" spc="-50" dirty="0">
                <a:solidFill>
                  <a:srgbClr val="001F5F"/>
                </a:solidFill>
              </a:rPr>
              <a:t> </a:t>
            </a:r>
            <a:r>
              <a:rPr sz="4400" spc="-5" dirty="0">
                <a:solidFill>
                  <a:srgbClr val="001F5F"/>
                </a:solidFill>
              </a:rPr>
              <a:t>Mode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09599" y="2825114"/>
          <a:ext cx="144526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/>
                <a:gridCol w="806450"/>
              </a:tblGrid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78865" y="5535040"/>
          <a:ext cx="1883410" cy="335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765"/>
                <a:gridCol w="1223645"/>
              </a:tblGrid>
              <a:tr h="335318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Base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08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31239" y="1890141"/>
            <a:ext cx="5259070" cy="76454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800" b="1" spc="-5" dirty="0">
                <a:latin typeface="Cambria"/>
                <a:cs typeface="Cambria"/>
              </a:rPr>
              <a:t>Offset=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spc="-5" dirty="0">
                <a:latin typeface="Cambria"/>
                <a:cs typeface="Cambria"/>
              </a:rPr>
              <a:t>0003h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800" spc="-15" dirty="0">
                <a:latin typeface="Cambria"/>
                <a:cs typeface="Cambria"/>
              </a:rPr>
              <a:t>Effective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operand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 </a:t>
            </a:r>
            <a:r>
              <a:rPr sz="1800" b="1" spc="-5" dirty="0">
                <a:latin typeface="Cambria"/>
                <a:cs typeface="Cambria"/>
              </a:rPr>
              <a:t>Base</a:t>
            </a:r>
            <a:r>
              <a:rPr sz="1800" b="1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Register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+</a:t>
            </a:r>
            <a:r>
              <a:rPr sz="1800" b="1" spc="-5" dirty="0">
                <a:latin typeface="Cambria"/>
                <a:cs typeface="Cambria"/>
              </a:rPr>
              <a:t> offset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0889" y="5968085"/>
            <a:ext cx="19710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mbria"/>
                <a:cs typeface="Cambria"/>
              </a:rPr>
              <a:t>2800h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+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0003h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=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2803h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85820" y="2822575"/>
          <a:ext cx="1445895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/>
                <a:gridCol w="807085"/>
              </a:tblGrid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346830" y="5965342"/>
            <a:ext cx="19710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mbria"/>
                <a:cs typeface="Cambria"/>
              </a:rPr>
              <a:t>2801h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+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0003h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=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2804h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842508" y="2822575"/>
          <a:ext cx="144526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175"/>
                <a:gridCol w="807085"/>
              </a:tblGrid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5803519" y="5965342"/>
            <a:ext cx="19710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mbria"/>
                <a:cs typeface="Cambria"/>
              </a:rPr>
              <a:t>2802h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+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0003h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=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2805h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379714" y="2835148"/>
          <a:ext cx="1445260" cy="2438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175"/>
                <a:gridCol w="807085"/>
              </a:tblGrid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60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97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799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8340979" y="5978144"/>
            <a:ext cx="19710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mbria"/>
                <a:cs typeface="Cambria"/>
              </a:rPr>
              <a:t>2803h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+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0003h</a:t>
            </a:r>
            <a:r>
              <a:rPr sz="1400" b="1" spc="-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=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2806h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141345" y="5480939"/>
          <a:ext cx="1883410" cy="3352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765"/>
                <a:gridCol w="1223645"/>
              </a:tblGrid>
              <a:tr h="33522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Base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611495" y="5472303"/>
          <a:ext cx="1882775" cy="335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130"/>
                <a:gridCol w="1223645"/>
              </a:tblGrid>
              <a:tr h="33530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Base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8229727" y="5449951"/>
          <a:ext cx="1882140" cy="3352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/>
                <a:gridCol w="1223645"/>
              </a:tblGrid>
              <a:tr h="335241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Base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21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4949"/>
            <a:ext cx="96075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1F5F"/>
                </a:solidFill>
              </a:rPr>
              <a:t>10.</a:t>
            </a:r>
            <a:r>
              <a:rPr sz="3200" spc="-15" dirty="0">
                <a:solidFill>
                  <a:srgbClr val="001F5F"/>
                </a:solidFill>
              </a:rPr>
              <a:t> </a:t>
            </a:r>
            <a:r>
              <a:rPr sz="3200" spc="-10" dirty="0">
                <a:solidFill>
                  <a:srgbClr val="001F5F"/>
                </a:solidFill>
              </a:rPr>
              <a:t>Autoincrement </a:t>
            </a:r>
            <a:r>
              <a:rPr sz="3200" dirty="0">
                <a:solidFill>
                  <a:srgbClr val="001F5F"/>
                </a:solidFill>
              </a:rPr>
              <a:t>or</a:t>
            </a:r>
            <a:r>
              <a:rPr sz="3200" spc="-5" dirty="0">
                <a:solidFill>
                  <a:srgbClr val="001F5F"/>
                </a:solidFill>
              </a:rPr>
              <a:t> </a:t>
            </a:r>
            <a:r>
              <a:rPr sz="3200" spc="-10" dirty="0">
                <a:solidFill>
                  <a:srgbClr val="001F5F"/>
                </a:solidFill>
              </a:rPr>
              <a:t>Autodecrement Addressing</a:t>
            </a:r>
            <a:r>
              <a:rPr sz="3200" spc="-5" dirty="0">
                <a:solidFill>
                  <a:srgbClr val="001F5F"/>
                </a:solidFill>
              </a:rPr>
              <a:t> Mode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16939" y="1807210"/>
            <a:ext cx="10347325" cy="185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mbria"/>
                <a:cs typeface="Cambria"/>
              </a:rPr>
              <a:t>It is similar </a:t>
            </a:r>
            <a:r>
              <a:rPr sz="2800" spc="-20" dirty="0">
                <a:latin typeface="Cambria"/>
                <a:cs typeface="Cambria"/>
              </a:rPr>
              <a:t>to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register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indirect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addressing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mode.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4300">
              <a:latin typeface="Cambria"/>
              <a:cs typeface="Cambria"/>
            </a:endParaRPr>
          </a:p>
          <a:p>
            <a:pPr marL="241300" marR="5080" indent="-229235">
              <a:lnSpc>
                <a:spcPts val="3020"/>
              </a:lnSpc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mbria"/>
                <a:cs typeface="Cambria"/>
              </a:rPr>
              <a:t>Here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the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register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is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incremented</a:t>
            </a:r>
            <a:r>
              <a:rPr sz="2800" spc="-5" dirty="0">
                <a:latin typeface="Cambria"/>
                <a:cs typeface="Cambria"/>
              </a:rPr>
              <a:t> or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decremented</a:t>
            </a:r>
            <a:r>
              <a:rPr sz="2800" spc="-15" dirty="0">
                <a:latin typeface="Cambria"/>
                <a:cs typeface="Cambria"/>
              </a:rPr>
              <a:t> before </a:t>
            </a:r>
            <a:r>
              <a:rPr sz="2800" spc="-5" dirty="0">
                <a:latin typeface="Cambria"/>
                <a:cs typeface="Cambria"/>
              </a:rPr>
              <a:t>or after its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value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is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used.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565910" y="5979704"/>
            <a:ext cx="840105" cy="2635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1st</a:t>
            </a:r>
            <a:r>
              <a:rPr sz="1600" b="1" spc="-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Time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03726" y="5976961"/>
            <a:ext cx="915035" cy="2635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2nd</a:t>
            </a:r>
            <a:r>
              <a:rPr sz="1600" b="1" spc="-6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Time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7178" y="5976961"/>
            <a:ext cx="883285" cy="2635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b="1" spc="-15" dirty="0">
                <a:solidFill>
                  <a:srgbClr val="6F2F9F"/>
                </a:solidFill>
                <a:latin typeface="Cambria"/>
                <a:cs typeface="Cambria"/>
              </a:rPr>
              <a:t>3rd</a:t>
            </a:r>
            <a:r>
              <a:rPr sz="1600" b="1" spc="-6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Time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22257" y="5989763"/>
            <a:ext cx="866775" cy="2635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b="1" spc="-5" dirty="0">
                <a:solidFill>
                  <a:srgbClr val="6F2F9F"/>
                </a:solidFill>
                <a:latin typeface="Cambria"/>
                <a:cs typeface="Cambria"/>
              </a:rPr>
              <a:t>4th</a:t>
            </a:r>
            <a:r>
              <a:rPr sz="1600" b="1" spc="-7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Time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4949"/>
            <a:ext cx="96088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1F5F"/>
                </a:solidFill>
              </a:rPr>
              <a:t>10.</a:t>
            </a:r>
            <a:r>
              <a:rPr sz="3200" spc="-15" dirty="0">
                <a:solidFill>
                  <a:srgbClr val="001F5F"/>
                </a:solidFill>
              </a:rPr>
              <a:t> </a:t>
            </a:r>
            <a:r>
              <a:rPr sz="3200" spc="-10" dirty="0">
                <a:solidFill>
                  <a:srgbClr val="001F5F"/>
                </a:solidFill>
              </a:rPr>
              <a:t>Autoincrement </a:t>
            </a:r>
            <a:r>
              <a:rPr sz="3200" dirty="0">
                <a:solidFill>
                  <a:srgbClr val="001F5F"/>
                </a:solidFill>
              </a:rPr>
              <a:t>or</a:t>
            </a:r>
            <a:r>
              <a:rPr sz="3200" spc="-5" dirty="0">
                <a:solidFill>
                  <a:srgbClr val="001F5F"/>
                </a:solidFill>
              </a:rPr>
              <a:t> </a:t>
            </a:r>
            <a:r>
              <a:rPr sz="3200" spc="-10" dirty="0">
                <a:solidFill>
                  <a:srgbClr val="001F5F"/>
                </a:solidFill>
              </a:rPr>
              <a:t>Autodecrement Addressing</a:t>
            </a:r>
            <a:r>
              <a:rPr sz="3200" spc="-5" dirty="0">
                <a:solidFill>
                  <a:srgbClr val="001F5F"/>
                </a:solidFill>
              </a:rPr>
              <a:t> </a:t>
            </a:r>
            <a:r>
              <a:rPr sz="3200" dirty="0">
                <a:solidFill>
                  <a:srgbClr val="001F5F"/>
                </a:solidFill>
              </a:rPr>
              <a:t>Mode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09599" y="2825114"/>
          <a:ext cx="144526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/>
                <a:gridCol w="806450"/>
              </a:tblGrid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72182" y="1957451"/>
          <a:ext cx="1698625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980"/>
                <a:gridCol w="1223645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HL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08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70889" y="1956638"/>
            <a:ext cx="8686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mbria"/>
                <a:cs typeface="Cambria"/>
              </a:rPr>
              <a:t>At</a:t>
            </a:r>
            <a:r>
              <a:rPr sz="1800" b="1" spc="-8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start:</a:t>
            </a:r>
            <a:endParaRPr sz="1800">
              <a:latin typeface="Cambria"/>
              <a:cs typeface="Cambri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385820" y="2822575"/>
          <a:ext cx="1445895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/>
                <a:gridCol w="807085"/>
              </a:tblGrid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842508" y="2822575"/>
          <a:ext cx="144526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175"/>
                <a:gridCol w="807085"/>
              </a:tblGrid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379714" y="2835148"/>
          <a:ext cx="1445260" cy="2438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175"/>
                <a:gridCol w="807085"/>
              </a:tblGrid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60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97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799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325748" y="5480939"/>
          <a:ext cx="1698625" cy="3352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980"/>
                <a:gridCol w="1223645"/>
              </a:tblGrid>
              <a:tr h="33522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HL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795898" y="5472303"/>
          <a:ext cx="1698625" cy="335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980"/>
                <a:gridCol w="1223645"/>
              </a:tblGrid>
              <a:tr h="33530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HL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342121" y="5473319"/>
          <a:ext cx="1697990" cy="3352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345"/>
                <a:gridCol w="1223645"/>
              </a:tblGrid>
              <a:tr h="33525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HL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623309" y="1401318"/>
            <a:ext cx="49428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HL</a:t>
            </a:r>
            <a:r>
              <a:rPr sz="2000" b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mbria"/>
                <a:cs typeface="Cambria"/>
              </a:rPr>
              <a:t>pair</a:t>
            </a:r>
            <a:r>
              <a:rPr sz="2000" b="1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mbria"/>
                <a:cs typeface="Cambria"/>
              </a:rPr>
              <a:t>incremented</a:t>
            </a:r>
            <a:r>
              <a:rPr sz="2000" b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/>
                <a:cs typeface="Cambria"/>
              </a:rPr>
              <a:t>after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mbria"/>
                <a:cs typeface="Cambria"/>
              </a:rPr>
              <a:t>its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mbria"/>
                <a:cs typeface="Cambria"/>
              </a:rPr>
              <a:t>value</a:t>
            </a: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used</a:t>
            </a:r>
            <a:endParaRPr sz="2000">
              <a:latin typeface="Cambria"/>
              <a:cs typeface="Cambria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87069" y="5460746"/>
          <a:ext cx="1699260" cy="3352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5615"/>
                <a:gridCol w="1223645"/>
              </a:tblGrid>
              <a:tr h="33525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HL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08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565910" y="5979704"/>
            <a:ext cx="840105" cy="2635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1st</a:t>
            </a:r>
            <a:r>
              <a:rPr sz="1600" b="1" spc="-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Time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03726" y="5976961"/>
            <a:ext cx="915035" cy="2635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2nd</a:t>
            </a:r>
            <a:r>
              <a:rPr sz="1600" b="1" spc="-6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Time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7178" y="5976961"/>
            <a:ext cx="883285" cy="2635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b="1" spc="-15" dirty="0">
                <a:solidFill>
                  <a:srgbClr val="6F2F9F"/>
                </a:solidFill>
                <a:latin typeface="Cambria"/>
                <a:cs typeface="Cambria"/>
              </a:rPr>
              <a:t>3rd</a:t>
            </a:r>
            <a:r>
              <a:rPr sz="1600" b="1" spc="-6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Time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22257" y="5989763"/>
            <a:ext cx="866775" cy="2635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b="1" spc="-5" dirty="0">
                <a:solidFill>
                  <a:srgbClr val="6F2F9F"/>
                </a:solidFill>
                <a:latin typeface="Cambria"/>
                <a:cs typeface="Cambria"/>
              </a:rPr>
              <a:t>4th</a:t>
            </a:r>
            <a:r>
              <a:rPr sz="1600" b="1" spc="-7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Time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4949"/>
            <a:ext cx="96088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1F5F"/>
                </a:solidFill>
              </a:rPr>
              <a:t>10.</a:t>
            </a:r>
            <a:r>
              <a:rPr sz="3200" spc="-15" dirty="0">
                <a:solidFill>
                  <a:srgbClr val="001F5F"/>
                </a:solidFill>
              </a:rPr>
              <a:t> </a:t>
            </a:r>
            <a:r>
              <a:rPr sz="3200" spc="-10" dirty="0">
                <a:solidFill>
                  <a:srgbClr val="001F5F"/>
                </a:solidFill>
              </a:rPr>
              <a:t>Autoincrement </a:t>
            </a:r>
            <a:r>
              <a:rPr sz="3200" dirty="0">
                <a:solidFill>
                  <a:srgbClr val="001F5F"/>
                </a:solidFill>
              </a:rPr>
              <a:t>or</a:t>
            </a:r>
            <a:r>
              <a:rPr sz="3200" spc="-5" dirty="0">
                <a:solidFill>
                  <a:srgbClr val="001F5F"/>
                </a:solidFill>
              </a:rPr>
              <a:t> </a:t>
            </a:r>
            <a:r>
              <a:rPr sz="3200" spc="-10" dirty="0">
                <a:solidFill>
                  <a:srgbClr val="001F5F"/>
                </a:solidFill>
              </a:rPr>
              <a:t>Autodecrement Addressing</a:t>
            </a:r>
            <a:r>
              <a:rPr sz="3200" spc="-5" dirty="0">
                <a:solidFill>
                  <a:srgbClr val="001F5F"/>
                </a:solidFill>
              </a:rPr>
              <a:t> </a:t>
            </a:r>
            <a:r>
              <a:rPr sz="3200" dirty="0">
                <a:solidFill>
                  <a:srgbClr val="001F5F"/>
                </a:solidFill>
              </a:rPr>
              <a:t>Mode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09599" y="2825114"/>
          <a:ext cx="144526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/>
                <a:gridCol w="806450"/>
              </a:tblGrid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72182" y="1957451"/>
          <a:ext cx="1698625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980"/>
                <a:gridCol w="1223645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HL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08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70889" y="1956638"/>
            <a:ext cx="8686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mbria"/>
                <a:cs typeface="Cambria"/>
              </a:rPr>
              <a:t>At</a:t>
            </a:r>
            <a:r>
              <a:rPr sz="1800" b="1" spc="-8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start:</a:t>
            </a:r>
            <a:endParaRPr sz="1800">
              <a:latin typeface="Cambria"/>
              <a:cs typeface="Cambri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385820" y="2822575"/>
          <a:ext cx="1445895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/>
                <a:gridCol w="807085"/>
              </a:tblGrid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842508" y="2822575"/>
          <a:ext cx="144526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175"/>
                <a:gridCol w="807085"/>
              </a:tblGrid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379714" y="2835148"/>
          <a:ext cx="1445260" cy="2438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175"/>
                <a:gridCol w="807085"/>
              </a:tblGrid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60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6D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59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08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97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Cambria"/>
                          <a:cs typeface="Cambria"/>
                        </a:rPr>
                        <a:t>F3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799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2800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Cambria"/>
                          <a:cs typeface="Cambria"/>
                        </a:rPr>
                        <a:t>9F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325748" y="5480939"/>
          <a:ext cx="1698625" cy="3352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980"/>
                <a:gridCol w="1223645"/>
              </a:tblGrid>
              <a:tr h="33522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HL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2805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795898" y="5472303"/>
          <a:ext cx="1698625" cy="335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980"/>
                <a:gridCol w="1223645"/>
              </a:tblGrid>
              <a:tr h="33530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HL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2806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342121" y="5473319"/>
          <a:ext cx="1697990" cy="3352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345"/>
                <a:gridCol w="1223645"/>
              </a:tblGrid>
              <a:tr h="33525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HL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2807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522726" y="1401318"/>
            <a:ext cx="51441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HL</a:t>
            </a:r>
            <a:r>
              <a:rPr sz="2000" b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mbria"/>
                <a:cs typeface="Cambria"/>
              </a:rPr>
              <a:t>pair incremented</a:t>
            </a:r>
            <a:r>
              <a:rPr sz="2000" b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/>
                <a:cs typeface="Cambria"/>
              </a:rPr>
              <a:t>before </a:t>
            </a:r>
            <a:r>
              <a:rPr sz="2000" b="1" spc="-5" dirty="0">
                <a:solidFill>
                  <a:srgbClr val="FF0000"/>
                </a:solidFill>
                <a:latin typeface="Cambria"/>
                <a:cs typeface="Cambria"/>
              </a:rPr>
              <a:t>its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mbria"/>
                <a:cs typeface="Cambria"/>
              </a:rPr>
              <a:t>value</a:t>
            </a:r>
            <a:r>
              <a:rPr sz="2000" b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used</a:t>
            </a:r>
            <a:endParaRPr sz="2000">
              <a:latin typeface="Cambria"/>
              <a:cs typeface="Cambria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87069" y="5460746"/>
          <a:ext cx="1699260" cy="3352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5615"/>
                <a:gridCol w="1223645"/>
              </a:tblGrid>
              <a:tr h="33525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HL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08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2804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4236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1F5F"/>
                </a:solidFill>
              </a:rPr>
              <a:t>Example</a:t>
            </a:r>
            <a:r>
              <a:rPr sz="4400" spc="-6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problem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691635" y="1764157"/>
          <a:ext cx="1909445" cy="469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0310"/>
                <a:gridCol w="699135"/>
              </a:tblGrid>
              <a:tr h="335279"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Load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5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Mode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79">
                <a:tc gridSpan="2"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Address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500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Next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Instruction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450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700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800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900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305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325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928366" y="1411767"/>
            <a:ext cx="692150" cy="13271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740"/>
              </a:spcBef>
            </a:pPr>
            <a:r>
              <a:rPr sz="1400" b="1" spc="-20" dirty="0">
                <a:latin typeface="Cambria"/>
                <a:cs typeface="Cambria"/>
              </a:rPr>
              <a:t>A</a:t>
            </a:r>
            <a:r>
              <a:rPr sz="1400" b="1" spc="-5" dirty="0">
                <a:latin typeface="Cambria"/>
                <a:cs typeface="Cambria"/>
              </a:rPr>
              <a:t>dd</a:t>
            </a:r>
            <a:r>
              <a:rPr sz="1400" b="1" spc="-20" dirty="0">
                <a:latin typeface="Cambria"/>
                <a:cs typeface="Cambria"/>
              </a:rPr>
              <a:t>r</a:t>
            </a:r>
            <a:r>
              <a:rPr sz="1400" b="1" dirty="0">
                <a:latin typeface="Cambria"/>
                <a:cs typeface="Cambria"/>
              </a:rPr>
              <a:t>ess</a:t>
            </a:r>
            <a:endParaRPr sz="14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200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0"/>
              </a:spcBef>
            </a:pPr>
            <a:r>
              <a:rPr sz="1600" spc="-5" dirty="0">
                <a:latin typeface="Cambria"/>
                <a:cs typeface="Cambria"/>
              </a:rPr>
              <a:t>201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202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8950" y="1493012"/>
            <a:ext cx="7080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Cambria"/>
                <a:cs typeface="Cambria"/>
              </a:rPr>
              <a:t>Memory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6279" y="3048660"/>
            <a:ext cx="363855" cy="6959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600" spc="-5" dirty="0">
                <a:latin typeface="Cambria"/>
                <a:cs typeface="Cambria"/>
              </a:rPr>
              <a:t>399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spc="-5" dirty="0">
                <a:latin typeface="Cambria"/>
                <a:cs typeface="Cambria"/>
              </a:rPr>
              <a:t>400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56279" y="4146930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500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56279" y="4817490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600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56279" y="5488330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702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66368" y="1684401"/>
          <a:ext cx="1680845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1223645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PC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42289" y="2213229"/>
          <a:ext cx="1696085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440"/>
                <a:gridCol w="1223645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R1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400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37717" y="2751201"/>
          <a:ext cx="1700528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884"/>
                <a:gridCol w="1223644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XR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100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1212850" y="3360801"/>
            <a:ext cx="1236345" cy="347980"/>
            <a:chOff x="1212850" y="3360801"/>
            <a:chExt cx="1236345" cy="347980"/>
          </a:xfrm>
        </p:grpSpPr>
        <p:sp>
          <p:nvSpPr>
            <p:cNvPr id="14" name="object 14"/>
            <p:cNvSpPr/>
            <p:nvPr/>
          </p:nvSpPr>
          <p:spPr>
            <a:xfrm>
              <a:off x="1219200" y="3367151"/>
              <a:ext cx="1224280" cy="335280"/>
            </a:xfrm>
            <a:custGeom>
              <a:avLst/>
              <a:gdLst/>
              <a:ahLst/>
              <a:cxnLst/>
              <a:rect l="l" t="t" r="r" b="b"/>
              <a:pathLst>
                <a:path w="1224280" h="335279">
                  <a:moveTo>
                    <a:pt x="1223683" y="0"/>
                  </a:moveTo>
                  <a:lnTo>
                    <a:pt x="0" y="0"/>
                  </a:lnTo>
                  <a:lnTo>
                    <a:pt x="0" y="335280"/>
                  </a:lnTo>
                  <a:lnTo>
                    <a:pt x="1223683" y="335280"/>
                  </a:lnTo>
                  <a:lnTo>
                    <a:pt x="1223683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19200" y="3360801"/>
              <a:ext cx="1223645" cy="347980"/>
            </a:xfrm>
            <a:custGeom>
              <a:avLst/>
              <a:gdLst/>
              <a:ahLst/>
              <a:cxnLst/>
              <a:rect l="l" t="t" r="r" b="b"/>
              <a:pathLst>
                <a:path w="1223645" h="347979">
                  <a:moveTo>
                    <a:pt x="0" y="0"/>
                  </a:moveTo>
                  <a:lnTo>
                    <a:pt x="0" y="347980"/>
                  </a:lnTo>
                </a:path>
                <a:path w="1223645" h="347979">
                  <a:moveTo>
                    <a:pt x="1223645" y="0"/>
                  </a:moveTo>
                  <a:lnTo>
                    <a:pt x="1223645" y="34798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2850" y="3360801"/>
              <a:ext cx="1236345" cy="12700"/>
            </a:xfrm>
            <a:custGeom>
              <a:avLst/>
              <a:gdLst/>
              <a:ahLst/>
              <a:cxnLst/>
              <a:rect l="l" t="t" r="r" b="b"/>
              <a:pathLst>
                <a:path w="1236345" h="12700">
                  <a:moveTo>
                    <a:pt x="0" y="12700"/>
                  </a:moveTo>
                  <a:lnTo>
                    <a:pt x="1236345" y="12700"/>
                  </a:lnTo>
                  <a:lnTo>
                    <a:pt x="123634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12850" y="3702431"/>
              <a:ext cx="1236345" cy="0"/>
            </a:xfrm>
            <a:custGeom>
              <a:avLst/>
              <a:gdLst/>
              <a:ahLst/>
              <a:cxnLst/>
              <a:rect l="l" t="t" r="r" b="b"/>
              <a:pathLst>
                <a:path w="1236345">
                  <a:moveTo>
                    <a:pt x="0" y="0"/>
                  </a:moveTo>
                  <a:lnTo>
                    <a:pt x="123634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1829" y="3396234"/>
            <a:ext cx="266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latin typeface="Cambria"/>
                <a:cs typeface="Cambria"/>
              </a:rPr>
              <a:t>AC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56279" y="6168985"/>
            <a:ext cx="363855" cy="2635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spc="-5" dirty="0">
                <a:latin typeface="Cambria"/>
                <a:cs typeface="Cambria"/>
              </a:rPr>
              <a:t>800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96178" y="1717928"/>
            <a:ext cx="21983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"/>
                <a:cs typeface="Cambria"/>
              </a:rPr>
              <a:t>PC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Program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Counter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R1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 </a:t>
            </a:r>
            <a:r>
              <a:rPr sz="1800" spc="-10" dirty="0">
                <a:latin typeface="Cambria"/>
                <a:cs typeface="Cambria"/>
              </a:rPr>
              <a:t>Register</a:t>
            </a:r>
            <a:endParaRPr sz="1800">
              <a:latin typeface="Cambria"/>
              <a:cs typeface="Cambria"/>
            </a:endParaRPr>
          </a:p>
          <a:p>
            <a:pPr marL="12700" marR="273685">
              <a:lnSpc>
                <a:spcPct val="100000"/>
              </a:lnSpc>
            </a:pPr>
            <a:r>
              <a:rPr sz="1800" spc="-5" dirty="0">
                <a:latin typeface="Cambria"/>
                <a:cs typeface="Cambria"/>
              </a:rPr>
              <a:t>XR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-10" dirty="0">
                <a:latin typeface="Cambria"/>
                <a:cs typeface="Cambria"/>
              </a:rPr>
              <a:t> Index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Register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AC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Accumulator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96178" y="3089909"/>
            <a:ext cx="560324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Memory</a:t>
            </a:r>
            <a:r>
              <a:rPr sz="1800" dirty="0">
                <a:latin typeface="Cambria"/>
                <a:cs typeface="Cambria"/>
              </a:rPr>
              <a:t> is</a:t>
            </a:r>
            <a:r>
              <a:rPr sz="1800" spc="-10" dirty="0">
                <a:latin typeface="Cambria"/>
                <a:cs typeface="Cambria"/>
              </a:rPr>
              <a:t> having </a:t>
            </a:r>
            <a:r>
              <a:rPr sz="1800" spc="-5" dirty="0">
                <a:latin typeface="Cambria"/>
                <a:cs typeface="Cambria"/>
              </a:rPr>
              <a:t>first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instruction to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load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AC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Mode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will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specify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the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addressing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to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get </a:t>
            </a:r>
            <a:r>
              <a:rPr sz="1800" spc="-10" dirty="0">
                <a:latin typeface="Cambria"/>
                <a:cs typeface="Cambria"/>
              </a:rPr>
              <a:t>operand.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field</a:t>
            </a:r>
            <a:r>
              <a:rPr sz="1800" dirty="0">
                <a:latin typeface="Cambria"/>
                <a:cs typeface="Cambria"/>
              </a:rPr>
              <a:t> of</a:t>
            </a:r>
            <a:r>
              <a:rPr sz="1800" spc="-5" dirty="0">
                <a:latin typeface="Cambria"/>
                <a:cs typeface="Cambria"/>
              </a:rPr>
              <a:t> instruction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" dirty="0">
                <a:latin typeface="Cambria"/>
                <a:cs typeface="Cambria"/>
              </a:rPr>
              <a:t> 500.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96178" y="4734559"/>
            <a:ext cx="526605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Find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out the </a:t>
            </a: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effective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address of </a:t>
            </a: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operand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and </a:t>
            </a:r>
            <a:r>
              <a:rPr sz="2000" b="1" spc="-4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operand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value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6F2F9F"/>
                </a:solidFill>
                <a:latin typeface="Cambria"/>
                <a:cs typeface="Cambria"/>
              </a:rPr>
              <a:t>by</a:t>
            </a:r>
            <a:r>
              <a:rPr sz="2000" b="1" spc="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considering</a:t>
            </a:r>
            <a:r>
              <a:rPr sz="2000" b="1" spc="-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different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addressing</a:t>
            </a:r>
            <a:r>
              <a:rPr sz="2000" b="1" spc="-4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modes.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4236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1F5F"/>
                </a:solidFill>
              </a:rPr>
              <a:t>Example</a:t>
            </a:r>
            <a:r>
              <a:rPr sz="4400" spc="-6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problem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928366" y="1411767"/>
            <a:ext cx="2078989" cy="65659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  <a:tabLst>
                <a:tab pos="1383030" algn="l"/>
              </a:tabLst>
            </a:pPr>
            <a:r>
              <a:rPr sz="1400" b="1" spc="-5" dirty="0">
                <a:latin typeface="Cambria"/>
                <a:cs typeface="Cambria"/>
              </a:rPr>
              <a:t>Address	Memory</a:t>
            </a:r>
            <a:endParaRPr sz="1400">
              <a:latin typeface="Cambria"/>
              <a:cs typeface="Cambria"/>
            </a:endParaRPr>
          </a:p>
          <a:p>
            <a:pPr marL="340360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71648" y="2105786"/>
            <a:ext cx="926465" cy="335280"/>
          </a:xfrm>
          <a:prstGeom prst="rect">
            <a:avLst/>
          </a:prstGeom>
          <a:solidFill>
            <a:srgbClr val="8FAADC"/>
          </a:solidFill>
        </p:spPr>
        <p:txBody>
          <a:bodyPr vert="horz" wrap="square" lIns="0" tIns="40640" rIns="0" bIns="0" rtlCol="0">
            <a:spAutoFit/>
          </a:bodyPr>
          <a:lstStyle/>
          <a:p>
            <a:pPr marL="497205">
              <a:lnSpc>
                <a:spcPct val="100000"/>
              </a:lnSpc>
              <a:spcBef>
                <a:spcPts val="320"/>
              </a:spcBef>
            </a:pPr>
            <a:r>
              <a:rPr sz="1600" spc="-5" dirty="0">
                <a:latin typeface="Cambria"/>
                <a:cs typeface="Cambria"/>
              </a:rPr>
              <a:t>201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91635" y="1764157"/>
          <a:ext cx="1909445" cy="469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0310"/>
                <a:gridCol w="699135"/>
              </a:tblGrid>
              <a:tr h="335279"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Load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5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Mode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79">
                <a:tc gridSpan="2"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Address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500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Next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Instruction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450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700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800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900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305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325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256279" y="2470149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202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56279" y="3048660"/>
            <a:ext cx="363855" cy="6959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600" spc="-5" dirty="0">
                <a:latin typeface="Cambria"/>
                <a:cs typeface="Cambria"/>
              </a:rPr>
              <a:t>399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spc="-5" dirty="0">
                <a:latin typeface="Cambria"/>
                <a:cs typeface="Cambria"/>
              </a:rPr>
              <a:t>400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56279" y="4146930"/>
            <a:ext cx="363855" cy="1610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500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1600" spc="-5" dirty="0">
                <a:latin typeface="Cambria"/>
                <a:cs typeface="Cambria"/>
              </a:rPr>
              <a:t>600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1600" spc="-5" dirty="0">
                <a:latin typeface="Cambria"/>
                <a:cs typeface="Cambria"/>
              </a:rPr>
              <a:t>702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66368" y="1684401"/>
          <a:ext cx="1680845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1223645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PC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42289" y="2213229"/>
          <a:ext cx="1696085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440"/>
                <a:gridCol w="1223645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R1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400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37717" y="2751201"/>
          <a:ext cx="1700528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884"/>
                <a:gridCol w="1223644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XR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100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1212850" y="3360801"/>
            <a:ext cx="1236345" cy="347980"/>
            <a:chOff x="1212850" y="3360801"/>
            <a:chExt cx="1236345" cy="347980"/>
          </a:xfrm>
        </p:grpSpPr>
        <p:sp>
          <p:nvSpPr>
            <p:cNvPr id="13" name="object 13"/>
            <p:cNvSpPr/>
            <p:nvPr/>
          </p:nvSpPr>
          <p:spPr>
            <a:xfrm>
              <a:off x="1219200" y="3367151"/>
              <a:ext cx="1224280" cy="335280"/>
            </a:xfrm>
            <a:custGeom>
              <a:avLst/>
              <a:gdLst/>
              <a:ahLst/>
              <a:cxnLst/>
              <a:rect l="l" t="t" r="r" b="b"/>
              <a:pathLst>
                <a:path w="1224280" h="335279">
                  <a:moveTo>
                    <a:pt x="1223683" y="0"/>
                  </a:moveTo>
                  <a:lnTo>
                    <a:pt x="0" y="0"/>
                  </a:lnTo>
                  <a:lnTo>
                    <a:pt x="0" y="335280"/>
                  </a:lnTo>
                  <a:lnTo>
                    <a:pt x="1223683" y="335280"/>
                  </a:lnTo>
                  <a:lnTo>
                    <a:pt x="1223683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19200" y="3360801"/>
              <a:ext cx="1223645" cy="347980"/>
            </a:xfrm>
            <a:custGeom>
              <a:avLst/>
              <a:gdLst/>
              <a:ahLst/>
              <a:cxnLst/>
              <a:rect l="l" t="t" r="r" b="b"/>
              <a:pathLst>
                <a:path w="1223645" h="347979">
                  <a:moveTo>
                    <a:pt x="0" y="0"/>
                  </a:moveTo>
                  <a:lnTo>
                    <a:pt x="0" y="347980"/>
                  </a:lnTo>
                </a:path>
                <a:path w="1223645" h="347979">
                  <a:moveTo>
                    <a:pt x="1223645" y="0"/>
                  </a:moveTo>
                  <a:lnTo>
                    <a:pt x="1223645" y="34798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12850" y="3360801"/>
              <a:ext cx="1236345" cy="12700"/>
            </a:xfrm>
            <a:custGeom>
              <a:avLst/>
              <a:gdLst/>
              <a:ahLst/>
              <a:cxnLst/>
              <a:rect l="l" t="t" r="r" b="b"/>
              <a:pathLst>
                <a:path w="1236345" h="12700">
                  <a:moveTo>
                    <a:pt x="0" y="12700"/>
                  </a:moveTo>
                  <a:lnTo>
                    <a:pt x="1236345" y="12700"/>
                  </a:lnTo>
                  <a:lnTo>
                    <a:pt x="123634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2850" y="3702431"/>
              <a:ext cx="1236345" cy="0"/>
            </a:xfrm>
            <a:custGeom>
              <a:avLst/>
              <a:gdLst/>
              <a:ahLst/>
              <a:cxnLst/>
              <a:rect l="l" t="t" r="r" b="b"/>
              <a:pathLst>
                <a:path w="1236345">
                  <a:moveTo>
                    <a:pt x="0" y="0"/>
                  </a:moveTo>
                  <a:lnTo>
                    <a:pt x="123634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71829" y="3396234"/>
            <a:ext cx="266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latin typeface="Cambria"/>
                <a:cs typeface="Cambria"/>
              </a:rPr>
              <a:t>AC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56279" y="6168985"/>
            <a:ext cx="363855" cy="2635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spc="-5" dirty="0">
                <a:latin typeface="Cambria"/>
                <a:cs typeface="Cambria"/>
              </a:rPr>
              <a:t>800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96178" y="1716405"/>
            <a:ext cx="36264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1.</a:t>
            </a:r>
            <a:r>
              <a:rPr sz="2000" b="1" spc="-2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Immediate</a:t>
            </a:r>
            <a:r>
              <a:rPr sz="2000" b="1" spc="-5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Addressing</a:t>
            </a:r>
            <a:r>
              <a:rPr sz="2000" b="1" spc="-6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Mode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96178" y="2297429"/>
            <a:ext cx="4954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As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instruction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contains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immediate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number 500.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It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stored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as </a:t>
            </a: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201.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96178" y="3393185"/>
            <a:ext cx="273494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Effective</a:t>
            </a:r>
            <a:r>
              <a:rPr sz="2000" b="1" spc="-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Address</a:t>
            </a:r>
            <a:r>
              <a:rPr sz="2000" b="1" spc="-6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2000" b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201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Operand</a:t>
            </a:r>
            <a:r>
              <a:rPr sz="2000" b="1" spc="-4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2000" b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500</a:t>
            </a:r>
            <a:endParaRPr sz="2000">
              <a:latin typeface="Cambria"/>
              <a:cs typeface="Cambria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5859017" y="4535170"/>
          <a:ext cx="1684653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009"/>
                <a:gridCol w="1223644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40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500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4236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1F5F"/>
                </a:solidFill>
              </a:rPr>
              <a:t>Example</a:t>
            </a:r>
            <a:r>
              <a:rPr sz="4400" spc="-6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problem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691635" y="1764157"/>
          <a:ext cx="1909445" cy="469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0310"/>
                <a:gridCol w="699135"/>
              </a:tblGrid>
              <a:tr h="335279"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Load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5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Mode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79">
                <a:tc gridSpan="2"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Address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500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Next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Instruction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450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700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800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900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305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325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928366" y="1411767"/>
            <a:ext cx="692150" cy="13271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740"/>
              </a:spcBef>
            </a:pPr>
            <a:r>
              <a:rPr sz="1400" b="1" spc="-20" dirty="0">
                <a:latin typeface="Cambria"/>
                <a:cs typeface="Cambria"/>
              </a:rPr>
              <a:t>A</a:t>
            </a:r>
            <a:r>
              <a:rPr sz="1400" b="1" spc="-5" dirty="0">
                <a:latin typeface="Cambria"/>
                <a:cs typeface="Cambria"/>
              </a:rPr>
              <a:t>dd</a:t>
            </a:r>
            <a:r>
              <a:rPr sz="1400" b="1" spc="-20" dirty="0">
                <a:latin typeface="Cambria"/>
                <a:cs typeface="Cambria"/>
              </a:rPr>
              <a:t>r</a:t>
            </a:r>
            <a:r>
              <a:rPr sz="1400" b="1" dirty="0">
                <a:latin typeface="Cambria"/>
                <a:cs typeface="Cambria"/>
              </a:rPr>
              <a:t>ess</a:t>
            </a:r>
            <a:endParaRPr sz="14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200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0"/>
              </a:spcBef>
            </a:pPr>
            <a:r>
              <a:rPr sz="1600" spc="-5" dirty="0">
                <a:latin typeface="Cambria"/>
                <a:cs typeface="Cambria"/>
              </a:rPr>
              <a:t>201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202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8950" y="1493012"/>
            <a:ext cx="7080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Cambria"/>
                <a:cs typeface="Cambria"/>
              </a:rPr>
              <a:t>Memory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6279" y="3048660"/>
            <a:ext cx="363855" cy="6959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600" spc="-5" dirty="0">
                <a:latin typeface="Cambria"/>
                <a:cs typeface="Cambria"/>
              </a:rPr>
              <a:t>399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spc="-5" dirty="0">
                <a:latin typeface="Cambria"/>
                <a:cs typeface="Cambria"/>
              </a:rPr>
              <a:t>400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56279" y="4146930"/>
            <a:ext cx="363855" cy="1610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500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1600" spc="-5" dirty="0">
                <a:latin typeface="Cambria"/>
                <a:cs typeface="Cambria"/>
              </a:rPr>
              <a:t>600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1600" spc="-5" dirty="0">
                <a:latin typeface="Cambria"/>
                <a:cs typeface="Cambria"/>
              </a:rPr>
              <a:t>702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66368" y="1684401"/>
          <a:ext cx="1680845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1223645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PC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42289" y="2213229"/>
          <a:ext cx="1696085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440"/>
                <a:gridCol w="1223645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R1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400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B08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37717" y="2751201"/>
          <a:ext cx="1700528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884"/>
                <a:gridCol w="1223644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XR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100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1212850" y="3360801"/>
            <a:ext cx="1236345" cy="347980"/>
            <a:chOff x="1212850" y="3360801"/>
            <a:chExt cx="1236345" cy="347980"/>
          </a:xfrm>
        </p:grpSpPr>
        <p:sp>
          <p:nvSpPr>
            <p:cNvPr id="12" name="object 12"/>
            <p:cNvSpPr/>
            <p:nvPr/>
          </p:nvSpPr>
          <p:spPr>
            <a:xfrm>
              <a:off x="1219200" y="3367151"/>
              <a:ext cx="1224280" cy="335280"/>
            </a:xfrm>
            <a:custGeom>
              <a:avLst/>
              <a:gdLst/>
              <a:ahLst/>
              <a:cxnLst/>
              <a:rect l="l" t="t" r="r" b="b"/>
              <a:pathLst>
                <a:path w="1224280" h="335279">
                  <a:moveTo>
                    <a:pt x="1223683" y="0"/>
                  </a:moveTo>
                  <a:lnTo>
                    <a:pt x="0" y="0"/>
                  </a:lnTo>
                  <a:lnTo>
                    <a:pt x="0" y="335280"/>
                  </a:lnTo>
                  <a:lnTo>
                    <a:pt x="1223683" y="335280"/>
                  </a:lnTo>
                  <a:lnTo>
                    <a:pt x="1223683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19200" y="3360801"/>
              <a:ext cx="1223645" cy="347980"/>
            </a:xfrm>
            <a:custGeom>
              <a:avLst/>
              <a:gdLst/>
              <a:ahLst/>
              <a:cxnLst/>
              <a:rect l="l" t="t" r="r" b="b"/>
              <a:pathLst>
                <a:path w="1223645" h="347979">
                  <a:moveTo>
                    <a:pt x="0" y="0"/>
                  </a:moveTo>
                  <a:lnTo>
                    <a:pt x="0" y="347980"/>
                  </a:lnTo>
                </a:path>
                <a:path w="1223645" h="347979">
                  <a:moveTo>
                    <a:pt x="1223645" y="0"/>
                  </a:moveTo>
                  <a:lnTo>
                    <a:pt x="1223645" y="34798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12850" y="3360801"/>
              <a:ext cx="1236345" cy="12700"/>
            </a:xfrm>
            <a:custGeom>
              <a:avLst/>
              <a:gdLst/>
              <a:ahLst/>
              <a:cxnLst/>
              <a:rect l="l" t="t" r="r" b="b"/>
              <a:pathLst>
                <a:path w="1236345" h="12700">
                  <a:moveTo>
                    <a:pt x="0" y="12700"/>
                  </a:moveTo>
                  <a:lnTo>
                    <a:pt x="1236345" y="12700"/>
                  </a:lnTo>
                  <a:lnTo>
                    <a:pt x="123634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12850" y="3702431"/>
              <a:ext cx="1236345" cy="0"/>
            </a:xfrm>
            <a:custGeom>
              <a:avLst/>
              <a:gdLst/>
              <a:ahLst/>
              <a:cxnLst/>
              <a:rect l="l" t="t" r="r" b="b"/>
              <a:pathLst>
                <a:path w="1236345">
                  <a:moveTo>
                    <a:pt x="0" y="0"/>
                  </a:moveTo>
                  <a:lnTo>
                    <a:pt x="123634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71829" y="3396234"/>
            <a:ext cx="266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latin typeface="Cambria"/>
                <a:cs typeface="Cambria"/>
              </a:rPr>
              <a:t>AC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56279" y="6168985"/>
            <a:ext cx="363855" cy="2635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spc="-5" dirty="0">
                <a:latin typeface="Cambria"/>
                <a:cs typeface="Cambria"/>
              </a:rPr>
              <a:t>800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96178" y="1716405"/>
            <a:ext cx="332612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2.</a:t>
            </a:r>
            <a:r>
              <a:rPr sz="2000" b="1" spc="-2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Cambria"/>
                <a:cs typeface="Cambria"/>
              </a:rPr>
              <a:t>Register</a:t>
            </a:r>
            <a:r>
              <a:rPr sz="2000" b="1" spc="-5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Addressing</a:t>
            </a:r>
            <a:r>
              <a:rPr sz="2000" b="1" spc="-6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Mode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96178" y="2297429"/>
            <a:ext cx="5412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latin typeface="Cambria"/>
                <a:cs typeface="Cambria"/>
              </a:rPr>
              <a:t>Register</a:t>
            </a:r>
            <a:r>
              <a:rPr sz="1800" spc="-5" dirty="0">
                <a:latin typeface="Cambria"/>
                <a:cs typeface="Cambria"/>
              </a:rPr>
              <a:t> R1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contains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400.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As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operand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 </a:t>
            </a:r>
            <a:r>
              <a:rPr sz="1800" spc="-5" dirty="0">
                <a:latin typeface="Cambria"/>
                <a:cs typeface="Cambria"/>
              </a:rPr>
              <a:t>register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so </a:t>
            </a:r>
            <a:r>
              <a:rPr sz="1800" dirty="0">
                <a:latin typeface="Cambria"/>
                <a:cs typeface="Cambria"/>
              </a:rPr>
              <a:t>no</a:t>
            </a:r>
            <a:r>
              <a:rPr sz="1800" spc="-15" dirty="0">
                <a:latin typeface="Cambria"/>
                <a:cs typeface="Cambria"/>
              </a:rPr>
              <a:t> any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memory </a:t>
            </a:r>
            <a:r>
              <a:rPr sz="1800" dirty="0">
                <a:latin typeface="Cambria"/>
                <a:cs typeface="Cambria"/>
              </a:rPr>
              <a:t>location.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96178" y="3393185"/>
            <a:ext cx="261429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Effective</a:t>
            </a:r>
            <a:r>
              <a:rPr sz="2000" b="1" spc="-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Address</a:t>
            </a:r>
            <a:r>
              <a:rPr sz="2000" b="1" spc="-6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2000" b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Nil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Operand</a:t>
            </a:r>
            <a:r>
              <a:rPr sz="2000" b="1" spc="-4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2000" b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400</a:t>
            </a:r>
            <a:endParaRPr sz="2000">
              <a:latin typeface="Cambria"/>
              <a:cs typeface="Cambria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5859017" y="4535170"/>
          <a:ext cx="1684653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009"/>
                <a:gridCol w="1223644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40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400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4236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1F5F"/>
                </a:solidFill>
              </a:rPr>
              <a:t>Example</a:t>
            </a:r>
            <a:r>
              <a:rPr sz="4400" spc="-6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problem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928366" y="1411767"/>
            <a:ext cx="692150" cy="13271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740"/>
              </a:spcBef>
            </a:pPr>
            <a:r>
              <a:rPr sz="1400" b="1" spc="-20" dirty="0">
                <a:latin typeface="Cambria"/>
                <a:cs typeface="Cambria"/>
              </a:rPr>
              <a:t>A</a:t>
            </a:r>
            <a:r>
              <a:rPr sz="1400" b="1" spc="-5" dirty="0">
                <a:latin typeface="Cambria"/>
                <a:cs typeface="Cambria"/>
              </a:rPr>
              <a:t>dd</a:t>
            </a:r>
            <a:r>
              <a:rPr sz="1400" b="1" spc="-20" dirty="0">
                <a:latin typeface="Cambria"/>
                <a:cs typeface="Cambria"/>
              </a:rPr>
              <a:t>r</a:t>
            </a:r>
            <a:r>
              <a:rPr sz="1400" b="1" dirty="0">
                <a:latin typeface="Cambria"/>
                <a:cs typeface="Cambria"/>
              </a:rPr>
              <a:t>ess</a:t>
            </a:r>
            <a:endParaRPr sz="14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200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0"/>
              </a:spcBef>
            </a:pPr>
            <a:r>
              <a:rPr sz="1600" spc="-5" dirty="0">
                <a:latin typeface="Cambria"/>
                <a:cs typeface="Cambria"/>
              </a:rPr>
              <a:t>201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202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8950" y="1493012"/>
            <a:ext cx="7080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Cambria"/>
                <a:cs typeface="Cambria"/>
              </a:rPr>
              <a:t>Memory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6279" y="3140710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399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71648" y="3446907"/>
            <a:ext cx="926465" cy="335280"/>
          </a:xfrm>
          <a:prstGeom prst="rect">
            <a:avLst/>
          </a:prstGeom>
          <a:solidFill>
            <a:srgbClr val="9DC3E6"/>
          </a:solidFill>
        </p:spPr>
        <p:txBody>
          <a:bodyPr vert="horz" wrap="square" lIns="0" tIns="41275" rIns="0" bIns="0" rtlCol="0">
            <a:spAutoFit/>
          </a:bodyPr>
          <a:lstStyle/>
          <a:p>
            <a:pPr marL="497205">
              <a:lnSpc>
                <a:spcPct val="100000"/>
              </a:lnSpc>
              <a:spcBef>
                <a:spcPts val="325"/>
              </a:spcBef>
            </a:pPr>
            <a:r>
              <a:rPr sz="1600" spc="-5" dirty="0">
                <a:latin typeface="Cambria"/>
                <a:cs typeface="Cambria"/>
              </a:rPr>
              <a:t>400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91635" y="1764157"/>
          <a:ext cx="1909445" cy="469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0310"/>
                <a:gridCol w="699135"/>
              </a:tblGrid>
              <a:tr h="335279"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Load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5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Mode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79">
                <a:tc gridSpan="2"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Address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500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Next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Instruction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450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700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800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900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305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325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256279" y="4146930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500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56279" y="4817490"/>
            <a:ext cx="36385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600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1600" spc="-5" dirty="0">
                <a:latin typeface="Cambria"/>
                <a:cs typeface="Cambria"/>
              </a:rPr>
              <a:t>702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66368" y="1684401"/>
          <a:ext cx="1680845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1223645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PC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42289" y="2213229"/>
          <a:ext cx="1696085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440"/>
                <a:gridCol w="1223645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R1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400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37717" y="2751201"/>
          <a:ext cx="1700528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884"/>
                <a:gridCol w="1223644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XR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100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1212850" y="3360801"/>
            <a:ext cx="1236345" cy="347980"/>
            <a:chOff x="1212850" y="3360801"/>
            <a:chExt cx="1236345" cy="347980"/>
          </a:xfrm>
        </p:grpSpPr>
        <p:sp>
          <p:nvSpPr>
            <p:cNvPr id="14" name="object 14"/>
            <p:cNvSpPr/>
            <p:nvPr/>
          </p:nvSpPr>
          <p:spPr>
            <a:xfrm>
              <a:off x="1219200" y="3367151"/>
              <a:ext cx="1224280" cy="335280"/>
            </a:xfrm>
            <a:custGeom>
              <a:avLst/>
              <a:gdLst/>
              <a:ahLst/>
              <a:cxnLst/>
              <a:rect l="l" t="t" r="r" b="b"/>
              <a:pathLst>
                <a:path w="1224280" h="335279">
                  <a:moveTo>
                    <a:pt x="1223683" y="0"/>
                  </a:moveTo>
                  <a:lnTo>
                    <a:pt x="0" y="0"/>
                  </a:lnTo>
                  <a:lnTo>
                    <a:pt x="0" y="335280"/>
                  </a:lnTo>
                  <a:lnTo>
                    <a:pt x="1223683" y="335280"/>
                  </a:lnTo>
                  <a:lnTo>
                    <a:pt x="1223683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19200" y="3360801"/>
              <a:ext cx="1223645" cy="347980"/>
            </a:xfrm>
            <a:custGeom>
              <a:avLst/>
              <a:gdLst/>
              <a:ahLst/>
              <a:cxnLst/>
              <a:rect l="l" t="t" r="r" b="b"/>
              <a:pathLst>
                <a:path w="1223645" h="347979">
                  <a:moveTo>
                    <a:pt x="0" y="0"/>
                  </a:moveTo>
                  <a:lnTo>
                    <a:pt x="0" y="347980"/>
                  </a:lnTo>
                </a:path>
                <a:path w="1223645" h="347979">
                  <a:moveTo>
                    <a:pt x="1223645" y="0"/>
                  </a:moveTo>
                  <a:lnTo>
                    <a:pt x="1223645" y="34798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2850" y="3360801"/>
              <a:ext cx="1236345" cy="12700"/>
            </a:xfrm>
            <a:custGeom>
              <a:avLst/>
              <a:gdLst/>
              <a:ahLst/>
              <a:cxnLst/>
              <a:rect l="l" t="t" r="r" b="b"/>
              <a:pathLst>
                <a:path w="1236345" h="12700">
                  <a:moveTo>
                    <a:pt x="0" y="12700"/>
                  </a:moveTo>
                  <a:lnTo>
                    <a:pt x="1236345" y="12700"/>
                  </a:lnTo>
                  <a:lnTo>
                    <a:pt x="123634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12850" y="3702431"/>
              <a:ext cx="1236345" cy="0"/>
            </a:xfrm>
            <a:custGeom>
              <a:avLst/>
              <a:gdLst/>
              <a:ahLst/>
              <a:cxnLst/>
              <a:rect l="l" t="t" r="r" b="b"/>
              <a:pathLst>
                <a:path w="1236345">
                  <a:moveTo>
                    <a:pt x="0" y="0"/>
                  </a:moveTo>
                  <a:lnTo>
                    <a:pt x="123634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1829" y="3396234"/>
            <a:ext cx="266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latin typeface="Cambria"/>
                <a:cs typeface="Cambria"/>
              </a:rPr>
              <a:t>AC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56279" y="6168985"/>
            <a:ext cx="363855" cy="2635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spc="-5" dirty="0">
                <a:latin typeface="Cambria"/>
                <a:cs typeface="Cambria"/>
              </a:rPr>
              <a:t>800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96178" y="1716405"/>
            <a:ext cx="43180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3.</a:t>
            </a:r>
            <a:r>
              <a:rPr sz="2000" b="1" spc="-10" dirty="0">
                <a:solidFill>
                  <a:srgbClr val="00AF50"/>
                </a:solidFill>
                <a:latin typeface="Cambria"/>
                <a:cs typeface="Cambria"/>
              </a:rPr>
              <a:t> Register</a:t>
            </a:r>
            <a:r>
              <a:rPr sz="2000" b="1" spc="-3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Indirect</a:t>
            </a:r>
            <a:r>
              <a:rPr sz="2000" b="1" spc="-3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Addressing</a:t>
            </a:r>
            <a:r>
              <a:rPr sz="2000" b="1" spc="-4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Mode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96178" y="2297429"/>
            <a:ext cx="40271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latin typeface="Cambria"/>
                <a:cs typeface="Cambria"/>
              </a:rPr>
              <a:t>Register</a:t>
            </a:r>
            <a:r>
              <a:rPr sz="1800" spc="-5" dirty="0">
                <a:latin typeface="Cambria"/>
                <a:cs typeface="Cambria"/>
              </a:rPr>
              <a:t> R1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contains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400.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So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effective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operand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" dirty="0">
                <a:latin typeface="Cambria"/>
                <a:cs typeface="Cambria"/>
              </a:rPr>
              <a:t> 400.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data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stored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at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400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" dirty="0">
                <a:latin typeface="Cambria"/>
                <a:cs typeface="Cambria"/>
              </a:rPr>
              <a:t> 700.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96178" y="3667201"/>
            <a:ext cx="273621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Effective</a:t>
            </a:r>
            <a:r>
              <a:rPr sz="2000" b="1" spc="-4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Address</a:t>
            </a:r>
            <a:r>
              <a:rPr sz="2000" b="1" spc="-4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2000" b="1" spc="-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400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Operand</a:t>
            </a:r>
            <a:r>
              <a:rPr sz="2000" b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2000" b="1" spc="-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700</a:t>
            </a:r>
            <a:endParaRPr sz="2000">
              <a:latin typeface="Cambria"/>
              <a:cs typeface="Cambria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59017" y="4535170"/>
          <a:ext cx="1684653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009"/>
                <a:gridCol w="1223644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40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700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4236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1F5F"/>
                </a:solidFill>
              </a:rPr>
              <a:t>Example</a:t>
            </a:r>
            <a:r>
              <a:rPr sz="4400" spc="-6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problem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928366" y="1411767"/>
            <a:ext cx="692150" cy="13271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740"/>
              </a:spcBef>
            </a:pPr>
            <a:r>
              <a:rPr sz="1400" b="1" spc="-20" dirty="0">
                <a:latin typeface="Cambria"/>
                <a:cs typeface="Cambria"/>
              </a:rPr>
              <a:t>A</a:t>
            </a:r>
            <a:r>
              <a:rPr sz="1400" b="1" spc="-5" dirty="0">
                <a:latin typeface="Cambria"/>
                <a:cs typeface="Cambria"/>
              </a:rPr>
              <a:t>dd</a:t>
            </a:r>
            <a:r>
              <a:rPr sz="1400" b="1" spc="-20" dirty="0">
                <a:latin typeface="Cambria"/>
                <a:cs typeface="Cambria"/>
              </a:rPr>
              <a:t>r</a:t>
            </a:r>
            <a:r>
              <a:rPr sz="1400" b="1" dirty="0">
                <a:latin typeface="Cambria"/>
                <a:cs typeface="Cambria"/>
              </a:rPr>
              <a:t>ess</a:t>
            </a:r>
            <a:endParaRPr sz="14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200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0"/>
              </a:spcBef>
            </a:pPr>
            <a:r>
              <a:rPr sz="1600" spc="-5" dirty="0">
                <a:latin typeface="Cambria"/>
                <a:cs typeface="Cambria"/>
              </a:rPr>
              <a:t>201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202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8950" y="1493012"/>
            <a:ext cx="7080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Cambria"/>
                <a:cs typeface="Cambria"/>
              </a:rPr>
              <a:t>Memory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6279" y="3048660"/>
            <a:ext cx="363855" cy="6959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600" spc="-5" dirty="0">
                <a:latin typeface="Cambria"/>
                <a:cs typeface="Cambria"/>
              </a:rPr>
              <a:t>399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spc="-5" dirty="0">
                <a:latin typeface="Cambria"/>
                <a:cs typeface="Cambria"/>
              </a:rPr>
              <a:t>400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71648" y="4117466"/>
            <a:ext cx="926465" cy="335280"/>
          </a:xfrm>
          <a:prstGeom prst="rect">
            <a:avLst/>
          </a:prstGeom>
          <a:solidFill>
            <a:srgbClr val="9DC3E6"/>
          </a:solidFill>
        </p:spPr>
        <p:txBody>
          <a:bodyPr vert="horz" wrap="square" lIns="0" tIns="41275" rIns="0" bIns="0" rtlCol="0">
            <a:spAutoFit/>
          </a:bodyPr>
          <a:lstStyle/>
          <a:p>
            <a:pPr marL="497205">
              <a:lnSpc>
                <a:spcPct val="100000"/>
              </a:lnSpc>
              <a:spcBef>
                <a:spcPts val="325"/>
              </a:spcBef>
            </a:pPr>
            <a:r>
              <a:rPr sz="1600" spc="-5" dirty="0">
                <a:latin typeface="Cambria"/>
                <a:cs typeface="Cambria"/>
              </a:rPr>
              <a:t>500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91635" y="1764157"/>
          <a:ext cx="1909445" cy="469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0310"/>
                <a:gridCol w="699135"/>
              </a:tblGrid>
              <a:tr h="335279"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Load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5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Mode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79">
                <a:tc gridSpan="2"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Address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500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Next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Instruction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450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700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800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900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305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325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256279" y="4817490"/>
            <a:ext cx="36385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600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1600" spc="-5" dirty="0">
                <a:latin typeface="Cambria"/>
                <a:cs typeface="Cambria"/>
              </a:rPr>
              <a:t>702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66368" y="1684401"/>
          <a:ext cx="1680845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1223645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PC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42289" y="2213229"/>
          <a:ext cx="1696085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440"/>
                <a:gridCol w="1223645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R1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400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37717" y="2751201"/>
          <a:ext cx="1700528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884"/>
                <a:gridCol w="1223644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XR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100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1212850" y="3360801"/>
            <a:ext cx="1236345" cy="347980"/>
            <a:chOff x="1212850" y="3360801"/>
            <a:chExt cx="1236345" cy="347980"/>
          </a:xfrm>
        </p:grpSpPr>
        <p:sp>
          <p:nvSpPr>
            <p:cNvPr id="13" name="object 13"/>
            <p:cNvSpPr/>
            <p:nvPr/>
          </p:nvSpPr>
          <p:spPr>
            <a:xfrm>
              <a:off x="1219200" y="3367151"/>
              <a:ext cx="1224280" cy="335280"/>
            </a:xfrm>
            <a:custGeom>
              <a:avLst/>
              <a:gdLst/>
              <a:ahLst/>
              <a:cxnLst/>
              <a:rect l="l" t="t" r="r" b="b"/>
              <a:pathLst>
                <a:path w="1224280" h="335279">
                  <a:moveTo>
                    <a:pt x="1223683" y="0"/>
                  </a:moveTo>
                  <a:lnTo>
                    <a:pt x="0" y="0"/>
                  </a:lnTo>
                  <a:lnTo>
                    <a:pt x="0" y="335280"/>
                  </a:lnTo>
                  <a:lnTo>
                    <a:pt x="1223683" y="335280"/>
                  </a:lnTo>
                  <a:lnTo>
                    <a:pt x="1223683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19200" y="3360801"/>
              <a:ext cx="1223645" cy="347980"/>
            </a:xfrm>
            <a:custGeom>
              <a:avLst/>
              <a:gdLst/>
              <a:ahLst/>
              <a:cxnLst/>
              <a:rect l="l" t="t" r="r" b="b"/>
              <a:pathLst>
                <a:path w="1223645" h="347979">
                  <a:moveTo>
                    <a:pt x="0" y="0"/>
                  </a:moveTo>
                  <a:lnTo>
                    <a:pt x="0" y="347980"/>
                  </a:lnTo>
                </a:path>
                <a:path w="1223645" h="347979">
                  <a:moveTo>
                    <a:pt x="1223645" y="0"/>
                  </a:moveTo>
                  <a:lnTo>
                    <a:pt x="1223645" y="34798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12850" y="3360801"/>
              <a:ext cx="1236345" cy="12700"/>
            </a:xfrm>
            <a:custGeom>
              <a:avLst/>
              <a:gdLst/>
              <a:ahLst/>
              <a:cxnLst/>
              <a:rect l="l" t="t" r="r" b="b"/>
              <a:pathLst>
                <a:path w="1236345" h="12700">
                  <a:moveTo>
                    <a:pt x="0" y="12700"/>
                  </a:moveTo>
                  <a:lnTo>
                    <a:pt x="1236345" y="12700"/>
                  </a:lnTo>
                  <a:lnTo>
                    <a:pt x="123634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2850" y="3702431"/>
              <a:ext cx="1236345" cy="0"/>
            </a:xfrm>
            <a:custGeom>
              <a:avLst/>
              <a:gdLst/>
              <a:ahLst/>
              <a:cxnLst/>
              <a:rect l="l" t="t" r="r" b="b"/>
              <a:pathLst>
                <a:path w="1236345">
                  <a:moveTo>
                    <a:pt x="0" y="0"/>
                  </a:moveTo>
                  <a:lnTo>
                    <a:pt x="123634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71829" y="3396234"/>
            <a:ext cx="266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latin typeface="Cambria"/>
                <a:cs typeface="Cambria"/>
              </a:rPr>
              <a:t>AC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56279" y="6168985"/>
            <a:ext cx="363855" cy="2635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spc="-5" dirty="0">
                <a:latin typeface="Cambria"/>
                <a:cs typeface="Cambria"/>
              </a:rPr>
              <a:t>800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96178" y="1716405"/>
            <a:ext cx="30791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4.</a:t>
            </a:r>
            <a:r>
              <a:rPr sz="2000" b="1" spc="-2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Direct</a:t>
            </a:r>
            <a:r>
              <a:rPr sz="2000" b="1" spc="-5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Addressing</a:t>
            </a:r>
            <a:r>
              <a:rPr sz="2000" b="1" spc="-6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Mode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96178" y="2297429"/>
            <a:ext cx="40271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Instruction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contains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the </a:t>
            </a: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500.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So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effective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operand</a:t>
            </a:r>
            <a:r>
              <a:rPr sz="1800" dirty="0">
                <a:latin typeface="Cambria"/>
                <a:cs typeface="Cambria"/>
              </a:rPr>
              <a:t> is </a:t>
            </a:r>
            <a:r>
              <a:rPr sz="1800" spc="-5" dirty="0">
                <a:latin typeface="Cambria"/>
                <a:cs typeface="Cambria"/>
              </a:rPr>
              <a:t>500.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data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stored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at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500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" dirty="0">
                <a:latin typeface="Cambria"/>
                <a:cs typeface="Cambria"/>
              </a:rPr>
              <a:t> 800.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96178" y="3667201"/>
            <a:ext cx="273621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Effective</a:t>
            </a:r>
            <a:r>
              <a:rPr sz="2000" b="1" spc="-4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Address</a:t>
            </a:r>
            <a:r>
              <a:rPr sz="2000" b="1" spc="-4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2000" b="1" spc="-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500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Operand</a:t>
            </a:r>
            <a:r>
              <a:rPr sz="2000" b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2000" b="1" spc="-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800</a:t>
            </a:r>
            <a:endParaRPr sz="2000">
              <a:latin typeface="Cambria"/>
              <a:cs typeface="Cambria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5859017" y="4535170"/>
          <a:ext cx="1684653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009"/>
                <a:gridCol w="1223644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40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800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4236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1F5F"/>
                </a:solidFill>
              </a:rPr>
              <a:t>Example</a:t>
            </a:r>
            <a:r>
              <a:rPr sz="4400" spc="-6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problem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2771648" y="6129172"/>
            <a:ext cx="926465" cy="335280"/>
          </a:xfrm>
          <a:custGeom>
            <a:avLst/>
            <a:gdLst/>
            <a:ahLst/>
            <a:cxnLst/>
            <a:rect l="l" t="t" r="r" b="b"/>
            <a:pathLst>
              <a:path w="926464" h="335279">
                <a:moveTo>
                  <a:pt x="926350" y="0"/>
                </a:moveTo>
                <a:lnTo>
                  <a:pt x="0" y="0"/>
                </a:lnTo>
                <a:lnTo>
                  <a:pt x="0" y="335279"/>
                </a:lnTo>
                <a:lnTo>
                  <a:pt x="926350" y="335279"/>
                </a:lnTo>
                <a:lnTo>
                  <a:pt x="926350" y="0"/>
                </a:lnTo>
                <a:close/>
              </a:path>
            </a:pathLst>
          </a:custGeom>
          <a:solidFill>
            <a:srgbClr val="9DC3E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691635" y="1764157"/>
          <a:ext cx="1909445" cy="469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0310"/>
                <a:gridCol w="699135"/>
              </a:tblGrid>
              <a:tr h="335279"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Load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5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Mode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79">
                <a:tc gridSpan="2"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Address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500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Next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Instruction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450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700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800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900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305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325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928366" y="1411767"/>
            <a:ext cx="692150" cy="13271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740"/>
              </a:spcBef>
            </a:pPr>
            <a:r>
              <a:rPr sz="1400" b="1" spc="-20" dirty="0">
                <a:latin typeface="Cambria"/>
                <a:cs typeface="Cambria"/>
              </a:rPr>
              <a:t>A</a:t>
            </a:r>
            <a:r>
              <a:rPr sz="1400" b="1" spc="-5" dirty="0">
                <a:latin typeface="Cambria"/>
                <a:cs typeface="Cambria"/>
              </a:rPr>
              <a:t>dd</a:t>
            </a:r>
            <a:r>
              <a:rPr sz="1400" b="1" spc="-20" dirty="0">
                <a:latin typeface="Cambria"/>
                <a:cs typeface="Cambria"/>
              </a:rPr>
              <a:t>r</a:t>
            </a:r>
            <a:r>
              <a:rPr sz="1400" b="1" dirty="0">
                <a:latin typeface="Cambria"/>
                <a:cs typeface="Cambria"/>
              </a:rPr>
              <a:t>ess</a:t>
            </a:r>
            <a:endParaRPr sz="14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200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0"/>
              </a:spcBef>
            </a:pPr>
            <a:r>
              <a:rPr sz="1600" spc="-5" dirty="0">
                <a:latin typeface="Cambria"/>
                <a:cs typeface="Cambria"/>
              </a:rPr>
              <a:t>201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202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98950" y="1493012"/>
            <a:ext cx="7080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Cambria"/>
                <a:cs typeface="Cambria"/>
              </a:rPr>
              <a:t>Memory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56279" y="3048660"/>
            <a:ext cx="363855" cy="6959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600" spc="-5" dirty="0">
                <a:latin typeface="Cambria"/>
                <a:cs typeface="Cambria"/>
              </a:rPr>
              <a:t>399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spc="-5" dirty="0">
                <a:latin typeface="Cambria"/>
                <a:cs typeface="Cambria"/>
              </a:rPr>
              <a:t>400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56279" y="4146930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500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56279" y="4817490"/>
            <a:ext cx="36385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600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1600" spc="-5" dirty="0">
                <a:latin typeface="Cambria"/>
                <a:cs typeface="Cambria"/>
              </a:rPr>
              <a:t>702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66368" y="1684401"/>
          <a:ext cx="1680845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1223645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PC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42289" y="2213229"/>
          <a:ext cx="1696085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440"/>
                <a:gridCol w="1223645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R1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400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37717" y="2751201"/>
          <a:ext cx="1700528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884"/>
                <a:gridCol w="1223644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XR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100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1212850" y="3360801"/>
            <a:ext cx="1236345" cy="347980"/>
            <a:chOff x="1212850" y="3360801"/>
            <a:chExt cx="1236345" cy="347980"/>
          </a:xfrm>
        </p:grpSpPr>
        <p:sp>
          <p:nvSpPr>
            <p:cNvPr id="14" name="object 14"/>
            <p:cNvSpPr/>
            <p:nvPr/>
          </p:nvSpPr>
          <p:spPr>
            <a:xfrm>
              <a:off x="1219200" y="3367151"/>
              <a:ext cx="1224280" cy="335280"/>
            </a:xfrm>
            <a:custGeom>
              <a:avLst/>
              <a:gdLst/>
              <a:ahLst/>
              <a:cxnLst/>
              <a:rect l="l" t="t" r="r" b="b"/>
              <a:pathLst>
                <a:path w="1224280" h="335279">
                  <a:moveTo>
                    <a:pt x="1223683" y="0"/>
                  </a:moveTo>
                  <a:lnTo>
                    <a:pt x="0" y="0"/>
                  </a:lnTo>
                  <a:lnTo>
                    <a:pt x="0" y="335280"/>
                  </a:lnTo>
                  <a:lnTo>
                    <a:pt x="1223683" y="335280"/>
                  </a:lnTo>
                  <a:lnTo>
                    <a:pt x="1223683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19200" y="3360801"/>
              <a:ext cx="1223645" cy="347980"/>
            </a:xfrm>
            <a:custGeom>
              <a:avLst/>
              <a:gdLst/>
              <a:ahLst/>
              <a:cxnLst/>
              <a:rect l="l" t="t" r="r" b="b"/>
              <a:pathLst>
                <a:path w="1223645" h="347979">
                  <a:moveTo>
                    <a:pt x="0" y="0"/>
                  </a:moveTo>
                  <a:lnTo>
                    <a:pt x="0" y="347980"/>
                  </a:lnTo>
                </a:path>
                <a:path w="1223645" h="347979">
                  <a:moveTo>
                    <a:pt x="1223645" y="0"/>
                  </a:moveTo>
                  <a:lnTo>
                    <a:pt x="1223645" y="34798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2850" y="3360801"/>
              <a:ext cx="1236345" cy="12700"/>
            </a:xfrm>
            <a:custGeom>
              <a:avLst/>
              <a:gdLst/>
              <a:ahLst/>
              <a:cxnLst/>
              <a:rect l="l" t="t" r="r" b="b"/>
              <a:pathLst>
                <a:path w="1236345" h="12700">
                  <a:moveTo>
                    <a:pt x="0" y="12700"/>
                  </a:moveTo>
                  <a:lnTo>
                    <a:pt x="1236345" y="12700"/>
                  </a:lnTo>
                  <a:lnTo>
                    <a:pt x="123634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12850" y="3702431"/>
              <a:ext cx="1236345" cy="0"/>
            </a:xfrm>
            <a:custGeom>
              <a:avLst/>
              <a:gdLst/>
              <a:ahLst/>
              <a:cxnLst/>
              <a:rect l="l" t="t" r="r" b="b"/>
              <a:pathLst>
                <a:path w="1236345">
                  <a:moveTo>
                    <a:pt x="0" y="0"/>
                  </a:moveTo>
                  <a:lnTo>
                    <a:pt x="123634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1829" y="3396234"/>
            <a:ext cx="266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latin typeface="Cambria"/>
                <a:cs typeface="Cambria"/>
              </a:rPr>
              <a:t>AC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56279" y="6168985"/>
            <a:ext cx="363855" cy="2635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spc="-5" dirty="0">
                <a:latin typeface="Cambria"/>
                <a:cs typeface="Cambria"/>
              </a:rPr>
              <a:t>800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96178" y="1716405"/>
            <a:ext cx="32950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5.</a:t>
            </a:r>
            <a:r>
              <a:rPr sz="2000" b="1" spc="-2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Indirect</a:t>
            </a:r>
            <a:r>
              <a:rPr sz="2000" b="1" spc="-3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Addressing</a:t>
            </a:r>
            <a:r>
              <a:rPr sz="2000" b="1" spc="-6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Mode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96178" y="2297429"/>
            <a:ext cx="40271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Instruction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contains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the </a:t>
            </a: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500.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at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500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800.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So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effective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operand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" dirty="0">
                <a:latin typeface="Cambria"/>
                <a:cs typeface="Cambria"/>
              </a:rPr>
              <a:t> 800.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data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stored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at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800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" dirty="0">
                <a:latin typeface="Cambria"/>
                <a:cs typeface="Cambria"/>
              </a:rPr>
              <a:t> 300.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96178" y="3942079"/>
            <a:ext cx="27349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Effective</a:t>
            </a:r>
            <a:r>
              <a:rPr sz="2000" b="1" spc="-5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Address</a:t>
            </a:r>
            <a:r>
              <a:rPr sz="2000" b="1" spc="-6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2000" b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800 </a:t>
            </a:r>
            <a:r>
              <a:rPr sz="2000" b="1" spc="-4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Operand</a:t>
            </a: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300</a:t>
            </a:r>
            <a:endParaRPr sz="2000">
              <a:latin typeface="Cambria"/>
              <a:cs typeface="Cambria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59017" y="4992370"/>
          <a:ext cx="1684653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009"/>
                <a:gridCol w="1223644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40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300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4236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1F5F"/>
                </a:solidFill>
              </a:rPr>
              <a:t>Example</a:t>
            </a:r>
            <a:r>
              <a:rPr sz="4400" spc="-6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problem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928366" y="1411767"/>
            <a:ext cx="692150" cy="13271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740"/>
              </a:spcBef>
            </a:pPr>
            <a:r>
              <a:rPr sz="1400" b="1" spc="-20" dirty="0">
                <a:latin typeface="Cambria"/>
                <a:cs typeface="Cambria"/>
              </a:rPr>
              <a:t>A</a:t>
            </a:r>
            <a:r>
              <a:rPr sz="1400" b="1" spc="-5" dirty="0">
                <a:latin typeface="Cambria"/>
                <a:cs typeface="Cambria"/>
              </a:rPr>
              <a:t>dd</a:t>
            </a:r>
            <a:r>
              <a:rPr sz="1400" b="1" spc="-20" dirty="0">
                <a:latin typeface="Cambria"/>
                <a:cs typeface="Cambria"/>
              </a:rPr>
              <a:t>r</a:t>
            </a:r>
            <a:r>
              <a:rPr sz="1400" b="1" dirty="0">
                <a:latin typeface="Cambria"/>
                <a:cs typeface="Cambria"/>
              </a:rPr>
              <a:t>ess</a:t>
            </a:r>
            <a:endParaRPr sz="14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200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0"/>
              </a:spcBef>
            </a:pPr>
            <a:r>
              <a:rPr sz="1600" spc="-5" dirty="0">
                <a:latin typeface="Cambria"/>
                <a:cs typeface="Cambria"/>
              </a:rPr>
              <a:t>201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202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8950" y="1493012"/>
            <a:ext cx="7080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Cambria"/>
                <a:cs typeface="Cambria"/>
              </a:rPr>
              <a:t>Memory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6279" y="3048660"/>
            <a:ext cx="363855" cy="6959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600" spc="-5" dirty="0">
                <a:latin typeface="Cambria"/>
                <a:cs typeface="Cambria"/>
              </a:rPr>
              <a:t>399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spc="-5" dirty="0">
                <a:latin typeface="Cambria"/>
                <a:cs typeface="Cambria"/>
              </a:rPr>
              <a:t>400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6279" y="4146930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500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56279" y="4817490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600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71648" y="5458612"/>
            <a:ext cx="926465" cy="335280"/>
          </a:xfrm>
          <a:prstGeom prst="rect">
            <a:avLst/>
          </a:prstGeom>
          <a:solidFill>
            <a:srgbClr val="9DC3E6"/>
          </a:solidFill>
        </p:spPr>
        <p:txBody>
          <a:bodyPr vert="horz" wrap="square" lIns="0" tIns="41910" rIns="0" bIns="0" rtlCol="0">
            <a:spAutoFit/>
          </a:bodyPr>
          <a:lstStyle/>
          <a:p>
            <a:pPr marL="497205">
              <a:lnSpc>
                <a:spcPct val="100000"/>
              </a:lnSpc>
              <a:spcBef>
                <a:spcPts val="330"/>
              </a:spcBef>
            </a:pPr>
            <a:r>
              <a:rPr sz="1600" spc="-5" dirty="0">
                <a:latin typeface="Cambria"/>
                <a:cs typeface="Cambria"/>
              </a:rPr>
              <a:t>702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691635" y="1764157"/>
          <a:ext cx="1909445" cy="469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0310"/>
                <a:gridCol w="699135"/>
              </a:tblGrid>
              <a:tr h="335279"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Load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5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Mode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79">
                <a:tc gridSpan="2"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Address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500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Next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Instruction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450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700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800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900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305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325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66368" y="1684401"/>
          <a:ext cx="1680845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1223645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PC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42289" y="2213229"/>
          <a:ext cx="1696085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440"/>
                <a:gridCol w="1223645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R1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400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37717" y="2751201"/>
          <a:ext cx="1700528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884"/>
                <a:gridCol w="1223644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XR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100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1212850" y="3360801"/>
            <a:ext cx="1236345" cy="347980"/>
            <a:chOff x="1212850" y="3360801"/>
            <a:chExt cx="1236345" cy="347980"/>
          </a:xfrm>
        </p:grpSpPr>
        <p:sp>
          <p:nvSpPr>
            <p:cNvPr id="14" name="object 14"/>
            <p:cNvSpPr/>
            <p:nvPr/>
          </p:nvSpPr>
          <p:spPr>
            <a:xfrm>
              <a:off x="1219200" y="3367151"/>
              <a:ext cx="1224280" cy="335280"/>
            </a:xfrm>
            <a:custGeom>
              <a:avLst/>
              <a:gdLst/>
              <a:ahLst/>
              <a:cxnLst/>
              <a:rect l="l" t="t" r="r" b="b"/>
              <a:pathLst>
                <a:path w="1224280" h="335279">
                  <a:moveTo>
                    <a:pt x="1223683" y="0"/>
                  </a:moveTo>
                  <a:lnTo>
                    <a:pt x="0" y="0"/>
                  </a:lnTo>
                  <a:lnTo>
                    <a:pt x="0" y="335280"/>
                  </a:lnTo>
                  <a:lnTo>
                    <a:pt x="1223683" y="335280"/>
                  </a:lnTo>
                  <a:lnTo>
                    <a:pt x="1223683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19200" y="3360801"/>
              <a:ext cx="1223645" cy="347980"/>
            </a:xfrm>
            <a:custGeom>
              <a:avLst/>
              <a:gdLst/>
              <a:ahLst/>
              <a:cxnLst/>
              <a:rect l="l" t="t" r="r" b="b"/>
              <a:pathLst>
                <a:path w="1223645" h="347979">
                  <a:moveTo>
                    <a:pt x="0" y="0"/>
                  </a:moveTo>
                  <a:lnTo>
                    <a:pt x="0" y="347980"/>
                  </a:lnTo>
                </a:path>
                <a:path w="1223645" h="347979">
                  <a:moveTo>
                    <a:pt x="1223645" y="0"/>
                  </a:moveTo>
                  <a:lnTo>
                    <a:pt x="1223645" y="34798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2850" y="3360801"/>
              <a:ext cx="1236345" cy="12700"/>
            </a:xfrm>
            <a:custGeom>
              <a:avLst/>
              <a:gdLst/>
              <a:ahLst/>
              <a:cxnLst/>
              <a:rect l="l" t="t" r="r" b="b"/>
              <a:pathLst>
                <a:path w="1236345" h="12700">
                  <a:moveTo>
                    <a:pt x="0" y="12700"/>
                  </a:moveTo>
                  <a:lnTo>
                    <a:pt x="1236345" y="12700"/>
                  </a:lnTo>
                  <a:lnTo>
                    <a:pt x="123634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12850" y="3702431"/>
              <a:ext cx="1236345" cy="0"/>
            </a:xfrm>
            <a:custGeom>
              <a:avLst/>
              <a:gdLst/>
              <a:ahLst/>
              <a:cxnLst/>
              <a:rect l="l" t="t" r="r" b="b"/>
              <a:pathLst>
                <a:path w="1236345">
                  <a:moveTo>
                    <a:pt x="0" y="0"/>
                  </a:moveTo>
                  <a:lnTo>
                    <a:pt x="123634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1829" y="3396234"/>
            <a:ext cx="266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latin typeface="Cambria"/>
                <a:cs typeface="Cambria"/>
              </a:rPr>
              <a:t>AC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56279" y="6168985"/>
            <a:ext cx="363855" cy="2635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spc="-5" dirty="0">
                <a:latin typeface="Cambria"/>
                <a:cs typeface="Cambria"/>
              </a:rPr>
              <a:t>800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96178" y="1716405"/>
            <a:ext cx="33020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6.</a:t>
            </a:r>
            <a:r>
              <a:rPr sz="2000" b="1" spc="-20" dirty="0">
                <a:solidFill>
                  <a:srgbClr val="00AF50"/>
                </a:solidFill>
                <a:latin typeface="Cambria"/>
                <a:cs typeface="Cambria"/>
              </a:rPr>
              <a:t> Relative</a:t>
            </a:r>
            <a:r>
              <a:rPr sz="2000" b="1" spc="-4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Addressing</a:t>
            </a:r>
            <a:r>
              <a:rPr sz="2000" b="1" spc="-6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Mode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96178" y="2297429"/>
            <a:ext cx="554990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mbria"/>
                <a:cs typeface="Cambria"/>
              </a:rPr>
              <a:t>PC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200.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latin typeface="Cambria"/>
                <a:cs typeface="Cambria"/>
              </a:rPr>
              <a:t>Offset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500.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Instruction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2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bytes.</a:t>
            </a:r>
            <a:endParaRPr sz="1800">
              <a:latin typeface="Cambria"/>
              <a:cs typeface="Cambria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So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effective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PC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+ 2 + </a:t>
            </a:r>
            <a:r>
              <a:rPr sz="1800" spc="-5" dirty="0">
                <a:latin typeface="Cambria"/>
                <a:cs typeface="Cambria"/>
              </a:rPr>
              <a:t>offset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200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+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500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+2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 </a:t>
            </a:r>
            <a:r>
              <a:rPr sz="1800" spc="-3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702 .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data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stored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at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702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" dirty="0">
                <a:latin typeface="Cambria"/>
                <a:cs typeface="Cambria"/>
              </a:rPr>
              <a:t> 325.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96178" y="4490720"/>
            <a:ext cx="27349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Effective</a:t>
            </a:r>
            <a:r>
              <a:rPr sz="2000" b="1" spc="-5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Address</a:t>
            </a:r>
            <a:r>
              <a:rPr sz="2000" b="1" spc="-6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2000" b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702 </a:t>
            </a:r>
            <a:r>
              <a:rPr sz="2000" b="1" spc="-4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Operand</a:t>
            </a: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325</a:t>
            </a:r>
            <a:endParaRPr sz="2000">
              <a:latin typeface="Cambria"/>
              <a:cs typeface="Cambria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59017" y="5570473"/>
          <a:ext cx="1684653" cy="335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009"/>
                <a:gridCol w="1223644"/>
              </a:tblGrid>
              <a:tr h="335343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40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325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4236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1F5F"/>
                </a:solidFill>
              </a:rPr>
              <a:t>Example</a:t>
            </a:r>
            <a:r>
              <a:rPr sz="4400" spc="-6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problem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928366" y="1411767"/>
            <a:ext cx="692150" cy="13271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740"/>
              </a:spcBef>
            </a:pPr>
            <a:r>
              <a:rPr sz="1400" b="1" spc="-20" dirty="0">
                <a:latin typeface="Cambria"/>
                <a:cs typeface="Cambria"/>
              </a:rPr>
              <a:t>A</a:t>
            </a:r>
            <a:r>
              <a:rPr sz="1400" b="1" spc="-5" dirty="0">
                <a:latin typeface="Cambria"/>
                <a:cs typeface="Cambria"/>
              </a:rPr>
              <a:t>dd</a:t>
            </a:r>
            <a:r>
              <a:rPr sz="1400" b="1" spc="-20" dirty="0">
                <a:latin typeface="Cambria"/>
                <a:cs typeface="Cambria"/>
              </a:rPr>
              <a:t>r</a:t>
            </a:r>
            <a:r>
              <a:rPr sz="1400" b="1" dirty="0">
                <a:latin typeface="Cambria"/>
                <a:cs typeface="Cambria"/>
              </a:rPr>
              <a:t>ess</a:t>
            </a:r>
            <a:endParaRPr sz="14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200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0"/>
              </a:spcBef>
            </a:pPr>
            <a:r>
              <a:rPr sz="1600" spc="-5" dirty="0">
                <a:latin typeface="Cambria"/>
                <a:cs typeface="Cambria"/>
              </a:rPr>
              <a:t>201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202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8950" y="1493012"/>
            <a:ext cx="7080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Cambria"/>
                <a:cs typeface="Cambria"/>
              </a:rPr>
              <a:t>Memory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6279" y="3048660"/>
            <a:ext cx="363855" cy="6959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600" spc="-5" dirty="0">
                <a:latin typeface="Cambria"/>
                <a:cs typeface="Cambria"/>
              </a:rPr>
              <a:t>399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spc="-5" dirty="0">
                <a:latin typeface="Cambria"/>
                <a:cs typeface="Cambria"/>
              </a:rPr>
              <a:t>400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6279" y="4146930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500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1648" y="4788027"/>
            <a:ext cx="926465" cy="335280"/>
          </a:xfrm>
          <a:prstGeom prst="rect">
            <a:avLst/>
          </a:prstGeom>
          <a:solidFill>
            <a:srgbClr val="9DC3E6"/>
          </a:solidFill>
        </p:spPr>
        <p:txBody>
          <a:bodyPr vert="horz" wrap="square" lIns="0" tIns="41275" rIns="0" bIns="0" rtlCol="0">
            <a:spAutoFit/>
          </a:bodyPr>
          <a:lstStyle/>
          <a:p>
            <a:pPr marL="497205">
              <a:lnSpc>
                <a:spcPct val="100000"/>
              </a:lnSpc>
              <a:spcBef>
                <a:spcPts val="325"/>
              </a:spcBef>
            </a:pPr>
            <a:r>
              <a:rPr sz="1600" spc="-5" dirty="0">
                <a:latin typeface="Cambria"/>
                <a:cs typeface="Cambria"/>
              </a:rPr>
              <a:t>600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691635" y="1764157"/>
          <a:ext cx="1909445" cy="469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0310"/>
                <a:gridCol w="699135"/>
              </a:tblGrid>
              <a:tr h="335279"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Load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5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Mode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79">
                <a:tc gridSpan="2"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Address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500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Next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Instruction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450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700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800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900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305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325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256279" y="5488330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702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66368" y="1684401"/>
          <a:ext cx="1680845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1223645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PC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42289" y="2213229"/>
          <a:ext cx="1696085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440"/>
                <a:gridCol w="1223645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R1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400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37717" y="2751201"/>
          <a:ext cx="1700528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884"/>
                <a:gridCol w="1223644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XR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100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1212850" y="3360801"/>
            <a:ext cx="1236345" cy="347980"/>
            <a:chOff x="1212850" y="3360801"/>
            <a:chExt cx="1236345" cy="347980"/>
          </a:xfrm>
        </p:grpSpPr>
        <p:sp>
          <p:nvSpPr>
            <p:cNvPr id="14" name="object 14"/>
            <p:cNvSpPr/>
            <p:nvPr/>
          </p:nvSpPr>
          <p:spPr>
            <a:xfrm>
              <a:off x="1219200" y="3367151"/>
              <a:ext cx="1224280" cy="335280"/>
            </a:xfrm>
            <a:custGeom>
              <a:avLst/>
              <a:gdLst/>
              <a:ahLst/>
              <a:cxnLst/>
              <a:rect l="l" t="t" r="r" b="b"/>
              <a:pathLst>
                <a:path w="1224280" h="335279">
                  <a:moveTo>
                    <a:pt x="1223683" y="0"/>
                  </a:moveTo>
                  <a:lnTo>
                    <a:pt x="0" y="0"/>
                  </a:lnTo>
                  <a:lnTo>
                    <a:pt x="0" y="335280"/>
                  </a:lnTo>
                  <a:lnTo>
                    <a:pt x="1223683" y="335280"/>
                  </a:lnTo>
                  <a:lnTo>
                    <a:pt x="1223683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19200" y="3360801"/>
              <a:ext cx="1223645" cy="347980"/>
            </a:xfrm>
            <a:custGeom>
              <a:avLst/>
              <a:gdLst/>
              <a:ahLst/>
              <a:cxnLst/>
              <a:rect l="l" t="t" r="r" b="b"/>
              <a:pathLst>
                <a:path w="1223645" h="347979">
                  <a:moveTo>
                    <a:pt x="0" y="0"/>
                  </a:moveTo>
                  <a:lnTo>
                    <a:pt x="0" y="347980"/>
                  </a:lnTo>
                </a:path>
                <a:path w="1223645" h="347979">
                  <a:moveTo>
                    <a:pt x="1223645" y="0"/>
                  </a:moveTo>
                  <a:lnTo>
                    <a:pt x="1223645" y="34798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2850" y="3360801"/>
              <a:ext cx="1236345" cy="12700"/>
            </a:xfrm>
            <a:custGeom>
              <a:avLst/>
              <a:gdLst/>
              <a:ahLst/>
              <a:cxnLst/>
              <a:rect l="l" t="t" r="r" b="b"/>
              <a:pathLst>
                <a:path w="1236345" h="12700">
                  <a:moveTo>
                    <a:pt x="0" y="12700"/>
                  </a:moveTo>
                  <a:lnTo>
                    <a:pt x="1236345" y="12700"/>
                  </a:lnTo>
                  <a:lnTo>
                    <a:pt x="123634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12850" y="3702431"/>
              <a:ext cx="1236345" cy="0"/>
            </a:xfrm>
            <a:custGeom>
              <a:avLst/>
              <a:gdLst/>
              <a:ahLst/>
              <a:cxnLst/>
              <a:rect l="l" t="t" r="r" b="b"/>
              <a:pathLst>
                <a:path w="1236345">
                  <a:moveTo>
                    <a:pt x="0" y="0"/>
                  </a:moveTo>
                  <a:lnTo>
                    <a:pt x="123634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1829" y="3396234"/>
            <a:ext cx="266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latin typeface="Cambria"/>
                <a:cs typeface="Cambria"/>
              </a:rPr>
              <a:t>AC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56279" y="6168985"/>
            <a:ext cx="363855" cy="2635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spc="-5" dirty="0">
                <a:latin typeface="Cambria"/>
                <a:cs typeface="Cambria"/>
              </a:rPr>
              <a:t>800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96178" y="1716405"/>
            <a:ext cx="30187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7.</a:t>
            </a:r>
            <a:r>
              <a:rPr sz="2000" b="1" spc="-2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Cambria"/>
                <a:cs typeface="Cambria"/>
              </a:rPr>
              <a:t>Index</a:t>
            </a:r>
            <a:r>
              <a:rPr sz="2000" b="1" spc="-2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Addressing</a:t>
            </a:r>
            <a:r>
              <a:rPr sz="2000" b="1" spc="-6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Mode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96178" y="2297429"/>
            <a:ext cx="53441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XR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100.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Base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500.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So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effective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Base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+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XR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 500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+ 100 =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600 .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data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stored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at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600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" dirty="0">
                <a:latin typeface="Cambria"/>
                <a:cs typeface="Cambria"/>
              </a:rPr>
              <a:t> 900.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96178" y="3942079"/>
            <a:ext cx="27349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Effective</a:t>
            </a:r>
            <a:r>
              <a:rPr sz="2000" b="1" spc="-5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Address</a:t>
            </a:r>
            <a:r>
              <a:rPr sz="2000" b="1" spc="-6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2000" b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600 </a:t>
            </a:r>
            <a:r>
              <a:rPr sz="2000" b="1" spc="-4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Operand</a:t>
            </a: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900</a:t>
            </a:r>
            <a:endParaRPr sz="2000">
              <a:latin typeface="Cambria"/>
              <a:cs typeface="Cambria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59017" y="4992370"/>
          <a:ext cx="1684653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009"/>
                <a:gridCol w="1223644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40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900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4236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1F5F"/>
                </a:solidFill>
              </a:rPr>
              <a:t>Example</a:t>
            </a:r>
            <a:r>
              <a:rPr sz="4400" spc="-6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problem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928366" y="1411767"/>
            <a:ext cx="692150" cy="13271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740"/>
              </a:spcBef>
            </a:pPr>
            <a:r>
              <a:rPr sz="1400" b="1" spc="-20" dirty="0">
                <a:latin typeface="Cambria"/>
                <a:cs typeface="Cambria"/>
              </a:rPr>
              <a:t>A</a:t>
            </a:r>
            <a:r>
              <a:rPr sz="1400" b="1" spc="-5" dirty="0">
                <a:latin typeface="Cambria"/>
                <a:cs typeface="Cambria"/>
              </a:rPr>
              <a:t>dd</a:t>
            </a:r>
            <a:r>
              <a:rPr sz="1400" b="1" spc="-20" dirty="0">
                <a:latin typeface="Cambria"/>
                <a:cs typeface="Cambria"/>
              </a:rPr>
              <a:t>r</a:t>
            </a:r>
            <a:r>
              <a:rPr sz="1400" b="1" dirty="0">
                <a:latin typeface="Cambria"/>
                <a:cs typeface="Cambria"/>
              </a:rPr>
              <a:t>ess</a:t>
            </a:r>
            <a:endParaRPr sz="14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200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0"/>
              </a:spcBef>
            </a:pPr>
            <a:r>
              <a:rPr sz="1600" spc="-5" dirty="0">
                <a:latin typeface="Cambria"/>
                <a:cs typeface="Cambria"/>
              </a:rPr>
              <a:t>201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202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8950" y="1493012"/>
            <a:ext cx="7080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Cambria"/>
                <a:cs typeface="Cambria"/>
              </a:rPr>
              <a:t>Memory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6279" y="3140710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399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71648" y="3446907"/>
            <a:ext cx="926465" cy="335280"/>
          </a:xfrm>
          <a:prstGeom prst="rect">
            <a:avLst/>
          </a:prstGeom>
          <a:solidFill>
            <a:srgbClr val="9DC3E6"/>
          </a:solidFill>
        </p:spPr>
        <p:txBody>
          <a:bodyPr vert="horz" wrap="square" lIns="0" tIns="41275" rIns="0" bIns="0" rtlCol="0">
            <a:spAutoFit/>
          </a:bodyPr>
          <a:lstStyle/>
          <a:p>
            <a:pPr marL="497205">
              <a:lnSpc>
                <a:spcPct val="100000"/>
              </a:lnSpc>
              <a:spcBef>
                <a:spcPts val="325"/>
              </a:spcBef>
            </a:pPr>
            <a:r>
              <a:rPr sz="1600" spc="-5" dirty="0">
                <a:latin typeface="Cambria"/>
                <a:cs typeface="Cambria"/>
              </a:rPr>
              <a:t>400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91635" y="1764157"/>
          <a:ext cx="1909445" cy="469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0310"/>
                <a:gridCol w="699135"/>
              </a:tblGrid>
              <a:tr h="335279"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Load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5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Mode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79">
                <a:tc gridSpan="2"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Address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500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Next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Instruction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450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700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800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900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305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325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256279" y="4146930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500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56279" y="4817490"/>
            <a:ext cx="36385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600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1600" spc="-5" dirty="0">
                <a:latin typeface="Cambria"/>
                <a:cs typeface="Cambria"/>
              </a:rPr>
              <a:t>702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66368" y="1684401"/>
          <a:ext cx="1680845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1223645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PC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42289" y="2213229"/>
          <a:ext cx="1696085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440"/>
                <a:gridCol w="1223645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R1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400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37717" y="2751201"/>
          <a:ext cx="1700528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884"/>
                <a:gridCol w="1223644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XR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100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1212850" y="3360801"/>
            <a:ext cx="1236345" cy="347980"/>
            <a:chOff x="1212850" y="3360801"/>
            <a:chExt cx="1236345" cy="347980"/>
          </a:xfrm>
        </p:grpSpPr>
        <p:sp>
          <p:nvSpPr>
            <p:cNvPr id="14" name="object 14"/>
            <p:cNvSpPr/>
            <p:nvPr/>
          </p:nvSpPr>
          <p:spPr>
            <a:xfrm>
              <a:off x="1219200" y="3367151"/>
              <a:ext cx="1224280" cy="335280"/>
            </a:xfrm>
            <a:custGeom>
              <a:avLst/>
              <a:gdLst/>
              <a:ahLst/>
              <a:cxnLst/>
              <a:rect l="l" t="t" r="r" b="b"/>
              <a:pathLst>
                <a:path w="1224280" h="335279">
                  <a:moveTo>
                    <a:pt x="1223683" y="0"/>
                  </a:moveTo>
                  <a:lnTo>
                    <a:pt x="0" y="0"/>
                  </a:lnTo>
                  <a:lnTo>
                    <a:pt x="0" y="335280"/>
                  </a:lnTo>
                  <a:lnTo>
                    <a:pt x="1223683" y="335280"/>
                  </a:lnTo>
                  <a:lnTo>
                    <a:pt x="1223683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19200" y="3360801"/>
              <a:ext cx="1223645" cy="347980"/>
            </a:xfrm>
            <a:custGeom>
              <a:avLst/>
              <a:gdLst/>
              <a:ahLst/>
              <a:cxnLst/>
              <a:rect l="l" t="t" r="r" b="b"/>
              <a:pathLst>
                <a:path w="1223645" h="347979">
                  <a:moveTo>
                    <a:pt x="0" y="0"/>
                  </a:moveTo>
                  <a:lnTo>
                    <a:pt x="0" y="347980"/>
                  </a:lnTo>
                </a:path>
                <a:path w="1223645" h="347979">
                  <a:moveTo>
                    <a:pt x="1223645" y="0"/>
                  </a:moveTo>
                  <a:lnTo>
                    <a:pt x="1223645" y="34798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2850" y="3360801"/>
              <a:ext cx="1236345" cy="12700"/>
            </a:xfrm>
            <a:custGeom>
              <a:avLst/>
              <a:gdLst/>
              <a:ahLst/>
              <a:cxnLst/>
              <a:rect l="l" t="t" r="r" b="b"/>
              <a:pathLst>
                <a:path w="1236345" h="12700">
                  <a:moveTo>
                    <a:pt x="0" y="12700"/>
                  </a:moveTo>
                  <a:lnTo>
                    <a:pt x="1236345" y="12700"/>
                  </a:lnTo>
                  <a:lnTo>
                    <a:pt x="123634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12850" y="3702431"/>
              <a:ext cx="1236345" cy="0"/>
            </a:xfrm>
            <a:custGeom>
              <a:avLst/>
              <a:gdLst/>
              <a:ahLst/>
              <a:cxnLst/>
              <a:rect l="l" t="t" r="r" b="b"/>
              <a:pathLst>
                <a:path w="1236345">
                  <a:moveTo>
                    <a:pt x="0" y="0"/>
                  </a:moveTo>
                  <a:lnTo>
                    <a:pt x="123634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1829" y="3396234"/>
            <a:ext cx="266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latin typeface="Cambria"/>
                <a:cs typeface="Cambria"/>
              </a:rPr>
              <a:t>AC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56279" y="6168985"/>
            <a:ext cx="363855" cy="2635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spc="-5" dirty="0">
                <a:latin typeface="Cambria"/>
                <a:cs typeface="Cambria"/>
              </a:rPr>
              <a:t>800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96178" y="1716405"/>
            <a:ext cx="411352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8.</a:t>
            </a:r>
            <a:r>
              <a:rPr sz="2000" b="1" spc="-2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Cambria"/>
                <a:cs typeface="Cambria"/>
              </a:rPr>
              <a:t>Autoincrement</a:t>
            </a:r>
            <a:r>
              <a:rPr sz="2000" b="1" spc="-5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Addressing</a:t>
            </a:r>
            <a:r>
              <a:rPr sz="2000" b="1" spc="-6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Mode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96178" y="2297429"/>
            <a:ext cx="564769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It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same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as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register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indirect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addressing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except 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the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contents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R1 </a:t>
            </a:r>
            <a:r>
              <a:rPr sz="1800" spc="-15" dirty="0">
                <a:latin typeface="Cambria"/>
                <a:cs typeface="Cambria"/>
              </a:rPr>
              <a:t>are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incremented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after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the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execution.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R1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contains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400.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So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effective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 </a:t>
            </a:r>
            <a:r>
              <a:rPr sz="1800" spc="-10" dirty="0">
                <a:latin typeface="Cambria"/>
                <a:cs typeface="Cambria"/>
              </a:rPr>
              <a:t>operand</a:t>
            </a:r>
            <a:r>
              <a:rPr sz="1800" dirty="0">
                <a:latin typeface="Cambria"/>
                <a:cs typeface="Cambria"/>
              </a:rPr>
              <a:t> is </a:t>
            </a:r>
            <a:r>
              <a:rPr sz="1800" spc="-5" dirty="0">
                <a:latin typeface="Cambria"/>
                <a:cs typeface="Cambria"/>
              </a:rPr>
              <a:t>400.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data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stored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at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400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" dirty="0">
                <a:latin typeface="Cambria"/>
                <a:cs typeface="Cambria"/>
              </a:rPr>
              <a:t> 700.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96178" y="4216400"/>
            <a:ext cx="27349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Effective</a:t>
            </a:r>
            <a:r>
              <a:rPr sz="2000" b="1" spc="-5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Address</a:t>
            </a:r>
            <a:r>
              <a:rPr sz="2000" b="1" spc="-6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2000" b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400 </a:t>
            </a:r>
            <a:r>
              <a:rPr sz="2000" b="1" spc="-4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Operand</a:t>
            </a: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700</a:t>
            </a:r>
            <a:endParaRPr sz="2000">
              <a:latin typeface="Cambria"/>
              <a:cs typeface="Cambria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59017" y="5812574"/>
          <a:ext cx="1684653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009"/>
                <a:gridCol w="1223644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40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700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5843778" y="5202935"/>
          <a:ext cx="1695450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805"/>
                <a:gridCol w="1223645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R1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401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4236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1F5F"/>
                </a:solidFill>
              </a:rPr>
              <a:t>Example</a:t>
            </a:r>
            <a:r>
              <a:rPr sz="4400" spc="-6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problem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928366" y="1411767"/>
            <a:ext cx="692150" cy="13271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740"/>
              </a:spcBef>
            </a:pPr>
            <a:r>
              <a:rPr sz="1400" b="1" spc="-20" dirty="0">
                <a:latin typeface="Cambria"/>
                <a:cs typeface="Cambria"/>
              </a:rPr>
              <a:t>A</a:t>
            </a:r>
            <a:r>
              <a:rPr sz="1400" b="1" spc="-5" dirty="0">
                <a:latin typeface="Cambria"/>
                <a:cs typeface="Cambria"/>
              </a:rPr>
              <a:t>dd</a:t>
            </a:r>
            <a:r>
              <a:rPr sz="1400" b="1" spc="-20" dirty="0">
                <a:latin typeface="Cambria"/>
                <a:cs typeface="Cambria"/>
              </a:rPr>
              <a:t>r</a:t>
            </a:r>
            <a:r>
              <a:rPr sz="1400" b="1" dirty="0">
                <a:latin typeface="Cambria"/>
                <a:cs typeface="Cambria"/>
              </a:rPr>
              <a:t>ess</a:t>
            </a:r>
            <a:endParaRPr sz="14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200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0"/>
              </a:spcBef>
            </a:pPr>
            <a:r>
              <a:rPr sz="1600" spc="-5" dirty="0">
                <a:latin typeface="Cambria"/>
                <a:cs typeface="Cambria"/>
              </a:rPr>
              <a:t>201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spc="-5" dirty="0">
                <a:latin typeface="Cambria"/>
                <a:cs typeface="Cambria"/>
              </a:rPr>
              <a:t>202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8950" y="1493012"/>
            <a:ext cx="7080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Cambria"/>
                <a:cs typeface="Cambria"/>
              </a:rPr>
              <a:t>Memory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71648" y="3111626"/>
            <a:ext cx="926465" cy="335280"/>
          </a:xfrm>
          <a:prstGeom prst="rect">
            <a:avLst/>
          </a:prstGeom>
          <a:solidFill>
            <a:srgbClr val="9DC3E6"/>
          </a:solidFill>
        </p:spPr>
        <p:txBody>
          <a:bodyPr vert="horz" wrap="square" lIns="0" tIns="41275" rIns="0" bIns="0" rtlCol="0">
            <a:spAutoFit/>
          </a:bodyPr>
          <a:lstStyle/>
          <a:p>
            <a:pPr marL="497205">
              <a:lnSpc>
                <a:spcPct val="100000"/>
              </a:lnSpc>
              <a:spcBef>
                <a:spcPts val="325"/>
              </a:spcBef>
            </a:pPr>
            <a:r>
              <a:rPr sz="1600" spc="-5" dirty="0">
                <a:latin typeface="Cambria"/>
                <a:cs typeface="Cambria"/>
              </a:rPr>
              <a:t>399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91635" y="1764157"/>
          <a:ext cx="1909445" cy="469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0310"/>
                <a:gridCol w="699135"/>
              </a:tblGrid>
              <a:tr h="335279"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Load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5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Mode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79">
                <a:tc gridSpan="2"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Address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500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Next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Instruction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450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700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800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900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305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325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28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ambria"/>
                          <a:cs typeface="Cambria"/>
                        </a:rPr>
                        <a:t>300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256279" y="3475990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400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56279" y="4146930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500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56279" y="4817490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600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56279" y="5488330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702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66368" y="1684401"/>
          <a:ext cx="1680845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1223645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5" dirty="0">
                          <a:latin typeface="Cambria"/>
                          <a:cs typeface="Cambria"/>
                        </a:rPr>
                        <a:t>PC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200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42289" y="2213229"/>
          <a:ext cx="1696085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440"/>
                <a:gridCol w="1223645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R1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400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37717" y="2751201"/>
          <a:ext cx="1700528" cy="335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884"/>
                <a:gridCol w="1223644"/>
              </a:tblGrid>
              <a:tr h="33527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Cambria"/>
                          <a:cs typeface="Cambria"/>
                        </a:rPr>
                        <a:t>XR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100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1212850" y="3360801"/>
            <a:ext cx="1236345" cy="347980"/>
            <a:chOff x="1212850" y="3360801"/>
            <a:chExt cx="1236345" cy="347980"/>
          </a:xfrm>
        </p:grpSpPr>
        <p:sp>
          <p:nvSpPr>
            <p:cNvPr id="15" name="object 15"/>
            <p:cNvSpPr/>
            <p:nvPr/>
          </p:nvSpPr>
          <p:spPr>
            <a:xfrm>
              <a:off x="1219200" y="3367151"/>
              <a:ext cx="1224280" cy="335280"/>
            </a:xfrm>
            <a:custGeom>
              <a:avLst/>
              <a:gdLst/>
              <a:ahLst/>
              <a:cxnLst/>
              <a:rect l="l" t="t" r="r" b="b"/>
              <a:pathLst>
                <a:path w="1224280" h="335279">
                  <a:moveTo>
                    <a:pt x="1223683" y="0"/>
                  </a:moveTo>
                  <a:lnTo>
                    <a:pt x="0" y="0"/>
                  </a:lnTo>
                  <a:lnTo>
                    <a:pt x="0" y="335280"/>
                  </a:lnTo>
                  <a:lnTo>
                    <a:pt x="1223683" y="335280"/>
                  </a:lnTo>
                  <a:lnTo>
                    <a:pt x="1223683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9200" y="3360801"/>
              <a:ext cx="1223645" cy="347980"/>
            </a:xfrm>
            <a:custGeom>
              <a:avLst/>
              <a:gdLst/>
              <a:ahLst/>
              <a:cxnLst/>
              <a:rect l="l" t="t" r="r" b="b"/>
              <a:pathLst>
                <a:path w="1223645" h="347979">
                  <a:moveTo>
                    <a:pt x="0" y="0"/>
                  </a:moveTo>
                  <a:lnTo>
                    <a:pt x="0" y="347980"/>
                  </a:lnTo>
                </a:path>
                <a:path w="1223645" h="347979">
                  <a:moveTo>
                    <a:pt x="1223645" y="0"/>
                  </a:moveTo>
                  <a:lnTo>
                    <a:pt x="1223645" y="34798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12850" y="3360801"/>
              <a:ext cx="1236345" cy="12700"/>
            </a:xfrm>
            <a:custGeom>
              <a:avLst/>
              <a:gdLst/>
              <a:ahLst/>
              <a:cxnLst/>
              <a:rect l="l" t="t" r="r" b="b"/>
              <a:pathLst>
                <a:path w="1236345" h="12700">
                  <a:moveTo>
                    <a:pt x="0" y="12700"/>
                  </a:moveTo>
                  <a:lnTo>
                    <a:pt x="1236345" y="12700"/>
                  </a:lnTo>
                  <a:lnTo>
                    <a:pt x="123634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12850" y="3702431"/>
              <a:ext cx="1236345" cy="0"/>
            </a:xfrm>
            <a:custGeom>
              <a:avLst/>
              <a:gdLst/>
              <a:ahLst/>
              <a:cxnLst/>
              <a:rect l="l" t="t" r="r" b="b"/>
              <a:pathLst>
                <a:path w="1236345">
                  <a:moveTo>
                    <a:pt x="0" y="0"/>
                  </a:moveTo>
                  <a:lnTo>
                    <a:pt x="123634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71829" y="3396234"/>
            <a:ext cx="266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latin typeface="Cambria"/>
                <a:cs typeface="Cambria"/>
              </a:rPr>
              <a:t>AC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56279" y="6168985"/>
            <a:ext cx="363855" cy="2635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spc="-5" dirty="0">
                <a:latin typeface="Cambria"/>
                <a:cs typeface="Cambria"/>
              </a:rPr>
              <a:t>800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96178" y="1716405"/>
            <a:ext cx="41668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AF50"/>
                </a:solidFill>
                <a:latin typeface="Cambria"/>
                <a:cs typeface="Cambria"/>
              </a:rPr>
              <a:t>9.</a:t>
            </a:r>
            <a:r>
              <a:rPr sz="2000" b="1" spc="-2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Cambria"/>
                <a:cs typeface="Cambria"/>
              </a:rPr>
              <a:t>Autodecrement</a:t>
            </a:r>
            <a:r>
              <a:rPr sz="2000" b="1" spc="-5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Addressing</a:t>
            </a:r>
            <a:r>
              <a:rPr sz="2000" b="1" spc="-6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Mode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96178" y="2297429"/>
            <a:ext cx="552196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It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same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as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register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indirect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addressing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except </a:t>
            </a:r>
            <a:r>
              <a:rPr sz="1800" spc="-38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the contents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 </a:t>
            </a:r>
            <a:r>
              <a:rPr sz="1800" spc="-5" dirty="0">
                <a:latin typeface="Cambria"/>
                <a:cs typeface="Cambria"/>
              </a:rPr>
              <a:t>R1 </a:t>
            </a:r>
            <a:r>
              <a:rPr sz="1800" spc="-15" dirty="0">
                <a:latin typeface="Cambria"/>
                <a:cs typeface="Cambria"/>
              </a:rPr>
              <a:t>are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decremented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before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the 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execution.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R1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contains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400.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R1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" dirty="0">
                <a:latin typeface="Cambria"/>
                <a:cs typeface="Cambria"/>
              </a:rPr>
              <a:t> first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decremented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to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399.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So</a:t>
            </a:r>
            <a:r>
              <a:rPr sz="1800" spc="-15" dirty="0">
                <a:latin typeface="Cambria"/>
                <a:cs typeface="Cambria"/>
              </a:rPr>
              <a:t> effective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operand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" dirty="0">
                <a:latin typeface="Cambria"/>
                <a:cs typeface="Cambria"/>
              </a:rPr>
              <a:t> 399.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data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stored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at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399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" dirty="0">
                <a:latin typeface="Cambria"/>
                <a:cs typeface="Cambria"/>
              </a:rPr>
              <a:t> 450.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96178" y="4765040"/>
            <a:ext cx="27349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Effective</a:t>
            </a:r>
            <a:r>
              <a:rPr sz="2000" b="1" spc="-5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Address</a:t>
            </a:r>
            <a:r>
              <a:rPr sz="2000" b="1" spc="-6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2000" b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399 </a:t>
            </a:r>
            <a:r>
              <a:rPr sz="2000" b="1" spc="-4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Operand</a:t>
            </a: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450</a:t>
            </a:r>
            <a:endParaRPr sz="2000">
              <a:latin typeface="Cambria"/>
              <a:cs typeface="Cambria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5885815" y="6108407"/>
          <a:ext cx="1684653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009"/>
                <a:gridCol w="1223644"/>
              </a:tblGrid>
              <a:tr h="33528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40" dirty="0">
                          <a:latin typeface="Cambria"/>
                          <a:cs typeface="Cambria"/>
                        </a:rPr>
                        <a:t>AC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450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5870828" y="5498846"/>
          <a:ext cx="1695450" cy="3352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805"/>
                <a:gridCol w="1223645"/>
              </a:tblGrid>
              <a:tr h="33525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R1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Cambria"/>
                          <a:cs typeface="Cambria"/>
                        </a:rPr>
                        <a:t>399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4236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1F5F"/>
                </a:solidFill>
              </a:rPr>
              <a:t>Example</a:t>
            </a:r>
            <a:r>
              <a:rPr sz="4400" spc="-65" dirty="0">
                <a:solidFill>
                  <a:srgbClr val="001F5F"/>
                </a:solidFill>
              </a:rPr>
              <a:t> </a:t>
            </a:r>
            <a:r>
              <a:rPr sz="4400" spc="-10" dirty="0">
                <a:solidFill>
                  <a:srgbClr val="001F5F"/>
                </a:solidFill>
              </a:rPr>
              <a:t>problem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56233" y="1983739"/>
          <a:ext cx="7785099" cy="3708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06495"/>
                <a:gridCol w="2360295"/>
                <a:gridCol w="1718309"/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Addressing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Mode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R="7112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Effective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Address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R="1555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Operand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EC7C3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Immediate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Addressing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Mode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201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R="1543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500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D2DEEE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Register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Addressing</a:t>
                      </a:r>
                      <a:r>
                        <a:rPr sz="1800" spc="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Mode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Nil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R="1543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400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EAEEF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Register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Indirect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Addressing</a:t>
                      </a:r>
                      <a:r>
                        <a:rPr sz="1800" spc="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Mode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400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R="1543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700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D2DEEE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Direct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Addressing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Mode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500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R="1543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800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EAEEF7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Indirect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Addressing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Mode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800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R="1543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300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D2DEEE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5" dirty="0">
                          <a:latin typeface="Cambria"/>
                          <a:cs typeface="Cambria"/>
                        </a:rPr>
                        <a:t>Relative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Addressing 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Mode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702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R="1543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325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EAEEF7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Indexed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Addressing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Mode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600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R="1543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900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solidFill>
                      <a:srgbClr val="D2DEEE"/>
                    </a:solidFill>
                  </a:tcPr>
                </a:tc>
              </a:tr>
              <a:tr h="37078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Autoincrement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Addressing</a:t>
                      </a:r>
                      <a:r>
                        <a:rPr sz="1800" spc="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Mode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400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R="1543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700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solidFill>
                      <a:srgbClr val="EAEEF7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Autodecrement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Addressing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Mode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399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R="1543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450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solidFill>
                      <a:srgbClr val="D2D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nu Chanti\Desktop\Thank yo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81000"/>
            <a:ext cx="11049000" cy="586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