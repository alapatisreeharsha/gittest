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301" r:id="rId3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4" d="100"/>
          <a:sy n="74" d="100"/>
        </p:scale>
        <p:origin x="1013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310" y="215010"/>
            <a:ext cx="106793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3B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182101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0" y="0"/>
                </a:moveTo>
                <a:lnTo>
                  <a:pt x="2042483" y="0"/>
                </a:lnTo>
                <a:lnTo>
                  <a:pt x="0" y="6857996"/>
                </a:lnTo>
                <a:lnTo>
                  <a:pt x="3006850" y="6857996"/>
                </a:lnTo>
                <a:lnTo>
                  <a:pt x="3006850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4" y="0"/>
                </a:moveTo>
                <a:lnTo>
                  <a:pt x="0" y="0"/>
                </a:lnTo>
                <a:lnTo>
                  <a:pt x="1208190" y="6857996"/>
                </a:lnTo>
                <a:lnTo>
                  <a:pt x="2587664" y="6857996"/>
                </a:lnTo>
                <a:lnTo>
                  <a:pt x="2587664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0" y="6857996"/>
                </a:lnTo>
                <a:lnTo>
                  <a:pt x="2851161" y="6857996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898125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7" y="0"/>
                </a:moveTo>
                <a:lnTo>
                  <a:pt x="1018958" y="0"/>
                </a:lnTo>
                <a:lnTo>
                  <a:pt x="0" y="6857996"/>
                </a:lnTo>
                <a:lnTo>
                  <a:pt x="1290827" y="6857996"/>
                </a:lnTo>
                <a:lnTo>
                  <a:pt x="1290827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0" y="6857996"/>
                </a:lnTo>
                <a:lnTo>
                  <a:pt x="1248203" y="6857996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3B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182101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0" y="0"/>
                </a:moveTo>
                <a:lnTo>
                  <a:pt x="2042483" y="0"/>
                </a:lnTo>
                <a:lnTo>
                  <a:pt x="0" y="6857996"/>
                </a:lnTo>
                <a:lnTo>
                  <a:pt x="3006850" y="6857996"/>
                </a:lnTo>
                <a:lnTo>
                  <a:pt x="3006850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4" y="0"/>
                </a:moveTo>
                <a:lnTo>
                  <a:pt x="0" y="0"/>
                </a:lnTo>
                <a:lnTo>
                  <a:pt x="1208190" y="6857996"/>
                </a:lnTo>
                <a:lnTo>
                  <a:pt x="2587664" y="6857996"/>
                </a:lnTo>
                <a:lnTo>
                  <a:pt x="2587664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0" y="6857996"/>
                </a:lnTo>
                <a:lnTo>
                  <a:pt x="2851161" y="6857996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898125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7" y="0"/>
                </a:moveTo>
                <a:lnTo>
                  <a:pt x="1018958" y="0"/>
                </a:lnTo>
                <a:lnTo>
                  <a:pt x="0" y="6857996"/>
                </a:lnTo>
                <a:lnTo>
                  <a:pt x="1290827" y="6857996"/>
                </a:lnTo>
                <a:lnTo>
                  <a:pt x="1290827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0" y="6857996"/>
                </a:lnTo>
                <a:lnTo>
                  <a:pt x="1248203" y="6857996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508" y="121158"/>
            <a:ext cx="11466982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9460" y="1189482"/>
            <a:ext cx="6015355" cy="2952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4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5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43280" cy="5666740"/>
            </a:xfrm>
            <a:custGeom>
              <a:avLst/>
              <a:gdLst/>
              <a:ahLst/>
              <a:cxnLst/>
              <a:rect l="l" t="t" r="r" b="b"/>
              <a:pathLst>
                <a:path w="843280" h="5666740">
                  <a:moveTo>
                    <a:pt x="842772" y="0"/>
                  </a:moveTo>
                  <a:lnTo>
                    <a:pt x="0" y="0"/>
                  </a:lnTo>
                  <a:lnTo>
                    <a:pt x="0" y="5666232"/>
                  </a:lnTo>
                  <a:lnTo>
                    <a:pt x="842772" y="0"/>
                  </a:lnTo>
                  <a:close/>
                </a:path>
              </a:pathLst>
            </a:custGeom>
            <a:solidFill>
              <a:srgbClr val="90C225">
                <a:alpha val="8509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1999" cy="685799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620014"/>
            <a:ext cx="70631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25" dirty="0"/>
              <a:t>Topics </a:t>
            </a:r>
            <a:r>
              <a:rPr sz="6000" spc="-5" dirty="0"/>
              <a:t>to be</a:t>
            </a:r>
            <a:r>
              <a:rPr sz="6000" spc="40" dirty="0"/>
              <a:t> </a:t>
            </a:r>
            <a:r>
              <a:rPr sz="6000" spc="-5" dirty="0"/>
              <a:t>covered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756310" y="1747875"/>
            <a:ext cx="4514215" cy="2628284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600" spc="27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0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Introduction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  <a:tabLst>
                <a:tab pos="354965" algn="l"/>
              </a:tabLst>
            </a:pPr>
            <a:r>
              <a:rPr sz="1600" spc="27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0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Addition </a:t>
            </a:r>
            <a:r>
              <a:rPr sz="20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000" spc="-9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Subtraction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  <a:tabLst>
                <a:tab pos="354965" algn="l"/>
              </a:tabLst>
            </a:pPr>
            <a:r>
              <a:rPr sz="1600" spc="27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0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Multiplication</a:t>
            </a:r>
            <a:r>
              <a:rPr sz="2000" spc="-204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Algorithms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27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0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Division</a:t>
            </a:r>
            <a:r>
              <a:rPr sz="2000" spc="-14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Algorithms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  <a:tabLst>
                <a:tab pos="354965" algn="l"/>
              </a:tabLst>
            </a:pPr>
            <a:r>
              <a:rPr sz="1600" spc="27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0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Floating-point Arithmetic</a:t>
            </a:r>
            <a:r>
              <a:rPr sz="2000" spc="-19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operations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endParaRPr sz="2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2500" y="1516380"/>
            <a:ext cx="6315456" cy="502005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835" y="111633"/>
            <a:ext cx="2544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11835" y="942593"/>
            <a:ext cx="10626090" cy="534797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55600" marR="241935" indent="-342900">
              <a:lnSpc>
                <a:spcPct val="90000"/>
              </a:lnSpc>
              <a:spcBef>
                <a:spcPts val="360"/>
              </a:spcBef>
              <a:buClr>
                <a:srgbClr val="90C225"/>
              </a:buClr>
              <a:buSzPct val="80000"/>
              <a:buFont typeface="Arial" panose="020B0604020202020204"/>
              <a:buChar char="•"/>
              <a:tabLst>
                <a:tab pos="423545" algn="l"/>
                <a:tab pos="424180" algn="l"/>
              </a:tabLst>
            </a:pPr>
            <a:r>
              <a:rPr sz="2200" spc="-5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Arithmetic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instructions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digital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computers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manipulate data </a:t>
            </a:r>
            <a:r>
              <a:rPr sz="22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produce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results 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necessary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solutions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computational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problems.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These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instructions  perform arithmetic calculations and are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responsible for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bulk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activity 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involved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processing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data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a</a:t>
            </a:r>
            <a:r>
              <a:rPr sz="22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computer.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5600" indent="-342900">
              <a:lnSpc>
                <a:spcPts val="2510"/>
              </a:lnSpc>
              <a:spcBef>
                <a:spcPts val="730"/>
              </a:spcBef>
              <a:buClr>
                <a:srgbClr val="90C225"/>
              </a:buClr>
              <a:buSzPct val="80000"/>
              <a:buFont typeface="Arial" panose="020B0604020202020204"/>
              <a:buChar char="•"/>
              <a:tabLst>
                <a:tab pos="354965" algn="l"/>
                <a:tab pos="355600" algn="l"/>
                <a:tab pos="991235" algn="l"/>
                <a:tab pos="2388235" algn="l"/>
              </a:tabLst>
            </a:pP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	four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basic	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arithmetic operations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addition,subtraction,multiplication</a:t>
            </a:r>
            <a:r>
              <a:rPr sz="2200" spc="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5600">
              <a:lnSpc>
                <a:spcPts val="2510"/>
              </a:lnSpc>
            </a:pP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division.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5600" marR="508635" indent="-342900">
              <a:lnSpc>
                <a:spcPts val="2380"/>
              </a:lnSpc>
              <a:spcBef>
                <a:spcPts val="1045"/>
              </a:spcBef>
              <a:buClr>
                <a:srgbClr val="90C225"/>
              </a:buClr>
              <a:buSzPct val="80000"/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From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these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four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basic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operations , it is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possible </a:t>
            </a:r>
            <a:r>
              <a:rPr sz="22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formulate other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arithmetic 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functions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solve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problems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by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means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numerical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analysis</a:t>
            </a:r>
            <a:r>
              <a:rPr sz="2200" spc="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methods.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5600" indent="-342900">
              <a:lnSpc>
                <a:spcPts val="2510"/>
              </a:lnSpc>
              <a:spcBef>
                <a:spcPts val="690"/>
              </a:spcBef>
              <a:buClr>
                <a:srgbClr val="90C225"/>
              </a:buClr>
              <a:buSzPct val="80000"/>
              <a:buFont typeface="Arial" panose="020B0604020202020204"/>
              <a:buChar char="•"/>
              <a:tabLst>
                <a:tab pos="354965" algn="l"/>
                <a:tab pos="355600" algn="l"/>
                <a:tab pos="5345430" algn="l"/>
              </a:tabLst>
            </a:pP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arithmetic processor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the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pat</a:t>
            </a:r>
            <a:r>
              <a:rPr sz="2200" spc="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	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processor unit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that executes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arithmetic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5600">
              <a:lnSpc>
                <a:spcPts val="2510"/>
              </a:lnSpc>
            </a:pP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operations.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5600" marR="379095" indent="-342900">
              <a:lnSpc>
                <a:spcPts val="2380"/>
              </a:lnSpc>
              <a:spcBef>
                <a:spcPts val="1030"/>
              </a:spcBef>
              <a:buClr>
                <a:srgbClr val="90C225"/>
              </a:buClr>
              <a:buSzPct val="80000"/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arithmetic instruction may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specify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binary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or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decimal data, and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each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case  the data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may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 in fixed-point or floating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point</a:t>
            </a:r>
            <a:r>
              <a:rPr sz="22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form.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5600" indent="-342900">
              <a:lnSpc>
                <a:spcPts val="2510"/>
              </a:lnSpc>
              <a:spcBef>
                <a:spcPts val="705"/>
              </a:spcBef>
              <a:buClr>
                <a:srgbClr val="90C225"/>
              </a:buClr>
              <a:buSzPct val="80000"/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Negative numbers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may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 in signed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magnitude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or signed</a:t>
            </a:r>
            <a:r>
              <a:rPr sz="22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compliment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5600">
              <a:lnSpc>
                <a:spcPts val="2510"/>
              </a:lnSpc>
            </a:pP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representation.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5600" indent="-342900">
              <a:lnSpc>
                <a:spcPct val="100000"/>
              </a:lnSpc>
              <a:spcBef>
                <a:spcPts val="735"/>
              </a:spcBef>
              <a:buClr>
                <a:srgbClr val="90C225"/>
              </a:buClr>
              <a:buSzPct val="80000"/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Fixed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point numbers may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represents integers or</a:t>
            </a:r>
            <a:r>
              <a:rPr sz="2200" spc="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fractions.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405" y="183896"/>
            <a:ext cx="3815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 is</a:t>
            </a:r>
            <a:r>
              <a:rPr spc="-90" dirty="0"/>
              <a:t> </a:t>
            </a:r>
            <a:r>
              <a:rPr dirty="0"/>
              <a:t>algorithm?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7405" y="926033"/>
            <a:ext cx="9920605" cy="481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000"/>
              <a:buFont typeface="Wingdings" panose="05000000000000000000"/>
              <a:buChar char="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solution to any problem that is stated by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finite number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1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well-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defined procedural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steps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called an</a:t>
            </a:r>
            <a:r>
              <a:rPr sz="2400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Algorithm.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</a:pP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400" spc="-5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this </a:t>
            </a:r>
            <a:r>
              <a:rPr lang="en-US"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PPT</a:t>
            </a:r>
            <a:r>
              <a:rPr sz="2400" spc="-5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we develop the </a:t>
            </a:r>
            <a:r>
              <a:rPr sz="2400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various </a:t>
            </a: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arithmetic algorithms and </a:t>
            </a:r>
            <a:r>
              <a:rPr sz="2400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show</a:t>
            </a:r>
            <a:r>
              <a:rPr sz="2400" spc="18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procedure </a:t>
            </a:r>
            <a:r>
              <a:rPr sz="2400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implementing them with digital</a:t>
            </a:r>
            <a:r>
              <a:rPr sz="2400" spc="120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hardware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 marR="495935">
              <a:lnSpc>
                <a:spcPct val="100000"/>
              </a:lnSpc>
              <a:tabLst>
                <a:tab pos="1830705" algn="l"/>
              </a:tabLst>
            </a:pP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we</a:t>
            </a:r>
            <a:r>
              <a:rPr sz="2400" spc="10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consider	</a:t>
            </a:r>
            <a:r>
              <a:rPr sz="2400" spc="-5" dirty="0">
                <a:solidFill>
                  <a:srgbClr val="FFC000"/>
                </a:solidFill>
                <a:latin typeface="Trebuchet MS" panose="020B0603020202020204"/>
                <a:cs typeface="Trebuchet MS" panose="020B0603020202020204"/>
              </a:rPr>
              <a:t>addition,subtraction,multiplication,and division </a:t>
            </a:r>
            <a:r>
              <a:rPr sz="2400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the  following types </a:t>
            </a:r>
            <a:r>
              <a:rPr sz="2400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5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00AFEF"/>
                </a:solidFill>
                <a:latin typeface="Trebuchet MS" panose="020B0603020202020204"/>
                <a:cs typeface="Trebuchet MS" panose="020B0603020202020204"/>
              </a:rPr>
              <a:t>data: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 indent="-343535">
              <a:lnSpc>
                <a:spcPct val="100000"/>
              </a:lnSpc>
              <a:spcBef>
                <a:spcPts val="995"/>
              </a:spcBef>
              <a:buClr>
                <a:srgbClr val="90C225"/>
              </a:buClr>
              <a:buSzPct val="79000"/>
              <a:buFont typeface="Wingdings" panose="05000000000000000000"/>
              <a:buChar char="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Fixed </a:t>
            </a:r>
            <a:r>
              <a:rPr sz="2400" spc="-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point binary data in signed-magnitude</a:t>
            </a:r>
            <a:r>
              <a:rPr sz="2400" spc="90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representation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 indent="-34353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000"/>
              <a:buFont typeface="Wingdings" panose="05000000000000000000"/>
              <a:buChar char="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Fixed </a:t>
            </a:r>
            <a:r>
              <a:rPr sz="2400" spc="-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point binary data in </a:t>
            </a:r>
            <a:r>
              <a:rPr sz="2400" spc="-20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signed-2’s </a:t>
            </a:r>
            <a:r>
              <a:rPr sz="2400" spc="-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compliment</a:t>
            </a:r>
            <a:r>
              <a:rPr sz="2400" spc="140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representation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 indent="-34353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9000"/>
              <a:buFont typeface="Wingdings" panose="05000000000000000000"/>
              <a:buChar char="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Floating point binary</a:t>
            </a:r>
            <a:r>
              <a:rPr sz="2400" spc="4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 indent="-343535">
              <a:lnSpc>
                <a:spcPct val="100000"/>
              </a:lnSpc>
              <a:spcBef>
                <a:spcPts val="995"/>
              </a:spcBef>
              <a:buClr>
                <a:srgbClr val="90C225"/>
              </a:buClr>
              <a:buSzPct val="79000"/>
              <a:buFont typeface="Wingdings" panose="05000000000000000000"/>
              <a:buChar char="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Binary-coded decimal(BCD)</a:t>
            </a:r>
            <a:r>
              <a:rPr sz="2400" spc="7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9F0D2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208026"/>
            <a:ext cx="5189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Trebuchet MS" panose="020B0603020202020204"/>
                <a:cs typeface="Trebuchet MS" panose="020B0603020202020204"/>
              </a:rPr>
              <a:t>Addition </a:t>
            </a:r>
            <a:r>
              <a:rPr i="1" spc="-5" dirty="0">
                <a:latin typeface="Trebuchet MS" panose="020B0603020202020204"/>
                <a:cs typeface="Trebuchet MS" panose="020B0603020202020204"/>
              </a:rPr>
              <a:t>and</a:t>
            </a:r>
            <a:r>
              <a:rPr i="1" spc="-11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i="1" dirty="0">
                <a:latin typeface="Trebuchet MS" panose="020B0603020202020204"/>
                <a:cs typeface="Trebuchet MS" panose="020B0603020202020204"/>
              </a:rPr>
              <a:t>Subtraction</a:t>
            </a:r>
            <a:endParaRPr i="1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310" y="998601"/>
            <a:ext cx="9813290" cy="5014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36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addition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subtraction algorithm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data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signed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magnitude and again data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4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signed-2’s</a:t>
            </a:r>
            <a:r>
              <a:rPr sz="2400" spc="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complement.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 marR="42545" indent="91440" algn="just">
              <a:lnSpc>
                <a:spcPct val="100000"/>
              </a:lnSpc>
              <a:spcBef>
                <a:spcPts val="995"/>
              </a:spcBef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It is important to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realize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that 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adopted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representation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negative 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refers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representation 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 in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before  and after the execution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arithmetic</a:t>
            </a:r>
            <a:r>
              <a:rPr sz="2400" spc="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operations.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</a:pP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12700" algn="just">
              <a:lnSpc>
                <a:spcPct val="100000"/>
              </a:lnSpc>
              <a:spcBef>
                <a:spcPts val="1625"/>
              </a:spcBef>
            </a:pPr>
            <a:r>
              <a:rPr sz="3000" i="1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Addition </a:t>
            </a:r>
            <a:r>
              <a:rPr sz="3000" i="1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and Subtraction with Signed-magnitude</a:t>
            </a:r>
            <a:r>
              <a:rPr sz="3000" i="1" spc="1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i="1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Data:</a:t>
            </a:r>
            <a:endParaRPr sz="3000">
              <a:latin typeface="Trebuchet MS" panose="020B0603020202020204"/>
              <a:cs typeface="Trebuchet MS" panose="020B0603020202020204"/>
            </a:endParaRPr>
          </a:p>
          <a:p>
            <a:pPr marL="12700" marR="25400">
              <a:lnSpc>
                <a:spcPct val="100000"/>
              </a:lnSpc>
              <a:spcBef>
                <a:spcPts val="1010"/>
              </a:spcBef>
              <a:tabLst>
                <a:tab pos="2110740" algn="l"/>
                <a:tab pos="5732145" algn="l"/>
                <a:tab pos="7536815" algn="l"/>
              </a:tabLst>
            </a:pP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The representation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numbers in signed-magnitude is familiar because  it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used in everyday arithmetic calculation.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procedure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1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adding 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400" spc="2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subtracting	two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signed 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binary </a:t>
            </a:r>
            <a:r>
              <a:rPr sz="2400" spc="-1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numbers</a:t>
            </a:r>
            <a:r>
              <a:rPr sz="2400" spc="6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2400" spc="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paper	and </a:t>
            </a:r>
            <a:r>
              <a:rPr sz="2400" spc="-1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pencils 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simple 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and straight-forward.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18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review</a:t>
            </a:r>
            <a:r>
              <a:rPr sz="2400" spc="3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of	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this procedure will be helpful  </a:t>
            </a:r>
            <a:r>
              <a:rPr sz="2400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deriving the hardware</a:t>
            </a:r>
            <a:r>
              <a:rPr sz="2400" spc="3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EBEBEB"/>
                </a:solidFill>
                <a:latin typeface="Trebuchet MS" panose="020B0603020202020204"/>
                <a:cs typeface="Trebuchet MS" panose="020B0603020202020204"/>
              </a:rPr>
              <a:t>algorithm.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20523"/>
            <a:ext cx="19177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Cont.……..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56310" y="572515"/>
            <a:ext cx="10187305" cy="589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designated 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magnitude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two numbers by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B.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when the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signed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subtracted, we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find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that there are eight  different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conditions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40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consider,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depending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on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numbers  and the operation performed. These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conditions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listed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first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column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table </a:t>
            </a:r>
            <a:r>
              <a:rPr sz="2400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below.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other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column in the table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show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actual  operation to be performed with 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magnitude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last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column is needed to prevent negative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zero.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other words</a:t>
            </a:r>
            <a:r>
              <a:rPr sz="2400" spc="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,when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two equal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subtracted,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result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should be +0 not</a:t>
            </a:r>
            <a:r>
              <a:rPr sz="2400" spc="19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-0.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 marR="450215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algorithms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addition and subtraction are derived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from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table  and can be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stated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as follows (the words inside parentheses should be  used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subtraction</a:t>
            </a:r>
            <a:r>
              <a:rPr sz="2400" spc="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algorithm)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 marR="86360">
              <a:lnSpc>
                <a:spcPct val="100000"/>
              </a:lnSpc>
              <a:spcBef>
                <a:spcPts val="995"/>
              </a:spcBef>
              <a:tabLst>
                <a:tab pos="3584575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Addition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(subtraction)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algorithm: when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signs of 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identical  (different),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 the two magnitude and attach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of 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result.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When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of A</a:t>
            </a:r>
            <a:r>
              <a:rPr sz="2400" spc="-2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different (identical),compare the  magnitudes.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4012691"/>
              <a:ext cx="448309" cy="2845435"/>
            </a:xfrm>
            <a:custGeom>
              <a:avLst/>
              <a:gdLst/>
              <a:ahLst/>
              <a:cxnLst/>
              <a:rect l="l" t="t" r="r" b="b"/>
              <a:pathLst>
                <a:path w="448309" h="2845434">
                  <a:moveTo>
                    <a:pt x="0" y="0"/>
                  </a:moveTo>
                  <a:lnTo>
                    <a:pt x="0" y="2845307"/>
                  </a:lnTo>
                  <a:lnTo>
                    <a:pt x="448056" y="28453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6857997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908" y="18999"/>
            <a:ext cx="5396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Hardware</a:t>
            </a:r>
            <a:r>
              <a:rPr spc="-85" dirty="0"/>
              <a:t> </a:t>
            </a:r>
            <a:r>
              <a:rPr spc="-5" dirty="0"/>
              <a:t>implementation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26008" y="876680"/>
            <a:ext cx="11064240" cy="4542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118110">
              <a:lnSpc>
                <a:spcPct val="100000"/>
              </a:lnSpc>
              <a:spcBef>
                <a:spcPts val="100"/>
              </a:spcBef>
              <a:tabLst>
                <a:tab pos="517525" algn="l"/>
                <a:tab pos="2617470" algn="l"/>
                <a:tab pos="6138545" algn="l"/>
              </a:tabLst>
            </a:pPr>
            <a:r>
              <a:rPr sz="2400" spc="-1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implement the two arithmetic operations with hardware,it is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first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necessary  that the two numbers be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stored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registers.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 two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that  hold 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magnitude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numbers,</a:t>
            </a:r>
            <a:r>
              <a:rPr sz="2400" spc="1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1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15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B</a:t>
            </a:r>
            <a:r>
              <a:rPr sz="2400" spc="-7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 two flipflops that hold  the corresponding signs. The results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operation may be transferred to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third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</a:t>
            </a:r>
            <a:r>
              <a:rPr sz="2400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however,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saving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achieved if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result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transferred into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 A</a:t>
            </a:r>
            <a:r>
              <a:rPr sz="2400" spc="-7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thus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1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7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together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from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accumulator</a:t>
            </a:r>
            <a:r>
              <a:rPr sz="2400" spc="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01600" marR="43180">
              <a:lnSpc>
                <a:spcPct val="100000"/>
              </a:lnSpc>
              <a:spcBef>
                <a:spcPts val="1000"/>
              </a:spcBef>
              <a:tabLst>
                <a:tab pos="1099185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Consider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now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hardware implementation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algorithms above.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First, a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parallel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needed to perform the micro operation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A+B.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second,  comparator circuit is needed to establish if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A&gt;B, A=B, or A&lt;B.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third, two  parallel subtractor circuits are needed to perform the micro operation </a:t>
            </a:r>
            <a:r>
              <a:rPr sz="24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A-B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 B-A. The sign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relationship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can be determined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from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 exclusive-OR gate with A</a:t>
            </a:r>
            <a:r>
              <a:rPr sz="2400" spc="-7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</a:t>
            </a:r>
            <a:r>
              <a:rPr sz="2400" spc="-7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as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inputs.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56310" y="4814581"/>
            <a:ext cx="8265795" cy="11944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output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carry is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transferred to flip-flop</a:t>
            </a:r>
            <a:r>
              <a:rPr sz="2000" spc="-1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  <a:tabLst>
                <a:tab pos="1352550" algn="l"/>
              </a:tabLst>
            </a:pP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complementer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consists of exclusive-OR gates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the parallel</a:t>
            </a:r>
            <a:r>
              <a:rPr sz="2000" spc="-2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adder 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consists</a:t>
            </a:r>
            <a:r>
              <a:rPr sz="2000" spc="-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	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full adder</a:t>
            </a:r>
            <a:r>
              <a:rPr sz="200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circuit.</a:t>
            </a:r>
            <a:endParaRPr sz="2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523"/>
            <a:ext cx="9994392" cy="481126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0110" y="108330"/>
            <a:ext cx="4107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Hardware</a:t>
            </a:r>
            <a:r>
              <a:rPr spc="-95" dirty="0"/>
              <a:t> </a:t>
            </a:r>
            <a:r>
              <a:rPr spc="-5" dirty="0"/>
              <a:t>algorithm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1143000" y="704073"/>
            <a:ext cx="9944100" cy="615392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7710" y="265303"/>
            <a:ext cx="10732135" cy="624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  <a:tabLst>
                <a:tab pos="2439035" algn="l"/>
              </a:tabLst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two</a:t>
            </a:r>
            <a:r>
              <a:rPr sz="24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signs</a:t>
            </a:r>
            <a:r>
              <a:rPr sz="2400" spc="-1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7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B</a:t>
            </a:r>
            <a:r>
              <a:rPr sz="2400" spc="-7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compared by an exclusive-OR gate</a:t>
            </a:r>
            <a:r>
              <a:rPr sz="2400" spc="-1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8900" marR="55880">
              <a:lnSpc>
                <a:spcPct val="100000"/>
              </a:lnSpc>
              <a:tabLst>
                <a:tab pos="7127875" algn="l"/>
                <a:tab pos="9294495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an add operation, identical signs dictate that 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magnitudes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added,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subtract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operation different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dictate that</a:t>
            </a:r>
            <a:r>
              <a:rPr sz="2400" spc="1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magnitudes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</a:t>
            </a:r>
            <a:r>
              <a:rPr sz="2400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added.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magnitudes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with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1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micro</a:t>
            </a:r>
            <a:r>
              <a:rPr sz="24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operation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 A</a:t>
            </a:r>
            <a:r>
              <a:rPr sz="240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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A+B..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Where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 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 register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that combines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2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Trebuchet MS" panose="020B0603020202020204"/>
              <a:cs typeface="Trebuchet MS" panose="020B0603020202020204"/>
            </a:endParaRPr>
          </a:p>
          <a:p>
            <a:pPr marL="88900" marR="584835">
              <a:lnSpc>
                <a:spcPct val="100000"/>
              </a:lnSpc>
              <a:tabLst>
                <a:tab pos="3962400" algn="l"/>
              </a:tabLst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A 0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indicates that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A&lt;B, for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this case it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necessary to take the </a:t>
            </a:r>
            <a:r>
              <a:rPr sz="2400" spc="-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2’s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compliment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value</a:t>
            </a:r>
            <a:r>
              <a:rPr sz="2400" spc="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.this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operation can be done with one micro  operation</a:t>
            </a:r>
            <a:r>
              <a:rPr sz="2400" spc="-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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Ā+1.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rebuchet MS" panose="020B0603020202020204"/>
              <a:cs typeface="Trebuchet MS" panose="020B0603020202020204"/>
            </a:endParaRPr>
          </a:p>
          <a:p>
            <a:pPr marL="88900" marR="27813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However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, we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assume that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as circuits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micro operation  compliment and increment,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so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2’s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compliment is obtain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from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these two  micro operations…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8900" marR="3696335">
              <a:lnSpc>
                <a:spcPct val="200000"/>
              </a:lnSpc>
              <a:spcBef>
                <a:spcPts val="5"/>
              </a:spcBef>
              <a:tabLst>
                <a:tab pos="2614930" algn="l"/>
              </a:tabLst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value</a:t>
            </a:r>
            <a:r>
              <a:rPr sz="24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AVF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provides an overflow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indication.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final value of 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4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immaterial.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Addition </a:t>
            </a:r>
            <a:r>
              <a:rPr spc="-5" dirty="0"/>
              <a:t>and Subtraction with </a:t>
            </a:r>
            <a:r>
              <a:rPr spc="-35" dirty="0"/>
              <a:t>signed2’s </a:t>
            </a:r>
            <a:r>
              <a:rPr spc="-5" dirty="0"/>
              <a:t>complement  data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2508" y="1446657"/>
            <a:ext cx="10659745" cy="4740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08915">
              <a:lnSpc>
                <a:spcPct val="100000"/>
              </a:lnSpc>
              <a:spcBef>
                <a:spcPts val="105"/>
              </a:spcBef>
              <a:tabLst>
                <a:tab pos="3723640" algn="l"/>
              </a:tabLst>
            </a:pP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left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most bit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binary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represents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bit;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0 for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positive and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  for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negative. If the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</a:t>
            </a:r>
            <a:r>
              <a:rPr sz="23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	is 1, the entire the entire number is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represented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 </a:t>
            </a:r>
            <a:r>
              <a:rPr sz="2300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2’s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compliment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form.</a:t>
            </a:r>
            <a:endParaRPr sz="2300">
              <a:latin typeface="Trebuchet MS" panose="020B0603020202020204"/>
              <a:cs typeface="Trebuchet MS" panose="020B0603020202020204"/>
            </a:endParaRPr>
          </a:p>
          <a:p>
            <a:pPr marL="12700" marR="24130">
              <a:lnSpc>
                <a:spcPct val="100000"/>
              </a:lnSpc>
              <a:spcBef>
                <a:spcPts val="995"/>
              </a:spcBef>
              <a:tabLst>
                <a:tab pos="2195830" algn="l"/>
              </a:tabLst>
            </a:pP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addition</a:t>
            </a:r>
            <a:r>
              <a:rPr sz="23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	two numbers in </a:t>
            </a:r>
            <a:r>
              <a:rPr sz="23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signed-2’s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complement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form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consists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adding  the number with the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bits treated the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same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as the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other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bits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number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  A carry out of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 position is discarded</a:t>
            </a:r>
            <a:r>
              <a:rPr sz="2300" spc="-2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230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00000"/>
              </a:lnSpc>
              <a:spcBef>
                <a:spcPts val="1010"/>
              </a:spcBef>
            </a:pP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subtraction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consists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first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taking the </a:t>
            </a:r>
            <a:r>
              <a:rPr sz="2300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2’s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compliment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subtrahend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 then adding it to the</a:t>
            </a:r>
            <a:r>
              <a:rPr sz="230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minuend</a:t>
            </a:r>
            <a:endParaRPr sz="23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When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two numbers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n digits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each are added and the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sum occupies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n+1</a:t>
            </a:r>
            <a:r>
              <a:rPr sz="2300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Digits,</a:t>
            </a:r>
            <a:endParaRPr sz="23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we say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that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 overflow</a:t>
            </a:r>
            <a:r>
              <a:rPr sz="2300" spc="-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occurred.</a:t>
            </a:r>
            <a:endParaRPr sz="2300">
              <a:latin typeface="Trebuchet MS" panose="020B0603020202020204"/>
              <a:cs typeface="Trebuchet MS" panose="020B0603020202020204"/>
            </a:endParaRPr>
          </a:p>
          <a:p>
            <a:pPr marL="12700" marR="932180">
              <a:lnSpc>
                <a:spcPct val="100000"/>
              </a:lnSpc>
              <a:spcBef>
                <a:spcPts val="1000"/>
              </a:spcBef>
              <a:tabLst>
                <a:tab pos="3987800" algn="l"/>
              </a:tabLst>
            </a:pP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When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two carries are applied to an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exclusive-OR gate,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overflow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 detected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when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3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output</a:t>
            </a:r>
            <a:r>
              <a:rPr sz="23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	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gate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equal to</a:t>
            </a:r>
            <a:r>
              <a:rPr sz="2300" spc="-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1.</a:t>
            </a:r>
            <a:endParaRPr sz="23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56310" y="5544413"/>
            <a:ext cx="9743440" cy="110172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  <a:tab pos="3582670" algn="l"/>
              </a:tabLst>
            </a:pPr>
            <a:r>
              <a:rPr sz="1450" spc="235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left most bit in AC</a:t>
            </a:r>
            <a:r>
              <a:rPr sz="18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BR	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represents the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bits of the</a:t>
            </a:r>
            <a:r>
              <a:rPr sz="1800" spc="-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355600" marR="5080" indent="-342900">
              <a:lnSpc>
                <a:spcPct val="100000"/>
              </a:lnSpc>
              <a:spcBef>
                <a:spcPts val="995"/>
              </a:spcBef>
              <a:tabLst>
                <a:tab pos="354965" algn="l"/>
                <a:tab pos="3096260" algn="l"/>
              </a:tabLst>
            </a:pPr>
            <a:r>
              <a:rPr sz="1450" spc="235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over flow</a:t>
            </a:r>
            <a:r>
              <a:rPr sz="1800" spc="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flip-flops</a:t>
            </a:r>
            <a:r>
              <a:rPr sz="18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V	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set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if there is an </a:t>
            </a:r>
            <a:r>
              <a:rPr sz="1800" spc="-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overflow.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output carry in this case is  discarded.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6655" y="0"/>
            <a:ext cx="10058400" cy="5600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2010" y="5577636"/>
            <a:ext cx="93141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235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sum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obtained by adding the 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contents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AC and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BR(including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their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bits).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 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overflow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V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set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if the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ex-OR of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last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two carries is 1,and it is cleared to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0 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otherwise.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2355" y="190500"/>
            <a:ext cx="9965436" cy="526999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808" y="133299"/>
            <a:ext cx="9093200" cy="1812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Multiplication</a:t>
            </a:r>
            <a:r>
              <a:rPr spc="-50" dirty="0"/>
              <a:t> </a:t>
            </a:r>
            <a:r>
              <a:rPr spc="-5" dirty="0"/>
              <a:t>algorithms:-</a:t>
            </a:r>
            <a:endParaRPr spc="-5" dirty="0"/>
          </a:p>
          <a:p>
            <a:pPr marL="12700" marR="5080" algn="just">
              <a:lnSpc>
                <a:spcPct val="100000"/>
              </a:lnSpc>
              <a:spcBef>
                <a:spcPts val="25"/>
              </a:spcBef>
            </a:pPr>
            <a:r>
              <a:rPr sz="2700" spc="-10" dirty="0">
                <a:solidFill>
                  <a:srgbClr val="FFFFFF"/>
                </a:solidFill>
              </a:rPr>
              <a:t>multiplication </a:t>
            </a:r>
            <a:r>
              <a:rPr sz="2700" dirty="0">
                <a:solidFill>
                  <a:srgbClr val="FFFFFF"/>
                </a:solidFill>
              </a:rPr>
              <a:t>of </a:t>
            </a:r>
            <a:r>
              <a:rPr sz="2700" spc="-5" dirty="0">
                <a:solidFill>
                  <a:srgbClr val="FFFFFF"/>
                </a:solidFill>
              </a:rPr>
              <a:t>two </a:t>
            </a:r>
            <a:r>
              <a:rPr sz="2700" dirty="0">
                <a:solidFill>
                  <a:srgbClr val="FFFFFF"/>
                </a:solidFill>
              </a:rPr>
              <a:t>fixed </a:t>
            </a:r>
            <a:r>
              <a:rPr sz="2700" spc="-5" dirty="0">
                <a:solidFill>
                  <a:srgbClr val="FFFFFF"/>
                </a:solidFill>
              </a:rPr>
              <a:t>point </a:t>
            </a:r>
            <a:r>
              <a:rPr sz="2700" spc="-10" dirty="0">
                <a:solidFill>
                  <a:srgbClr val="FFFFFF"/>
                </a:solidFill>
              </a:rPr>
              <a:t>binary </a:t>
            </a:r>
            <a:r>
              <a:rPr sz="2700" spc="-5" dirty="0">
                <a:solidFill>
                  <a:srgbClr val="FFFFFF"/>
                </a:solidFill>
              </a:rPr>
              <a:t>numbers in </a:t>
            </a:r>
            <a:r>
              <a:rPr sz="2700" dirty="0">
                <a:solidFill>
                  <a:srgbClr val="FFFFFF"/>
                </a:solidFill>
              </a:rPr>
              <a:t>signed  </a:t>
            </a:r>
            <a:r>
              <a:rPr sz="2700" spc="-5" dirty="0">
                <a:solidFill>
                  <a:srgbClr val="FFFFFF"/>
                </a:solidFill>
              </a:rPr>
              <a:t>magnitude representation is done with paper and pencil </a:t>
            </a:r>
            <a:r>
              <a:rPr sz="2700" dirty="0">
                <a:solidFill>
                  <a:srgbClr val="FFFFFF"/>
                </a:solidFill>
              </a:rPr>
              <a:t>of  </a:t>
            </a:r>
            <a:r>
              <a:rPr sz="2700" spc="-5" dirty="0">
                <a:solidFill>
                  <a:srgbClr val="FFFFFF"/>
                </a:solidFill>
              </a:rPr>
              <a:t>successive </a:t>
            </a:r>
            <a:r>
              <a:rPr sz="2700" dirty="0">
                <a:solidFill>
                  <a:srgbClr val="FFFFFF"/>
                </a:solidFill>
              </a:rPr>
              <a:t>shift </a:t>
            </a:r>
            <a:r>
              <a:rPr sz="2700" spc="-5" dirty="0">
                <a:solidFill>
                  <a:srgbClr val="FFFFFF"/>
                </a:solidFill>
              </a:rPr>
              <a:t>and add</a:t>
            </a:r>
            <a:r>
              <a:rPr sz="2700" spc="-30" dirty="0">
                <a:solidFill>
                  <a:srgbClr val="FFFFFF"/>
                </a:solidFill>
              </a:rPr>
              <a:t> </a:t>
            </a:r>
            <a:r>
              <a:rPr sz="2700" spc="-5" dirty="0">
                <a:solidFill>
                  <a:srgbClr val="FFFFFF"/>
                </a:solidFill>
              </a:rPr>
              <a:t>operation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476808" y="5077205"/>
            <a:ext cx="80937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223135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if the multiplier bit is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1,the multiplicand is copied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down;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otherwise</a:t>
            </a:r>
            <a:r>
              <a:rPr sz="2400" spc="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zero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copied</a:t>
            </a:r>
            <a:r>
              <a:rPr sz="24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down.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52472" y="1930907"/>
            <a:ext cx="4922520" cy="275539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508" y="122682"/>
            <a:ext cx="97345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Hardware Implementation </a:t>
            </a:r>
            <a:r>
              <a:rPr sz="3200" dirty="0"/>
              <a:t>for Signed-Magnitude</a:t>
            </a:r>
            <a:r>
              <a:rPr sz="3200" spc="35" dirty="0"/>
              <a:t> </a:t>
            </a:r>
            <a:r>
              <a:rPr sz="3200" spc="-5" dirty="0"/>
              <a:t>data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86308" y="1030604"/>
            <a:ext cx="10562590" cy="556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1800" marR="83820" indent="-342900">
              <a:lnSpc>
                <a:spcPct val="100000"/>
              </a:lnSpc>
              <a:spcBef>
                <a:spcPts val="95"/>
              </a:spcBef>
              <a:tabLst>
                <a:tab pos="431165" algn="l"/>
                <a:tab pos="2991485" algn="l"/>
                <a:tab pos="5146675" algn="l"/>
              </a:tabLst>
            </a:pPr>
            <a:r>
              <a:rPr sz="1750" spc="315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When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multiplication</a:t>
            </a:r>
            <a:r>
              <a:rPr sz="2200" spc="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200" spc="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implemented	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a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digital </a:t>
            </a:r>
            <a:r>
              <a:rPr sz="220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computer,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it is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convenient to  change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the</a:t>
            </a:r>
            <a:r>
              <a:rPr sz="22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process	</a:t>
            </a:r>
            <a:r>
              <a:rPr sz="2200" spc="-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slightly.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First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instead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providing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to store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add 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simultaneously as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many binary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 as there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bits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multiplier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, as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it 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convenient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provide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adder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the summation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only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two binary 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successively accumulate the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partial products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a </a:t>
            </a:r>
            <a:r>
              <a:rPr sz="220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register.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Second 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instead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shifting the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multiplicand </a:t>
            </a:r>
            <a:r>
              <a:rPr sz="22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left , the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partial product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shifted </a:t>
            </a:r>
            <a:r>
              <a:rPr sz="22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right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431800" marR="530225" indent="-342900">
              <a:lnSpc>
                <a:spcPct val="100000"/>
              </a:lnSpc>
              <a:spcBef>
                <a:spcPts val="1000"/>
              </a:spcBef>
              <a:tabLst>
                <a:tab pos="431165" algn="l"/>
              </a:tabLst>
            </a:pPr>
            <a:r>
              <a:rPr sz="1750" spc="315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hardware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multiplication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consists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the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equipment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shown in fig.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plus  two are more</a:t>
            </a:r>
            <a:r>
              <a:rPr sz="22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registers.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88900">
              <a:lnSpc>
                <a:spcPct val="100000"/>
              </a:lnSpc>
              <a:spcBef>
                <a:spcPts val="1010"/>
              </a:spcBef>
              <a:tabLst>
                <a:tab pos="431165" algn="l"/>
                <a:tab pos="2983230" algn="l"/>
              </a:tabLst>
            </a:pPr>
            <a:r>
              <a:rPr sz="1750" spc="315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These</a:t>
            </a:r>
            <a:r>
              <a:rPr sz="22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registers</a:t>
            </a:r>
            <a:r>
              <a:rPr sz="22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	together with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registers A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200" spc="-2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B..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431800" marR="68580" indent="-342900">
              <a:lnSpc>
                <a:spcPct val="100000"/>
              </a:lnSpc>
              <a:spcBef>
                <a:spcPts val="995"/>
              </a:spcBef>
              <a:tabLst>
                <a:tab pos="431165" algn="l"/>
                <a:tab pos="7205980" algn="l"/>
                <a:tab pos="7632700" algn="l"/>
                <a:tab pos="8268970" algn="l"/>
              </a:tabLst>
            </a:pPr>
            <a:r>
              <a:rPr sz="1750" spc="32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multiplier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stored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Q register and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its</a:t>
            </a:r>
            <a:r>
              <a:rPr sz="2200" spc="1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</a:t>
            </a:r>
            <a:r>
              <a:rPr sz="2200" spc="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	</a:t>
            </a:r>
            <a:r>
              <a:rPr sz="22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</a:t>
            </a:r>
            <a:r>
              <a:rPr sz="2175" spc="7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	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	sequence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counter 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SC is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initially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set to a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equal to the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bits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200" spc="-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multiplier.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 counter is decremented by 1 after forming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each partial product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88900">
              <a:lnSpc>
                <a:spcPct val="100000"/>
              </a:lnSpc>
              <a:spcBef>
                <a:spcPts val="1000"/>
              </a:spcBef>
              <a:tabLst>
                <a:tab pos="431165" algn="l"/>
              </a:tabLst>
            </a:pPr>
            <a:r>
              <a:rPr sz="1750" spc="315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sum of A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 forms a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partial product which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transferred </a:t>
            </a:r>
            <a:r>
              <a:rPr sz="22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1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EA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431800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</a:t>
            </a:r>
            <a:r>
              <a:rPr sz="22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56310" y="4718380"/>
            <a:ext cx="982789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shift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will be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denoted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by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statement shr EAQ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designate</a:t>
            </a:r>
            <a:r>
              <a:rPr sz="2400" spc="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right shift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depicted</a:t>
            </a:r>
            <a:r>
              <a:rPr sz="2400" spc="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least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significant bit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shifted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into the most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significant</a:t>
            </a:r>
            <a:r>
              <a:rPr sz="2400" spc="-19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position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6655" y="88392"/>
            <a:ext cx="9665208" cy="46101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07" y="18999"/>
            <a:ext cx="42525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9010" algn="l"/>
              </a:tabLst>
            </a:pPr>
            <a:r>
              <a:rPr spc="-5" dirty="0"/>
              <a:t>Hardwar</a:t>
            </a:r>
            <a:r>
              <a:rPr dirty="0"/>
              <a:t>e	Algorithm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60807" y="828802"/>
            <a:ext cx="10527030" cy="517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  <a:tabLst>
                <a:tab pos="1172210" algn="l"/>
                <a:tab pos="1348105" algn="l"/>
              </a:tabLst>
            </a:pP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Below fig.is	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flowchart of the hardware multiply algorithm.. Initially the multiplicand is in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the  multiplier	in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there corresponding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signs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in </a:t>
            </a:r>
            <a:r>
              <a:rPr sz="1800" spc="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</a:t>
            </a:r>
            <a:r>
              <a:rPr sz="1800" spc="22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</a:t>
            </a:r>
            <a:r>
              <a:rPr sz="1800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</a:t>
            </a:r>
            <a:r>
              <a:rPr sz="1800" spc="-127" baseline="-21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.,respectively.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25400" marR="4737100">
              <a:lnSpc>
                <a:spcPct val="100000"/>
              </a:lnSpc>
              <a:spcBef>
                <a:spcPts val="995"/>
              </a:spcBef>
              <a:tabLst>
                <a:tab pos="1606550" algn="l"/>
              </a:tabLst>
            </a:pPr>
            <a:r>
              <a:rPr sz="18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</a:t>
            </a:r>
            <a:r>
              <a:rPr sz="1800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80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	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cleared and the sequence 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counter 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SG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set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 equal to the number of bits of 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 </a:t>
            </a:r>
            <a:r>
              <a:rPr sz="18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multiplier.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25400" marR="4391025" algn="just">
              <a:lnSpc>
                <a:spcPct val="100000"/>
              </a:lnSpc>
              <a:spcBef>
                <a:spcPts val="1000"/>
              </a:spcBef>
            </a:pP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After the initialization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,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low order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the multiplier  is in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Qn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tested .if it is 1,the multiplicand In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added to  the present partial product in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.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If it is 0, nothing is done</a:t>
            </a:r>
            <a:r>
              <a:rPr sz="1800" spc="-2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25400" marR="4815205">
              <a:lnSpc>
                <a:spcPct val="100000"/>
              </a:lnSpc>
              <a:spcBef>
                <a:spcPts val="1010"/>
              </a:spcBef>
              <a:tabLst>
                <a:tab pos="3487420" algn="l"/>
              </a:tabLst>
            </a:pPr>
            <a:r>
              <a:rPr sz="18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EAQ shifted once</a:t>
            </a:r>
            <a:r>
              <a:rPr sz="1800" spc="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8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	right to form the</a:t>
            </a:r>
            <a:r>
              <a:rPr sz="1800" spc="-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new  partial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product.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25400">
              <a:lnSpc>
                <a:spcPct val="100000"/>
              </a:lnSpc>
              <a:spcBef>
                <a:spcPts val="995"/>
              </a:spcBef>
            </a:pP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process stops when</a:t>
            </a:r>
            <a:r>
              <a:rPr sz="1800" spc="-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SC=0.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25400">
              <a:lnSpc>
                <a:spcPct val="100000"/>
              </a:lnSpc>
              <a:spcBef>
                <a:spcPts val="995"/>
              </a:spcBef>
            </a:pP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Note that the partial product formed in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shifted into</a:t>
            </a:r>
            <a:r>
              <a:rPr sz="1800" spc="-2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one bit at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time and eventually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replaces</a:t>
            </a:r>
            <a:r>
              <a:rPr sz="18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multiplier.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25400" marR="4339590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final product</a:t>
            </a:r>
            <a:r>
              <a:rPr sz="1800" spc="-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available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both</a:t>
            </a:r>
            <a:r>
              <a:rPr sz="1800" spc="-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800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Q,with</a:t>
            </a:r>
            <a:r>
              <a:rPr sz="1800" spc="-1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800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holding  the most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significant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bits and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holding the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least significant 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bits.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15100" y="1397508"/>
            <a:ext cx="5676900" cy="546049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046" y="18999"/>
            <a:ext cx="62674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Booth </a:t>
            </a:r>
            <a:r>
              <a:rPr spc="-5" dirty="0"/>
              <a:t>Multiplication</a:t>
            </a:r>
            <a:r>
              <a:rPr spc="-285" dirty="0"/>
              <a:t> </a:t>
            </a:r>
            <a:r>
              <a:rPr dirty="0"/>
              <a:t>Algorithm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49046" y="958418"/>
            <a:ext cx="9701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24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Booth Algorithm gives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procedure 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multiplying binary integers in 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signed-2’s</a:t>
            </a:r>
            <a:r>
              <a:rPr sz="1800" spc="-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compliment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representation</a:t>
            </a:r>
            <a:r>
              <a:rPr sz="18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6493" y="1458467"/>
            <a:ext cx="11191240" cy="5443855"/>
            <a:chOff x="126493" y="1458467"/>
            <a:chExt cx="11191240" cy="5443855"/>
          </a:xfrm>
        </p:grpSpPr>
        <p:sp>
          <p:nvSpPr>
            <p:cNvPr id="5" name="object 5"/>
            <p:cNvSpPr/>
            <p:nvPr/>
          </p:nvSpPr>
          <p:spPr>
            <a:xfrm>
              <a:off x="126493" y="1458467"/>
              <a:ext cx="11190732" cy="5399531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0915" y="1802891"/>
              <a:ext cx="10501884" cy="50551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26720" y="1758695"/>
              <a:ext cx="10590530" cy="5099685"/>
            </a:xfrm>
            <a:custGeom>
              <a:avLst/>
              <a:gdLst/>
              <a:ahLst/>
              <a:cxnLst/>
              <a:rect l="l" t="t" r="r" b="b"/>
              <a:pathLst>
                <a:path w="10590530" h="5099684">
                  <a:moveTo>
                    <a:pt x="1266063" y="0"/>
                  </a:moveTo>
                  <a:lnTo>
                    <a:pt x="9373743" y="0"/>
                  </a:lnTo>
                  <a:lnTo>
                    <a:pt x="9435719" y="1650"/>
                  </a:lnTo>
                  <a:lnTo>
                    <a:pt x="9497441" y="6223"/>
                  </a:lnTo>
                  <a:lnTo>
                    <a:pt x="9558401" y="13969"/>
                  </a:lnTo>
                  <a:lnTo>
                    <a:pt x="9618472" y="24637"/>
                  </a:lnTo>
                  <a:lnTo>
                    <a:pt x="9677527" y="38353"/>
                  </a:lnTo>
                  <a:lnTo>
                    <a:pt x="9735058" y="54737"/>
                  </a:lnTo>
                  <a:lnTo>
                    <a:pt x="9791573" y="73659"/>
                  </a:lnTo>
                  <a:lnTo>
                    <a:pt x="9846945" y="95630"/>
                  </a:lnTo>
                  <a:lnTo>
                    <a:pt x="9900793" y="120268"/>
                  </a:lnTo>
                  <a:lnTo>
                    <a:pt x="9953879" y="147192"/>
                  </a:lnTo>
                  <a:lnTo>
                    <a:pt x="10053574" y="207899"/>
                  </a:lnTo>
                  <a:lnTo>
                    <a:pt x="10147427" y="278002"/>
                  </a:lnTo>
                  <a:lnTo>
                    <a:pt x="10233914" y="356615"/>
                  </a:lnTo>
                  <a:lnTo>
                    <a:pt x="10312527" y="443102"/>
                  </a:lnTo>
                  <a:lnTo>
                    <a:pt x="10382504" y="536955"/>
                  </a:lnTo>
                  <a:lnTo>
                    <a:pt x="10443210" y="636651"/>
                  </a:lnTo>
                  <a:lnTo>
                    <a:pt x="10470261" y="689737"/>
                  </a:lnTo>
                  <a:lnTo>
                    <a:pt x="10494899" y="743584"/>
                  </a:lnTo>
                  <a:lnTo>
                    <a:pt x="10516743" y="798956"/>
                  </a:lnTo>
                  <a:lnTo>
                    <a:pt x="10535793" y="855852"/>
                  </a:lnTo>
                  <a:lnTo>
                    <a:pt x="10552176" y="913383"/>
                  </a:lnTo>
                  <a:lnTo>
                    <a:pt x="10565765" y="972312"/>
                  </a:lnTo>
                  <a:lnTo>
                    <a:pt x="10576560" y="1032001"/>
                  </a:lnTo>
                  <a:lnTo>
                    <a:pt x="10584307" y="1093089"/>
                  </a:lnTo>
                  <a:lnTo>
                    <a:pt x="10588879" y="1155191"/>
                  </a:lnTo>
                  <a:lnTo>
                    <a:pt x="10590530" y="1217167"/>
                  </a:lnTo>
                  <a:lnTo>
                    <a:pt x="10590530" y="3877779"/>
                  </a:lnTo>
                  <a:lnTo>
                    <a:pt x="10588879" y="3942168"/>
                  </a:lnTo>
                  <a:lnTo>
                    <a:pt x="10583926" y="4006621"/>
                  </a:lnTo>
                  <a:lnTo>
                    <a:pt x="10576052" y="4070057"/>
                  </a:lnTo>
                  <a:lnTo>
                    <a:pt x="10564622" y="4132592"/>
                  </a:lnTo>
                  <a:lnTo>
                    <a:pt x="10550652" y="4193705"/>
                  </a:lnTo>
                  <a:lnTo>
                    <a:pt x="10533761" y="4253903"/>
                  </a:lnTo>
                  <a:lnTo>
                    <a:pt x="10513568" y="4312754"/>
                  </a:lnTo>
                  <a:lnTo>
                    <a:pt x="10490962" y="4370324"/>
                  </a:lnTo>
                  <a:lnTo>
                    <a:pt x="10465435" y="4426280"/>
                  </a:lnTo>
                  <a:lnTo>
                    <a:pt x="10437495" y="4480890"/>
                  </a:lnTo>
                  <a:lnTo>
                    <a:pt x="10407141" y="4533938"/>
                  </a:lnTo>
                  <a:lnTo>
                    <a:pt x="10373868" y="4585804"/>
                  </a:lnTo>
                  <a:lnTo>
                    <a:pt x="10301478" y="4682845"/>
                  </a:lnTo>
                  <a:lnTo>
                    <a:pt x="10219563" y="4772888"/>
                  </a:lnTo>
                  <a:lnTo>
                    <a:pt x="10129520" y="4854727"/>
                  </a:lnTo>
                  <a:lnTo>
                    <a:pt x="10032491" y="4927193"/>
                  </a:lnTo>
                  <a:lnTo>
                    <a:pt x="9980676" y="4960391"/>
                  </a:lnTo>
                  <a:lnTo>
                    <a:pt x="9927716" y="4990783"/>
                  </a:lnTo>
                  <a:lnTo>
                    <a:pt x="9873361" y="5018741"/>
                  </a:lnTo>
                  <a:lnTo>
                    <a:pt x="9816973" y="5044271"/>
                  </a:lnTo>
                  <a:lnTo>
                    <a:pt x="9759315" y="5066916"/>
                  </a:lnTo>
                  <a:lnTo>
                    <a:pt x="9700641" y="5086629"/>
                  </a:lnTo>
                  <a:lnTo>
                    <a:pt x="9656576" y="5099302"/>
                  </a:lnTo>
                </a:path>
                <a:path w="10590530" h="5099684">
                  <a:moveTo>
                    <a:pt x="891754" y="5099302"/>
                  </a:moveTo>
                  <a:lnTo>
                    <a:pt x="799007" y="5070092"/>
                  </a:lnTo>
                  <a:lnTo>
                    <a:pt x="743610" y="5048181"/>
                  </a:lnTo>
                  <a:lnTo>
                    <a:pt x="689686" y="5023482"/>
                  </a:lnTo>
                  <a:lnTo>
                    <a:pt x="637006" y="4996519"/>
                  </a:lnTo>
                  <a:lnTo>
                    <a:pt x="536994" y="4935855"/>
                  </a:lnTo>
                  <a:lnTo>
                    <a:pt x="443090" y="4865839"/>
                  </a:lnTo>
                  <a:lnTo>
                    <a:pt x="356603" y="4787176"/>
                  </a:lnTo>
                  <a:lnTo>
                    <a:pt x="277939" y="4700689"/>
                  </a:lnTo>
                  <a:lnTo>
                    <a:pt x="207949" y="4606823"/>
                  </a:lnTo>
                  <a:lnTo>
                    <a:pt x="147320" y="4507268"/>
                  </a:lnTo>
                  <a:lnTo>
                    <a:pt x="119875" y="4454042"/>
                  </a:lnTo>
                  <a:lnTo>
                    <a:pt x="95554" y="4400042"/>
                  </a:lnTo>
                  <a:lnTo>
                    <a:pt x="73710" y="4344822"/>
                  </a:lnTo>
                  <a:lnTo>
                    <a:pt x="54762" y="4288396"/>
                  </a:lnTo>
                  <a:lnTo>
                    <a:pt x="38303" y="4230763"/>
                  </a:lnTo>
                  <a:lnTo>
                    <a:pt x="24688" y="4171810"/>
                  </a:lnTo>
                  <a:lnTo>
                    <a:pt x="13995" y="4111713"/>
                  </a:lnTo>
                  <a:lnTo>
                    <a:pt x="6159" y="4050715"/>
                  </a:lnTo>
                  <a:lnTo>
                    <a:pt x="1625" y="3988955"/>
                  </a:lnTo>
                  <a:lnTo>
                    <a:pt x="0" y="3927005"/>
                  </a:lnTo>
                  <a:lnTo>
                    <a:pt x="0" y="1266063"/>
                  </a:lnTo>
                  <a:lnTo>
                    <a:pt x="1625" y="1201674"/>
                  </a:lnTo>
                  <a:lnTo>
                    <a:pt x="6553" y="1137157"/>
                  </a:lnTo>
                  <a:lnTo>
                    <a:pt x="14389" y="1073657"/>
                  </a:lnTo>
                  <a:lnTo>
                    <a:pt x="25907" y="1011174"/>
                  </a:lnTo>
                  <a:lnTo>
                    <a:pt x="39852" y="950087"/>
                  </a:lnTo>
                  <a:lnTo>
                    <a:pt x="56756" y="889888"/>
                  </a:lnTo>
                  <a:lnTo>
                    <a:pt x="76923" y="831088"/>
                  </a:lnTo>
                  <a:lnTo>
                    <a:pt x="99529" y="773429"/>
                  </a:lnTo>
                  <a:lnTo>
                    <a:pt x="125044" y="717550"/>
                  </a:lnTo>
                  <a:lnTo>
                    <a:pt x="152971" y="662939"/>
                  </a:lnTo>
                  <a:lnTo>
                    <a:pt x="183400" y="609853"/>
                  </a:lnTo>
                  <a:lnTo>
                    <a:pt x="216585" y="558038"/>
                  </a:lnTo>
                  <a:lnTo>
                    <a:pt x="289064" y="460882"/>
                  </a:lnTo>
                  <a:lnTo>
                    <a:pt x="370890" y="370839"/>
                  </a:lnTo>
                  <a:lnTo>
                    <a:pt x="460946" y="289051"/>
                  </a:lnTo>
                  <a:lnTo>
                    <a:pt x="557987" y="216534"/>
                  </a:lnTo>
                  <a:lnTo>
                    <a:pt x="609841" y="183387"/>
                  </a:lnTo>
                  <a:lnTo>
                    <a:pt x="662889" y="152907"/>
                  </a:lnTo>
                  <a:lnTo>
                    <a:pt x="717511" y="125094"/>
                  </a:lnTo>
                  <a:lnTo>
                    <a:pt x="773455" y="99567"/>
                  </a:lnTo>
                  <a:lnTo>
                    <a:pt x="831024" y="76962"/>
                  </a:lnTo>
                  <a:lnTo>
                    <a:pt x="889888" y="56768"/>
                  </a:lnTo>
                  <a:lnTo>
                    <a:pt x="949960" y="39877"/>
                  </a:lnTo>
                  <a:lnTo>
                    <a:pt x="1011174" y="25526"/>
                  </a:lnTo>
                  <a:lnTo>
                    <a:pt x="1073912" y="14350"/>
                  </a:lnTo>
                  <a:lnTo>
                    <a:pt x="1137158" y="6603"/>
                  </a:lnTo>
                  <a:lnTo>
                    <a:pt x="1201166" y="1650"/>
                  </a:lnTo>
                  <a:lnTo>
                    <a:pt x="1266063" y="0"/>
                  </a:lnTo>
                </a:path>
              </a:pathLst>
            </a:custGeom>
            <a:ln w="883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310" y="215010"/>
            <a:ext cx="6292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4410" algn="l"/>
              </a:tabLst>
            </a:pPr>
            <a:r>
              <a:rPr sz="3600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Hardware	</a:t>
            </a:r>
            <a:r>
              <a:rPr sz="3600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3600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booth</a:t>
            </a:r>
            <a:r>
              <a:rPr sz="3600" spc="-8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algorithm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310" y="976121"/>
            <a:ext cx="7137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2834640" algn="l"/>
              </a:tabLst>
            </a:pPr>
            <a:r>
              <a:rPr sz="1450" spc="235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spc="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algorithm</a:t>
            </a:r>
            <a:r>
              <a:rPr sz="18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requires	the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configuration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as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shown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fig.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6883" y="1414272"/>
            <a:ext cx="9799320" cy="527913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460" y="210693"/>
            <a:ext cx="109848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Booth algorithm </a:t>
            </a:r>
            <a:r>
              <a:rPr sz="3200" dirty="0"/>
              <a:t>for multiplication of </a:t>
            </a:r>
            <a:r>
              <a:rPr sz="3200" spc="-20" dirty="0"/>
              <a:t>signed-2’s</a:t>
            </a:r>
            <a:r>
              <a:rPr sz="3200" spc="15" dirty="0"/>
              <a:t> </a:t>
            </a:r>
            <a:r>
              <a:rPr sz="3200" spc="-5" dirty="0"/>
              <a:t>compliment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331827" y="3415599"/>
            <a:ext cx="166370" cy="354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35"/>
              </a:lnSpc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The </a:t>
            </a:r>
            <a:r>
              <a:rPr spc="-5" dirty="0"/>
              <a:t>two bits </a:t>
            </a:r>
            <a:r>
              <a:rPr dirty="0"/>
              <a:t>of </a:t>
            </a:r>
            <a:r>
              <a:rPr spc="-5" dirty="0"/>
              <a:t>multiplier in </a:t>
            </a:r>
            <a:r>
              <a:rPr dirty="0"/>
              <a:t>Qn </a:t>
            </a:r>
            <a:r>
              <a:rPr spc="-5" dirty="0"/>
              <a:t>and </a:t>
            </a:r>
            <a:r>
              <a:rPr dirty="0"/>
              <a:t>Qn+1  </a:t>
            </a:r>
            <a:r>
              <a:rPr spc="-5" dirty="0"/>
              <a:t>are inspected </a:t>
            </a:r>
            <a:r>
              <a:rPr dirty="0"/>
              <a:t>. </a:t>
            </a:r>
            <a:r>
              <a:rPr spc="-5" dirty="0"/>
              <a:t>If the two </a:t>
            </a:r>
            <a:r>
              <a:rPr spc="-10" dirty="0"/>
              <a:t>bits </a:t>
            </a:r>
            <a:r>
              <a:rPr spc="-5" dirty="0"/>
              <a:t>are equal to  10 it means that the </a:t>
            </a:r>
            <a:r>
              <a:rPr dirty="0"/>
              <a:t>first 1 </a:t>
            </a:r>
            <a:r>
              <a:rPr spc="-5" dirty="0"/>
              <a:t>in </a:t>
            </a:r>
            <a:r>
              <a:rPr dirty="0"/>
              <a:t>a string of </a:t>
            </a:r>
            <a:r>
              <a:rPr spc="-60" dirty="0"/>
              <a:t>1’s  </a:t>
            </a:r>
            <a:r>
              <a:rPr spc="-5" dirty="0"/>
              <a:t>has been</a:t>
            </a:r>
            <a:r>
              <a:rPr dirty="0"/>
              <a:t> </a:t>
            </a:r>
            <a:r>
              <a:rPr spc="-10" dirty="0"/>
              <a:t>encountered</a:t>
            </a:r>
            <a:endParaRPr spc="-10" dirty="0"/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/>
          </a:p>
          <a:p>
            <a:pPr marL="12700" marR="34290">
              <a:lnSpc>
                <a:spcPct val="100000"/>
              </a:lnSpc>
            </a:pPr>
            <a:r>
              <a:rPr dirty="0"/>
              <a:t>The final value of Qn+1 </a:t>
            </a:r>
            <a:r>
              <a:rPr spc="-5" dirty="0"/>
              <a:t>is the original </a:t>
            </a:r>
            <a:r>
              <a:rPr dirty="0"/>
              <a:t>sign  </a:t>
            </a:r>
            <a:r>
              <a:rPr spc="-5" dirty="0"/>
              <a:t>bit </a:t>
            </a:r>
            <a:r>
              <a:rPr dirty="0"/>
              <a:t>of </a:t>
            </a:r>
            <a:r>
              <a:rPr spc="-5" dirty="0"/>
              <a:t>the multiplier and should not be take  as part </a:t>
            </a:r>
            <a:r>
              <a:rPr dirty="0"/>
              <a:t>of </a:t>
            </a:r>
            <a:r>
              <a:rPr spc="-5" dirty="0"/>
              <a:t>the </a:t>
            </a:r>
            <a:r>
              <a:rPr spc="-10" dirty="0"/>
              <a:t>product</a:t>
            </a:r>
            <a:endParaRPr spc="-10" dirty="0"/>
          </a:p>
        </p:txBody>
      </p:sp>
      <p:sp>
        <p:nvSpPr>
          <p:cNvPr id="5" name="object 5"/>
          <p:cNvSpPr/>
          <p:nvPr/>
        </p:nvSpPr>
        <p:spPr>
          <a:xfrm>
            <a:off x="6435852" y="775716"/>
            <a:ext cx="5244084" cy="60761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180594"/>
            <a:ext cx="3275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Array</a:t>
            </a:r>
            <a:r>
              <a:rPr spc="-100" dirty="0"/>
              <a:t> </a:t>
            </a:r>
            <a:r>
              <a:rPr spc="-5" dirty="0"/>
              <a:t>multiplier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56310" y="1238453"/>
            <a:ext cx="1053020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24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multiplication of the two binary numbers can be done with one micro-operation by means of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combinational circuit that forms the product bits all at once.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This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fast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way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multiplying two  numbers since all it takes is the time for the </a:t>
            </a:r>
            <a:r>
              <a:rPr sz="1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signals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propagate </a:t>
            </a:r>
            <a:r>
              <a:rPr sz="1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through </a:t>
            </a:r>
            <a:r>
              <a:rPr sz="1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gate that form the  multiplication</a:t>
            </a:r>
            <a:r>
              <a:rPr sz="18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array.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93875" y="2089404"/>
            <a:ext cx="9664065" cy="4801235"/>
            <a:chOff x="1293875" y="2089404"/>
            <a:chExt cx="9664065" cy="4801235"/>
          </a:xfrm>
        </p:grpSpPr>
        <p:sp>
          <p:nvSpPr>
            <p:cNvPr id="5" name="object 5"/>
            <p:cNvSpPr/>
            <p:nvPr/>
          </p:nvSpPr>
          <p:spPr>
            <a:xfrm>
              <a:off x="1293875" y="2089404"/>
              <a:ext cx="9663684" cy="4768595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38299" y="2433828"/>
              <a:ext cx="8974836" cy="436778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94103" y="2389632"/>
              <a:ext cx="9063355" cy="4456430"/>
            </a:xfrm>
            <a:custGeom>
              <a:avLst/>
              <a:gdLst/>
              <a:ahLst/>
              <a:cxnLst/>
              <a:rect l="l" t="t" r="r" b="b"/>
              <a:pathLst>
                <a:path w="9063355" h="4456430">
                  <a:moveTo>
                    <a:pt x="1145667" y="0"/>
                  </a:moveTo>
                  <a:lnTo>
                    <a:pt x="8510778" y="0"/>
                  </a:lnTo>
                  <a:lnTo>
                    <a:pt x="8566023" y="2920"/>
                  </a:lnTo>
                  <a:lnTo>
                    <a:pt x="8621141" y="11175"/>
                  </a:lnTo>
                  <a:lnTo>
                    <a:pt x="8674354" y="25018"/>
                  </a:lnTo>
                  <a:lnTo>
                    <a:pt x="8725154" y="43560"/>
                  </a:lnTo>
                  <a:lnTo>
                    <a:pt x="8773668" y="66928"/>
                  </a:lnTo>
                  <a:lnTo>
                    <a:pt x="8819388" y="94868"/>
                  </a:lnTo>
                  <a:lnTo>
                    <a:pt x="8861933" y="126745"/>
                  </a:lnTo>
                  <a:lnTo>
                    <a:pt x="8901176" y="162559"/>
                  </a:lnTo>
                  <a:lnTo>
                    <a:pt x="8936990" y="201802"/>
                  </a:lnTo>
                  <a:lnTo>
                    <a:pt x="8968867" y="244475"/>
                  </a:lnTo>
                  <a:lnTo>
                    <a:pt x="8996553" y="290194"/>
                  </a:lnTo>
                  <a:lnTo>
                    <a:pt x="9019794" y="338581"/>
                  </a:lnTo>
                  <a:lnTo>
                    <a:pt x="9038336" y="389381"/>
                  </a:lnTo>
                  <a:lnTo>
                    <a:pt x="9052179" y="442594"/>
                  </a:lnTo>
                  <a:lnTo>
                    <a:pt x="9060434" y="497713"/>
                  </a:lnTo>
                  <a:lnTo>
                    <a:pt x="9063355" y="552957"/>
                  </a:lnTo>
                  <a:lnTo>
                    <a:pt x="9063355" y="3311093"/>
                  </a:lnTo>
                  <a:lnTo>
                    <a:pt x="9061704" y="3369411"/>
                  </a:lnTo>
                  <a:lnTo>
                    <a:pt x="9057513" y="3427590"/>
                  </a:lnTo>
                  <a:lnTo>
                    <a:pt x="9050147" y="3485032"/>
                  </a:lnTo>
                  <a:lnTo>
                    <a:pt x="9040241" y="3541115"/>
                  </a:lnTo>
                  <a:lnTo>
                    <a:pt x="9027414" y="3597020"/>
                  </a:lnTo>
                  <a:lnTo>
                    <a:pt x="9011666" y="3651046"/>
                  </a:lnTo>
                  <a:lnTo>
                    <a:pt x="8994013" y="3704247"/>
                  </a:lnTo>
                  <a:lnTo>
                    <a:pt x="8973058" y="3756863"/>
                  </a:lnTo>
                  <a:lnTo>
                    <a:pt x="8925052" y="3856647"/>
                  </a:lnTo>
                  <a:lnTo>
                    <a:pt x="8867648" y="3951185"/>
                  </a:lnTo>
                  <a:lnTo>
                    <a:pt x="8801608" y="4039514"/>
                  </a:lnTo>
                  <a:lnTo>
                    <a:pt x="8727694" y="4120832"/>
                  </a:lnTo>
                  <a:lnTo>
                    <a:pt x="8646414" y="4194708"/>
                  </a:lnTo>
                  <a:lnTo>
                    <a:pt x="8558149" y="4260761"/>
                  </a:lnTo>
                  <a:lnTo>
                    <a:pt x="8463534" y="4318139"/>
                  </a:lnTo>
                  <a:lnTo>
                    <a:pt x="8363712" y="4366249"/>
                  </a:lnTo>
                  <a:lnTo>
                    <a:pt x="8311134" y="4386658"/>
                  </a:lnTo>
                  <a:lnTo>
                    <a:pt x="8257921" y="4404803"/>
                  </a:lnTo>
                  <a:lnTo>
                    <a:pt x="8203819" y="4420105"/>
                  </a:lnTo>
                  <a:lnTo>
                    <a:pt x="8148193" y="4432877"/>
                  </a:lnTo>
                  <a:lnTo>
                    <a:pt x="8091551" y="4443209"/>
                  </a:lnTo>
                  <a:lnTo>
                    <a:pt x="8034528" y="4450233"/>
                  </a:lnTo>
                  <a:lnTo>
                    <a:pt x="7976489" y="4454761"/>
                  </a:lnTo>
                  <a:lnTo>
                    <a:pt x="7918069" y="4456396"/>
                  </a:lnTo>
                  <a:lnTo>
                    <a:pt x="552958" y="4456396"/>
                  </a:lnTo>
                  <a:lnTo>
                    <a:pt x="497713" y="4453445"/>
                  </a:lnTo>
                  <a:lnTo>
                    <a:pt x="442595" y="4445251"/>
                  </a:lnTo>
                  <a:lnTo>
                    <a:pt x="389382" y="4431426"/>
                  </a:lnTo>
                  <a:lnTo>
                    <a:pt x="338582" y="4412885"/>
                  </a:lnTo>
                  <a:lnTo>
                    <a:pt x="290195" y="4389594"/>
                  </a:lnTo>
                  <a:lnTo>
                    <a:pt x="244475" y="4361991"/>
                  </a:lnTo>
                  <a:lnTo>
                    <a:pt x="201803" y="4330026"/>
                  </a:lnTo>
                  <a:lnTo>
                    <a:pt x="162559" y="4294263"/>
                  </a:lnTo>
                  <a:lnTo>
                    <a:pt x="126746" y="4255046"/>
                  </a:lnTo>
                  <a:lnTo>
                    <a:pt x="94869" y="4212399"/>
                  </a:lnTo>
                  <a:lnTo>
                    <a:pt x="66802" y="4166641"/>
                  </a:lnTo>
                  <a:lnTo>
                    <a:pt x="43434" y="4117784"/>
                  </a:lnTo>
                  <a:lnTo>
                    <a:pt x="25018" y="4066984"/>
                  </a:lnTo>
                  <a:lnTo>
                    <a:pt x="11176" y="4013847"/>
                  </a:lnTo>
                  <a:lnTo>
                    <a:pt x="2921" y="3958640"/>
                  </a:lnTo>
                  <a:lnTo>
                    <a:pt x="0" y="3903395"/>
                  </a:lnTo>
                  <a:lnTo>
                    <a:pt x="0" y="1145666"/>
                  </a:lnTo>
                  <a:lnTo>
                    <a:pt x="1651" y="1087373"/>
                  </a:lnTo>
                  <a:lnTo>
                    <a:pt x="5715" y="1029207"/>
                  </a:lnTo>
                  <a:lnTo>
                    <a:pt x="13208" y="971803"/>
                  </a:lnTo>
                  <a:lnTo>
                    <a:pt x="23114" y="915288"/>
                  </a:lnTo>
                  <a:lnTo>
                    <a:pt x="35940" y="859789"/>
                  </a:lnTo>
                  <a:lnTo>
                    <a:pt x="51562" y="805433"/>
                  </a:lnTo>
                  <a:lnTo>
                    <a:pt x="69341" y="752093"/>
                  </a:lnTo>
                  <a:lnTo>
                    <a:pt x="90170" y="699515"/>
                  </a:lnTo>
                  <a:lnTo>
                    <a:pt x="138303" y="599693"/>
                  </a:lnTo>
                  <a:lnTo>
                    <a:pt x="195579" y="505205"/>
                  </a:lnTo>
                  <a:lnTo>
                    <a:pt x="261747" y="416940"/>
                  </a:lnTo>
                  <a:lnTo>
                    <a:pt x="335534" y="335533"/>
                  </a:lnTo>
                  <a:lnTo>
                    <a:pt x="416941" y="261746"/>
                  </a:lnTo>
                  <a:lnTo>
                    <a:pt x="505206" y="195579"/>
                  </a:lnTo>
                  <a:lnTo>
                    <a:pt x="599694" y="138302"/>
                  </a:lnTo>
                  <a:lnTo>
                    <a:pt x="699516" y="90169"/>
                  </a:lnTo>
                  <a:lnTo>
                    <a:pt x="752094" y="69341"/>
                  </a:lnTo>
                  <a:lnTo>
                    <a:pt x="805434" y="51562"/>
                  </a:lnTo>
                  <a:lnTo>
                    <a:pt x="859790" y="35940"/>
                  </a:lnTo>
                  <a:lnTo>
                    <a:pt x="915289" y="23113"/>
                  </a:lnTo>
                  <a:lnTo>
                    <a:pt x="971804" y="13207"/>
                  </a:lnTo>
                  <a:lnTo>
                    <a:pt x="1029208" y="5714"/>
                  </a:lnTo>
                  <a:lnTo>
                    <a:pt x="1087373" y="1650"/>
                  </a:lnTo>
                  <a:lnTo>
                    <a:pt x="1145667" y="0"/>
                  </a:lnTo>
                  <a:close/>
                </a:path>
              </a:pathLst>
            </a:custGeom>
            <a:ln w="883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021705" cy="6858000"/>
            <a:chOff x="0" y="0"/>
            <a:chExt cx="60217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4012691"/>
              <a:ext cx="448309" cy="2845435"/>
            </a:xfrm>
            <a:custGeom>
              <a:avLst/>
              <a:gdLst/>
              <a:ahLst/>
              <a:cxnLst/>
              <a:rect l="l" t="t" r="r" b="b"/>
              <a:pathLst>
                <a:path w="448309" h="2845434">
                  <a:moveTo>
                    <a:pt x="0" y="0"/>
                  </a:moveTo>
                  <a:lnTo>
                    <a:pt x="0" y="2845307"/>
                  </a:lnTo>
                  <a:lnTo>
                    <a:pt x="448056" y="28453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021323" cy="6857997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6176771" y="52"/>
            <a:ext cx="6015228" cy="6855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606031" y="510921"/>
            <a:ext cx="3204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E7818"/>
                </a:solidFill>
                <a:latin typeface="Trebuchet MS" panose="020B0603020202020204"/>
                <a:cs typeface="Trebuchet MS" panose="020B0603020202020204"/>
              </a:rPr>
              <a:t>4 </a:t>
            </a:r>
            <a:r>
              <a:rPr sz="1800" spc="-5" dirty="0">
                <a:solidFill>
                  <a:srgbClr val="3E7818"/>
                </a:solidFill>
                <a:latin typeface="Trebuchet MS" panose="020B0603020202020204"/>
                <a:cs typeface="Trebuchet MS" panose="020B0603020202020204"/>
              </a:rPr>
              <a:t>bit </a:t>
            </a:r>
            <a:r>
              <a:rPr sz="1800" dirty="0">
                <a:solidFill>
                  <a:srgbClr val="3E7818"/>
                </a:solidFill>
                <a:latin typeface="Trebuchet MS" panose="020B0603020202020204"/>
                <a:cs typeface="Trebuchet MS" panose="020B0603020202020204"/>
              </a:rPr>
              <a:t>by 3 </a:t>
            </a:r>
            <a:r>
              <a:rPr sz="1800" spc="-5" dirty="0">
                <a:solidFill>
                  <a:srgbClr val="3E7818"/>
                </a:solidFill>
                <a:latin typeface="Trebuchet MS" panose="020B0603020202020204"/>
                <a:cs typeface="Trebuchet MS" panose="020B0603020202020204"/>
              </a:rPr>
              <a:t>bit </a:t>
            </a:r>
            <a:r>
              <a:rPr sz="1800" dirty="0">
                <a:solidFill>
                  <a:srgbClr val="3E7818"/>
                </a:solidFill>
                <a:latin typeface="Trebuchet MS" panose="020B0603020202020204"/>
                <a:cs typeface="Trebuchet MS" panose="020B0603020202020204"/>
              </a:rPr>
              <a:t>array</a:t>
            </a:r>
            <a:r>
              <a:rPr sz="1800" spc="-45" dirty="0">
                <a:solidFill>
                  <a:srgbClr val="3E781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5" dirty="0">
                <a:solidFill>
                  <a:srgbClr val="3E7818"/>
                </a:solidFill>
                <a:latin typeface="Trebuchet MS" panose="020B0603020202020204"/>
                <a:cs typeface="Trebuchet MS" panose="020B0603020202020204"/>
              </a:rPr>
              <a:t>multiplexer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163195"/>
            <a:ext cx="37141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Division</a:t>
            </a:r>
            <a:r>
              <a:rPr spc="-265" dirty="0"/>
              <a:t> </a:t>
            </a:r>
            <a:r>
              <a:rPr dirty="0"/>
              <a:t>Algorithm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6310" y="821816"/>
            <a:ext cx="10173335" cy="179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Division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two fixed-point binary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signed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magnitude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representation is done with paper and pencil by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process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successive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compare ,shift ,and subtract operations</a:t>
            </a:r>
            <a:r>
              <a:rPr sz="2400" spc="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3600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Hardware implantation </a:t>
            </a:r>
            <a:r>
              <a:rPr sz="3600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of signed </a:t>
            </a:r>
            <a:r>
              <a:rPr sz="3600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magnitude</a:t>
            </a:r>
            <a:r>
              <a:rPr sz="3600" spc="-130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43100" y="2362200"/>
            <a:ext cx="8928100" cy="4540250"/>
            <a:chOff x="1943100" y="2362200"/>
            <a:chExt cx="8928100" cy="4540250"/>
          </a:xfrm>
        </p:grpSpPr>
        <p:sp>
          <p:nvSpPr>
            <p:cNvPr id="5" name="object 5"/>
            <p:cNvSpPr/>
            <p:nvPr/>
          </p:nvSpPr>
          <p:spPr>
            <a:xfrm>
              <a:off x="1943100" y="2362200"/>
              <a:ext cx="8927592" cy="449579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287524" y="2706624"/>
              <a:ext cx="8238744" cy="41513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43327" y="2662427"/>
              <a:ext cx="8328025" cy="4196080"/>
            </a:xfrm>
            <a:custGeom>
              <a:avLst/>
              <a:gdLst/>
              <a:ahLst/>
              <a:cxnLst/>
              <a:rect l="l" t="t" r="r" b="b"/>
              <a:pathLst>
                <a:path w="8328025" h="4196080">
                  <a:moveTo>
                    <a:pt x="959231" y="0"/>
                  </a:moveTo>
                  <a:lnTo>
                    <a:pt x="7357618" y="0"/>
                  </a:lnTo>
                  <a:lnTo>
                    <a:pt x="7406894" y="1270"/>
                  </a:lnTo>
                  <a:lnTo>
                    <a:pt x="7456805" y="4952"/>
                  </a:lnTo>
                  <a:lnTo>
                    <a:pt x="7552436" y="19431"/>
                  </a:lnTo>
                  <a:lnTo>
                    <a:pt x="7645527" y="43561"/>
                  </a:lnTo>
                  <a:lnTo>
                    <a:pt x="7734681" y="76073"/>
                  </a:lnTo>
                  <a:lnTo>
                    <a:pt x="7819517" y="117221"/>
                  </a:lnTo>
                  <a:lnTo>
                    <a:pt x="7899654" y="165862"/>
                  </a:lnTo>
                  <a:lnTo>
                    <a:pt x="7974583" y="221614"/>
                  </a:lnTo>
                  <a:lnTo>
                    <a:pt x="8043164" y="284352"/>
                  </a:lnTo>
                  <a:lnTo>
                    <a:pt x="8105902" y="352933"/>
                  </a:lnTo>
                  <a:lnTo>
                    <a:pt x="8161655" y="427863"/>
                  </a:lnTo>
                  <a:lnTo>
                    <a:pt x="8210296" y="507619"/>
                  </a:lnTo>
                  <a:lnTo>
                    <a:pt x="8251063" y="592455"/>
                  </a:lnTo>
                  <a:lnTo>
                    <a:pt x="8283956" y="681989"/>
                  </a:lnTo>
                  <a:lnTo>
                    <a:pt x="8307578" y="774700"/>
                  </a:lnTo>
                  <a:lnTo>
                    <a:pt x="8322437" y="870585"/>
                  </a:lnTo>
                  <a:lnTo>
                    <a:pt x="8326247" y="920623"/>
                  </a:lnTo>
                  <a:lnTo>
                    <a:pt x="8327517" y="969899"/>
                  </a:lnTo>
                  <a:lnTo>
                    <a:pt x="8327517" y="3280867"/>
                  </a:lnTo>
                  <a:lnTo>
                    <a:pt x="8326247" y="3329800"/>
                  </a:lnTo>
                  <a:lnTo>
                    <a:pt x="8322437" y="3379012"/>
                  </a:lnTo>
                  <a:lnTo>
                    <a:pt x="8307958" y="3473742"/>
                  </a:lnTo>
                  <a:lnTo>
                    <a:pt x="8284337" y="3565664"/>
                  </a:lnTo>
                  <a:lnTo>
                    <a:pt x="8252333" y="3653853"/>
                  </a:lnTo>
                  <a:lnTo>
                    <a:pt x="8211820" y="3738016"/>
                  </a:lnTo>
                  <a:lnTo>
                    <a:pt x="8163560" y="3817124"/>
                  </a:lnTo>
                  <a:lnTo>
                    <a:pt x="8108315" y="3890721"/>
                  </a:lnTo>
                  <a:lnTo>
                    <a:pt x="8046339" y="3958907"/>
                  </a:lnTo>
                  <a:lnTo>
                    <a:pt x="7978140" y="4020845"/>
                  </a:lnTo>
                  <a:lnTo>
                    <a:pt x="7904607" y="4076148"/>
                  </a:lnTo>
                  <a:lnTo>
                    <a:pt x="7825486" y="4124452"/>
                  </a:lnTo>
                  <a:lnTo>
                    <a:pt x="7741285" y="4164860"/>
                  </a:lnTo>
                  <a:lnTo>
                    <a:pt x="7656670" y="4195570"/>
                  </a:lnTo>
                </a:path>
                <a:path w="8328025" h="4196080">
                  <a:moveTo>
                    <a:pt x="679480" y="4195570"/>
                  </a:moveTo>
                  <a:lnTo>
                    <a:pt x="592963" y="4164040"/>
                  </a:lnTo>
                  <a:lnTo>
                    <a:pt x="507619" y="4122847"/>
                  </a:lnTo>
                  <a:lnTo>
                    <a:pt x="427863" y="4074226"/>
                  </a:lnTo>
                  <a:lnTo>
                    <a:pt x="352933" y="4018483"/>
                  </a:lnTo>
                  <a:lnTo>
                    <a:pt x="284353" y="3955719"/>
                  </a:lnTo>
                  <a:lnTo>
                    <a:pt x="221615" y="3887139"/>
                  </a:lnTo>
                  <a:lnTo>
                    <a:pt x="165862" y="3812222"/>
                  </a:lnTo>
                  <a:lnTo>
                    <a:pt x="117221" y="3732072"/>
                  </a:lnTo>
                  <a:lnTo>
                    <a:pt x="76073" y="3647224"/>
                  </a:lnTo>
                  <a:lnTo>
                    <a:pt x="43561" y="3558171"/>
                  </a:lnTo>
                  <a:lnTo>
                    <a:pt x="19431" y="3464991"/>
                  </a:lnTo>
                  <a:lnTo>
                    <a:pt x="4953" y="3369043"/>
                  </a:lnTo>
                  <a:lnTo>
                    <a:pt x="1270" y="3319462"/>
                  </a:lnTo>
                  <a:lnTo>
                    <a:pt x="0" y="3270148"/>
                  </a:lnTo>
                  <a:lnTo>
                    <a:pt x="0" y="959231"/>
                  </a:lnTo>
                  <a:lnTo>
                    <a:pt x="1270" y="910336"/>
                  </a:lnTo>
                  <a:lnTo>
                    <a:pt x="5080" y="861060"/>
                  </a:lnTo>
                  <a:lnTo>
                    <a:pt x="19558" y="766318"/>
                  </a:lnTo>
                  <a:lnTo>
                    <a:pt x="43180" y="674497"/>
                  </a:lnTo>
                  <a:lnTo>
                    <a:pt x="75184" y="586232"/>
                  </a:lnTo>
                  <a:lnTo>
                    <a:pt x="115697" y="502031"/>
                  </a:lnTo>
                  <a:lnTo>
                    <a:pt x="163957" y="422910"/>
                  </a:lnTo>
                  <a:lnTo>
                    <a:pt x="219202" y="349376"/>
                  </a:lnTo>
                  <a:lnTo>
                    <a:pt x="281178" y="281177"/>
                  </a:lnTo>
                  <a:lnTo>
                    <a:pt x="349377" y="219201"/>
                  </a:lnTo>
                  <a:lnTo>
                    <a:pt x="422910" y="163957"/>
                  </a:lnTo>
                  <a:lnTo>
                    <a:pt x="502031" y="115697"/>
                  </a:lnTo>
                  <a:lnTo>
                    <a:pt x="586232" y="75184"/>
                  </a:lnTo>
                  <a:lnTo>
                    <a:pt x="674497" y="43180"/>
                  </a:lnTo>
                  <a:lnTo>
                    <a:pt x="766318" y="19558"/>
                  </a:lnTo>
                  <a:lnTo>
                    <a:pt x="861060" y="5080"/>
                  </a:lnTo>
                  <a:lnTo>
                    <a:pt x="910336" y="1270"/>
                  </a:lnTo>
                  <a:lnTo>
                    <a:pt x="959231" y="0"/>
                  </a:lnTo>
                </a:path>
              </a:pathLst>
            </a:custGeom>
            <a:ln w="883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18999"/>
            <a:ext cx="9955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 of binary </a:t>
            </a:r>
            <a:r>
              <a:rPr spc="-5" dirty="0"/>
              <a:t>division with digital</a:t>
            </a:r>
            <a:r>
              <a:rPr spc="-130" dirty="0"/>
              <a:t> </a:t>
            </a:r>
            <a:r>
              <a:rPr spc="-5" dirty="0"/>
              <a:t>hardware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56310" y="1122933"/>
            <a:ext cx="632968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Instead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shifting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divisor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the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right,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1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dividend 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or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partial </a:t>
            </a:r>
            <a:r>
              <a:rPr sz="2000" spc="-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remainder,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shifted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the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left,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thus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leaving 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two numbers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required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relative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position, 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subtraction may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 achieved by adding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the </a:t>
            </a:r>
            <a:r>
              <a:rPr sz="2000" spc="-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2’s 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compliment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000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 marR="16764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EAQ is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shifted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the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left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with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0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instead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Qn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000" spc="-1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 previous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value of E</a:t>
            </a:r>
            <a:r>
              <a:rPr sz="20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lost.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divisor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stored in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 register and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19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double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length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dividend is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stored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A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000" spc="-3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 marR="161925">
              <a:lnSpc>
                <a:spcPct val="100000"/>
              </a:lnSpc>
              <a:tabLst>
                <a:tab pos="377190" algn="l"/>
                <a:tab pos="2079625" algn="l"/>
              </a:tabLst>
            </a:pP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information about relative magnitude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000" spc="-2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available  in	E.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if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E=1,it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signifies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that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≥B. A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quotient bit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 is 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inserted</a:t>
            </a:r>
            <a:r>
              <a:rPr sz="2000" spc="-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into</a:t>
            </a:r>
            <a:r>
              <a:rPr sz="20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Qn	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the partial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remainder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shifted  left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repeat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process.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If E=0, it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signifies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that </a:t>
            </a:r>
            <a:r>
              <a:rPr sz="20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A&lt;B 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so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quotient in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Qn remains a</a:t>
            </a:r>
            <a:r>
              <a:rPr sz="2000" spc="-1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0.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 marR="40703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sign of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remainder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the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same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as the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</a:t>
            </a:r>
            <a:r>
              <a:rPr sz="2000" spc="-2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 </a:t>
            </a:r>
            <a:r>
              <a:rPr sz="20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dividend</a:t>
            </a:r>
            <a:r>
              <a:rPr sz="2000" spc="-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2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53656" y="771789"/>
            <a:ext cx="5038343" cy="607745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59258"/>
            <a:ext cx="32207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Divide</a:t>
            </a:r>
            <a:r>
              <a:rPr spc="-85" dirty="0"/>
              <a:t> </a:t>
            </a:r>
            <a:r>
              <a:rPr dirty="0"/>
              <a:t>overflow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6310" y="794512"/>
            <a:ext cx="10254615" cy="493903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This occurs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because any dividend will be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greater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than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equal to</a:t>
            </a:r>
            <a:r>
              <a:rPr sz="2400" spc="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zero.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Over flow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condition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usually detected when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special flip-flop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set</a:t>
            </a:r>
            <a:r>
              <a:rPr sz="2400" spc="1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Which will call it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 overflow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flip-flop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label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it</a:t>
            </a:r>
            <a:r>
              <a:rPr sz="2400" spc="1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DVF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occurrence of 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 overflow can be handled 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variety of</a:t>
            </a:r>
            <a:r>
              <a:rPr sz="2400" spc="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ways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 marR="5080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  <a:tab pos="7095490" algn="l"/>
                <a:tab pos="9077960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some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computers it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responsibility</a:t>
            </a:r>
            <a:r>
              <a:rPr sz="2400" spc="1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the	programmers	to</a:t>
            </a:r>
            <a:r>
              <a:rPr sz="2400" spc="-9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check  if DVF is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after each divide</a:t>
            </a:r>
            <a:r>
              <a:rPr sz="2400" spc="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instruction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 marR="638810" indent="-342900">
              <a:lnSpc>
                <a:spcPct val="100000"/>
              </a:lnSpc>
              <a:spcBef>
                <a:spcPts val="995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occurrence of 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 overflow stopped the computer and this 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condition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was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referred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as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</a:t>
            </a:r>
            <a:r>
              <a:rPr sz="2400" spc="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STOP.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best way to avoid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 overflow is to use floating point</a:t>
            </a:r>
            <a:r>
              <a:rPr sz="2400" spc="9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 marR="918210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 overflow can be handled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very simply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if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in  floating point</a:t>
            </a:r>
            <a:r>
              <a:rPr sz="2400" spc="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representation.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43" y="97028"/>
            <a:ext cx="4107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Hardware</a:t>
            </a:r>
            <a:r>
              <a:rPr spc="-95" dirty="0"/>
              <a:t> </a:t>
            </a:r>
            <a:r>
              <a:rPr spc="-5" dirty="0"/>
              <a:t>algorithm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1015695"/>
            <a:ext cx="6469380" cy="514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78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dividend is 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the divisor in</a:t>
            </a:r>
            <a:r>
              <a:rPr sz="2400" spc="-229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B.  The sign 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results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transferred into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 be part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quotient.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 marR="685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 overflow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condition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tested by  subtracting divisor 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 from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half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bits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dividend stored 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A.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if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A≥B,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divide  overflow flip-flop DVF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the operation is  terminated</a:t>
            </a:r>
            <a:r>
              <a:rPr sz="24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prematurely.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By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doing the process as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shown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flowchart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quotient magnitude is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formed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Q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remainder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found in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A.  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quotient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remainder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same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as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original</a:t>
            </a:r>
            <a:r>
              <a:rPr sz="2400" spc="-1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  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dividend.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91528" y="0"/>
            <a:ext cx="5300472" cy="685799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808" y="6858"/>
            <a:ext cx="5366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5" dirty="0"/>
              <a:t>is restoring</a:t>
            </a:r>
            <a:r>
              <a:rPr spc="-95" dirty="0"/>
              <a:t> </a:t>
            </a:r>
            <a:r>
              <a:rPr spc="-5" dirty="0"/>
              <a:t>method?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40765" y="1050417"/>
            <a:ext cx="240029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765" y="989457"/>
            <a:ext cx="9854565" cy="3465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90500" indent="38620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hardware method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just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described is  called the </a:t>
            </a:r>
            <a:r>
              <a:rPr sz="24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RESTORING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METHOD. 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reason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name is that the  partial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remainder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restored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by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adding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divisor to 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negative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difference. </a:t>
            </a:r>
            <a:r>
              <a:rPr sz="2400" spc="-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Two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other methods are available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dividing numbers,  the </a:t>
            </a:r>
            <a:r>
              <a:rPr sz="24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COMPARISION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method and the </a:t>
            </a:r>
            <a:r>
              <a:rPr sz="24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NONRESTORING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method. In the  comparison method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compared prior to the subtraction  operation</a:t>
            </a:r>
            <a:r>
              <a:rPr sz="2400" spc="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  <a:tabLst>
                <a:tab pos="354965" algn="l"/>
                <a:tab pos="2208530" algn="l"/>
                <a:tab pos="3432810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No</a:t>
            </a:r>
            <a:r>
              <a:rPr sz="24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restoring	method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not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added if the difference is negative</a:t>
            </a:r>
            <a:r>
              <a:rPr sz="2400" spc="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but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instead, the negative difference is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shifted left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then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400" spc="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added.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83058"/>
            <a:ext cx="7275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Floating point Arithmetic</a:t>
            </a:r>
            <a:r>
              <a:rPr spc="-220" dirty="0"/>
              <a:t> </a:t>
            </a:r>
            <a:r>
              <a:rPr spc="-5" dirty="0"/>
              <a:t>operation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055878"/>
            <a:ext cx="10287000" cy="5854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469265" indent="-342900">
              <a:lnSpc>
                <a:spcPct val="100000"/>
              </a:lnSpc>
              <a:spcBef>
                <a:spcPts val="100"/>
              </a:spcBef>
              <a:tabLst>
                <a:tab pos="380365" algn="l"/>
                <a:tab pos="1802130" algn="l"/>
                <a:tab pos="2733675" algn="l"/>
              </a:tabLst>
            </a:pPr>
            <a:r>
              <a:rPr sz="1450" spc="235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Floating point number in computer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consists of two parts: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mantissa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 exponent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e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--------&gt;	</a:t>
            </a:r>
            <a:r>
              <a:rPr sz="2400" b="1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m X</a:t>
            </a:r>
            <a:r>
              <a:rPr sz="2400" b="1" spc="-10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r</a:t>
            </a:r>
            <a:r>
              <a:rPr sz="2400" b="1" spc="-7" baseline="25000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2400" b="1" baseline="25000">
              <a:solidFill>
                <a:srgbClr val="FF0000"/>
              </a:solidFill>
              <a:latin typeface="Trebuchet MS" panose="020B0603020202020204"/>
              <a:cs typeface="Trebuchet MS" panose="020B0603020202020204"/>
            </a:endParaRPr>
          </a:p>
          <a:p>
            <a:pPr marL="381000" marR="56515" indent="-342900">
              <a:lnSpc>
                <a:spcPct val="100000"/>
              </a:lnSpc>
              <a:spcBef>
                <a:spcPts val="995"/>
              </a:spcBef>
              <a:tabLst>
                <a:tab pos="482600" algn="l"/>
              </a:tabLst>
            </a:pPr>
            <a:r>
              <a:rPr sz="2400" spc="24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floating point number that has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0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the most significant position of the mantissa is  said to have an </a:t>
            </a:r>
            <a:r>
              <a:rPr sz="24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UNDERFLOW. </a:t>
            </a:r>
            <a:r>
              <a:rPr sz="2400" spc="-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normalize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 that contains an </a:t>
            </a:r>
            <a:r>
              <a:rPr sz="24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underflow,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it is  necessary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shift the mantissa to the left and decrement the exponent until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nonzero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digit appears in the first</a:t>
            </a:r>
            <a:r>
              <a:rPr sz="2400" spc="-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position.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152400">
              <a:lnSpc>
                <a:spcPct val="100000"/>
              </a:lnSpc>
            </a:pPr>
            <a:r>
              <a:rPr sz="3200" spc="-20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Register</a:t>
            </a:r>
            <a:r>
              <a:rPr sz="3200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 configuration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38100" marR="17780" indent="2861945">
              <a:lnSpc>
                <a:spcPct val="104000"/>
              </a:lnSpc>
              <a:spcBef>
                <a:spcPts val="2105"/>
              </a:spcBef>
              <a:tabLst>
                <a:tab pos="3477260" algn="l"/>
                <a:tab pos="3597910" algn="l"/>
              </a:tabLst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	register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configuration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floating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point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operation</a:t>
            </a:r>
            <a:r>
              <a:rPr sz="2400" spc="-2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 quite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similar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layout for fixed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point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operation. As a general rule,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same  register and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adder used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fixed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point arithmetic are used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processing the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mantissas</a:t>
            </a:r>
            <a:r>
              <a:rPr sz="240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. The</a:t>
            </a:r>
            <a:r>
              <a:rPr sz="2400" spc="-85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difference</a:t>
            </a:r>
            <a:r>
              <a:rPr sz="2400" spc="-4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lies</a:t>
            </a:r>
            <a:r>
              <a:rPr lang="en-US"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way the exponents are</a:t>
            </a:r>
            <a:r>
              <a:rPr sz="2400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handled.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3910" y="18999"/>
            <a:ext cx="4357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Register</a:t>
            </a:r>
            <a:r>
              <a:rPr spc="-70" dirty="0"/>
              <a:t> </a:t>
            </a:r>
            <a:r>
              <a:rPr dirty="0"/>
              <a:t>organization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03910" y="1121409"/>
            <a:ext cx="5885180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There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three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registers,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BR,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AC,and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QR.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Each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 is subdivided into two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parts.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mantissa part has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same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upper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case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letters,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exponent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part uses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corres- 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ponding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lower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case</a:t>
            </a:r>
            <a:r>
              <a:rPr sz="2400" spc="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letters.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Trebuchet MS" panose="020B0603020202020204"/>
              <a:cs typeface="Trebuchet MS" panose="020B0603020202020204"/>
            </a:endParaRPr>
          </a:p>
          <a:p>
            <a:pPr marL="12700" marR="92075">
              <a:lnSpc>
                <a:spcPct val="100000"/>
              </a:lnSpc>
              <a:tabLst>
                <a:tab pos="2621280" algn="l"/>
              </a:tabLst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parallel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adder adds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two mantissas  and transfers the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sum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into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the</a:t>
            </a:r>
            <a:r>
              <a:rPr sz="2400" spc="-2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carry  into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E.</a:t>
            </a:r>
            <a:r>
              <a:rPr sz="2400" spc="-1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1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separate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parallel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adder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is used 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exponents.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Since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exponents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biased.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03492" y="102106"/>
            <a:ext cx="5588507" cy="6667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52527"/>
            <a:ext cx="677608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Addition </a:t>
            </a:r>
            <a:r>
              <a:rPr sz="4800" spc="-5" dirty="0"/>
              <a:t>and</a:t>
            </a:r>
            <a:r>
              <a:rPr sz="4800" spc="-35" dirty="0"/>
              <a:t> </a:t>
            </a:r>
            <a:r>
              <a:rPr sz="4800" spc="-5" dirty="0"/>
              <a:t>subtraction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756310" y="1154684"/>
            <a:ext cx="9246235" cy="3948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During addition and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subtraction ,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two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floating</a:t>
            </a:r>
            <a:r>
              <a:rPr sz="2800" spc="-1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point 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operands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are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 AC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8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BR.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sum of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difference is 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formed in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AC . The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algorithm can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divided into 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four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consecutive parts</a:t>
            </a:r>
            <a:r>
              <a:rPr sz="2800" spc="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965835" indent="-422275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965835" algn="l"/>
              </a:tabLst>
            </a:pP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Check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8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zeros.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946150" indent="-402590">
              <a:lnSpc>
                <a:spcPct val="100000"/>
              </a:lnSpc>
              <a:spcBef>
                <a:spcPts val="995"/>
              </a:spcBef>
              <a:buAutoNum type="arabicPeriod"/>
              <a:tabLst>
                <a:tab pos="946785" algn="l"/>
              </a:tabLst>
            </a:pP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Align the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mantissa.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946150" indent="-40259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946785" algn="l"/>
              </a:tabLst>
            </a:pP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 or subtract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spc="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mantissa.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965835" indent="-422275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965835" algn="l"/>
                <a:tab pos="3417570" algn="l"/>
              </a:tabLst>
            </a:pP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Normalize</a:t>
            </a:r>
            <a:r>
              <a:rPr sz="2800" spc="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	</a:t>
            </a:r>
            <a:r>
              <a:rPr sz="28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result.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2708" y="0"/>
            <a:ext cx="9757918" cy="675589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146430"/>
            <a:ext cx="2840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Multiplication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56310" y="1194308"/>
            <a:ext cx="10050145" cy="444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2450" indent="-342900">
              <a:lnSpc>
                <a:spcPct val="100000"/>
              </a:lnSpc>
              <a:spcBef>
                <a:spcPts val="100"/>
              </a:spcBef>
              <a:tabLst>
                <a:tab pos="441325" algn="l"/>
                <a:tab pos="421322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multiplication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two floating point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numbers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requires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that we  multiply the</a:t>
            </a:r>
            <a:r>
              <a:rPr sz="2400" spc="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mantissas</a:t>
            </a:r>
            <a:r>
              <a:rPr sz="2400" spc="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	add 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exponents.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No comparison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exponents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or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alignment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mantissa is</a:t>
            </a:r>
            <a:r>
              <a:rPr sz="2400" spc="9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necessary.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multiplication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mantissa is performed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same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as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fixed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point</a:t>
            </a:r>
            <a:r>
              <a:rPr sz="2400" spc="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provide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double precision</a:t>
            </a:r>
            <a:r>
              <a:rPr sz="2400" spc="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product.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multiplication algorithm can be subdivided into four parts</a:t>
            </a:r>
            <a:r>
              <a:rPr sz="2400" spc="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:-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929005" indent="-365760">
              <a:lnSpc>
                <a:spcPct val="100000"/>
              </a:lnSpc>
              <a:spcBef>
                <a:spcPts val="995"/>
              </a:spcBef>
              <a:buAutoNum type="arabicPeriod"/>
              <a:tabLst>
                <a:tab pos="929640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Check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 zeros.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912495" indent="-34925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913130" algn="l"/>
              </a:tabLst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exponents.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929005" indent="-36576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929640" algn="l"/>
                <a:tab pos="2204085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Multiply	the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mantissa.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929005" indent="-36576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929640" algn="l"/>
                <a:tab pos="3037840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Normalize</a:t>
            </a:r>
            <a:r>
              <a:rPr sz="2400" spc="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	product.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885946" y="127508"/>
            <a:ext cx="41897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Multiplication of </a:t>
            </a:r>
            <a:r>
              <a:rPr sz="1800" i="1" spc="-10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floating </a:t>
            </a:r>
            <a:r>
              <a:rPr sz="1800" i="1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point</a:t>
            </a:r>
            <a:r>
              <a:rPr sz="1800" i="1" spc="-6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i="1" spc="-5" dirty="0">
                <a:solidFill>
                  <a:srgbClr val="90C225"/>
                </a:solidFill>
                <a:latin typeface="Trebuchet MS" panose="020B0603020202020204"/>
                <a:cs typeface="Trebuchet MS" panose="020B0603020202020204"/>
              </a:rPr>
              <a:t>numbers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308" y="18999"/>
            <a:ext cx="1600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Division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67308" y="927049"/>
            <a:ext cx="9476105" cy="444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5364480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Floating point division requires that the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exponents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 subtracted  and the mantissa divided. The mantissa division is done as in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fixed 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point except that the</a:t>
            </a:r>
            <a:r>
              <a:rPr sz="2400" spc="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dividend</a:t>
            </a:r>
            <a:r>
              <a:rPr sz="2400" spc="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has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single precision mantissa  that is placed in the</a:t>
            </a:r>
            <a:r>
              <a:rPr sz="2400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AC.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90C225"/>
                </a:solidFill>
                <a:latin typeface="Arial" panose="020B0604020202020204"/>
                <a:cs typeface="Arial" panose="020B0604020202020204"/>
              </a:rPr>
              <a:t>	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division algorithm can be divided into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five</a:t>
            </a:r>
            <a:r>
              <a:rPr sz="2400" spc="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parts..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37565" indent="-365760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838200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Check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4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zeros.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37565" indent="-365760">
              <a:lnSpc>
                <a:spcPct val="100000"/>
              </a:lnSpc>
              <a:spcBef>
                <a:spcPts val="995"/>
              </a:spcBef>
              <a:buAutoNum type="arabicPeriod"/>
              <a:tabLst>
                <a:tab pos="838200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Initialize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registers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and evaluate the</a:t>
            </a:r>
            <a:r>
              <a:rPr sz="2400" spc="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sign.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1055" indent="-34925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821690" algn="l"/>
              </a:tabLst>
            </a:pPr>
            <a:r>
              <a:rPr sz="24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Align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dividend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37565" indent="-36576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838200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Subtract the</a:t>
            </a:r>
            <a:r>
              <a:rPr sz="24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exponents.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37565" indent="-36576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838200" algn="l"/>
              </a:tabLst>
            </a:pP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Divide the</a:t>
            </a:r>
            <a:r>
              <a:rPr sz="2400" spc="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mantissa.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143000" y="304800"/>
            <a:ext cx="8839200" cy="63245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nu Chanti\Desktop\Thank you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38200" y="381000"/>
            <a:ext cx="9220199" cy="586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14707</Words>
  <Application>WPS Presentation</Application>
  <PresentationFormat>Widescreen</PresentationFormat>
  <Paragraphs>219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Arial</vt:lpstr>
      <vt:lpstr>SimSun</vt:lpstr>
      <vt:lpstr>Wingdings</vt:lpstr>
      <vt:lpstr>Trebuchet MS</vt:lpstr>
      <vt:lpstr>Arial</vt:lpstr>
      <vt:lpstr>Wingdings</vt:lpstr>
      <vt:lpstr>Calibri</vt:lpstr>
      <vt:lpstr>Microsoft YaHei</vt:lpstr>
      <vt:lpstr>Arial Unicode MS</vt:lpstr>
      <vt:lpstr>Office Theme</vt:lpstr>
      <vt:lpstr>PowerPoint 演示文稿</vt:lpstr>
      <vt:lpstr>Topics to be covered</vt:lpstr>
      <vt:lpstr>Introduction</vt:lpstr>
      <vt:lpstr>What is algorithm?</vt:lpstr>
      <vt:lpstr>Addition and Subtraction</vt:lpstr>
      <vt:lpstr>Cont.……..</vt:lpstr>
      <vt:lpstr>PowerPoint 演示文稿</vt:lpstr>
      <vt:lpstr>Hardware implementation</vt:lpstr>
      <vt:lpstr>PowerPoint 演示文稿</vt:lpstr>
      <vt:lpstr>Hardware algorithm</vt:lpstr>
      <vt:lpstr>PowerPoint 演示文稿</vt:lpstr>
      <vt:lpstr>Addition and Subtraction with signed2’s complement  data</vt:lpstr>
      <vt:lpstr>PowerPoint 演示文稿</vt:lpstr>
      <vt:lpstr>PowerPoint 演示文稿</vt:lpstr>
      <vt:lpstr>multiplication of two fixed point binary numbers in signed  magnitude representation is done with paper and pencil of  successive shift and add operation</vt:lpstr>
      <vt:lpstr>Hardware Implementation for Signed-Magnitude data</vt:lpstr>
      <vt:lpstr>PowerPoint 演示文稿</vt:lpstr>
      <vt:lpstr>Hardware	Algorithm</vt:lpstr>
      <vt:lpstr>Booth Multiplication Algorithm</vt:lpstr>
      <vt:lpstr>PowerPoint 演示文稿</vt:lpstr>
      <vt:lpstr>Booth algorithm for multiplication of signed-2’s compliment</vt:lpstr>
      <vt:lpstr>Array multiplier</vt:lpstr>
      <vt:lpstr>PowerPoint 演示文稿</vt:lpstr>
      <vt:lpstr>Division Algorithm</vt:lpstr>
      <vt:lpstr>Example of binary division with digital hardware</vt:lpstr>
      <vt:lpstr>Divide overflow</vt:lpstr>
      <vt:lpstr>Hardware algorithm</vt:lpstr>
      <vt:lpstr>What is restoring method?</vt:lpstr>
      <vt:lpstr>Floating point Arithmetic operation</vt:lpstr>
      <vt:lpstr>Register organization</vt:lpstr>
      <vt:lpstr>Addition and subtraction</vt:lpstr>
      <vt:lpstr>PowerPoint 演示文稿</vt:lpstr>
      <vt:lpstr>Multiplication</vt:lpstr>
      <vt:lpstr>PowerPoint 演示文稿</vt:lpstr>
      <vt:lpstr>Division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PRANATHI ARIGELA</cp:lastModifiedBy>
  <cp:revision>9</cp:revision>
  <dcterms:created xsi:type="dcterms:W3CDTF">2022-05-05T07:57:00Z</dcterms:created>
  <dcterms:modified xsi:type="dcterms:W3CDTF">2025-01-04T11:03:11Z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2015-03-29T05:30:00Z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2022-05-05T05:30:00Z</vt:filetime>
  </property>
  <property fmtid="{D5CDD505-2E9C-101B-9397-08002B2CF9AE}" pid="5" name="ICV">
    <vt:lpwstr>573502406E1E4B4A9DDAF8ED4CD4F3EC_12</vt:lpwstr>
  </property>
  <property fmtid="{D5CDD505-2E9C-101B-9397-08002B2CF9AE}" pid="6" name="KSOProductBuildVer">
    <vt:lpwstr>1033-12.2.0.19307</vt:lpwstr>
  </property>
</Properties>
</file>