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1" r:id="rId9"/>
    <p:sldId id="266" r:id="rId10"/>
    <p:sldId id="258" r:id="rId11"/>
    <p:sldId id="265" r:id="rId12"/>
    <p:sldId id="268" r:id="rId13"/>
    <p:sldId id="269" r:id="rId14"/>
    <p:sldId id="270" r:id="rId15"/>
    <p:sldId id="271" r:id="rId16"/>
    <p:sldId id="272" r:id="rId17"/>
    <p:sldId id="273" r:id="rId18"/>
    <p:sldId id="2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41" autoAdjust="0"/>
  </p:normalViewPr>
  <p:slideViewPr>
    <p:cSldViewPr snapToGrid="0">
      <p:cViewPr>
        <p:scale>
          <a:sx n="74" d="100"/>
          <a:sy n="74" d="100"/>
        </p:scale>
        <p:origin x="1042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4D212B-FBF1-488E-A251-EB3FB1EB0FC9}" type="datetimeFigureOut">
              <a:rPr lang="en-AS" smtClean="0"/>
              <a:t>01/20/2025</a:t>
            </a:fld>
            <a:endParaRPr lang="en-A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8BC7A-0B58-4F54-B512-4D42C46C1703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4025338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D8BC7A-0B58-4F54-B512-4D42C46C1703}" type="slidenum">
              <a:rPr lang="en-AS" smtClean="0"/>
              <a:t>1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1679869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E0307-B85C-446A-8EF0-0407D435D787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9ACE-9343-4EBE-B5CA-AEA240A1DC53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0F7B-89C5-4DF7-A309-6263220147D4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95DE-FD64-4606-AE61-EC1136867CC6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BBD-30FE-4CF1-900A-0C45149F8AF8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A5F7F-3E81-4C65-A4D1-CB62D5B9DB91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ECC86-1672-4627-AEFE-EC5485C73905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CB01F-D966-4C62-B900-0BE008A90C98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A0EA-7DC7-4964-BB97-B173EF3B859A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862E7-95FA-4FC4-9EC5-DDBFA8DC7417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987F2-A784-4F72-BB57-0E9EACDE722E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D51E-4B19-444E-85C0-DBD7EB6263F4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255A-4AD5-4D3E-9A0A-689DA3BA976C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AD15-87AC-45B2-9EE5-8D165AF83CD7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40CCD-F0D6-4CC2-A4C8-2D7D0D875F02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E2CC-454D-4466-AC55-B86DA0A87BAE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B647B1BF-4039-460D-A637-65428CBD720E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F52CC-F3D9-41D4-BCE4-C208E61A3F31}" type="datetimeFigureOut">
              <a:rPr lang="en-US" dirty="0"/>
              <a:t>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A8D8-4EE5-BD37-0547-43A0878D8F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8086 microprocessor </a:t>
            </a:r>
            <a:endParaRPr lang="en-A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EB1F94-74D8-438F-6D11-E22C04D7C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070" y="2628566"/>
            <a:ext cx="1583356" cy="158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64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66D8-D354-1347-0C49-8F11AFBA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400" dirty="0">
                <a:latin typeface="Arial" panose="020B0604020202020204" pitchFamily="34" charset="0"/>
                <a:cs typeface="Arial" panose="020B0604020202020204" pitchFamily="34" charset="0"/>
              </a:rPr>
              <a:t>Features of 8086 microprocessor</a:t>
            </a:r>
            <a:endParaRPr lang="en-AS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6CEF-E6B0-B6A8-D2CA-EE8871F60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756461"/>
            <a:ext cx="5029818" cy="310650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It is 16-bit microprocessor</a:t>
            </a:r>
          </a:p>
          <a:p>
            <a:pPr>
              <a:lnSpc>
                <a:spcPct val="12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It has a 16-bit data bus</a:t>
            </a:r>
          </a:p>
          <a:p>
            <a:pPr lvl="1">
              <a:lnSpc>
                <a:spcPct val="120000"/>
              </a:lnSpc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So it can read/write data to memory</a:t>
            </a:r>
          </a:p>
          <a:p>
            <a:pPr>
              <a:lnSpc>
                <a:spcPct val="12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It has 20-bit address bus</a:t>
            </a:r>
          </a:p>
          <a:p>
            <a:pPr lvl="1">
              <a:lnSpc>
                <a:spcPct val="120000"/>
              </a:lnSpc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Can access up to 2</a:t>
            </a:r>
            <a:r>
              <a:rPr lang="en-GB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memory (1mb)</a:t>
            </a:r>
            <a:endParaRPr lang="en-GB" sz="1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Support up to 64k I/O ports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7575E-7B40-DEE5-47FB-050AE91F2989}"/>
              </a:ext>
            </a:extLst>
          </p:cNvPr>
          <p:cNvSpPr txBox="1"/>
          <p:nvPr/>
        </p:nvSpPr>
        <p:spPr>
          <a:xfrm>
            <a:off x="5813659" y="3383281"/>
            <a:ext cx="4004109" cy="185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F21CC03-3BB1-8566-47EF-784C4519A2AD}"/>
              </a:ext>
            </a:extLst>
          </p:cNvPr>
          <p:cNvSpPr txBox="1">
            <a:spLocks/>
          </p:cNvSpPr>
          <p:nvPr/>
        </p:nvSpPr>
        <p:spPr>
          <a:xfrm>
            <a:off x="6096000" y="2756461"/>
            <a:ext cx="5029818" cy="3106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Provides 14, 16-bit registers</a:t>
            </a:r>
          </a:p>
          <a:p>
            <a:pPr>
              <a:lnSpc>
                <a:spcPct val="12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It has multiplexed address and data bus</a:t>
            </a:r>
          </a:p>
          <a:p>
            <a:pPr lvl="1">
              <a:lnSpc>
                <a:spcPct val="120000"/>
              </a:lnSpc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AD0 – AD15 &amp; A16 – A19</a:t>
            </a:r>
          </a:p>
          <a:p>
            <a:pPr>
              <a:lnSpc>
                <a:spcPct val="12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Its supports 2 modes of operations</a:t>
            </a:r>
          </a:p>
          <a:p>
            <a:pPr lvl="1">
              <a:lnSpc>
                <a:spcPct val="120000"/>
              </a:lnSpc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MIN MODES</a:t>
            </a:r>
          </a:p>
          <a:p>
            <a:pPr lvl="1">
              <a:lnSpc>
                <a:spcPct val="120000"/>
              </a:lnSpc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MAX MODES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86261A-2A5B-47A8-C882-14F842915129}"/>
              </a:ext>
            </a:extLst>
          </p:cNvPr>
          <p:cNvCxnSpPr/>
          <p:nvPr/>
        </p:nvCxnSpPr>
        <p:spPr>
          <a:xfrm>
            <a:off x="5592278" y="214643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115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42E5E-9D4F-8A79-C57D-A8E3674C6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Architecture of 8086 microprocessor</a:t>
            </a:r>
            <a:endParaRPr lang="en-A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12F50-2084-5D79-8129-6B8061281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97" y="2505456"/>
            <a:ext cx="4796454" cy="359931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Its divided into two independent  functional units.</a:t>
            </a:r>
          </a:p>
          <a:p>
            <a:pPr lvl="1">
              <a:lnSpc>
                <a:spcPct val="100000"/>
              </a:lnSpc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BIU </a:t>
            </a:r>
            <a:r>
              <a:rPr lang="en-GB" sz="18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(Bus Interface Unit) 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EU </a:t>
            </a:r>
            <a:r>
              <a:rPr lang="en-GB" sz="18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18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Execution Unit</a:t>
            </a:r>
            <a:r>
              <a:rPr lang="en-GB" sz="18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GB" sz="20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Dividing the work between these two </a:t>
            </a:r>
            <a:r>
              <a:rPr lang="en-GB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units speed up processing.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B464E-C457-0B2E-7B52-F2DA8F145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175" y="2336873"/>
            <a:ext cx="6146272" cy="4011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9444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BB825-FA28-C2AB-75E9-73CC015B6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Execution Unit (EU)</a:t>
            </a:r>
            <a:endParaRPr lang="en-A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1C2C4-DA83-4686-440D-13C64A180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83641"/>
            <a:ext cx="10333422" cy="4797187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GB" sz="20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8086 microprocessor architecture has 16bit.</a:t>
            </a:r>
          </a:p>
          <a:p>
            <a:pPr>
              <a:lnSpc>
                <a:spcPct val="100000"/>
              </a:lnSpc>
            </a:pPr>
            <a:r>
              <a:rPr lang="en-GB" sz="20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 general-purpose registers. </a:t>
            </a:r>
          </a:p>
          <a:p>
            <a:pPr lvl="1">
              <a:lnSpc>
                <a:spcPct val="100000"/>
              </a:lnSpc>
            </a:pPr>
            <a:r>
              <a:rPr lang="en-GB" sz="18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AX, BX, CX, DX, </a:t>
            </a:r>
          </a:p>
          <a:p>
            <a:pPr lvl="1">
              <a:lnSpc>
                <a:spcPct val="100000"/>
              </a:lnSpc>
            </a:pPr>
            <a:r>
              <a:rPr lang="en-GB" sz="18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those can be a divide in to AH, AL, BH, BL, CH, CL, DH, DL. </a:t>
            </a:r>
          </a:p>
          <a:p>
            <a:pPr>
              <a:lnSpc>
                <a:spcPct val="100000"/>
              </a:lnSpc>
            </a:pPr>
            <a:r>
              <a:rPr lang="en-GB" sz="20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pipeline is a method that can fetch data from memory while executing an instruction. Without a pipeline, the system can do one thing at a time.</a:t>
            </a:r>
          </a:p>
          <a:p>
            <a:pPr>
              <a:lnSpc>
                <a:spcPct val="100000"/>
              </a:lnSpc>
            </a:pPr>
            <a:r>
              <a:rPr lang="en-GB" sz="20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That means to fetch, decode, and execute then fetch the next instruction decode and execute</a:t>
            </a:r>
            <a:r>
              <a:rPr lang="en-GB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GB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EU has a 16-bit arithmetic logic unit (ALU) which can add, subtract, AND, OR, XOR, increment, decrement, complement or shift binary numbers.</a:t>
            </a:r>
          </a:p>
          <a:p>
            <a:pPr>
              <a:lnSpc>
                <a:spcPct val="10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The main functions of EU are:</a:t>
            </a:r>
          </a:p>
          <a:p>
            <a:pPr lvl="1">
              <a:lnSpc>
                <a:spcPct val="100000"/>
              </a:lnSpc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Decoding </a:t>
            </a:r>
          </a:p>
          <a:p>
            <a:pPr lvl="1">
              <a:lnSpc>
                <a:spcPct val="100000"/>
              </a:lnSpc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Execution</a:t>
            </a:r>
            <a:b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A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520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EE88-0327-2353-B372-5DA93B51C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Execution Unit (EU)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A0EB7-6CA9-A514-3F9C-7BA9EB642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The EU contains the following 16-bit registers: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AX – Accumulator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BX – Base Register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CX – Count Register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DX – Data Register</a:t>
            </a:r>
          </a:p>
          <a:p>
            <a:pPr lvl="1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SP – Stack Pointer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BP – Base Pointer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SI – Source Index Register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 – Destination Index Register</a:t>
            </a:r>
            <a:endParaRPr lang="en-A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A52E1E-DDB4-0962-03B1-79CFDB56BBC2}"/>
              </a:ext>
            </a:extLst>
          </p:cNvPr>
          <p:cNvSpPr txBox="1">
            <a:spLocks/>
          </p:cNvSpPr>
          <p:nvPr/>
        </p:nvSpPr>
        <p:spPr>
          <a:xfrm>
            <a:off x="6630746" y="2336873"/>
            <a:ext cx="4751488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The AX, BX, CX and DX registers can be considered as two 8-bit registers.</a:t>
            </a:r>
          </a:p>
          <a:p>
            <a:pPr lvl="1">
              <a:lnSpc>
                <a:spcPct val="100000"/>
              </a:lnSpc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High byte</a:t>
            </a:r>
          </a:p>
          <a:p>
            <a:pPr lvl="1">
              <a:lnSpc>
                <a:spcPct val="100000"/>
              </a:lnSpc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Low byte</a:t>
            </a:r>
          </a:p>
          <a:p>
            <a:pPr marL="457200" indent="-457200">
              <a:buFont typeface="+mj-lt"/>
              <a:buAutoNum type="arabicParenR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AX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AH, AL</a:t>
            </a:r>
          </a:p>
          <a:p>
            <a:pPr marL="457200" indent="-457200">
              <a:buFont typeface="+mj-lt"/>
              <a:buAutoNum type="arabicParenR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BX  BH, BL</a:t>
            </a:r>
          </a:p>
          <a:p>
            <a:pPr marL="457200" indent="-457200">
              <a:buFont typeface="+mj-lt"/>
              <a:buAutoNum type="arabicParenR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CX  CH, CL </a:t>
            </a:r>
          </a:p>
          <a:p>
            <a:pPr marL="457200" indent="-457200">
              <a:buFont typeface="+mj-lt"/>
              <a:buAutoNum type="arabicParenR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DX  DH, DL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173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9955-6198-4C6E-1C14-DABD515A9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Pointers and Index Registers</a:t>
            </a:r>
            <a:endParaRPr lang="en-A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0250FA-35D6-3160-C1E4-CF2D0F27D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IP – Instruction pointer store memory location of next instruction to be executed (code segment)</a:t>
            </a:r>
          </a:p>
          <a:p>
            <a:pPr>
              <a:lnSpc>
                <a:spcPct val="10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BP – Base pointer (data segment)</a:t>
            </a:r>
          </a:p>
          <a:p>
            <a:pPr>
              <a:lnSpc>
                <a:spcPct val="10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SP – Stack pointer (stack segment)</a:t>
            </a:r>
          </a:p>
          <a:p>
            <a:pPr>
              <a:lnSpc>
                <a:spcPct val="10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SI – Source index (source data in data segment) </a:t>
            </a:r>
          </a:p>
          <a:p>
            <a:pPr>
              <a:lnSpc>
                <a:spcPct val="10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DI – Destination index (destination  in data or extra segment)</a:t>
            </a:r>
          </a:p>
          <a:p>
            <a:pPr lvl="1">
              <a:lnSpc>
                <a:spcPct val="100000"/>
              </a:lnSpc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The index registers are particularly useful for string manipulation.</a:t>
            </a:r>
            <a:endParaRPr lang="en-A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190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F377A-1A83-7E6C-3315-74707D009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Flags Registers</a:t>
            </a:r>
            <a:endParaRPr lang="en-A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A1C1CF-C740-5A0A-3102-D17B12FCE0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2628" y="2339953"/>
            <a:ext cx="7326743" cy="37648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6066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8112B-8A7F-D023-07DD-67586ACD1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Bus Interface Unit (BIU)</a:t>
            </a:r>
            <a:endParaRPr lang="en-A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FE206-E181-104B-9192-6CFDB2D24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BIU calculates physical address by using segment address and offset address.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8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 Physical address = segment address * 10H + Offset address ]</a:t>
            </a:r>
          </a:p>
          <a:p>
            <a:r>
              <a:rPr lang="en-GB" sz="20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BIU fetch data from memory when the pre-fetch queue has two-byte of space.</a:t>
            </a:r>
          </a:p>
          <a:p>
            <a:r>
              <a:rPr lang="en-GB" sz="20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Then fetch data from memory and store at the pre-fetch queue.</a:t>
            </a:r>
            <a:endParaRPr lang="en-GB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pre-fetch queue can hold six-byte data.</a:t>
            </a:r>
          </a:p>
          <a:p>
            <a:pPr marL="0" indent="0">
              <a:buNone/>
            </a:pPr>
            <a:endParaRPr lang="en-GB" sz="1600" b="0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buFont typeface="Arial" panose="020B0604020202020204" pitchFamily="34" charset="0"/>
              <a:buChar char="‼"/>
            </a:pPr>
            <a:r>
              <a:rPr lang="en-GB" sz="20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six-bytes..?</a:t>
            </a:r>
          </a:p>
          <a:p>
            <a:endParaRPr lang="en-GB" sz="2000" b="0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8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reason is 8086 instruction’s maximum size is 6 byte then the queue can hold any instruction.</a:t>
            </a:r>
            <a:endParaRPr lang="en-GB" sz="1800" b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D8BEB7-4D5F-F317-F433-B48B5D1D0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633" y="4210948"/>
            <a:ext cx="1049618" cy="104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876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31BB-FDD2-616A-F5BA-19B52BDAA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Segment Registers</a:t>
            </a:r>
            <a:endParaRPr lang="en-A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CA5A6-D7AF-A330-064C-725AD65F7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8086 architecture uses the concept of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segmented memory.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Memory capacity – 1mb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Divided into 16 logical segments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Each one Contains 64kb 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There are 4 segment registers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Code segment register(CS) –addressing memory location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Data segment register(DS) –point to the data segment 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Extra segment register(ES)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Stack segment register(SS)</a:t>
            </a:r>
            <a:endParaRPr lang="en-A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950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87F3B-D7A2-69FC-A2F7-051B32FAA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627" y="753228"/>
            <a:ext cx="9613861" cy="108093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ow instruction flow-through 8086 architecture</a:t>
            </a:r>
            <a:endParaRPr lang="en-A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2022_06_29_233150_Trim">
            <a:hlinkClick r:id="" action="ppaction://media"/>
            <a:extLst>
              <a:ext uri="{FF2B5EF4-FFF2-40B4-BE49-F238E27FC236}">
                <a16:creationId xmlns:a16="http://schemas.microsoft.com/office/drawing/2014/main" id="{A2AE48ED-63E6-D18C-46BC-5AA950B63AA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55511" y="2163546"/>
            <a:ext cx="7680977" cy="4320788"/>
          </a:xfrm>
        </p:spPr>
      </p:pic>
    </p:spTree>
    <p:extLst>
      <p:ext uri="{BB962C8B-B14F-4D97-AF65-F5344CB8AC3E}">
        <p14:creationId xmlns:p14="http://schemas.microsoft.com/office/powerpoint/2010/main" val="398843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3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4536-7911-B978-135A-FDF17A27E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8086 - Pin Diagram</a:t>
            </a:r>
            <a:endParaRPr lang="en-A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A9D713-927B-3C85-DC63-F0DAAFFB47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3092" y="2217531"/>
            <a:ext cx="3305816" cy="4376107"/>
          </a:xfrm>
        </p:spPr>
      </p:pic>
    </p:spTree>
    <p:extLst>
      <p:ext uri="{BB962C8B-B14F-4D97-AF65-F5344CB8AC3E}">
        <p14:creationId xmlns:p14="http://schemas.microsoft.com/office/powerpoint/2010/main" val="138117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812D9-6008-0882-E553-C6EF19B5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8086 - Pin Configuration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2FBB1-7D57-0C25-FA9F-6A738892D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: Larger currents to the ground.</a:t>
            </a:r>
          </a:p>
          <a:p>
            <a:pPr>
              <a:lnSpc>
                <a:spcPct val="100000"/>
              </a:lnSpc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AD14-AD0, AD15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These lines are called multiplexed lines.</a:t>
            </a:r>
          </a:p>
          <a:p>
            <a:pPr>
              <a:lnSpc>
                <a:spcPct val="100000"/>
              </a:lnSpc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NMI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its not user controlled, its reach processor when interrupts generates once.</a:t>
            </a:r>
          </a:p>
          <a:p>
            <a:pPr>
              <a:lnSpc>
                <a:spcPct val="100000"/>
              </a:lnSpc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INTR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: its user controlled, we can enable / disable.</a:t>
            </a:r>
          </a:p>
          <a:p>
            <a:pPr>
              <a:lnSpc>
                <a:spcPct val="100000"/>
              </a:lnSpc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CLK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:  its signal used for synchronization between processor and all components</a:t>
            </a:r>
            <a:endParaRPr lang="en-A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740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14A2A-FED7-A298-3F2D-84C938BFD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8086 - Pin Configuration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F7766-BE89-7196-742C-329F4FA2B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READY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active high pin(logic 1), used by the external peripherals.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READY = 0 (ready for accept data)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READY = 1 (not ready for accept data)</a:t>
            </a: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: this pin is used along with wait instruction.</a:t>
            </a: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QS1&amp;QS2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it gives the status &amp; instructions Queue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GB" u="sng" dirty="0">
                <a:latin typeface="Arial" panose="020B0604020202020204" pitchFamily="34" charset="0"/>
                <a:cs typeface="Arial" panose="020B0604020202020204" pitchFamily="34" charset="0"/>
              </a:rPr>
              <a:t>Qs1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u="sng" dirty="0">
                <a:latin typeface="Arial" panose="020B0604020202020204" pitchFamily="34" charset="0"/>
                <a:cs typeface="Arial" panose="020B0604020202020204" pitchFamily="34" charset="0"/>
              </a:rPr>
              <a:t>Qs0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GB" u="sng" dirty="0">
                <a:latin typeface="Arial" panose="020B0604020202020204" pitchFamily="34" charset="0"/>
                <a:cs typeface="Arial" panose="020B0604020202020204" pitchFamily="34" charset="0"/>
              </a:rPr>
              <a:t>Meaning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0		 0		No operation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0		 1		first byte of opcode from Queue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1		 0		Queue is cleared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1		 1		next byte of opcode from Queue</a:t>
            </a:r>
            <a:endParaRPr lang="en-A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87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DA0CE-A52A-985C-EE03-078F0B046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8086 - Pin Configuration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7448D-87D7-1410-659F-1F6A37BAE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209701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S0’, S1’, S2’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This indicates the type of operations carried out by the processor.</a:t>
            </a:r>
          </a:p>
          <a:p>
            <a:pPr lvl="1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GB" u="sng" dirty="0">
                <a:latin typeface="Arial" panose="020B0604020202020204" pitchFamily="34" charset="0"/>
                <a:cs typeface="Arial" panose="020B0604020202020204" pitchFamily="34" charset="0"/>
              </a:rPr>
              <a:t>S0’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u="sng" dirty="0">
                <a:latin typeface="Arial" panose="020B0604020202020204" pitchFamily="34" charset="0"/>
                <a:cs typeface="Arial" panose="020B0604020202020204" pitchFamily="34" charset="0"/>
              </a:rPr>
              <a:t>S1’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u="sng" dirty="0">
                <a:latin typeface="Arial" panose="020B0604020202020204" pitchFamily="34" charset="0"/>
                <a:cs typeface="Arial" panose="020B0604020202020204" pitchFamily="34" charset="0"/>
              </a:rPr>
              <a:t>S2’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		F</a:t>
            </a:r>
            <a:r>
              <a:rPr lang="en-GB" u="sng" dirty="0">
                <a:latin typeface="Arial" panose="020B0604020202020204" pitchFamily="34" charset="0"/>
                <a:cs typeface="Arial" panose="020B0604020202020204" pitchFamily="34" charset="0"/>
              </a:rPr>
              <a:t>UNCTION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0		 0	 0		interrupts acknowledge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0		 0	 1		I/O read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0		 1	 0		I/O write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0		 1	 1		Halt (not doing anything)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1		 0	 0		opcode fetch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1		 0	 1		memory read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1		 1	 0		memory write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1		 1	 1		passive (ideal state)</a:t>
            </a:r>
          </a:p>
        </p:txBody>
      </p:sp>
    </p:spTree>
    <p:extLst>
      <p:ext uri="{BB962C8B-B14F-4D97-AF65-F5344CB8AC3E}">
        <p14:creationId xmlns:p14="http://schemas.microsoft.com/office/powerpoint/2010/main" val="1381193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C7F38-54C7-4361-839D-2DD9C9C73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8086 - Pin Configuration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7F832-BD0B-CC5C-E0EA-45AE23263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LOCK’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its going for lock the system bus.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LOCK = 0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LOCK = 1</a:t>
            </a: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R1’/GT1’ /,R0’/GTO’ 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(request/grant) : In case of MAX mode if multiple processor are connect if the other processor wants to access the bus.</a:t>
            </a: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MN/MX’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selecting min mode / max mode 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Pin connected to VCC /programmed to 1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MIN MODE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Pin connected to GROUND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MAX MODE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610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A15DF-DFEB-62D2-FB68-FDF73FA71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8086 - Pin Configuration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04AB2-9A26-1F9A-5077-382636744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BHE’/S7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bus high enable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Its representing what type of data processor accessing.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BHE	A0	INDICATION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0		 0	whole word (64k)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0		 1	upper data/ from odd bank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1		 0	lower data/ from even bank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1		 1	none</a:t>
            </a: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A19/S6 – A16/S3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address/ status bus (multiplexed)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S6 : always remains logic 0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S5 : indicate condition of FLAG bits</a:t>
            </a:r>
          </a:p>
          <a:p>
            <a:pPr marL="457200" lvl="1" indent="0">
              <a:buNone/>
            </a:pPr>
            <a:endParaRPr lang="en-A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020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EDBB9-85C7-DD42-F582-2B57FEEF5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8086 - Pin Configuration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790FA-887D-9F4D-8329-8C5E1FAC7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S4, S3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represent which segment is currently the processor accessing.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S4	S3	Segment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0		 0	ES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0		 1	SS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1		 0	CS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1		 1	DS</a:t>
            </a: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RD’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read signal is active low pin (logic =0)</a:t>
            </a: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VCC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:  MAX voltage we can give at here is +5.0 V </a:t>
            </a:r>
          </a:p>
        </p:txBody>
      </p:sp>
    </p:spTree>
    <p:extLst>
      <p:ext uri="{BB962C8B-B14F-4D97-AF65-F5344CB8AC3E}">
        <p14:creationId xmlns:p14="http://schemas.microsoft.com/office/powerpoint/2010/main" val="931446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CD72-C258-022E-3A7A-F25E73A6D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You!!</a:t>
            </a:r>
            <a:endParaRPr lang="en-A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AECB16-22AD-E0B0-918A-00BF34FD47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2869" y="2505909"/>
            <a:ext cx="3598863" cy="3598863"/>
          </a:xfrm>
        </p:spPr>
      </p:pic>
    </p:spTree>
    <p:extLst>
      <p:ext uri="{BB962C8B-B14F-4D97-AF65-F5344CB8AC3E}">
        <p14:creationId xmlns:p14="http://schemas.microsoft.com/office/powerpoint/2010/main" val="127452738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572</TotalTime>
  <Words>1161</Words>
  <Application>Microsoft Office PowerPoint</Application>
  <PresentationFormat>Widescreen</PresentationFormat>
  <Paragraphs>140</Paragraphs>
  <Slides>18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Roboto</vt:lpstr>
      <vt:lpstr>Trebuchet MS</vt:lpstr>
      <vt:lpstr>Wingdings</vt:lpstr>
      <vt:lpstr>Berlin</vt:lpstr>
      <vt:lpstr>8086 microprocessor </vt:lpstr>
      <vt:lpstr>Features of 8086 microprocessor</vt:lpstr>
      <vt:lpstr>Architecture of 8086 microprocessor</vt:lpstr>
      <vt:lpstr>Execution Unit (EU)</vt:lpstr>
      <vt:lpstr>Execution Unit (EU)</vt:lpstr>
      <vt:lpstr>Pointers and Index Registers</vt:lpstr>
      <vt:lpstr>Flags Registers</vt:lpstr>
      <vt:lpstr>Bus Interface Unit (BIU)</vt:lpstr>
      <vt:lpstr>Segment Registers</vt:lpstr>
      <vt:lpstr>How instruction flow-through 8086 architecture</vt:lpstr>
      <vt:lpstr>8086 - Pin Diagram</vt:lpstr>
      <vt:lpstr>8086 - Pin Configuration</vt:lpstr>
      <vt:lpstr>8086 - Pin Configuration</vt:lpstr>
      <vt:lpstr>8086 - Pin Configuration</vt:lpstr>
      <vt:lpstr>8086 - Pin Configuration</vt:lpstr>
      <vt:lpstr>8086 - Pin Configuration</vt:lpstr>
      <vt:lpstr>8086 - Pin Configuration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8086 microprocessor</dc:title>
  <dc:creator>infinite soulmate</dc:creator>
  <cp:lastModifiedBy>anusha kasturi</cp:lastModifiedBy>
  <cp:revision>9</cp:revision>
  <dcterms:created xsi:type="dcterms:W3CDTF">2022-06-29T17:39:38Z</dcterms:created>
  <dcterms:modified xsi:type="dcterms:W3CDTF">2025-01-20T00:47:30Z</dcterms:modified>
</cp:coreProperties>
</file>