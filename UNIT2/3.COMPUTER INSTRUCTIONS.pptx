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9144000" cy="6858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2D5ABB26-0587-4C30-8999-92F81FD0307C}" styleName="No Style, No Grid">
    <a:wholeTbl>
      <a:tcTxStyle>
        <a:fontRef idx="minor">
          <a:scrgbClr b="0" g="0" r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4A687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4A687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4A687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4A687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4A687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540" y="2540"/>
            <a:ext cx="819150" cy="819150"/>
          </a:xfrm>
          <a:custGeom>
            <a:avLst/>
            <a:gdLst/>
            <a:ahLst/>
            <a:cxnLst/>
            <a:rect l="l" t="t" r="r" b="b"/>
            <a:pathLst>
              <a:path w="819150" h="819150">
                <a:moveTo>
                  <a:pt x="819150" y="0"/>
                </a:moveTo>
                <a:lnTo>
                  <a:pt x="0" y="0"/>
                </a:lnTo>
                <a:lnTo>
                  <a:pt x="0" y="819149"/>
                </a:lnTo>
                <a:lnTo>
                  <a:pt x="40640" y="819149"/>
                </a:lnTo>
                <a:lnTo>
                  <a:pt x="82550" y="815339"/>
                </a:lnTo>
                <a:lnTo>
                  <a:pt x="123190" y="810259"/>
                </a:lnTo>
                <a:lnTo>
                  <a:pt x="165100" y="802639"/>
                </a:lnTo>
                <a:lnTo>
                  <a:pt x="205740" y="793749"/>
                </a:lnTo>
                <a:lnTo>
                  <a:pt x="245110" y="782319"/>
                </a:lnTo>
                <a:lnTo>
                  <a:pt x="284480" y="768349"/>
                </a:lnTo>
                <a:lnTo>
                  <a:pt x="322580" y="753109"/>
                </a:lnTo>
                <a:lnTo>
                  <a:pt x="360680" y="736599"/>
                </a:lnTo>
                <a:lnTo>
                  <a:pt x="397510" y="717549"/>
                </a:lnTo>
                <a:lnTo>
                  <a:pt x="433069" y="695959"/>
                </a:lnTo>
                <a:lnTo>
                  <a:pt x="467359" y="673099"/>
                </a:lnTo>
                <a:lnTo>
                  <a:pt x="501650" y="648969"/>
                </a:lnTo>
                <a:lnTo>
                  <a:pt x="533400" y="622299"/>
                </a:lnTo>
                <a:lnTo>
                  <a:pt x="563880" y="594359"/>
                </a:lnTo>
                <a:lnTo>
                  <a:pt x="594360" y="565149"/>
                </a:lnTo>
                <a:lnTo>
                  <a:pt x="622300" y="534669"/>
                </a:lnTo>
                <a:lnTo>
                  <a:pt x="673100" y="468629"/>
                </a:lnTo>
                <a:lnTo>
                  <a:pt x="695960" y="434339"/>
                </a:lnTo>
                <a:lnTo>
                  <a:pt x="716280" y="397509"/>
                </a:lnTo>
                <a:lnTo>
                  <a:pt x="735330" y="361949"/>
                </a:lnTo>
                <a:lnTo>
                  <a:pt x="753110" y="323850"/>
                </a:lnTo>
                <a:lnTo>
                  <a:pt x="768350" y="284479"/>
                </a:lnTo>
                <a:lnTo>
                  <a:pt x="782319" y="246379"/>
                </a:lnTo>
                <a:lnTo>
                  <a:pt x="793750" y="205739"/>
                </a:lnTo>
                <a:lnTo>
                  <a:pt x="802640" y="165100"/>
                </a:lnTo>
                <a:lnTo>
                  <a:pt x="810260" y="124459"/>
                </a:lnTo>
                <a:lnTo>
                  <a:pt x="815340" y="82550"/>
                </a:lnTo>
                <a:lnTo>
                  <a:pt x="819150" y="41909"/>
                </a:lnTo>
                <a:lnTo>
                  <a:pt x="819150" y="0"/>
                </a:lnTo>
                <a:close/>
              </a:path>
            </a:pathLst>
          </a:custGeom>
          <a:solidFill>
            <a:srgbClr val="FDF9F3">
              <a:alpha val="32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540" y="2540"/>
            <a:ext cx="819150" cy="819150"/>
          </a:xfrm>
          <a:custGeom>
            <a:avLst/>
            <a:gdLst/>
            <a:ahLst/>
            <a:cxnLst/>
            <a:rect l="l" t="t" r="r" b="b"/>
            <a:pathLst>
              <a:path w="819150" h="819150">
                <a:moveTo>
                  <a:pt x="819150" y="0"/>
                </a:moveTo>
                <a:lnTo>
                  <a:pt x="819150" y="41909"/>
                </a:lnTo>
                <a:lnTo>
                  <a:pt x="815340" y="82550"/>
                </a:lnTo>
                <a:lnTo>
                  <a:pt x="810260" y="124459"/>
                </a:lnTo>
                <a:lnTo>
                  <a:pt x="802640" y="165100"/>
                </a:lnTo>
                <a:lnTo>
                  <a:pt x="793750" y="205739"/>
                </a:lnTo>
                <a:lnTo>
                  <a:pt x="782319" y="246379"/>
                </a:lnTo>
                <a:lnTo>
                  <a:pt x="768350" y="284479"/>
                </a:lnTo>
                <a:lnTo>
                  <a:pt x="753110" y="323850"/>
                </a:lnTo>
                <a:lnTo>
                  <a:pt x="735330" y="361949"/>
                </a:lnTo>
                <a:lnTo>
                  <a:pt x="716280" y="397509"/>
                </a:lnTo>
                <a:lnTo>
                  <a:pt x="695960" y="434339"/>
                </a:lnTo>
                <a:lnTo>
                  <a:pt x="673100" y="468629"/>
                </a:lnTo>
                <a:lnTo>
                  <a:pt x="647700" y="501649"/>
                </a:lnTo>
                <a:lnTo>
                  <a:pt x="622300" y="534669"/>
                </a:lnTo>
                <a:lnTo>
                  <a:pt x="594360" y="565149"/>
                </a:lnTo>
                <a:lnTo>
                  <a:pt x="563880" y="594359"/>
                </a:lnTo>
                <a:lnTo>
                  <a:pt x="533400" y="622299"/>
                </a:lnTo>
                <a:lnTo>
                  <a:pt x="501650" y="648969"/>
                </a:lnTo>
                <a:lnTo>
                  <a:pt x="467359" y="673099"/>
                </a:lnTo>
                <a:lnTo>
                  <a:pt x="433069" y="695959"/>
                </a:lnTo>
                <a:lnTo>
                  <a:pt x="397510" y="717549"/>
                </a:lnTo>
                <a:lnTo>
                  <a:pt x="360680" y="736599"/>
                </a:lnTo>
                <a:lnTo>
                  <a:pt x="322580" y="753109"/>
                </a:lnTo>
                <a:lnTo>
                  <a:pt x="284480" y="768349"/>
                </a:lnTo>
                <a:lnTo>
                  <a:pt x="245110" y="782319"/>
                </a:lnTo>
                <a:lnTo>
                  <a:pt x="205740" y="793749"/>
                </a:lnTo>
                <a:lnTo>
                  <a:pt x="165100" y="802639"/>
                </a:lnTo>
                <a:lnTo>
                  <a:pt x="123190" y="810259"/>
                </a:lnTo>
                <a:lnTo>
                  <a:pt x="82550" y="815339"/>
                </a:lnTo>
                <a:lnTo>
                  <a:pt x="40640" y="819149"/>
                </a:lnTo>
                <a:lnTo>
                  <a:pt x="0" y="819149"/>
                </a:lnTo>
                <a:lnTo>
                  <a:pt x="0" y="0"/>
                </a:lnTo>
                <a:lnTo>
                  <a:pt x="819150" y="0"/>
                </a:lnTo>
                <a:close/>
              </a:path>
              <a:path w="819150" h="819150">
                <a:moveTo>
                  <a:pt x="819150" y="819149"/>
                </a:moveTo>
                <a:lnTo>
                  <a:pt x="819150" y="819149"/>
                </a:lnTo>
              </a:path>
            </a:pathLst>
          </a:custGeom>
          <a:ln w="3234">
            <a:solidFill>
              <a:srgbClr val="D1C29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40029" y="33019"/>
            <a:ext cx="1703070" cy="1703070"/>
          </a:xfrm>
          <a:custGeom>
            <a:avLst/>
            <a:gdLst/>
            <a:ahLst/>
            <a:cxnLst/>
            <a:rect l="l" t="t" r="r" b="b"/>
            <a:pathLst>
              <a:path w="1703070" h="1703070">
                <a:moveTo>
                  <a:pt x="852169" y="0"/>
                </a:moveTo>
                <a:lnTo>
                  <a:pt x="901675" y="1307"/>
                </a:lnTo>
                <a:lnTo>
                  <a:pt x="950304" y="5189"/>
                </a:lnTo>
                <a:lnTo>
                  <a:pt x="997991" y="11580"/>
                </a:lnTo>
                <a:lnTo>
                  <a:pt x="1044676" y="20419"/>
                </a:lnTo>
                <a:lnTo>
                  <a:pt x="1090295" y="31643"/>
                </a:lnTo>
                <a:lnTo>
                  <a:pt x="1134787" y="45187"/>
                </a:lnTo>
                <a:lnTo>
                  <a:pt x="1178088" y="60989"/>
                </a:lnTo>
                <a:lnTo>
                  <a:pt x="1220136" y="78987"/>
                </a:lnTo>
                <a:lnTo>
                  <a:pt x="1260869" y="99116"/>
                </a:lnTo>
                <a:lnTo>
                  <a:pt x="1300223" y="121313"/>
                </a:lnTo>
                <a:lnTo>
                  <a:pt x="1338138" y="145516"/>
                </a:lnTo>
                <a:lnTo>
                  <a:pt x="1374550" y="171662"/>
                </a:lnTo>
                <a:lnTo>
                  <a:pt x="1409396" y="199687"/>
                </a:lnTo>
                <a:lnTo>
                  <a:pt x="1442615" y="229528"/>
                </a:lnTo>
                <a:lnTo>
                  <a:pt x="1474144" y="261122"/>
                </a:lnTo>
                <a:lnTo>
                  <a:pt x="1503919" y="294406"/>
                </a:lnTo>
                <a:lnTo>
                  <a:pt x="1531880" y="329317"/>
                </a:lnTo>
                <a:lnTo>
                  <a:pt x="1557962" y="365791"/>
                </a:lnTo>
                <a:lnTo>
                  <a:pt x="1582105" y="403767"/>
                </a:lnTo>
                <a:lnTo>
                  <a:pt x="1604244" y="443179"/>
                </a:lnTo>
                <a:lnTo>
                  <a:pt x="1624319" y="483967"/>
                </a:lnTo>
                <a:lnTo>
                  <a:pt x="1642266" y="526065"/>
                </a:lnTo>
                <a:lnTo>
                  <a:pt x="1658022" y="569412"/>
                </a:lnTo>
                <a:lnTo>
                  <a:pt x="1671526" y="613944"/>
                </a:lnTo>
                <a:lnTo>
                  <a:pt x="1682715" y="659597"/>
                </a:lnTo>
                <a:lnTo>
                  <a:pt x="1691527" y="706310"/>
                </a:lnTo>
                <a:lnTo>
                  <a:pt x="1697898" y="754018"/>
                </a:lnTo>
                <a:lnTo>
                  <a:pt x="1701766" y="802659"/>
                </a:lnTo>
                <a:lnTo>
                  <a:pt x="1703070" y="852169"/>
                </a:lnTo>
                <a:lnTo>
                  <a:pt x="1701766" y="901675"/>
                </a:lnTo>
                <a:lnTo>
                  <a:pt x="1697898" y="950304"/>
                </a:lnTo>
                <a:lnTo>
                  <a:pt x="1691527" y="997991"/>
                </a:lnTo>
                <a:lnTo>
                  <a:pt x="1682715" y="1044676"/>
                </a:lnTo>
                <a:lnTo>
                  <a:pt x="1671526" y="1090295"/>
                </a:lnTo>
                <a:lnTo>
                  <a:pt x="1658022" y="1134787"/>
                </a:lnTo>
                <a:lnTo>
                  <a:pt x="1642266" y="1178088"/>
                </a:lnTo>
                <a:lnTo>
                  <a:pt x="1624319" y="1220136"/>
                </a:lnTo>
                <a:lnTo>
                  <a:pt x="1604244" y="1260869"/>
                </a:lnTo>
                <a:lnTo>
                  <a:pt x="1582105" y="1300223"/>
                </a:lnTo>
                <a:lnTo>
                  <a:pt x="1557962" y="1338138"/>
                </a:lnTo>
                <a:lnTo>
                  <a:pt x="1531880" y="1374550"/>
                </a:lnTo>
                <a:lnTo>
                  <a:pt x="1503919" y="1409396"/>
                </a:lnTo>
                <a:lnTo>
                  <a:pt x="1474144" y="1442615"/>
                </a:lnTo>
                <a:lnTo>
                  <a:pt x="1442615" y="1474144"/>
                </a:lnTo>
                <a:lnTo>
                  <a:pt x="1409396" y="1503919"/>
                </a:lnTo>
                <a:lnTo>
                  <a:pt x="1374550" y="1531880"/>
                </a:lnTo>
                <a:lnTo>
                  <a:pt x="1338138" y="1557962"/>
                </a:lnTo>
                <a:lnTo>
                  <a:pt x="1300223" y="1582105"/>
                </a:lnTo>
                <a:lnTo>
                  <a:pt x="1260869" y="1604244"/>
                </a:lnTo>
                <a:lnTo>
                  <a:pt x="1220136" y="1624319"/>
                </a:lnTo>
                <a:lnTo>
                  <a:pt x="1178088" y="1642266"/>
                </a:lnTo>
                <a:lnTo>
                  <a:pt x="1134787" y="1658022"/>
                </a:lnTo>
                <a:lnTo>
                  <a:pt x="1090295" y="1671526"/>
                </a:lnTo>
                <a:lnTo>
                  <a:pt x="1044676" y="1682715"/>
                </a:lnTo>
                <a:lnTo>
                  <a:pt x="997991" y="1691527"/>
                </a:lnTo>
                <a:lnTo>
                  <a:pt x="950304" y="1697898"/>
                </a:lnTo>
                <a:lnTo>
                  <a:pt x="901675" y="1701766"/>
                </a:lnTo>
                <a:lnTo>
                  <a:pt x="852169" y="1703069"/>
                </a:lnTo>
                <a:lnTo>
                  <a:pt x="802659" y="1701766"/>
                </a:lnTo>
                <a:lnTo>
                  <a:pt x="754018" y="1697898"/>
                </a:lnTo>
                <a:lnTo>
                  <a:pt x="706310" y="1691527"/>
                </a:lnTo>
                <a:lnTo>
                  <a:pt x="659597" y="1682715"/>
                </a:lnTo>
                <a:lnTo>
                  <a:pt x="613944" y="1671526"/>
                </a:lnTo>
                <a:lnTo>
                  <a:pt x="569412" y="1658022"/>
                </a:lnTo>
                <a:lnTo>
                  <a:pt x="526065" y="1642266"/>
                </a:lnTo>
                <a:lnTo>
                  <a:pt x="483967" y="1624319"/>
                </a:lnTo>
                <a:lnTo>
                  <a:pt x="443179" y="1604244"/>
                </a:lnTo>
                <a:lnTo>
                  <a:pt x="403767" y="1582105"/>
                </a:lnTo>
                <a:lnTo>
                  <a:pt x="365791" y="1557962"/>
                </a:lnTo>
                <a:lnTo>
                  <a:pt x="329317" y="1531880"/>
                </a:lnTo>
                <a:lnTo>
                  <a:pt x="294406" y="1503919"/>
                </a:lnTo>
                <a:lnTo>
                  <a:pt x="261122" y="1474144"/>
                </a:lnTo>
                <a:lnTo>
                  <a:pt x="229528" y="1442615"/>
                </a:lnTo>
                <a:lnTo>
                  <a:pt x="199687" y="1409396"/>
                </a:lnTo>
                <a:lnTo>
                  <a:pt x="171662" y="1374550"/>
                </a:lnTo>
                <a:lnTo>
                  <a:pt x="145516" y="1338138"/>
                </a:lnTo>
                <a:lnTo>
                  <a:pt x="121313" y="1300223"/>
                </a:lnTo>
                <a:lnTo>
                  <a:pt x="99116" y="1260869"/>
                </a:lnTo>
                <a:lnTo>
                  <a:pt x="78987" y="1220136"/>
                </a:lnTo>
                <a:lnTo>
                  <a:pt x="60989" y="1178088"/>
                </a:lnTo>
                <a:lnTo>
                  <a:pt x="45187" y="1134787"/>
                </a:lnTo>
                <a:lnTo>
                  <a:pt x="31643" y="1090295"/>
                </a:lnTo>
                <a:lnTo>
                  <a:pt x="20419" y="1044676"/>
                </a:lnTo>
                <a:lnTo>
                  <a:pt x="11580" y="997991"/>
                </a:lnTo>
                <a:lnTo>
                  <a:pt x="5189" y="950304"/>
                </a:lnTo>
                <a:lnTo>
                  <a:pt x="1307" y="901675"/>
                </a:lnTo>
                <a:lnTo>
                  <a:pt x="0" y="852169"/>
                </a:lnTo>
                <a:lnTo>
                  <a:pt x="1307" y="802659"/>
                </a:lnTo>
                <a:lnTo>
                  <a:pt x="5189" y="754018"/>
                </a:lnTo>
                <a:lnTo>
                  <a:pt x="11580" y="706310"/>
                </a:lnTo>
                <a:lnTo>
                  <a:pt x="20419" y="659597"/>
                </a:lnTo>
                <a:lnTo>
                  <a:pt x="31643" y="613944"/>
                </a:lnTo>
                <a:lnTo>
                  <a:pt x="45187" y="569412"/>
                </a:lnTo>
                <a:lnTo>
                  <a:pt x="60989" y="526065"/>
                </a:lnTo>
                <a:lnTo>
                  <a:pt x="78987" y="483967"/>
                </a:lnTo>
                <a:lnTo>
                  <a:pt x="99116" y="443179"/>
                </a:lnTo>
                <a:lnTo>
                  <a:pt x="121313" y="403767"/>
                </a:lnTo>
                <a:lnTo>
                  <a:pt x="145516" y="365791"/>
                </a:lnTo>
                <a:lnTo>
                  <a:pt x="171662" y="329317"/>
                </a:lnTo>
                <a:lnTo>
                  <a:pt x="199687" y="294406"/>
                </a:lnTo>
                <a:lnTo>
                  <a:pt x="229528" y="261122"/>
                </a:lnTo>
                <a:lnTo>
                  <a:pt x="261122" y="229528"/>
                </a:lnTo>
                <a:lnTo>
                  <a:pt x="294406" y="199687"/>
                </a:lnTo>
                <a:lnTo>
                  <a:pt x="329317" y="171662"/>
                </a:lnTo>
                <a:lnTo>
                  <a:pt x="365791" y="145516"/>
                </a:lnTo>
                <a:lnTo>
                  <a:pt x="403767" y="121313"/>
                </a:lnTo>
                <a:lnTo>
                  <a:pt x="443179" y="99116"/>
                </a:lnTo>
                <a:lnTo>
                  <a:pt x="483967" y="78987"/>
                </a:lnTo>
                <a:lnTo>
                  <a:pt x="526065" y="60989"/>
                </a:lnTo>
                <a:lnTo>
                  <a:pt x="569412" y="45187"/>
                </a:lnTo>
                <a:lnTo>
                  <a:pt x="613944" y="31643"/>
                </a:lnTo>
                <a:lnTo>
                  <a:pt x="659597" y="20419"/>
                </a:lnTo>
                <a:lnTo>
                  <a:pt x="706310" y="11580"/>
                </a:lnTo>
                <a:lnTo>
                  <a:pt x="754018" y="5189"/>
                </a:lnTo>
                <a:lnTo>
                  <a:pt x="802659" y="1307"/>
                </a:lnTo>
                <a:lnTo>
                  <a:pt x="852169" y="0"/>
                </a:lnTo>
                <a:close/>
              </a:path>
              <a:path w="1703070" h="1703070">
                <a:moveTo>
                  <a:pt x="0" y="0"/>
                </a:moveTo>
                <a:lnTo>
                  <a:pt x="0" y="0"/>
                </a:lnTo>
              </a:path>
            </a:pathLst>
          </a:custGeom>
          <a:ln w="27315">
            <a:solidFill>
              <a:srgbClr val="AEA48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7639" y="20320"/>
            <a:ext cx="1704339" cy="1704339"/>
          </a:xfrm>
          <a:custGeom>
            <a:avLst/>
            <a:gdLst/>
            <a:ahLst/>
            <a:cxnLst/>
            <a:rect l="l" t="t" r="r" b="b"/>
            <a:pathLst>
              <a:path w="1704339" h="1704339">
                <a:moveTo>
                  <a:pt x="852169" y="0"/>
                </a:moveTo>
                <a:lnTo>
                  <a:pt x="901680" y="1307"/>
                </a:lnTo>
                <a:lnTo>
                  <a:pt x="950321" y="5189"/>
                </a:lnTo>
                <a:lnTo>
                  <a:pt x="998029" y="11580"/>
                </a:lnTo>
                <a:lnTo>
                  <a:pt x="1044742" y="20419"/>
                </a:lnTo>
                <a:lnTo>
                  <a:pt x="1090395" y="31643"/>
                </a:lnTo>
                <a:lnTo>
                  <a:pt x="1134927" y="45187"/>
                </a:lnTo>
                <a:lnTo>
                  <a:pt x="1178274" y="60989"/>
                </a:lnTo>
                <a:lnTo>
                  <a:pt x="1220372" y="78987"/>
                </a:lnTo>
                <a:lnTo>
                  <a:pt x="1261160" y="99116"/>
                </a:lnTo>
                <a:lnTo>
                  <a:pt x="1300572" y="121313"/>
                </a:lnTo>
                <a:lnTo>
                  <a:pt x="1338548" y="145516"/>
                </a:lnTo>
                <a:lnTo>
                  <a:pt x="1375022" y="171662"/>
                </a:lnTo>
                <a:lnTo>
                  <a:pt x="1409933" y="199687"/>
                </a:lnTo>
                <a:lnTo>
                  <a:pt x="1443217" y="229528"/>
                </a:lnTo>
                <a:lnTo>
                  <a:pt x="1474811" y="261122"/>
                </a:lnTo>
                <a:lnTo>
                  <a:pt x="1504652" y="294406"/>
                </a:lnTo>
                <a:lnTo>
                  <a:pt x="1532677" y="329317"/>
                </a:lnTo>
                <a:lnTo>
                  <a:pt x="1558823" y="365791"/>
                </a:lnTo>
                <a:lnTo>
                  <a:pt x="1583026" y="403767"/>
                </a:lnTo>
                <a:lnTo>
                  <a:pt x="1605223" y="443179"/>
                </a:lnTo>
                <a:lnTo>
                  <a:pt x="1625352" y="483967"/>
                </a:lnTo>
                <a:lnTo>
                  <a:pt x="1643350" y="526065"/>
                </a:lnTo>
                <a:lnTo>
                  <a:pt x="1659152" y="569412"/>
                </a:lnTo>
                <a:lnTo>
                  <a:pt x="1672696" y="613944"/>
                </a:lnTo>
                <a:lnTo>
                  <a:pt x="1683920" y="659597"/>
                </a:lnTo>
                <a:lnTo>
                  <a:pt x="1692759" y="706310"/>
                </a:lnTo>
                <a:lnTo>
                  <a:pt x="1699150" y="754018"/>
                </a:lnTo>
                <a:lnTo>
                  <a:pt x="1703032" y="802659"/>
                </a:lnTo>
                <a:lnTo>
                  <a:pt x="1704340" y="852169"/>
                </a:lnTo>
                <a:lnTo>
                  <a:pt x="1703032" y="901680"/>
                </a:lnTo>
                <a:lnTo>
                  <a:pt x="1699150" y="950321"/>
                </a:lnTo>
                <a:lnTo>
                  <a:pt x="1692759" y="998029"/>
                </a:lnTo>
                <a:lnTo>
                  <a:pt x="1683920" y="1044742"/>
                </a:lnTo>
                <a:lnTo>
                  <a:pt x="1672696" y="1090395"/>
                </a:lnTo>
                <a:lnTo>
                  <a:pt x="1659152" y="1134927"/>
                </a:lnTo>
                <a:lnTo>
                  <a:pt x="1643350" y="1178274"/>
                </a:lnTo>
                <a:lnTo>
                  <a:pt x="1625352" y="1220372"/>
                </a:lnTo>
                <a:lnTo>
                  <a:pt x="1605223" y="1261160"/>
                </a:lnTo>
                <a:lnTo>
                  <a:pt x="1583026" y="1300572"/>
                </a:lnTo>
                <a:lnTo>
                  <a:pt x="1558823" y="1338548"/>
                </a:lnTo>
                <a:lnTo>
                  <a:pt x="1532677" y="1375022"/>
                </a:lnTo>
                <a:lnTo>
                  <a:pt x="1504652" y="1409933"/>
                </a:lnTo>
                <a:lnTo>
                  <a:pt x="1474811" y="1443217"/>
                </a:lnTo>
                <a:lnTo>
                  <a:pt x="1443217" y="1474811"/>
                </a:lnTo>
                <a:lnTo>
                  <a:pt x="1409933" y="1504652"/>
                </a:lnTo>
                <a:lnTo>
                  <a:pt x="1375022" y="1532677"/>
                </a:lnTo>
                <a:lnTo>
                  <a:pt x="1338548" y="1558823"/>
                </a:lnTo>
                <a:lnTo>
                  <a:pt x="1300572" y="1583026"/>
                </a:lnTo>
                <a:lnTo>
                  <a:pt x="1261160" y="1605223"/>
                </a:lnTo>
                <a:lnTo>
                  <a:pt x="1220372" y="1625352"/>
                </a:lnTo>
                <a:lnTo>
                  <a:pt x="1178274" y="1643350"/>
                </a:lnTo>
                <a:lnTo>
                  <a:pt x="1134927" y="1659152"/>
                </a:lnTo>
                <a:lnTo>
                  <a:pt x="1090395" y="1672696"/>
                </a:lnTo>
                <a:lnTo>
                  <a:pt x="1044742" y="1683920"/>
                </a:lnTo>
                <a:lnTo>
                  <a:pt x="998029" y="1692759"/>
                </a:lnTo>
                <a:lnTo>
                  <a:pt x="950321" y="1699150"/>
                </a:lnTo>
                <a:lnTo>
                  <a:pt x="901680" y="1703032"/>
                </a:lnTo>
                <a:lnTo>
                  <a:pt x="852169" y="1704339"/>
                </a:lnTo>
                <a:lnTo>
                  <a:pt x="802659" y="1703032"/>
                </a:lnTo>
                <a:lnTo>
                  <a:pt x="754018" y="1699150"/>
                </a:lnTo>
                <a:lnTo>
                  <a:pt x="706310" y="1692759"/>
                </a:lnTo>
                <a:lnTo>
                  <a:pt x="659597" y="1683920"/>
                </a:lnTo>
                <a:lnTo>
                  <a:pt x="613944" y="1672696"/>
                </a:lnTo>
                <a:lnTo>
                  <a:pt x="569412" y="1659152"/>
                </a:lnTo>
                <a:lnTo>
                  <a:pt x="526065" y="1643350"/>
                </a:lnTo>
                <a:lnTo>
                  <a:pt x="483967" y="1625352"/>
                </a:lnTo>
                <a:lnTo>
                  <a:pt x="443179" y="1605223"/>
                </a:lnTo>
                <a:lnTo>
                  <a:pt x="403767" y="1583026"/>
                </a:lnTo>
                <a:lnTo>
                  <a:pt x="365791" y="1558823"/>
                </a:lnTo>
                <a:lnTo>
                  <a:pt x="329317" y="1532677"/>
                </a:lnTo>
                <a:lnTo>
                  <a:pt x="294406" y="1504652"/>
                </a:lnTo>
                <a:lnTo>
                  <a:pt x="261122" y="1474811"/>
                </a:lnTo>
                <a:lnTo>
                  <a:pt x="229528" y="1443217"/>
                </a:lnTo>
                <a:lnTo>
                  <a:pt x="199687" y="1409933"/>
                </a:lnTo>
                <a:lnTo>
                  <a:pt x="171662" y="1375022"/>
                </a:lnTo>
                <a:lnTo>
                  <a:pt x="145516" y="1338548"/>
                </a:lnTo>
                <a:lnTo>
                  <a:pt x="121313" y="1300572"/>
                </a:lnTo>
                <a:lnTo>
                  <a:pt x="99116" y="1261160"/>
                </a:lnTo>
                <a:lnTo>
                  <a:pt x="78987" y="1220372"/>
                </a:lnTo>
                <a:lnTo>
                  <a:pt x="60989" y="1178274"/>
                </a:lnTo>
                <a:lnTo>
                  <a:pt x="45187" y="1134927"/>
                </a:lnTo>
                <a:lnTo>
                  <a:pt x="31643" y="1090395"/>
                </a:lnTo>
                <a:lnTo>
                  <a:pt x="20419" y="1044742"/>
                </a:lnTo>
                <a:lnTo>
                  <a:pt x="11580" y="998029"/>
                </a:lnTo>
                <a:lnTo>
                  <a:pt x="5189" y="950321"/>
                </a:lnTo>
                <a:lnTo>
                  <a:pt x="1307" y="901680"/>
                </a:lnTo>
                <a:lnTo>
                  <a:pt x="0" y="852169"/>
                </a:lnTo>
                <a:lnTo>
                  <a:pt x="1307" y="802659"/>
                </a:lnTo>
                <a:lnTo>
                  <a:pt x="5189" y="754018"/>
                </a:lnTo>
                <a:lnTo>
                  <a:pt x="11580" y="706310"/>
                </a:lnTo>
                <a:lnTo>
                  <a:pt x="20419" y="659597"/>
                </a:lnTo>
                <a:lnTo>
                  <a:pt x="31643" y="613944"/>
                </a:lnTo>
                <a:lnTo>
                  <a:pt x="45187" y="569412"/>
                </a:lnTo>
                <a:lnTo>
                  <a:pt x="60989" y="526065"/>
                </a:lnTo>
                <a:lnTo>
                  <a:pt x="78987" y="483967"/>
                </a:lnTo>
                <a:lnTo>
                  <a:pt x="99116" y="443179"/>
                </a:lnTo>
                <a:lnTo>
                  <a:pt x="121313" y="403767"/>
                </a:lnTo>
                <a:lnTo>
                  <a:pt x="145516" y="365791"/>
                </a:lnTo>
                <a:lnTo>
                  <a:pt x="171662" y="329317"/>
                </a:lnTo>
                <a:lnTo>
                  <a:pt x="199687" y="294406"/>
                </a:lnTo>
                <a:lnTo>
                  <a:pt x="229528" y="261122"/>
                </a:lnTo>
                <a:lnTo>
                  <a:pt x="261122" y="229528"/>
                </a:lnTo>
                <a:lnTo>
                  <a:pt x="294406" y="199687"/>
                </a:lnTo>
                <a:lnTo>
                  <a:pt x="329317" y="171662"/>
                </a:lnTo>
                <a:lnTo>
                  <a:pt x="365791" y="145516"/>
                </a:lnTo>
                <a:lnTo>
                  <a:pt x="403767" y="121313"/>
                </a:lnTo>
                <a:lnTo>
                  <a:pt x="443179" y="99116"/>
                </a:lnTo>
                <a:lnTo>
                  <a:pt x="483967" y="78987"/>
                </a:lnTo>
                <a:lnTo>
                  <a:pt x="526065" y="60989"/>
                </a:lnTo>
                <a:lnTo>
                  <a:pt x="569412" y="45187"/>
                </a:lnTo>
                <a:lnTo>
                  <a:pt x="613944" y="31643"/>
                </a:lnTo>
                <a:lnTo>
                  <a:pt x="659597" y="20419"/>
                </a:lnTo>
                <a:lnTo>
                  <a:pt x="706310" y="11580"/>
                </a:lnTo>
                <a:lnTo>
                  <a:pt x="754018" y="5189"/>
                </a:lnTo>
                <a:lnTo>
                  <a:pt x="802659" y="1307"/>
                </a:lnTo>
                <a:lnTo>
                  <a:pt x="852169" y="0"/>
                </a:lnTo>
                <a:close/>
              </a:path>
              <a:path w="1704339" h="1704339">
                <a:moveTo>
                  <a:pt x="0" y="0"/>
                </a:moveTo>
                <a:lnTo>
                  <a:pt x="0" y="0"/>
                </a:lnTo>
              </a:path>
            </a:pathLst>
          </a:custGeom>
          <a:ln w="27315">
            <a:solidFill>
              <a:srgbClr val="FFF5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65100" y="1036319"/>
            <a:ext cx="1169670" cy="116966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12189" y="0"/>
            <a:ext cx="8131809" cy="6858000"/>
          </a:xfrm>
          <a:custGeom>
            <a:avLst/>
            <a:gdLst/>
            <a:ahLst/>
            <a:cxnLst/>
            <a:rect l="l" t="t" r="r" b="b"/>
            <a:pathLst>
              <a:path w="8131809" h="6858000">
                <a:moveTo>
                  <a:pt x="8131809" y="0"/>
                </a:moveTo>
                <a:lnTo>
                  <a:pt x="0" y="0"/>
                </a:lnTo>
                <a:lnTo>
                  <a:pt x="0" y="6858000"/>
                </a:lnTo>
                <a:lnTo>
                  <a:pt x="8131809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75360" y="72389"/>
            <a:ext cx="39370" cy="6785609"/>
          </a:xfrm>
          <a:custGeom>
            <a:avLst/>
            <a:gdLst/>
            <a:ahLst/>
            <a:cxnLst/>
            <a:rect l="l" t="t" r="r" b="b"/>
            <a:pathLst>
              <a:path w="39369" h="6785609">
                <a:moveTo>
                  <a:pt x="0" y="6785609"/>
                </a:moveTo>
                <a:lnTo>
                  <a:pt x="39370" y="6785609"/>
                </a:lnTo>
                <a:lnTo>
                  <a:pt x="39370" y="0"/>
                </a:lnTo>
                <a:lnTo>
                  <a:pt x="0" y="0"/>
                </a:lnTo>
                <a:lnTo>
                  <a:pt x="0" y="6785609"/>
                </a:lnTo>
                <a:close/>
              </a:path>
            </a:pathLst>
          </a:custGeom>
          <a:solidFill>
            <a:srgbClr val="6F6A5E">
              <a:alpha val="25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2135" y="558800"/>
            <a:ext cx="799972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70989" y="2319020"/>
            <a:ext cx="6608445" cy="147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5540" y="6550020"/>
            <a:ext cx="152400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4A687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‹#›</a:t>
            </a:fld>
            <a:endParaRPr spc="-3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" y="1337370"/>
            <a:ext cx="312420" cy="295910"/>
            <a:chOff x="914400" y="1337370"/>
            <a:chExt cx="312420" cy="295910"/>
          </a:xfrm>
        </p:grpSpPr>
        <p:sp>
          <p:nvSpPr>
            <p:cNvPr id="3" name="object 3"/>
            <p:cNvSpPr/>
            <p:nvPr/>
          </p:nvSpPr>
          <p:spPr>
            <a:xfrm>
              <a:off x="914400" y="1407159"/>
              <a:ext cx="232409" cy="2260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50680" y="1337370"/>
              <a:ext cx="76079" cy="7734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08760" y="1828800"/>
            <a:ext cx="702564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6000" spc="450" dirty="0">
                <a:latin typeface="Times New Roman" pitchFamily="18" charset="0"/>
                <a:cs typeface="Times New Roman" pitchFamily="18" charset="0"/>
              </a:rPr>
              <a:t>COMPUTER  </a:t>
            </a:r>
            <a:r>
              <a:rPr sz="6000" spc="21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6000" spc="69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sz="6000" spc="4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sz="6000" spc="13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6000" spc="565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sz="6000" spc="635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6000" spc="315" dirty="0">
                <a:latin typeface="Times New Roman" pitchFamily="18" charset="0"/>
                <a:cs typeface="Times New Roman" pitchFamily="18" charset="0"/>
              </a:rPr>
              <a:t>TI</a:t>
            </a:r>
            <a:r>
              <a:rPr sz="6000" spc="67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6000" spc="530" dirty="0">
                <a:latin typeface="Times New Roman" pitchFamily="18" charset="0"/>
                <a:cs typeface="Times New Roman" pitchFamily="18" charset="0"/>
              </a:rPr>
              <a:t>NS</a:t>
            </a:r>
            <a:endParaRPr sz="6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1</a:t>
            </a:fld>
            <a:endParaRPr spc="-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505459"/>
            <a:ext cx="7620000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505" dirty="0">
                <a:latin typeface="Times New Roman" pitchFamily="18" charset="0"/>
                <a:cs typeface="Times New Roman" pitchFamily="18" charset="0"/>
              </a:rPr>
              <a:t>INSTRUCTION</a:t>
            </a:r>
            <a:r>
              <a:rPr sz="4300" spc="-1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4300" spc="459" dirty="0">
                <a:latin typeface="Times New Roman" pitchFamily="18" charset="0"/>
                <a:cs typeface="Times New Roman" pitchFamily="18" charset="0"/>
              </a:rPr>
              <a:t>FORMAT</a:t>
            </a:r>
            <a:endParaRPr sz="43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2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1545589" y="1480820"/>
            <a:ext cx="7343775" cy="4229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440" marR="43180" indent="-281940" algn="just">
              <a:lnSpc>
                <a:spcPct val="100000"/>
              </a:lnSpc>
              <a:spcBef>
                <a:spcPts val="100"/>
              </a:spcBef>
            </a:pPr>
            <a:r>
              <a:rPr sz="3375" spc="30" baseline="11111" dirty="0">
                <a:solidFill>
                  <a:srgbClr val="3790A6"/>
                </a:solidFill>
                <a:latin typeface="UnDotum"/>
                <a:cs typeface="UnDotum"/>
              </a:rPr>
              <a:t></a:t>
            </a:r>
            <a:r>
              <a:rPr sz="2800" spc="20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sz="2800" spc="-120" dirty="0">
                <a:latin typeface="Times New Roman" pitchFamily="18" charset="0"/>
                <a:cs typeface="Times New Roman" pitchFamily="18" charset="0"/>
              </a:rPr>
              <a:t>instruction </a:t>
            </a:r>
            <a:r>
              <a:rPr sz="2800" spc="-155" dirty="0">
                <a:latin typeface="Times New Roman" pitchFamily="18" charset="0"/>
                <a:cs typeface="Times New Roman" pitchFamily="18" charset="0"/>
              </a:rPr>
              <a:t>format </a:t>
            </a:r>
            <a:r>
              <a:rPr sz="2800" spc="30" dirty="0">
                <a:latin typeface="Times New Roman" pitchFamily="18" charset="0"/>
                <a:cs typeface="Times New Roman" pitchFamily="18" charset="0"/>
              </a:rPr>
              <a:t>or </a:t>
            </a:r>
            <a:r>
              <a:rPr sz="2800" spc="-120" dirty="0">
                <a:latin typeface="Times New Roman" pitchFamily="18" charset="0"/>
                <a:cs typeface="Times New Roman" pitchFamily="18" charset="0"/>
              </a:rPr>
              <a:t>instruction </a:t>
            </a:r>
            <a:r>
              <a:rPr sz="2800" spc="-114" dirty="0">
                <a:latin typeface="Times New Roman" pitchFamily="18" charset="0"/>
                <a:cs typeface="Times New Roman" pitchFamily="18" charset="0"/>
              </a:rPr>
              <a:t>code </a:t>
            </a:r>
            <a:r>
              <a:rPr sz="2800" spc="-125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800" spc="-280" dirty="0">
                <a:latin typeface="Times New Roman" pitchFamily="18" charset="0"/>
                <a:cs typeface="Times New Roman" pitchFamily="18" charset="0"/>
              </a:rPr>
              <a:t>a  </a:t>
            </a:r>
            <a:r>
              <a:rPr sz="2800" spc="-95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sz="2800" spc="-150" dirty="0">
                <a:latin typeface="Times New Roman" pitchFamily="18" charset="0"/>
                <a:cs typeface="Times New Roman" pitchFamily="18" charset="0"/>
              </a:rPr>
              <a:t>of bits </a:t>
            </a:r>
            <a:r>
              <a:rPr sz="2800" spc="-130" dirty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sz="2800" spc="-7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sz="2800" spc="-114" dirty="0">
                <a:latin typeface="Times New Roman" pitchFamily="18" charset="0"/>
                <a:cs typeface="Times New Roman" pitchFamily="18" charset="0"/>
              </a:rPr>
              <a:t>perform </a:t>
            </a:r>
            <a:r>
              <a:rPr sz="2800" spc="-28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sz="2800" spc="-160" dirty="0">
                <a:latin typeface="Times New Roman" pitchFamily="18" charset="0"/>
                <a:cs typeface="Times New Roman" pitchFamily="18" charset="0"/>
              </a:rPr>
              <a:t>particular  </a:t>
            </a:r>
            <a:r>
              <a:rPr sz="2800" spc="-114" dirty="0">
                <a:latin typeface="Times New Roman" pitchFamily="18" charset="0"/>
                <a:cs typeface="Times New Roman" pitchFamily="18" charset="0"/>
              </a:rPr>
              <a:t>operation </a:t>
            </a:r>
            <a:r>
              <a:rPr sz="2800" spc="-45" dirty="0">
                <a:latin typeface="Times New Roman" pitchFamily="18" charset="0"/>
                <a:cs typeface="Times New Roman" pitchFamily="18" charset="0"/>
              </a:rPr>
              <a:t>on </a:t>
            </a:r>
            <a:r>
              <a:rPr sz="2800" spc="-16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800" spc="-220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sz="2800" spc="-85" dirty="0">
                <a:latin typeface="Times New Roman" pitchFamily="18" charset="0"/>
                <a:cs typeface="Times New Roman" pitchFamily="18" charset="0"/>
              </a:rPr>
              <a:t>stored </a:t>
            </a:r>
            <a:r>
              <a:rPr sz="2800" spc="-16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sz="2800" spc="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50" dirty="0">
                <a:latin typeface="Times New Roman" pitchFamily="18" charset="0"/>
                <a:cs typeface="Times New Roman" pitchFamily="18" charset="0"/>
              </a:rPr>
              <a:t>computer.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900">
              <a:latin typeface="Times New Roman" pitchFamily="18" charset="0"/>
              <a:cs typeface="Times New Roman" pitchFamily="18" charset="0"/>
            </a:endParaRPr>
          </a:p>
          <a:p>
            <a:pPr marL="345440" marR="55880" indent="-281940" algn="just">
              <a:lnSpc>
                <a:spcPct val="100000"/>
              </a:lnSpc>
            </a:pPr>
            <a:r>
              <a:rPr sz="3375" spc="-75" baseline="11111" dirty="0">
                <a:solidFill>
                  <a:srgbClr val="3790A6"/>
                </a:solidFill>
                <a:latin typeface="Times New Roman" pitchFamily="18" charset="0"/>
                <a:cs typeface="Times New Roman" pitchFamily="18" charset="0"/>
              </a:rPr>
              <a:t></a:t>
            </a:r>
            <a:r>
              <a:rPr sz="2800" spc="-50" dirty="0">
                <a:latin typeface="Times New Roman" pitchFamily="18" charset="0"/>
                <a:cs typeface="Times New Roman" pitchFamily="18" charset="0"/>
              </a:rPr>
              <a:t>Processor </a:t>
            </a:r>
            <a:r>
              <a:rPr sz="2800" spc="-180" dirty="0">
                <a:latin typeface="Times New Roman" pitchFamily="18" charset="0"/>
                <a:cs typeface="Times New Roman" pitchFamily="18" charset="0"/>
              </a:rPr>
              <a:t>fetches </a:t>
            </a:r>
            <a:r>
              <a:rPr sz="2800" spc="-210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sz="2800" spc="-120" dirty="0">
                <a:latin typeface="Times New Roman" pitchFamily="18" charset="0"/>
                <a:cs typeface="Times New Roman" pitchFamily="18" charset="0"/>
              </a:rPr>
              <a:t>instruction </a:t>
            </a:r>
            <a:r>
              <a:rPr sz="2800" spc="-114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sz="2800" spc="-110" dirty="0">
                <a:latin typeface="Times New Roman" pitchFamily="18" charset="0"/>
                <a:cs typeface="Times New Roman" pitchFamily="18" charset="0"/>
              </a:rPr>
              <a:t>memory  </a:t>
            </a:r>
            <a:r>
              <a:rPr sz="2800" spc="-185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2800" spc="-120" dirty="0">
                <a:latin typeface="Times New Roman" pitchFamily="18" charset="0"/>
                <a:cs typeface="Times New Roman" pitchFamily="18" charset="0"/>
              </a:rPr>
              <a:t>decodes </a:t>
            </a:r>
            <a:r>
              <a:rPr sz="2800" spc="-16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800" spc="-150" dirty="0">
                <a:latin typeface="Times New Roman" pitchFamily="18" charset="0"/>
                <a:cs typeface="Times New Roman" pitchFamily="18" charset="0"/>
              </a:rPr>
              <a:t>bits </a:t>
            </a:r>
            <a:r>
              <a:rPr sz="2800" spc="-75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sz="2800" spc="-150" dirty="0">
                <a:latin typeface="Times New Roman" pitchFamily="18" charset="0"/>
                <a:cs typeface="Times New Roman" pitchFamily="18" charset="0"/>
              </a:rPr>
              <a:t>execute </a:t>
            </a:r>
            <a:r>
              <a:rPr sz="2800" spc="-165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800" spc="4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45" dirty="0">
                <a:latin typeface="Times New Roman" pitchFamily="18" charset="0"/>
                <a:cs typeface="Times New Roman" pitchFamily="18" charset="0"/>
              </a:rPr>
              <a:t>instruction.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900">
              <a:latin typeface="Times New Roman" pitchFamily="18" charset="0"/>
              <a:cs typeface="Times New Roman" pitchFamily="18" charset="0"/>
            </a:endParaRPr>
          </a:p>
          <a:p>
            <a:pPr marL="345440" marR="1096645" indent="-281940">
              <a:lnSpc>
                <a:spcPct val="100000"/>
              </a:lnSpc>
            </a:pPr>
            <a:r>
              <a:rPr sz="3375" spc="-179" baseline="11111" dirty="0">
                <a:solidFill>
                  <a:srgbClr val="3790A6"/>
                </a:solidFill>
                <a:latin typeface="Times New Roman" pitchFamily="18" charset="0"/>
                <a:cs typeface="Times New Roman" pitchFamily="18" charset="0"/>
              </a:rPr>
              <a:t></a:t>
            </a:r>
            <a:r>
              <a:rPr sz="2800" spc="-120" dirty="0">
                <a:latin typeface="Times New Roman" pitchFamily="18" charset="0"/>
                <a:cs typeface="Times New Roman" pitchFamily="18" charset="0"/>
              </a:rPr>
              <a:t>Different </a:t>
            </a:r>
            <a:r>
              <a:rPr sz="2800" spc="-114" dirty="0">
                <a:latin typeface="Times New Roman" pitchFamily="18" charset="0"/>
                <a:cs typeface="Times New Roman" pitchFamily="18" charset="0"/>
              </a:rPr>
              <a:t>computers </a:t>
            </a:r>
            <a:r>
              <a:rPr sz="2800" spc="-204" dirty="0">
                <a:latin typeface="Times New Roman" pitchFamily="18" charset="0"/>
                <a:cs typeface="Times New Roman" pitchFamily="18" charset="0"/>
              </a:rPr>
              <a:t>may </a:t>
            </a:r>
            <a:r>
              <a:rPr sz="2800" spc="-190" dirty="0">
                <a:latin typeface="Times New Roman" pitchFamily="18" charset="0"/>
                <a:cs typeface="Times New Roman" pitchFamily="18" charset="0"/>
              </a:rPr>
              <a:t>have </a:t>
            </a:r>
            <a:r>
              <a:rPr sz="2800" spc="-135" dirty="0">
                <a:latin typeface="Times New Roman" pitchFamily="18" charset="0"/>
                <a:cs typeface="Times New Roman" pitchFamily="18" charset="0"/>
              </a:rPr>
              <a:t>their </a:t>
            </a:r>
            <a:r>
              <a:rPr sz="2800" spc="-55" dirty="0">
                <a:latin typeface="Times New Roman" pitchFamily="18" charset="0"/>
                <a:cs typeface="Times New Roman" pitchFamily="18" charset="0"/>
              </a:rPr>
              <a:t>own  </a:t>
            </a:r>
            <a:r>
              <a:rPr sz="2800" spc="-120" dirty="0">
                <a:latin typeface="Times New Roman" pitchFamily="18" charset="0"/>
                <a:cs typeface="Times New Roman" pitchFamily="18" charset="0"/>
              </a:rPr>
              <a:t>instruction</a:t>
            </a:r>
            <a:r>
              <a:rPr sz="28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210" dirty="0">
                <a:latin typeface="Times New Roman" pitchFamily="18" charset="0"/>
                <a:cs typeface="Times New Roman" pitchFamily="18" charset="0"/>
              </a:rPr>
              <a:t>set.</a:t>
            </a:r>
            <a:endParaRPr sz="28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505459"/>
            <a:ext cx="7575549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505" dirty="0">
                <a:latin typeface="Times New Roman" pitchFamily="18" charset="0"/>
                <a:cs typeface="Times New Roman" pitchFamily="18" charset="0"/>
              </a:rPr>
              <a:t>INSTRUCTION</a:t>
            </a:r>
            <a:r>
              <a:rPr sz="4300" spc="-1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4300" spc="459" dirty="0">
                <a:latin typeface="Times New Roman" pitchFamily="18" charset="0"/>
                <a:cs typeface="Times New Roman" pitchFamily="18" charset="0"/>
              </a:rPr>
              <a:t>FORMAT</a:t>
            </a:r>
            <a:endParaRPr sz="43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3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1558289" y="1480820"/>
            <a:ext cx="7240905" cy="3149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30480" indent="-281940">
              <a:lnSpc>
                <a:spcPct val="99900"/>
              </a:lnSpc>
              <a:spcBef>
                <a:spcPts val="100"/>
              </a:spcBef>
            </a:pPr>
            <a:r>
              <a:rPr sz="3825" spc="-172" baseline="10893" dirty="0">
                <a:solidFill>
                  <a:srgbClr val="3790A6"/>
                </a:solidFill>
                <a:latin typeface="UnDotum"/>
                <a:cs typeface="UnDotum"/>
              </a:rPr>
              <a:t></a:t>
            </a:r>
            <a:r>
              <a:rPr sz="3200" spc="-114" dirty="0">
                <a:latin typeface="Times New Roman" pitchFamily="18" charset="0"/>
                <a:cs typeface="Times New Roman" pitchFamily="18" charset="0"/>
              </a:rPr>
              <a:t>Instruction </a:t>
            </a:r>
            <a:r>
              <a:rPr sz="3200" spc="-130" dirty="0">
                <a:latin typeface="Times New Roman" pitchFamily="18" charset="0"/>
                <a:cs typeface="Times New Roman" pitchFamily="18" charset="0"/>
              </a:rPr>
              <a:t>code </a:t>
            </a:r>
            <a:r>
              <a:rPr sz="3200" spc="-135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z="3200" spc="-180" dirty="0">
                <a:latin typeface="Times New Roman" pitchFamily="18" charset="0"/>
                <a:cs typeface="Times New Roman" pitchFamily="18" charset="0"/>
              </a:rPr>
              <a:t>divided </a:t>
            </a:r>
            <a:r>
              <a:rPr sz="3200" spc="-130" dirty="0">
                <a:latin typeface="Times New Roman" pitchFamily="18" charset="0"/>
                <a:cs typeface="Times New Roman" pitchFamily="18" charset="0"/>
              </a:rPr>
              <a:t>into </a:t>
            </a:r>
            <a:r>
              <a:rPr sz="3200" spc="-80" dirty="0">
                <a:latin typeface="Times New Roman" pitchFamily="18" charset="0"/>
                <a:cs typeface="Times New Roman" pitchFamily="18" charset="0"/>
              </a:rPr>
              <a:t>two </a:t>
            </a:r>
            <a:r>
              <a:rPr sz="3200" spc="-150" dirty="0">
                <a:latin typeface="Times New Roman" pitchFamily="18" charset="0"/>
                <a:cs typeface="Times New Roman" pitchFamily="18" charset="0"/>
              </a:rPr>
              <a:t>parts  </a:t>
            </a:r>
            <a:r>
              <a:rPr sz="3200" spc="-215" dirty="0">
                <a:latin typeface="Times New Roman" pitchFamily="18" charset="0"/>
                <a:cs typeface="Times New Roman" pitchFamily="18" charset="0"/>
              </a:rPr>
              <a:t>namely </a:t>
            </a:r>
            <a:r>
              <a:rPr sz="3200" spc="-130" dirty="0">
                <a:latin typeface="Times New Roman" pitchFamily="18" charset="0"/>
                <a:cs typeface="Times New Roman" pitchFamily="18" charset="0"/>
              </a:rPr>
              <a:t>operation code </a:t>
            </a:r>
            <a:r>
              <a:rPr sz="3200" spc="-21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3200" spc="-135" dirty="0">
                <a:latin typeface="Times New Roman" pitchFamily="18" charset="0"/>
                <a:cs typeface="Times New Roman" pitchFamily="18" charset="0"/>
              </a:rPr>
              <a:t>address </a:t>
            </a:r>
            <a:r>
              <a:rPr sz="3200" spc="-170" dirty="0">
                <a:latin typeface="Times New Roman" pitchFamily="18" charset="0"/>
                <a:cs typeface="Times New Roman" pitchFamily="18" charset="0"/>
              </a:rPr>
              <a:t>of  </a:t>
            </a:r>
            <a:r>
              <a:rPr sz="3200" spc="-295" dirty="0">
                <a:latin typeface="Times New Roman" pitchFamily="18" charset="0"/>
                <a:cs typeface="Times New Roman" pitchFamily="18" charset="0"/>
              </a:rPr>
              <a:t>data.</a:t>
            </a:r>
            <a:endParaRPr sz="320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300">
              <a:latin typeface="Times New Roman" pitchFamily="18" charset="0"/>
              <a:cs typeface="Times New Roman" pitchFamily="18" charset="0"/>
            </a:endParaRPr>
          </a:p>
          <a:p>
            <a:pPr marL="332740" marR="170180" indent="-281940">
              <a:lnSpc>
                <a:spcPct val="100000"/>
              </a:lnSpc>
            </a:pPr>
            <a:r>
              <a:rPr sz="3825" spc="15" baseline="10893" dirty="0">
                <a:solidFill>
                  <a:srgbClr val="3790A6"/>
                </a:solidFill>
                <a:latin typeface="Times New Roman" pitchFamily="18" charset="0"/>
                <a:cs typeface="Times New Roman" pitchFamily="18" charset="0"/>
              </a:rPr>
              <a:t> </a:t>
            </a:r>
            <a:r>
              <a:rPr sz="3200" spc="-85" dirty="0">
                <a:latin typeface="Times New Roman" pitchFamily="18" charset="0"/>
                <a:cs typeface="Times New Roman" pitchFamily="18" charset="0"/>
              </a:rPr>
              <a:t>Operation </a:t>
            </a:r>
            <a:r>
              <a:rPr sz="3200" spc="-130" dirty="0">
                <a:latin typeface="Times New Roman" pitchFamily="18" charset="0"/>
                <a:cs typeface="Times New Roman" pitchFamily="18" charset="0"/>
              </a:rPr>
              <a:t>code </a:t>
            </a:r>
            <a:r>
              <a:rPr sz="3200" spc="-145" dirty="0">
                <a:latin typeface="Times New Roman" pitchFamily="18" charset="0"/>
                <a:cs typeface="Times New Roman" pitchFamily="18" charset="0"/>
              </a:rPr>
              <a:t>consisting </a:t>
            </a:r>
            <a:r>
              <a:rPr sz="3200" spc="-105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sz="3200" spc="-175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sz="3200" spc="-170" dirty="0">
                <a:latin typeface="Times New Roman" pitchFamily="18" charset="0"/>
                <a:cs typeface="Times New Roman" pitchFamily="18" charset="0"/>
              </a:rPr>
              <a:t>bits  </a:t>
            </a:r>
            <a:r>
              <a:rPr sz="3200" spc="-8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sz="3200" spc="-220" dirty="0">
                <a:latin typeface="Times New Roman" pitchFamily="18" charset="0"/>
                <a:cs typeface="Times New Roman" pitchFamily="18" charset="0"/>
              </a:rPr>
              <a:t>define </a:t>
            </a:r>
            <a:r>
              <a:rPr sz="3200" spc="-240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sz="3200" spc="-130" dirty="0">
                <a:latin typeface="Times New Roman" pitchFamily="18" charset="0"/>
                <a:cs typeface="Times New Roman" pitchFamily="18" charset="0"/>
              </a:rPr>
              <a:t>operation </a:t>
            </a:r>
            <a:r>
              <a:rPr sz="3200" spc="-135" dirty="0">
                <a:latin typeface="Times New Roman" pitchFamily="18" charset="0"/>
                <a:cs typeface="Times New Roman" pitchFamily="18" charset="0"/>
              </a:rPr>
              <a:t>such </a:t>
            </a:r>
            <a:r>
              <a:rPr sz="3200" spc="-190" dirty="0">
                <a:latin typeface="Times New Roman" pitchFamily="18" charset="0"/>
                <a:cs typeface="Times New Roman" pitchFamily="18" charset="0"/>
              </a:rPr>
              <a:t>as </a:t>
            </a:r>
            <a:r>
              <a:rPr sz="3200" spc="-280" dirty="0">
                <a:latin typeface="Times New Roman" pitchFamily="18" charset="0"/>
                <a:cs typeface="Times New Roman" pitchFamily="18" charset="0"/>
              </a:rPr>
              <a:t>add,  </a:t>
            </a:r>
            <a:r>
              <a:rPr sz="3200" spc="-195" dirty="0">
                <a:latin typeface="Times New Roman" pitchFamily="18" charset="0"/>
                <a:cs typeface="Times New Roman" pitchFamily="18" charset="0"/>
              </a:rPr>
              <a:t>subtract, </a:t>
            </a:r>
            <a:r>
              <a:rPr sz="3200" spc="-200" dirty="0">
                <a:latin typeface="Times New Roman" pitchFamily="18" charset="0"/>
                <a:cs typeface="Times New Roman" pitchFamily="18" charset="0"/>
              </a:rPr>
              <a:t>multiply</a:t>
            </a:r>
            <a:r>
              <a:rPr sz="3200" spc="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spc="-270" dirty="0">
                <a:latin typeface="Times New Roman" pitchFamily="18" charset="0"/>
                <a:cs typeface="Times New Roman" pitchFamily="18" charset="0"/>
              </a:rPr>
              <a:t>etc.</a:t>
            </a:r>
            <a:endParaRPr sz="32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505459"/>
            <a:ext cx="7575549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505" dirty="0">
                <a:latin typeface="Times New Roman" pitchFamily="18" charset="0"/>
                <a:cs typeface="Times New Roman" pitchFamily="18" charset="0"/>
              </a:rPr>
              <a:t>INSTRUCTION</a:t>
            </a:r>
            <a:r>
              <a:rPr sz="4300" spc="-1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4300" spc="459" dirty="0">
                <a:latin typeface="Times New Roman" pitchFamily="18" charset="0"/>
                <a:cs typeface="Times New Roman" pitchFamily="18" charset="0"/>
              </a:rPr>
              <a:t>FORMAT</a:t>
            </a:r>
            <a:endParaRPr sz="43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3989" y="1531619"/>
            <a:ext cx="6361430" cy="26200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90"/>
              </a:spcBef>
            </a:pPr>
            <a:r>
              <a:rPr sz="2600" spc="-10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z="2600" spc="-190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sz="2600" spc="-110" dirty="0">
                <a:latin typeface="Times New Roman" pitchFamily="18" charset="0"/>
                <a:cs typeface="Times New Roman" pitchFamily="18" charset="0"/>
              </a:rPr>
              <a:t>instruction</a:t>
            </a:r>
            <a:r>
              <a:rPr sz="2600" spc="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600" spc="-180" dirty="0">
                <a:latin typeface="Times New Roman" pitchFamily="18" charset="0"/>
                <a:cs typeface="Times New Roman" pitchFamily="18" charset="0"/>
              </a:rPr>
              <a:t>format:</a:t>
            </a:r>
            <a:endParaRPr sz="2600">
              <a:latin typeface="Times New Roman" pitchFamily="18" charset="0"/>
              <a:cs typeface="Times New Roman" pitchFamily="18" charset="0"/>
            </a:endParaRPr>
          </a:p>
          <a:p>
            <a:pPr marL="25400">
              <a:lnSpc>
                <a:spcPct val="100000"/>
              </a:lnSpc>
              <a:spcBef>
                <a:spcPts val="290"/>
              </a:spcBef>
            </a:pPr>
            <a:r>
              <a:rPr sz="3075" spc="-89" baseline="12195" dirty="0">
                <a:solidFill>
                  <a:srgbClr val="3790A6"/>
                </a:solidFill>
                <a:latin typeface="Times New Roman" pitchFamily="18" charset="0"/>
                <a:cs typeface="Times New Roman" pitchFamily="18" charset="0"/>
              </a:rPr>
              <a:t></a:t>
            </a:r>
            <a:r>
              <a:rPr sz="2600" spc="-60" dirty="0">
                <a:latin typeface="Times New Roman" pitchFamily="18" charset="0"/>
                <a:cs typeface="Times New Roman" pitchFamily="18" charset="0"/>
              </a:rPr>
              <a:t>First </a:t>
            </a:r>
            <a:r>
              <a:rPr sz="2600" spc="-65" dirty="0">
                <a:latin typeface="Times New Roman" pitchFamily="18" charset="0"/>
                <a:cs typeface="Times New Roman" pitchFamily="18" charset="0"/>
              </a:rPr>
              <a:t>12 </a:t>
            </a:r>
            <a:r>
              <a:rPr sz="2600" spc="-135" dirty="0">
                <a:latin typeface="Times New Roman" pitchFamily="18" charset="0"/>
                <a:cs typeface="Times New Roman" pitchFamily="18" charset="0"/>
              </a:rPr>
              <a:t>bits </a:t>
            </a:r>
            <a:r>
              <a:rPr sz="2600" spc="-90" dirty="0">
                <a:latin typeface="Times New Roman" pitchFamily="18" charset="0"/>
                <a:cs typeface="Times New Roman" pitchFamily="18" charset="0"/>
              </a:rPr>
              <a:t>(0-11) </a:t>
            </a:r>
            <a:r>
              <a:rPr sz="2600" spc="-170" dirty="0">
                <a:latin typeface="Times New Roman" pitchFamily="18" charset="0"/>
                <a:cs typeface="Times New Roman" pitchFamily="18" charset="0"/>
              </a:rPr>
              <a:t>specify </a:t>
            </a:r>
            <a:r>
              <a:rPr sz="2600" spc="-190" dirty="0">
                <a:latin typeface="Times New Roman" pitchFamily="18" charset="0"/>
                <a:cs typeface="Times New Roman" pitchFamily="18" charset="0"/>
              </a:rPr>
              <a:t>an</a:t>
            </a:r>
            <a:r>
              <a:rPr sz="2600" spc="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600" spc="-145" dirty="0">
                <a:latin typeface="Times New Roman" pitchFamily="18" charset="0"/>
                <a:cs typeface="Times New Roman" pitchFamily="18" charset="0"/>
              </a:rPr>
              <a:t>address.</a:t>
            </a:r>
            <a:endParaRPr sz="2600">
              <a:latin typeface="Times New Roman" pitchFamily="18" charset="0"/>
              <a:cs typeface="Times New Roman" pitchFamily="18" charset="0"/>
            </a:endParaRPr>
          </a:p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z="3075" spc="60" baseline="10840" dirty="0">
                <a:solidFill>
                  <a:srgbClr val="3790A6"/>
                </a:solidFill>
                <a:latin typeface="Times New Roman" pitchFamily="18" charset="0"/>
                <a:cs typeface="Times New Roman" pitchFamily="18" charset="0"/>
              </a:rPr>
              <a:t></a:t>
            </a:r>
            <a:r>
              <a:rPr sz="2600" spc="40" dirty="0">
                <a:latin typeface="Times New Roman" pitchFamily="18" charset="0"/>
                <a:cs typeface="Times New Roman" pitchFamily="18" charset="0"/>
              </a:rPr>
              <a:t>Next </a:t>
            </a:r>
            <a:r>
              <a:rPr sz="2600" spc="-65" dirty="0">
                <a:latin typeface="Times New Roman" pitchFamily="18" charset="0"/>
                <a:cs typeface="Times New Roman" pitchFamily="18" charset="0"/>
              </a:rPr>
              <a:t>3 </a:t>
            </a:r>
            <a:r>
              <a:rPr sz="2600" spc="-135" dirty="0">
                <a:latin typeface="Times New Roman" pitchFamily="18" charset="0"/>
                <a:cs typeface="Times New Roman" pitchFamily="18" charset="0"/>
              </a:rPr>
              <a:t>bits </a:t>
            </a:r>
            <a:r>
              <a:rPr sz="2600" spc="-165" dirty="0">
                <a:latin typeface="Times New Roman" pitchFamily="18" charset="0"/>
                <a:cs typeface="Times New Roman" pitchFamily="18" charset="0"/>
              </a:rPr>
              <a:t>specify </a:t>
            </a:r>
            <a:r>
              <a:rPr sz="2600" spc="-105" dirty="0">
                <a:latin typeface="Times New Roman" pitchFamily="18" charset="0"/>
                <a:cs typeface="Times New Roman" pitchFamily="18" charset="0"/>
              </a:rPr>
              <a:t>operation code</a:t>
            </a:r>
            <a:r>
              <a:rPr sz="26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600" spc="-130" dirty="0">
                <a:latin typeface="Times New Roman" pitchFamily="18" charset="0"/>
                <a:cs typeface="Times New Roman" pitchFamily="18" charset="0"/>
              </a:rPr>
              <a:t>(opcode).</a:t>
            </a:r>
            <a:endParaRPr sz="2600">
              <a:latin typeface="Times New Roman" pitchFamily="18" charset="0"/>
              <a:cs typeface="Times New Roman" pitchFamily="18" charset="0"/>
            </a:endParaRPr>
          </a:p>
          <a:p>
            <a:pPr marL="1771650" marR="291465" indent="-1746250">
              <a:lnSpc>
                <a:spcPct val="109000"/>
              </a:lnSpc>
              <a:spcBef>
                <a:spcPts val="10"/>
              </a:spcBef>
            </a:pPr>
            <a:r>
              <a:rPr sz="3075" spc="-165" baseline="12195" dirty="0">
                <a:solidFill>
                  <a:srgbClr val="3790A6"/>
                </a:solidFill>
                <a:latin typeface="Times New Roman" pitchFamily="18" charset="0"/>
                <a:cs typeface="Times New Roman" pitchFamily="18" charset="0"/>
              </a:rPr>
              <a:t></a:t>
            </a:r>
            <a:r>
              <a:rPr sz="2600" spc="-110" dirty="0">
                <a:latin typeface="Times New Roman" pitchFamily="18" charset="0"/>
                <a:cs typeface="Times New Roman" pitchFamily="18" charset="0"/>
              </a:rPr>
              <a:t>Left </a:t>
            </a:r>
            <a:r>
              <a:rPr sz="2600" spc="-85" dirty="0">
                <a:latin typeface="Times New Roman" pitchFamily="18" charset="0"/>
                <a:cs typeface="Times New Roman" pitchFamily="18" charset="0"/>
              </a:rPr>
              <a:t>most </a:t>
            </a:r>
            <a:r>
              <a:rPr sz="2600" spc="-165" dirty="0">
                <a:latin typeface="Times New Roman" pitchFamily="18" charset="0"/>
                <a:cs typeface="Times New Roman" pitchFamily="18" charset="0"/>
              </a:rPr>
              <a:t>bit specify </a:t>
            </a:r>
            <a:r>
              <a:rPr sz="2600" spc="-15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600" spc="-125" dirty="0">
                <a:latin typeface="Times New Roman" pitchFamily="18" charset="0"/>
                <a:cs typeface="Times New Roman" pitchFamily="18" charset="0"/>
              </a:rPr>
              <a:t>addressing </a:t>
            </a:r>
            <a:r>
              <a:rPr sz="2600" spc="-105" dirty="0">
                <a:latin typeface="Times New Roman" pitchFamily="18" charset="0"/>
                <a:cs typeface="Times New Roman" pitchFamily="18" charset="0"/>
              </a:rPr>
              <a:t>mode </a:t>
            </a:r>
            <a:r>
              <a:rPr sz="2600" spc="-75">
                <a:latin typeface="Times New Roman" pitchFamily="18" charset="0"/>
                <a:cs typeface="Times New Roman" pitchFamily="18" charset="0"/>
              </a:rPr>
              <a:t>I  </a:t>
            </a:r>
            <a:r>
              <a:rPr sz="260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1771650" marR="291465" indent="-1746250" algn="ctr">
              <a:lnSpc>
                <a:spcPct val="109000"/>
              </a:lnSpc>
              <a:spcBef>
                <a:spcPts val="10"/>
              </a:spcBef>
            </a:pPr>
            <a:r>
              <a:rPr lang="en-US" sz="2600" spc="-7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spc="-75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600" spc="-75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sz="2600" spc="1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sz="2600" spc="-6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sz="2600" spc="-85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sz="2600" spc="-13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direct</a:t>
            </a:r>
            <a:r>
              <a:rPr sz="2600" spc="-26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600" spc="-1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address</a:t>
            </a:r>
            <a:endParaRPr sz="2600">
              <a:latin typeface="Times New Roman" pitchFamily="18" charset="0"/>
              <a:cs typeface="Times New Roman" pitchFamily="18" charset="0"/>
            </a:endParaRPr>
          </a:p>
          <a:p>
            <a:pPr marL="1771650">
              <a:lnSpc>
                <a:spcPct val="100000"/>
              </a:lnSpc>
              <a:spcBef>
                <a:spcPts val="280"/>
              </a:spcBef>
            </a:pPr>
            <a:r>
              <a:rPr sz="2600" spc="-7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sz="2600" spc="1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sz="2600" spc="-6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sz="2600" spc="-85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sz="2600" spc="-13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indirect</a:t>
            </a:r>
            <a:r>
              <a:rPr sz="2600" spc="-26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600" spc="-1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address</a:t>
            </a:r>
            <a:endParaRPr sz="2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0800" y="4419600"/>
            <a:ext cx="5562600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4</a:t>
            </a:fld>
            <a:endParaRPr spc="-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558800"/>
            <a:ext cx="713803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0" dirty="0">
                <a:latin typeface="Times New Roman" pitchFamily="18" charset="0"/>
                <a:cs typeface="Times New Roman" pitchFamily="18" charset="0"/>
              </a:rPr>
              <a:t>TYPES </a:t>
            </a:r>
            <a:r>
              <a:rPr spc="34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pc="-5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415" dirty="0">
                <a:latin typeface="Times New Roman" pitchFamily="18" charset="0"/>
                <a:cs typeface="Times New Roman" pitchFamily="18" charset="0"/>
              </a:rPr>
              <a:t>INSTRUCTIONS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5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1456689" y="1739900"/>
            <a:ext cx="7153911" cy="328230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4640" marR="5080" indent="-281940">
              <a:lnSpc>
                <a:spcPts val="3829"/>
              </a:lnSpc>
              <a:spcBef>
                <a:spcPts val="235"/>
              </a:spcBef>
            </a:pPr>
            <a:r>
              <a:rPr sz="3200" spc="-1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3200" spc="-195" dirty="0">
                <a:latin typeface="Times New Roman" pitchFamily="18" charset="0"/>
                <a:cs typeface="Times New Roman" pitchFamily="18" charset="0"/>
              </a:rPr>
              <a:t>basic </a:t>
            </a:r>
            <a:r>
              <a:rPr sz="3200" spc="-135" dirty="0">
                <a:latin typeface="Times New Roman" pitchFamily="18" charset="0"/>
                <a:cs typeface="Times New Roman" pitchFamily="18" charset="0"/>
              </a:rPr>
              <a:t>computer </a:t>
            </a:r>
            <a:r>
              <a:rPr sz="3200" spc="-175" dirty="0">
                <a:latin typeface="Times New Roman" pitchFamily="18" charset="0"/>
                <a:cs typeface="Times New Roman" pitchFamily="18" charset="0"/>
              </a:rPr>
              <a:t>has </a:t>
            </a:r>
            <a:r>
              <a:rPr sz="3200" spc="-150" dirty="0">
                <a:latin typeface="Times New Roman" pitchFamily="18" charset="0"/>
                <a:cs typeface="Times New Roman" pitchFamily="18" charset="0"/>
              </a:rPr>
              <a:t>three 16-bit  </a:t>
            </a:r>
            <a:r>
              <a:rPr sz="3200" spc="-135" dirty="0">
                <a:latin typeface="Times New Roman" pitchFamily="18" charset="0"/>
                <a:cs typeface="Times New Roman" pitchFamily="18" charset="0"/>
              </a:rPr>
              <a:t>instruction </a:t>
            </a:r>
            <a:r>
              <a:rPr sz="3200" spc="-130" dirty="0">
                <a:latin typeface="Times New Roman" pitchFamily="18" charset="0"/>
                <a:cs typeface="Times New Roman" pitchFamily="18" charset="0"/>
              </a:rPr>
              <a:t>code</a:t>
            </a:r>
            <a:r>
              <a:rPr sz="32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spc="-195" dirty="0">
                <a:latin typeface="Times New Roman" pitchFamily="18" charset="0"/>
                <a:cs typeface="Times New Roman" pitchFamily="18" charset="0"/>
              </a:rPr>
              <a:t>formats:</a:t>
            </a:r>
            <a:endParaRPr sz="320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00">
              <a:latin typeface="Times New Roman" pitchFamily="18" charset="0"/>
              <a:cs typeface="Times New Roman" pitchFamily="18" charset="0"/>
            </a:endParaRPr>
          </a:p>
          <a:p>
            <a:pPr marL="294640" indent="-281940">
              <a:lnSpc>
                <a:spcPct val="100000"/>
              </a:lnSpc>
              <a:buClr>
                <a:srgbClr val="3790A6"/>
              </a:buClr>
              <a:buSzPct val="79687"/>
              <a:buAutoNum type="arabicPeriod"/>
              <a:tabLst>
                <a:tab pos="294640" algn="l"/>
              </a:tabLst>
            </a:pPr>
            <a:r>
              <a:rPr sz="3200" spc="-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Memory </a:t>
            </a:r>
            <a:r>
              <a:rPr sz="3200" spc="-16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z="3200" spc="-12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Instructions</a:t>
            </a:r>
            <a:endParaRPr sz="3200">
              <a:latin typeface="Times New Roman" pitchFamily="18" charset="0"/>
              <a:cs typeface="Times New Roman" pitchFamily="18" charset="0"/>
            </a:endParaRPr>
          </a:p>
          <a:p>
            <a:pPr marL="294640" indent="-281940">
              <a:lnSpc>
                <a:spcPct val="100000"/>
              </a:lnSpc>
              <a:spcBef>
                <a:spcPts val="590"/>
              </a:spcBef>
              <a:buClr>
                <a:srgbClr val="3790A6"/>
              </a:buClr>
              <a:buSzPct val="79687"/>
              <a:buAutoNum type="arabicPeriod"/>
              <a:tabLst>
                <a:tab pos="294640" algn="l"/>
              </a:tabLst>
            </a:pPr>
            <a:r>
              <a:rPr sz="3200" spc="-13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Register </a:t>
            </a:r>
            <a:r>
              <a:rPr sz="3200" spc="-16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z="3200" spc="-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spc="-114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Instructions</a:t>
            </a:r>
            <a:endParaRPr sz="3200">
              <a:latin typeface="Times New Roman" pitchFamily="18" charset="0"/>
              <a:cs typeface="Times New Roman" pitchFamily="18" charset="0"/>
            </a:endParaRPr>
          </a:p>
          <a:p>
            <a:pPr marL="294640" indent="-281940">
              <a:lnSpc>
                <a:spcPct val="100000"/>
              </a:lnSpc>
              <a:spcBef>
                <a:spcPts val="600"/>
              </a:spcBef>
              <a:buClr>
                <a:srgbClr val="3790A6"/>
              </a:buClr>
              <a:buSzPct val="79687"/>
              <a:buAutoNum type="arabicPeriod"/>
              <a:tabLst>
                <a:tab pos="294640" algn="l"/>
              </a:tabLst>
            </a:pPr>
            <a:r>
              <a:rPr sz="3200" spc="-16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Input/Output</a:t>
            </a:r>
            <a:r>
              <a:rPr sz="3200" spc="-8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spc="-12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Instructions</a:t>
            </a:r>
            <a:endParaRPr sz="32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3170">
              <a:lnSpc>
                <a:spcPct val="100000"/>
              </a:lnSpc>
              <a:spcBef>
                <a:spcPts val="100"/>
              </a:spcBef>
            </a:pPr>
            <a:r>
              <a:rPr spc="140" dirty="0">
                <a:latin typeface="Times New Roman" pitchFamily="18" charset="0"/>
                <a:cs typeface="Times New Roman" pitchFamily="18" charset="0"/>
              </a:rPr>
              <a:t>Memory </a:t>
            </a:r>
            <a:r>
              <a:rPr spc="-40" dirty="0"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pc="-3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10" dirty="0">
                <a:latin typeface="Times New Roman" pitchFamily="18" charset="0"/>
                <a:cs typeface="Times New Roman" pitchFamily="18" charset="0"/>
              </a:rPr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67789" y="1250949"/>
            <a:ext cx="6602095" cy="270383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80"/>
              </a:spcBef>
            </a:pPr>
            <a:r>
              <a:rPr sz="2700" spc="-11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z="2700" spc="-45" dirty="0">
                <a:latin typeface="Times New Roman" pitchFamily="18" charset="0"/>
                <a:cs typeface="Times New Roman" pitchFamily="18" charset="0"/>
              </a:rPr>
              <a:t>Memory </a:t>
            </a:r>
            <a:r>
              <a:rPr sz="2700" spc="-150" dirty="0"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z="27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40" dirty="0">
                <a:latin typeface="Times New Roman" pitchFamily="18" charset="0"/>
                <a:cs typeface="Times New Roman" pitchFamily="18" charset="0"/>
              </a:rPr>
              <a:t>instruction:</a:t>
            </a:r>
            <a:endParaRPr sz="2700">
              <a:latin typeface="Times New Roman" pitchFamily="18" charset="0"/>
              <a:cs typeface="Times New Roman" pitchFamily="18" charset="0"/>
            </a:endParaRPr>
          </a:p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z="3225" spc="-120" baseline="11627" dirty="0">
                <a:solidFill>
                  <a:srgbClr val="3790A6"/>
                </a:solidFill>
                <a:latin typeface="Times New Roman" pitchFamily="18" charset="0"/>
                <a:cs typeface="Times New Roman" pitchFamily="18" charset="0"/>
              </a:rPr>
              <a:t></a:t>
            </a:r>
            <a:r>
              <a:rPr sz="2700" spc="-80" dirty="0">
                <a:latin typeface="Times New Roman" pitchFamily="18" charset="0"/>
                <a:cs typeface="Times New Roman" pitchFamily="18" charset="0"/>
              </a:rPr>
              <a:t>First </a:t>
            </a:r>
            <a:r>
              <a:rPr sz="2700" spc="-6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12 </a:t>
            </a:r>
            <a:r>
              <a:rPr sz="2700" spc="-114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bits(0-11) </a:t>
            </a:r>
            <a:r>
              <a:rPr sz="2700" spc="-175" dirty="0">
                <a:latin typeface="Times New Roman" pitchFamily="18" charset="0"/>
                <a:cs typeface="Times New Roman" pitchFamily="18" charset="0"/>
              </a:rPr>
              <a:t>specify </a:t>
            </a:r>
            <a:r>
              <a:rPr sz="2700" spc="-200" dirty="0">
                <a:latin typeface="Times New Roman" pitchFamily="18" charset="0"/>
                <a:cs typeface="Times New Roman" pitchFamily="18" charset="0"/>
              </a:rPr>
              <a:t>an</a:t>
            </a:r>
            <a:r>
              <a:rPr sz="2700" spc="1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50" dirty="0">
                <a:solidFill>
                  <a:srgbClr val="006FBF"/>
                </a:solidFill>
                <a:latin typeface="Times New Roman" pitchFamily="18" charset="0"/>
                <a:cs typeface="Times New Roman" pitchFamily="18" charset="0"/>
              </a:rPr>
              <a:t>address.</a:t>
            </a:r>
            <a:endParaRPr sz="2700">
              <a:latin typeface="Times New Roman" pitchFamily="18" charset="0"/>
              <a:cs typeface="Times New Roman" pitchFamily="18" charset="0"/>
            </a:endParaRPr>
          </a:p>
          <a:p>
            <a:pPr marL="25400">
              <a:lnSpc>
                <a:spcPct val="100000"/>
              </a:lnSpc>
              <a:spcBef>
                <a:spcPts val="270"/>
              </a:spcBef>
            </a:pPr>
            <a:r>
              <a:rPr sz="3225" spc="30" baseline="11627" dirty="0">
                <a:solidFill>
                  <a:srgbClr val="3790A6"/>
                </a:solidFill>
                <a:latin typeface="Times New Roman" pitchFamily="18" charset="0"/>
                <a:cs typeface="Times New Roman" pitchFamily="18" charset="0"/>
              </a:rPr>
              <a:t></a:t>
            </a:r>
            <a:r>
              <a:rPr sz="2700" spc="20" dirty="0">
                <a:latin typeface="Times New Roman" pitchFamily="18" charset="0"/>
                <a:cs typeface="Times New Roman" pitchFamily="18" charset="0"/>
              </a:rPr>
              <a:t>Next </a:t>
            </a:r>
            <a:r>
              <a:rPr sz="2700" spc="-7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 </a:t>
            </a:r>
            <a:r>
              <a:rPr sz="2700" spc="-14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bits </a:t>
            </a:r>
            <a:r>
              <a:rPr sz="2700" spc="-175" dirty="0">
                <a:latin typeface="Times New Roman" pitchFamily="18" charset="0"/>
                <a:cs typeface="Times New Roman" pitchFamily="18" charset="0"/>
              </a:rPr>
              <a:t>specify </a:t>
            </a:r>
            <a:r>
              <a:rPr sz="2700" spc="-114" dirty="0">
                <a:latin typeface="Times New Roman" pitchFamily="18" charset="0"/>
                <a:cs typeface="Times New Roman" pitchFamily="18" charset="0"/>
              </a:rPr>
              <a:t>operation </a:t>
            </a:r>
            <a:r>
              <a:rPr sz="2700" spc="-110" dirty="0">
                <a:latin typeface="Times New Roman" pitchFamily="18" charset="0"/>
                <a:cs typeface="Times New Roman" pitchFamily="18" charset="0"/>
              </a:rPr>
              <a:t>code</a:t>
            </a:r>
            <a:r>
              <a:rPr sz="2700" spc="1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25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sz="2700" spc="-125" dirty="0">
                <a:solidFill>
                  <a:srgbClr val="006FBF"/>
                </a:solidFill>
                <a:latin typeface="Times New Roman" pitchFamily="18" charset="0"/>
                <a:cs typeface="Times New Roman" pitchFamily="18" charset="0"/>
              </a:rPr>
              <a:t>opcode</a:t>
            </a:r>
            <a:r>
              <a:rPr sz="2700" spc="-125" dirty="0">
                <a:latin typeface="Times New Roman" pitchFamily="18" charset="0"/>
                <a:cs typeface="Times New Roman" pitchFamily="18" charset="0"/>
              </a:rPr>
              <a:t>).</a:t>
            </a:r>
            <a:endParaRPr sz="2700">
              <a:latin typeface="Times New Roman" pitchFamily="18" charset="0"/>
              <a:cs typeface="Times New Roman" pitchFamily="18" charset="0"/>
            </a:endParaRPr>
          </a:p>
          <a:p>
            <a:pPr marL="1771650" marR="305435" indent="-1746250">
              <a:lnSpc>
                <a:spcPct val="108300"/>
              </a:lnSpc>
            </a:pPr>
            <a:r>
              <a:rPr sz="3225" spc="-202" baseline="11627" dirty="0">
                <a:solidFill>
                  <a:srgbClr val="3790A6"/>
                </a:solidFill>
                <a:latin typeface="Times New Roman" pitchFamily="18" charset="0"/>
                <a:cs typeface="Times New Roman" pitchFamily="18" charset="0"/>
              </a:rPr>
              <a:t></a:t>
            </a:r>
            <a:r>
              <a:rPr sz="2700" spc="-135" dirty="0">
                <a:latin typeface="Times New Roman" pitchFamily="18" charset="0"/>
                <a:cs typeface="Times New Roman" pitchFamily="18" charset="0"/>
              </a:rPr>
              <a:t>Left </a:t>
            </a:r>
            <a:r>
              <a:rPr sz="2700" spc="-90" dirty="0">
                <a:latin typeface="Times New Roman" pitchFamily="18" charset="0"/>
                <a:cs typeface="Times New Roman" pitchFamily="18" charset="0"/>
              </a:rPr>
              <a:t>most </a:t>
            </a:r>
            <a:r>
              <a:rPr sz="2700" spc="-170" dirty="0">
                <a:latin typeface="Times New Roman" pitchFamily="18" charset="0"/>
                <a:cs typeface="Times New Roman" pitchFamily="18" charset="0"/>
              </a:rPr>
              <a:t>bit </a:t>
            </a:r>
            <a:r>
              <a:rPr sz="2700" spc="-175" dirty="0">
                <a:latin typeface="Times New Roman" pitchFamily="18" charset="0"/>
                <a:cs typeface="Times New Roman" pitchFamily="18" charset="0"/>
              </a:rPr>
              <a:t>specify </a:t>
            </a:r>
            <a:r>
              <a:rPr sz="2700" spc="-16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700" spc="-135" dirty="0">
                <a:latin typeface="Times New Roman" pitchFamily="18" charset="0"/>
                <a:cs typeface="Times New Roman" pitchFamily="18" charset="0"/>
              </a:rPr>
              <a:t>addressing </a:t>
            </a:r>
            <a:r>
              <a:rPr sz="2700" spc="-114" dirty="0">
                <a:latin typeface="Times New Roman" pitchFamily="18" charset="0"/>
                <a:cs typeface="Times New Roman" pitchFamily="18" charset="0"/>
              </a:rPr>
              <a:t>mode </a:t>
            </a:r>
            <a:r>
              <a:rPr sz="2700" spc="-8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  </a:t>
            </a:r>
            <a:r>
              <a:rPr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8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sz="2700" spc="16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sz="2700" spc="-7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sz="2700" spc="-95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sz="2700" spc="-13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direct</a:t>
            </a:r>
            <a:r>
              <a:rPr sz="2700" spc="-229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2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address</a:t>
            </a:r>
            <a:endParaRPr sz="2700">
              <a:latin typeface="Times New Roman" pitchFamily="18" charset="0"/>
              <a:cs typeface="Times New Roman" pitchFamily="18" charset="0"/>
            </a:endParaRPr>
          </a:p>
          <a:p>
            <a:pPr marL="1771650">
              <a:lnSpc>
                <a:spcPct val="100000"/>
              </a:lnSpc>
              <a:spcBef>
                <a:spcPts val="280"/>
              </a:spcBef>
            </a:pPr>
            <a:r>
              <a:rPr sz="2700" spc="-8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sz="2700" spc="16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sz="2700" spc="-7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sz="2700" spc="-95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sz="2700" spc="-14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indirect</a:t>
            </a:r>
            <a:r>
              <a:rPr sz="2700" spc="-24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14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address</a:t>
            </a:r>
            <a:endParaRPr sz="27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0800" y="4191000"/>
            <a:ext cx="4876800" cy="152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40070" y="5977890"/>
            <a:ext cx="3029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solidFill>
                  <a:srgbClr val="00AF4F"/>
                </a:solidFill>
                <a:latin typeface="Arial"/>
                <a:cs typeface="Arial"/>
              </a:rPr>
              <a:t>(</a:t>
            </a:r>
            <a:r>
              <a:rPr sz="1800" b="1" spc="40" dirty="0">
                <a:solidFill>
                  <a:srgbClr val="00AF4F"/>
                </a:solidFill>
                <a:latin typeface="Trebuchet MS"/>
                <a:cs typeface="Trebuchet MS"/>
              </a:rPr>
              <a:t>Opcode </a:t>
            </a:r>
            <a:r>
              <a:rPr sz="1800" b="1" spc="-5" dirty="0">
                <a:solidFill>
                  <a:srgbClr val="00AF4F"/>
                </a:solidFill>
                <a:latin typeface="Trebuchet MS"/>
                <a:cs typeface="Trebuchet MS"/>
              </a:rPr>
              <a:t>= </a:t>
            </a:r>
            <a:r>
              <a:rPr sz="1800" b="1" spc="-65" dirty="0">
                <a:solidFill>
                  <a:srgbClr val="00AF4F"/>
                </a:solidFill>
                <a:latin typeface="Trebuchet MS"/>
                <a:cs typeface="Trebuchet MS"/>
              </a:rPr>
              <a:t>000 </a:t>
            </a:r>
            <a:r>
              <a:rPr sz="1800" b="1" spc="10" dirty="0">
                <a:solidFill>
                  <a:srgbClr val="00AF4F"/>
                </a:solidFill>
                <a:latin typeface="Trebuchet MS"/>
                <a:cs typeface="Trebuchet MS"/>
              </a:rPr>
              <a:t>through</a:t>
            </a:r>
            <a:r>
              <a:rPr sz="1800" b="1" spc="-195" dirty="0">
                <a:solidFill>
                  <a:srgbClr val="00AF4F"/>
                </a:solidFill>
                <a:latin typeface="Trebuchet MS"/>
                <a:cs typeface="Trebuchet MS"/>
              </a:rPr>
              <a:t> </a:t>
            </a:r>
            <a:r>
              <a:rPr sz="1800" b="1" spc="-40" dirty="0">
                <a:solidFill>
                  <a:srgbClr val="00AF4F"/>
                </a:solidFill>
                <a:latin typeface="Trebuchet MS"/>
                <a:cs typeface="Trebuchet MS"/>
              </a:rPr>
              <a:t>111)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6</a:t>
            </a:fld>
            <a:endParaRPr spc="-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3170">
              <a:lnSpc>
                <a:spcPct val="100000"/>
              </a:lnSpc>
              <a:spcBef>
                <a:spcPts val="100"/>
              </a:spcBef>
            </a:pPr>
            <a:r>
              <a:rPr spc="140" dirty="0">
                <a:latin typeface="Times New Roman" pitchFamily="18" charset="0"/>
                <a:cs typeface="Times New Roman" pitchFamily="18" charset="0"/>
              </a:rPr>
              <a:t>Memory </a:t>
            </a:r>
            <a:r>
              <a:rPr spc="-40" dirty="0"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pc="-3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10" dirty="0">
                <a:latin typeface="Times New Roman" pitchFamily="18" charset="0"/>
                <a:cs typeface="Times New Roman" pitchFamily="18" charset="0"/>
              </a:rPr>
              <a:t>Instructions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7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1596389" y="1252220"/>
            <a:ext cx="345630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z="2000" spc="-30" dirty="0">
                <a:latin typeface="Times New Roman" pitchFamily="18" charset="0"/>
                <a:cs typeface="Times New Roman" pitchFamily="18" charset="0"/>
              </a:rPr>
              <a:t>Memory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instruction: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6389" y="2023109"/>
            <a:ext cx="228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3790A6"/>
                </a:solidFill>
                <a:latin typeface="UnDotum"/>
                <a:cs typeface="UnDotum"/>
              </a:rPr>
              <a:t></a:t>
            </a:r>
            <a:endParaRPr sz="1600">
              <a:latin typeface="UnDotum"/>
              <a:cs typeface="UnDot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9450" y="2014220"/>
            <a:ext cx="38652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0" dirty="0">
                <a:latin typeface="Times New Roman" pitchFamily="18" charset="0"/>
                <a:cs typeface="Times New Roman" pitchFamily="18" charset="0"/>
              </a:rPr>
              <a:t>first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12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bits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(0-11)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specify </a:t>
            </a:r>
            <a:r>
              <a:rPr sz="2000" spc="-150" dirty="0">
                <a:latin typeface="Times New Roman" pitchFamily="18" charset="0"/>
                <a:cs typeface="Times New Roman" pitchFamily="18" charset="0"/>
              </a:rPr>
              <a:t>an</a:t>
            </a:r>
            <a:r>
              <a:rPr sz="2000" spc="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20" dirty="0">
                <a:latin typeface="Times New Roman" pitchFamily="18" charset="0"/>
                <a:cs typeface="Times New Roman" pitchFamily="18" charset="0"/>
              </a:rPr>
              <a:t>address.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0989" y="2395220"/>
            <a:ext cx="7248525" cy="170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marR="30480" indent="-281940">
              <a:lnSpc>
                <a:spcPct val="100000"/>
              </a:lnSpc>
              <a:spcBef>
                <a:spcPts val="100"/>
              </a:spcBef>
              <a:buClr>
                <a:srgbClr val="3790A6"/>
              </a:buClr>
              <a:buSzPct val="80000"/>
              <a:buFont typeface="UnDotum"/>
              <a:buChar char=""/>
              <a:tabLst>
                <a:tab pos="320040" algn="l"/>
              </a:tabLst>
            </a:pPr>
            <a:r>
              <a:rPr sz="2000" spc="-6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9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address </a:t>
            </a:r>
            <a:r>
              <a:rPr sz="2000" spc="-1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field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000" spc="-95" dirty="0">
                <a:latin typeface="Times New Roman" pitchFamily="18" charset="0"/>
                <a:cs typeface="Times New Roman" pitchFamily="18" charset="0"/>
              </a:rPr>
              <a:t>denoted </a:t>
            </a:r>
            <a:r>
              <a:rPr sz="2000" spc="-11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sz="2000" spc="-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three </a:t>
            </a:r>
            <a:r>
              <a:rPr sz="2000" spc="-114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x’s </a:t>
            </a:r>
            <a:r>
              <a:rPr sz="2000" spc="-110" dirty="0">
                <a:latin typeface="Times New Roman" pitchFamily="18" charset="0"/>
                <a:cs typeface="Times New Roman" pitchFamily="18" charset="0"/>
              </a:rPr>
              <a:t>(in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hexadecimal </a:t>
            </a:r>
            <a:r>
              <a:rPr sz="2000" spc="-90" dirty="0">
                <a:latin typeface="Times New Roman" pitchFamily="18" charset="0"/>
                <a:cs typeface="Times New Roman" pitchFamily="18" charset="0"/>
              </a:rPr>
              <a:t>notation) 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2000" spc="-9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equivalent </a:t>
            </a:r>
            <a:r>
              <a:rPr sz="2000" spc="-45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sz="2000" spc="-90" dirty="0">
                <a:latin typeface="Times New Roman" pitchFamily="18" charset="0"/>
                <a:cs typeface="Times New Roman" pitchFamily="18" charset="0"/>
              </a:rPr>
              <a:t>12-bit</a:t>
            </a:r>
            <a:r>
              <a:rPr sz="2000" spc="11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14" dirty="0">
                <a:latin typeface="Times New Roman" pitchFamily="18" charset="0"/>
                <a:cs typeface="Times New Roman" pitchFamily="18" charset="0"/>
              </a:rPr>
              <a:t>address.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320040" indent="-281940">
              <a:lnSpc>
                <a:spcPct val="100000"/>
              </a:lnSpc>
              <a:spcBef>
                <a:spcPts val="600"/>
              </a:spcBef>
              <a:buClr>
                <a:srgbClr val="3790A6"/>
              </a:buClr>
              <a:buSzPct val="80000"/>
              <a:buFont typeface="UnDotum"/>
              <a:buChar char=""/>
              <a:tabLst>
                <a:tab pos="320040" algn="l"/>
              </a:tabLst>
            </a:pPr>
            <a:r>
              <a:rPr sz="2000" spc="-6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135" dirty="0">
                <a:latin typeface="Times New Roman" pitchFamily="18" charset="0"/>
                <a:cs typeface="Times New Roman" pitchFamily="18" charset="0"/>
              </a:rPr>
              <a:t>last </a:t>
            </a:r>
            <a:r>
              <a:rPr sz="2000" spc="-80" dirty="0">
                <a:latin typeface="Times New Roman" pitchFamily="18" charset="0"/>
                <a:cs typeface="Times New Roman" pitchFamily="18" charset="0"/>
              </a:rPr>
              <a:t>mode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bit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sz="2000" spc="-12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instruction </a:t>
            </a:r>
            <a:r>
              <a:rPr sz="2000" spc="-80" dirty="0">
                <a:latin typeface="Times New Roman" pitchFamily="18" charset="0"/>
                <a:cs typeface="Times New Roman" pitchFamily="18" charset="0"/>
              </a:rPr>
              <a:t>represents </a:t>
            </a:r>
            <a:r>
              <a:rPr sz="2000" spc="-11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sz="2000" spc="-90" dirty="0">
                <a:latin typeface="Times New Roman" pitchFamily="18" charset="0"/>
                <a:cs typeface="Times New Roman" pitchFamily="18" charset="0"/>
              </a:rPr>
              <a:t>symbol</a:t>
            </a:r>
            <a:r>
              <a:rPr sz="2000" spc="3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80" dirty="0">
                <a:latin typeface="Times New Roman" pitchFamily="18" charset="0"/>
                <a:cs typeface="Times New Roman" pitchFamily="18" charset="0"/>
              </a:rPr>
              <a:t>I.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320040" marR="93980" indent="-281940">
              <a:lnSpc>
                <a:spcPct val="100000"/>
              </a:lnSpc>
              <a:spcBef>
                <a:spcPts val="600"/>
              </a:spcBef>
              <a:buClr>
                <a:srgbClr val="3790A6"/>
              </a:buClr>
              <a:buSzPct val="80000"/>
              <a:buFont typeface="UnDotum"/>
              <a:buChar char=""/>
              <a:tabLst>
                <a:tab pos="320040" algn="l"/>
              </a:tabLst>
            </a:pPr>
            <a:r>
              <a:rPr sz="2000" spc="15" dirty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sz="2000" spc="-6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sz="2000" spc="114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sz="2000" spc="-170" dirty="0">
                <a:latin typeface="Times New Roman" pitchFamily="18" charset="0"/>
                <a:cs typeface="Times New Roman" pitchFamily="18" charset="0"/>
              </a:rPr>
              <a:t>0, </a:t>
            </a:r>
            <a:r>
              <a:rPr sz="2000" spc="-12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135" dirty="0">
                <a:latin typeface="Times New Roman" pitchFamily="18" charset="0"/>
                <a:cs typeface="Times New Roman" pitchFamily="18" charset="0"/>
              </a:rPr>
              <a:t>last </a:t>
            </a:r>
            <a:r>
              <a:rPr sz="2000" spc="-75" dirty="0">
                <a:latin typeface="Times New Roman" pitchFamily="18" charset="0"/>
                <a:cs typeface="Times New Roman" pitchFamily="18" charset="0"/>
              </a:rPr>
              <a:t>four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bits of </a:t>
            </a:r>
            <a:r>
              <a:rPr sz="2000" spc="-150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instruction </a:t>
            </a:r>
            <a:r>
              <a:rPr sz="2000" spc="-135" dirty="0">
                <a:latin typeface="Times New Roman" pitchFamily="18" charset="0"/>
                <a:cs typeface="Times New Roman" pitchFamily="18" charset="0"/>
              </a:rPr>
              <a:t>have </a:t>
            </a:r>
            <a:r>
              <a:rPr sz="2000" spc="-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hexadecimal 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digit equivalent </a:t>
            </a:r>
            <a:r>
              <a:rPr sz="2000" spc="-80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0 to 6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since </a:t>
            </a:r>
            <a:r>
              <a:rPr sz="2000" spc="-12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135" dirty="0">
                <a:latin typeface="Times New Roman" pitchFamily="18" charset="0"/>
                <a:cs typeface="Times New Roman" pitchFamily="18" charset="0"/>
              </a:rPr>
              <a:t>last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bit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000" spc="-55" dirty="0">
                <a:latin typeface="Times New Roman" pitchFamily="18" charset="0"/>
                <a:cs typeface="Times New Roman" pitchFamily="18" charset="0"/>
              </a:rPr>
              <a:t>zero</a:t>
            </a:r>
            <a:r>
              <a:rPr sz="2000" spc="4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(0).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6389" y="4156709"/>
            <a:ext cx="228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3790A6"/>
                </a:solidFill>
                <a:latin typeface="UnDotum"/>
                <a:cs typeface="UnDotum"/>
              </a:rPr>
              <a:t></a:t>
            </a:r>
            <a:endParaRPr sz="1600">
              <a:latin typeface="UnDotum"/>
              <a:cs typeface="UnDot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8329" y="4147820"/>
            <a:ext cx="6866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120">
              <a:lnSpc>
                <a:spcPct val="100000"/>
              </a:lnSpc>
              <a:spcBef>
                <a:spcPts val="100"/>
              </a:spcBef>
            </a:pPr>
            <a:r>
              <a:rPr sz="2000" spc="15" dirty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sz="2000" spc="-6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sz="2000" spc="114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sz="2000" spc="-12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135" dirty="0">
                <a:latin typeface="Times New Roman" pitchFamily="18" charset="0"/>
                <a:cs typeface="Times New Roman" pitchFamily="18" charset="0"/>
              </a:rPr>
              <a:t>last </a:t>
            </a:r>
            <a:r>
              <a:rPr sz="2000" spc="-75" dirty="0">
                <a:latin typeface="Times New Roman" pitchFamily="18" charset="0"/>
                <a:cs typeface="Times New Roman" pitchFamily="18" charset="0"/>
              </a:rPr>
              <a:t>four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bits </a:t>
            </a:r>
            <a:r>
              <a:rPr sz="2000" spc="-11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sz="2000" spc="-150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instruction </a:t>
            </a:r>
            <a:r>
              <a:rPr sz="2000" spc="-135" dirty="0">
                <a:latin typeface="Times New Roman" pitchFamily="18" charset="0"/>
                <a:cs typeface="Times New Roman" pitchFamily="18" charset="0"/>
              </a:rPr>
              <a:t>have </a:t>
            </a:r>
            <a:r>
              <a:rPr sz="2000" spc="-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hexadecimal 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digit equivalent </a:t>
            </a:r>
            <a:r>
              <a:rPr sz="2000" spc="-80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8 to </a:t>
            </a:r>
            <a:r>
              <a:rPr sz="2000" spc="-75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since </a:t>
            </a:r>
            <a:r>
              <a:rPr sz="2000" spc="-12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135" dirty="0">
                <a:latin typeface="Times New Roman" pitchFamily="18" charset="0"/>
                <a:cs typeface="Times New Roman" pitchFamily="18" charset="0"/>
              </a:rPr>
              <a:t>last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bit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one</a:t>
            </a:r>
            <a:r>
              <a:rPr sz="20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(1).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3170">
              <a:lnSpc>
                <a:spcPct val="100000"/>
              </a:lnSpc>
              <a:spcBef>
                <a:spcPts val="100"/>
              </a:spcBef>
            </a:pPr>
            <a:r>
              <a:rPr spc="140" dirty="0">
                <a:latin typeface="Times New Roman" pitchFamily="18" charset="0"/>
                <a:cs typeface="Times New Roman" pitchFamily="18" charset="0"/>
              </a:rPr>
              <a:t>Memory </a:t>
            </a:r>
            <a:r>
              <a:rPr spc="-40" dirty="0"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pc="-3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10" dirty="0">
                <a:latin typeface="Times New Roman" pitchFamily="18" charset="0"/>
                <a:cs typeface="Times New Roman" pitchFamily="18" charset="0"/>
              </a:rPr>
              <a:t>Instructions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8</a:t>
            </a:fld>
            <a:endParaRPr spc="-3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6801" y="1371600"/>
          <a:ext cx="7924800" cy="5029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7487"/>
                <a:gridCol w="1673190"/>
                <a:gridCol w="1551954"/>
                <a:gridCol w="1830607"/>
                <a:gridCol w="293253"/>
                <a:gridCol w="208831"/>
                <a:gridCol w="405603"/>
                <a:gridCol w="333875"/>
              </a:tblGrid>
              <a:tr h="461063">
                <a:tc gridSpan="8">
                  <a:txBody>
                    <a:bodyPr/>
                    <a:lstStyle/>
                    <a:p>
                      <a:pPr marL="2590800">
                        <a:lnSpc>
                          <a:spcPts val="1810"/>
                        </a:lnSpc>
                      </a:pPr>
                      <a:r>
                        <a:rPr sz="1600" b="1" spc="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Hexadecimal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code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95420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915">
                <a:tc>
                  <a:txBody>
                    <a:bodyPr/>
                    <a:lstStyle/>
                    <a:p>
                      <a:pPr marR="95250" algn="ctr">
                        <a:lnSpc>
                          <a:spcPts val="1800"/>
                        </a:lnSpc>
                      </a:pPr>
                      <a:r>
                        <a:rPr sz="1600" spc="-75" dirty="0">
                          <a:latin typeface="Trebuchet MS"/>
                          <a:cs typeface="Trebuchet MS"/>
                        </a:rPr>
                        <a:t>Symbol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580390">
                        <a:lnSpc>
                          <a:spcPts val="1800"/>
                        </a:lnSpc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I </a:t>
                      </a:r>
                      <a:r>
                        <a:rPr sz="1600" spc="95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R="424815" algn="r">
                        <a:lnSpc>
                          <a:spcPts val="1800"/>
                        </a:lnSpc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I </a:t>
                      </a:r>
                      <a:r>
                        <a:rPr sz="1600" spc="95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6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215390">
                        <a:lnSpc>
                          <a:spcPts val="1800"/>
                        </a:lnSpc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Description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9489">
                <a:tc>
                  <a:txBody>
                    <a:bodyPr/>
                    <a:lstStyle/>
                    <a:p>
                      <a:pPr marR="96520" algn="ctr">
                        <a:lnSpc>
                          <a:spcPts val="1800"/>
                        </a:lnSpc>
                      </a:pPr>
                      <a:r>
                        <a:rPr sz="1600" spc="185" dirty="0">
                          <a:latin typeface="Trebuchet MS"/>
                          <a:cs typeface="Trebuchet MS"/>
                        </a:rPr>
                        <a:t>AND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567690">
                        <a:lnSpc>
                          <a:spcPts val="180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0xxx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R="412750" algn="r">
                        <a:lnSpc>
                          <a:spcPts val="1800"/>
                        </a:lnSpc>
                      </a:pPr>
                      <a:r>
                        <a:rPr sz="1600" spc="5" dirty="0">
                          <a:latin typeface="Trebuchet MS"/>
                          <a:cs typeface="Trebuchet MS"/>
                        </a:rPr>
                        <a:t>8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96240">
                        <a:lnSpc>
                          <a:spcPts val="1800"/>
                        </a:lnSpc>
                      </a:pPr>
                      <a:r>
                        <a:rPr sz="1600" spc="18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600" spc="-65" dirty="0">
                          <a:latin typeface="Trebuchet MS"/>
                          <a:cs typeface="Trebuchet MS"/>
                        </a:rPr>
                        <a:t>memory</a:t>
                      </a:r>
                      <a:r>
                        <a:rPr sz="1600" spc="-3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word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ts val="1800"/>
                        </a:lnSpc>
                      </a:pPr>
                      <a:r>
                        <a:rPr sz="1600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o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ts val="1800"/>
                        </a:lnSpc>
                      </a:pPr>
                      <a:r>
                        <a:rPr sz="1600" spc="145" dirty="0">
                          <a:latin typeface="Trebuchet MS"/>
                          <a:cs typeface="Trebuchet MS"/>
                        </a:rPr>
                        <a:t>AC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9488">
                <a:tc>
                  <a:txBody>
                    <a:bodyPr/>
                    <a:lstStyle/>
                    <a:p>
                      <a:pPr marR="95250" algn="ctr">
                        <a:lnSpc>
                          <a:spcPts val="1810"/>
                        </a:lnSpc>
                      </a:pPr>
                      <a:r>
                        <a:rPr sz="1600" spc="185" dirty="0">
                          <a:latin typeface="Trebuchet MS"/>
                          <a:cs typeface="Trebuchet MS"/>
                        </a:rPr>
                        <a:t>ADD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567690">
                        <a:lnSpc>
                          <a:spcPts val="181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1xxx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R="412750" algn="r">
                        <a:lnSpc>
                          <a:spcPts val="1810"/>
                        </a:lnSpc>
                      </a:pPr>
                      <a:r>
                        <a:rPr sz="1600" spc="5" dirty="0">
                          <a:latin typeface="Trebuchet MS"/>
                          <a:cs typeface="Trebuchet MS"/>
                        </a:rPr>
                        <a:t>9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96240">
                        <a:lnSpc>
                          <a:spcPts val="1810"/>
                        </a:lnSpc>
                      </a:pPr>
                      <a:r>
                        <a:rPr sz="1600" spc="185" dirty="0">
                          <a:latin typeface="Trebuchet MS"/>
                          <a:cs typeface="Trebuchet MS"/>
                        </a:rPr>
                        <a:t>ADD 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memory</a:t>
                      </a:r>
                      <a:r>
                        <a:rPr sz="1600" spc="-3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word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1810"/>
                        </a:lnSpc>
                      </a:pPr>
                      <a:r>
                        <a:rPr sz="1600" spc="-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o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0640">
                        <a:lnSpc>
                          <a:spcPts val="1810"/>
                        </a:lnSpc>
                      </a:pPr>
                      <a:r>
                        <a:rPr sz="1600" spc="145" dirty="0">
                          <a:latin typeface="Trebuchet MS"/>
                          <a:cs typeface="Trebuchet MS"/>
                        </a:rPr>
                        <a:t>AC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9489">
                <a:tc>
                  <a:txBody>
                    <a:bodyPr/>
                    <a:lstStyle/>
                    <a:p>
                      <a:pPr marR="95250" algn="ctr">
                        <a:lnSpc>
                          <a:spcPts val="1800"/>
                        </a:lnSpc>
                      </a:pPr>
                      <a:r>
                        <a:rPr sz="1600" spc="100" dirty="0">
                          <a:latin typeface="Trebuchet MS"/>
                          <a:cs typeface="Trebuchet MS"/>
                        </a:rPr>
                        <a:t>LDA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567690">
                        <a:lnSpc>
                          <a:spcPts val="180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2xxx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R="396240" algn="r">
                        <a:lnSpc>
                          <a:spcPts val="1800"/>
                        </a:lnSpc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Ax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396240">
                        <a:lnSpc>
                          <a:spcPts val="1800"/>
                        </a:lnSpc>
                      </a:pPr>
                      <a:r>
                        <a:rPr sz="1600" spc="130" dirty="0">
                          <a:latin typeface="Trebuchet MS"/>
                          <a:cs typeface="Trebuchet MS"/>
                        </a:rPr>
                        <a:t>LOAD 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Memory 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word </a:t>
                      </a:r>
                      <a:r>
                        <a:rPr sz="1600" spc="-45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600" spc="-2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145" dirty="0">
                          <a:latin typeface="Trebuchet MS"/>
                          <a:cs typeface="Trebuchet MS"/>
                        </a:rPr>
                        <a:t>AC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906389">
                <a:tc>
                  <a:txBody>
                    <a:bodyPr/>
                    <a:lstStyle/>
                    <a:p>
                      <a:pPr marR="96520" algn="ctr">
                        <a:lnSpc>
                          <a:spcPts val="1810"/>
                        </a:lnSpc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STA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567690">
                        <a:lnSpc>
                          <a:spcPts val="181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3xxx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R="407670" algn="r">
                        <a:lnSpc>
                          <a:spcPts val="1810"/>
                        </a:lnSpc>
                      </a:pPr>
                      <a:r>
                        <a:rPr sz="1600" spc="-5" dirty="0">
                          <a:latin typeface="Trebuchet MS"/>
                          <a:cs typeface="Trebuchet MS"/>
                        </a:rPr>
                        <a:t>Bxxx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ts val="1810"/>
                        </a:lnSpc>
                        <a:tabLst>
                          <a:tab pos="1078865" algn="l"/>
                        </a:tabLst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Store	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content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39624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600" spc="-65" dirty="0">
                          <a:latin typeface="Trebuchet MS"/>
                          <a:cs typeface="Trebuchet MS"/>
                        </a:rPr>
                        <a:t>memory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810"/>
                        </a:lnSpc>
                      </a:pPr>
                      <a:r>
                        <a:rPr sz="1600" spc="-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f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17170">
                        <a:lnSpc>
                          <a:spcPts val="1810"/>
                        </a:lnSpc>
                      </a:pPr>
                      <a:r>
                        <a:rPr sz="1600" spc="145" dirty="0">
                          <a:latin typeface="Trebuchet MS"/>
                          <a:cs typeface="Trebuchet MS"/>
                        </a:rPr>
                        <a:t>AC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1810"/>
                        </a:lnSpc>
                      </a:pPr>
                      <a:r>
                        <a:rPr sz="1600" spc="-95" dirty="0">
                          <a:latin typeface="Trebuchet MS"/>
                          <a:cs typeface="Trebuchet MS"/>
                        </a:rPr>
                        <a:t>in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</a:tr>
              <a:tr h="459489">
                <a:tc>
                  <a:txBody>
                    <a:bodyPr/>
                    <a:lstStyle/>
                    <a:p>
                      <a:pPr marR="96520" algn="ctr">
                        <a:lnSpc>
                          <a:spcPts val="1810"/>
                        </a:lnSpc>
                      </a:pPr>
                      <a:r>
                        <a:rPr sz="1600" spc="100" dirty="0">
                          <a:latin typeface="Trebuchet MS"/>
                          <a:cs typeface="Trebuchet MS"/>
                        </a:rPr>
                        <a:t>BUN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567690">
                        <a:lnSpc>
                          <a:spcPts val="181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4xxx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R="392430" algn="r">
                        <a:lnSpc>
                          <a:spcPts val="1810"/>
                        </a:lnSpc>
                      </a:pPr>
                      <a:r>
                        <a:rPr sz="1600" spc="-5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396240">
                        <a:lnSpc>
                          <a:spcPts val="1810"/>
                        </a:lnSpc>
                      </a:pPr>
                      <a:r>
                        <a:rPr sz="1600" spc="-70" dirty="0">
                          <a:latin typeface="Trebuchet MS"/>
                          <a:cs typeface="Trebuchet MS"/>
                        </a:rPr>
                        <a:t>Branch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0" dirty="0">
                          <a:latin typeface="Trebuchet MS"/>
                          <a:cs typeface="Trebuchet MS"/>
                        </a:rPr>
                        <a:t>unconditionally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906389">
                <a:tc>
                  <a:txBody>
                    <a:bodyPr/>
                    <a:lstStyle/>
                    <a:p>
                      <a:pPr marR="97155" algn="ctr">
                        <a:lnSpc>
                          <a:spcPts val="1800"/>
                        </a:lnSpc>
                      </a:pPr>
                      <a:r>
                        <a:rPr sz="1600" spc="20" dirty="0">
                          <a:latin typeface="Trebuchet MS"/>
                          <a:cs typeface="Trebuchet MS"/>
                        </a:rPr>
                        <a:t>BSA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567690">
                        <a:lnSpc>
                          <a:spcPts val="180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5xxx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R="388620" algn="r">
                        <a:lnSpc>
                          <a:spcPts val="1800"/>
                        </a:lnSpc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xx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319405" algn="ctr">
                        <a:lnSpc>
                          <a:spcPts val="1800"/>
                        </a:lnSpc>
                      </a:pPr>
                      <a:r>
                        <a:rPr sz="1600" spc="-70" dirty="0">
                          <a:latin typeface="Trebuchet MS"/>
                          <a:cs typeface="Trebuchet MS"/>
                        </a:rPr>
                        <a:t>Branch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save 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return</a:t>
                      </a:r>
                      <a:r>
                        <a:rPr sz="160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address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9488">
                <a:tc>
                  <a:txBody>
                    <a:bodyPr/>
                    <a:lstStyle/>
                    <a:p>
                      <a:pPr marR="95885" algn="ctr">
                        <a:lnSpc>
                          <a:spcPts val="1810"/>
                        </a:lnSpc>
                      </a:pPr>
                      <a:r>
                        <a:rPr sz="1600" spc="20" dirty="0">
                          <a:latin typeface="Trebuchet MS"/>
                          <a:cs typeface="Trebuchet MS"/>
                        </a:rPr>
                        <a:t>ISZ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567690">
                        <a:lnSpc>
                          <a:spcPts val="181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6xxx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R="412750" algn="r">
                        <a:lnSpc>
                          <a:spcPts val="1810"/>
                        </a:lnSpc>
                      </a:pPr>
                      <a:r>
                        <a:rPr sz="16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x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396240">
                        <a:lnSpc>
                          <a:spcPts val="1810"/>
                        </a:lnSpc>
                      </a:pPr>
                      <a:r>
                        <a:rPr sz="1600" spc="-80" dirty="0">
                          <a:latin typeface="Trebuchet MS"/>
                          <a:cs typeface="Trebuchet MS"/>
                        </a:rPr>
                        <a:t>Increment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Skip </a:t>
                      </a:r>
                      <a:r>
                        <a:rPr sz="1600" spc="-160" dirty="0">
                          <a:latin typeface="Trebuchet MS"/>
                          <a:cs typeface="Trebuchet MS"/>
                        </a:rPr>
                        <a:t>if</a:t>
                      </a:r>
                      <a:r>
                        <a:rPr sz="160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45" dirty="0">
                          <a:latin typeface="Trebuchet MS"/>
                          <a:cs typeface="Trebuchet MS"/>
                        </a:rPr>
                        <a:t>zero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558800"/>
            <a:ext cx="703071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>
                <a:latin typeface="Times New Roman" pitchFamily="18" charset="0"/>
                <a:cs typeface="Times New Roman" pitchFamily="18" charset="0"/>
              </a:rPr>
              <a:t>Register </a:t>
            </a:r>
            <a:r>
              <a:rPr spc="-40" dirty="0"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pc="-2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10" dirty="0">
                <a:latin typeface="Times New Roman" pitchFamily="18" charset="0"/>
                <a:cs typeface="Times New Roman" pitchFamily="18" charset="0"/>
              </a:rPr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6389" y="1252220"/>
            <a:ext cx="34937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Register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95" dirty="0">
                <a:latin typeface="Times New Roman" pitchFamily="18" charset="0"/>
                <a:cs typeface="Times New Roman" pitchFamily="18" charset="0"/>
              </a:rPr>
              <a:t>Instruction: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6389" y="2023109"/>
            <a:ext cx="228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3790A6"/>
                </a:solidFill>
                <a:latin typeface="UnDotum"/>
                <a:cs typeface="UnDotum"/>
              </a:rPr>
              <a:t></a:t>
            </a:r>
            <a:endParaRPr sz="1600">
              <a:latin typeface="UnDotum"/>
              <a:cs typeface="UnDot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9450" y="2014220"/>
            <a:ext cx="51034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5" dirty="0">
                <a:latin typeface="Times New Roman" pitchFamily="18" charset="0"/>
                <a:cs typeface="Times New Roman" pitchFamily="18" charset="0"/>
              </a:rPr>
              <a:t>First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12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bits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(0-11)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specify </a:t>
            </a:r>
            <a:r>
              <a:rPr sz="2000" spc="-12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90" dirty="0">
                <a:latin typeface="Times New Roman" pitchFamily="18" charset="0"/>
                <a:cs typeface="Times New Roman" pitchFamily="18" charset="0"/>
              </a:rPr>
              <a:t>register</a:t>
            </a:r>
            <a:r>
              <a:rPr sz="2000" spc="2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operation.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20040" indent="-281940">
              <a:lnSpc>
                <a:spcPct val="100000"/>
              </a:lnSpc>
              <a:spcBef>
                <a:spcPts val="700"/>
              </a:spcBef>
              <a:buClr>
                <a:srgbClr val="3790A6"/>
              </a:buClr>
              <a:buSzPct val="80000"/>
              <a:buFont typeface="UnDotum"/>
              <a:buChar char=""/>
              <a:tabLst>
                <a:tab pos="320040" algn="l"/>
              </a:tabLst>
            </a:pPr>
            <a:r>
              <a:rPr sz="2000" spc="-6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90" dirty="0">
                <a:latin typeface="Times New Roman" pitchFamily="18" charset="0"/>
                <a:cs typeface="Times New Roman" pitchFamily="18" charset="0"/>
              </a:rPr>
              <a:t>next </a:t>
            </a:r>
            <a:r>
              <a:rPr sz="2000" spc="-95" dirty="0">
                <a:latin typeface="Times New Roman" pitchFamily="18" charset="0"/>
                <a:cs typeface="Times New Roman" pitchFamily="18" charset="0"/>
              </a:rPr>
              <a:t>three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bits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equals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to 111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specify</a:t>
            </a:r>
            <a:r>
              <a:rPr sz="2000" spc="1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opcode.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320040" indent="-281940">
              <a:lnSpc>
                <a:spcPct val="100000"/>
              </a:lnSpc>
              <a:spcBef>
                <a:spcPts val="600"/>
              </a:spcBef>
              <a:buClr>
                <a:srgbClr val="3790A6"/>
              </a:buClr>
              <a:buSzPct val="80000"/>
              <a:buFont typeface="UnDotum"/>
              <a:buChar char=""/>
              <a:tabLst>
                <a:tab pos="320040" algn="l"/>
              </a:tabLst>
            </a:pPr>
            <a:r>
              <a:rPr sz="2000" spc="-6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135" dirty="0">
                <a:latin typeface="Times New Roman" pitchFamily="18" charset="0"/>
                <a:cs typeface="Times New Roman" pitchFamily="18" charset="0"/>
              </a:rPr>
              <a:t>last </a:t>
            </a:r>
            <a:r>
              <a:rPr sz="2000" spc="-80" dirty="0">
                <a:latin typeface="Times New Roman" pitchFamily="18" charset="0"/>
                <a:cs typeface="Times New Roman" pitchFamily="18" charset="0"/>
              </a:rPr>
              <a:t>mode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bit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sz="2000" spc="-12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instruction is</a:t>
            </a:r>
            <a:r>
              <a:rPr sz="2000" spc="2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70" dirty="0">
                <a:latin typeface="Times New Roman" pitchFamily="18" charset="0"/>
                <a:cs typeface="Times New Roman" pitchFamily="18" charset="0"/>
              </a:rPr>
              <a:t>0.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320040" marR="30480" indent="-281940">
              <a:lnSpc>
                <a:spcPct val="100000"/>
              </a:lnSpc>
              <a:spcBef>
                <a:spcPts val="600"/>
              </a:spcBef>
              <a:buClr>
                <a:srgbClr val="3790A6"/>
              </a:buClr>
              <a:buSzPct val="80000"/>
              <a:buFont typeface="UnDotum"/>
              <a:buChar char=""/>
              <a:tabLst>
                <a:tab pos="320040" algn="l"/>
              </a:tabLst>
            </a:pPr>
            <a:r>
              <a:rPr sz="2000" spc="-95" dirty="0">
                <a:latin typeface="Times New Roman" pitchFamily="18" charset="0"/>
                <a:cs typeface="Times New Roman" pitchFamily="18" charset="0"/>
              </a:rPr>
              <a:t>Therefore, </a:t>
            </a:r>
            <a:r>
              <a:rPr sz="2000" spc="-165" dirty="0">
                <a:latin typeface="Times New Roman" pitchFamily="18" charset="0"/>
                <a:cs typeface="Times New Roman" pitchFamily="18" charset="0"/>
              </a:rPr>
              <a:t>left </a:t>
            </a:r>
            <a:r>
              <a:rPr sz="2000" spc="-65" dirty="0">
                <a:latin typeface="Times New Roman" pitchFamily="18" charset="0"/>
                <a:cs typeface="Times New Roman" pitchFamily="18" charset="0"/>
              </a:rPr>
              <a:t>most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4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bits </a:t>
            </a:r>
            <a:r>
              <a:rPr sz="2000" spc="-110" dirty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always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0111 </a:t>
            </a:r>
            <a:r>
              <a:rPr sz="2000" spc="-100" dirty="0">
                <a:latin typeface="Times New Roman" pitchFamily="18" charset="0"/>
                <a:cs typeface="Times New Roman" pitchFamily="18" charset="0"/>
              </a:rPr>
              <a:t>which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000" spc="-140" dirty="0">
                <a:latin typeface="Times New Roman" pitchFamily="18" charset="0"/>
                <a:cs typeface="Times New Roman" pitchFamily="18" charset="0"/>
              </a:rPr>
              <a:t>equal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to 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hexadecimal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75" dirty="0">
                <a:latin typeface="Times New Roman" pitchFamily="18" charset="0"/>
                <a:cs typeface="Times New Roman" pitchFamily="18" charset="0"/>
              </a:rPr>
              <a:t>7.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90800" y="4191000"/>
            <a:ext cx="4895850" cy="182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pPr marL="38100">
                <a:lnSpc>
                  <a:spcPct val="100000"/>
                </a:lnSpc>
                <a:spcBef>
                  <a:spcPts val="15"/>
                </a:spcBef>
              </a:pPr>
              <a:t>9</a:t>
            </a:fld>
            <a:endParaRPr spc="-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558800"/>
            <a:ext cx="725931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" dirty="0">
                <a:latin typeface="Times New Roman" pitchFamily="18" charset="0"/>
                <a:cs typeface="Times New Roman" pitchFamily="18" charset="0"/>
              </a:rPr>
              <a:t>Register </a:t>
            </a:r>
            <a:r>
              <a:rPr spc="-40" dirty="0"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pc="-2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10" dirty="0">
                <a:latin typeface="Times New Roman" pitchFamily="18" charset="0"/>
                <a:cs typeface="Times New Roman" pitchFamily="18" charset="0"/>
              </a:rPr>
              <a:t>Instructions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709" y="6550020"/>
            <a:ext cx="228600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1200" spc="-30" dirty="0">
                <a:solidFill>
                  <a:srgbClr val="B4A687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15"/>
                </a:spcBef>
              </a:pPr>
              <a:t>10</a:t>
            </a:fld>
            <a:endParaRPr sz="12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66800" y="1371603"/>
          <a:ext cx="7772399" cy="52577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6797"/>
                <a:gridCol w="2363338"/>
                <a:gridCol w="3572264"/>
              </a:tblGrid>
              <a:tr h="461098">
                <a:tc>
                  <a:txBody>
                    <a:bodyPr/>
                    <a:lstStyle/>
                    <a:p>
                      <a:pPr marL="129539" algn="ctr">
                        <a:lnSpc>
                          <a:spcPts val="1810"/>
                        </a:lnSpc>
                      </a:pPr>
                      <a:r>
                        <a:rPr sz="1600" b="1" spc="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Symbol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954204"/>
                    </a:solidFill>
                  </a:tcPr>
                </a:tc>
                <a:tc>
                  <a:txBody>
                    <a:bodyPr/>
                    <a:lstStyle/>
                    <a:p>
                      <a:pPr marL="487045">
                        <a:lnSpc>
                          <a:spcPts val="1810"/>
                        </a:lnSpc>
                      </a:pPr>
                      <a:r>
                        <a:rPr sz="1600" b="1" spc="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Hexadecimal</a:t>
                      </a:r>
                      <a:r>
                        <a:rPr sz="1600" b="1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code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954204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1810"/>
                        </a:lnSpc>
                      </a:pPr>
                      <a:r>
                        <a:rPr sz="1600" b="1" spc="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954204"/>
                    </a:solidFill>
                  </a:tcPr>
                </a:tc>
              </a:tr>
              <a:tr h="367597">
                <a:tc>
                  <a:txBody>
                    <a:bodyPr/>
                    <a:lstStyle/>
                    <a:p>
                      <a:pPr marL="128270" algn="ctr">
                        <a:lnSpc>
                          <a:spcPts val="1810"/>
                        </a:lnSpc>
                      </a:pPr>
                      <a:r>
                        <a:rPr sz="1600" spc="85" dirty="0">
                          <a:latin typeface="Trebuchet MS"/>
                          <a:cs typeface="Trebuchet MS"/>
                        </a:rPr>
                        <a:t>CLA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158115" algn="ctr">
                        <a:lnSpc>
                          <a:spcPts val="1810"/>
                        </a:lnSpc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7800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45" dirty="0">
                          <a:latin typeface="Trebuchet MS"/>
                          <a:cs typeface="Trebuchet MS"/>
                        </a:rPr>
                        <a:t>Clear </a:t>
                      </a:r>
                      <a:r>
                        <a:rPr sz="1600" spc="145" dirty="0">
                          <a:latin typeface="Trebuchet MS"/>
                          <a:cs typeface="Trebuchet MS"/>
                        </a:rPr>
                        <a:t>AC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</a:tr>
              <a:tr h="370160">
                <a:tc>
                  <a:txBody>
                    <a:bodyPr/>
                    <a:lstStyle/>
                    <a:p>
                      <a:pPr marL="127635" algn="ctr">
                        <a:lnSpc>
                          <a:spcPts val="1810"/>
                        </a:lnSpc>
                      </a:pPr>
                      <a:r>
                        <a:rPr sz="1600" spc="25" dirty="0">
                          <a:latin typeface="Trebuchet MS"/>
                          <a:cs typeface="Trebuchet MS"/>
                        </a:rPr>
                        <a:t>CLE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158115" algn="ctr">
                        <a:lnSpc>
                          <a:spcPts val="1810"/>
                        </a:lnSpc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7400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45" dirty="0">
                          <a:latin typeface="Trebuchet MS"/>
                          <a:cs typeface="Trebuchet MS"/>
                        </a:rPr>
                        <a:t>Clear 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pPr marL="128270" algn="ctr">
                        <a:lnSpc>
                          <a:spcPts val="1810"/>
                        </a:lnSpc>
                      </a:pPr>
                      <a:r>
                        <a:rPr sz="1600" spc="125" dirty="0">
                          <a:latin typeface="Trebuchet MS"/>
                          <a:cs typeface="Trebuchet MS"/>
                        </a:rPr>
                        <a:t>CMA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158115" algn="ctr">
                        <a:lnSpc>
                          <a:spcPts val="1810"/>
                        </a:lnSpc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7200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65" dirty="0">
                          <a:latin typeface="Trebuchet MS"/>
                          <a:cs typeface="Trebuchet MS"/>
                        </a:rPr>
                        <a:t>Complement</a:t>
                      </a:r>
                      <a:r>
                        <a:rPr sz="16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145" dirty="0">
                          <a:latin typeface="Trebuchet MS"/>
                          <a:cs typeface="Trebuchet MS"/>
                        </a:rPr>
                        <a:t>AC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</a:tr>
              <a:tr h="370160">
                <a:tc>
                  <a:txBody>
                    <a:bodyPr/>
                    <a:lstStyle/>
                    <a:p>
                      <a:pPr marL="127635" algn="ctr">
                        <a:lnSpc>
                          <a:spcPts val="1810"/>
                        </a:lnSpc>
                      </a:pPr>
                      <a:r>
                        <a:rPr sz="1600" spc="70" dirty="0">
                          <a:latin typeface="Trebuchet MS"/>
                          <a:cs typeface="Trebuchet MS"/>
                        </a:rPr>
                        <a:t>CME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158115" algn="ctr">
                        <a:lnSpc>
                          <a:spcPts val="1810"/>
                        </a:lnSpc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7100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65" dirty="0">
                          <a:latin typeface="Trebuchet MS"/>
                          <a:cs typeface="Trebuchet MS"/>
                        </a:rPr>
                        <a:t>Complement</a:t>
                      </a:r>
                      <a:r>
                        <a:rPr sz="16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pPr marL="130175" algn="ctr">
                        <a:lnSpc>
                          <a:spcPts val="1810"/>
                        </a:lnSpc>
                      </a:pPr>
                      <a:r>
                        <a:rPr sz="1600" spc="50" dirty="0">
                          <a:latin typeface="Trebuchet MS"/>
                          <a:cs typeface="Trebuchet MS"/>
                        </a:rPr>
                        <a:t>CIR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158115" algn="ctr">
                        <a:lnSpc>
                          <a:spcPts val="1810"/>
                        </a:lnSpc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7080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70" dirty="0">
                          <a:latin typeface="Trebuchet MS"/>
                          <a:cs typeface="Trebuchet MS"/>
                        </a:rPr>
                        <a:t>Circulate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right </a:t>
                      </a:r>
                      <a:r>
                        <a:rPr sz="1600" spc="145" dirty="0">
                          <a:latin typeface="Trebuchet MS"/>
                          <a:cs typeface="Trebuchet MS"/>
                        </a:rPr>
                        <a:t>AC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600" spc="-1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</a:tr>
              <a:tr h="367599">
                <a:tc>
                  <a:txBody>
                    <a:bodyPr/>
                    <a:lstStyle/>
                    <a:p>
                      <a:pPr marL="129539" algn="ctr">
                        <a:lnSpc>
                          <a:spcPts val="1800"/>
                        </a:lnSpc>
                      </a:pPr>
                      <a:r>
                        <a:rPr sz="1600" spc="25" dirty="0">
                          <a:latin typeface="Trebuchet MS"/>
                          <a:cs typeface="Trebuchet MS"/>
                        </a:rPr>
                        <a:t>CIL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158115" algn="ctr">
                        <a:lnSpc>
                          <a:spcPts val="1800"/>
                        </a:lnSpc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7040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00"/>
                        </a:lnSpc>
                      </a:pPr>
                      <a:r>
                        <a:rPr sz="1600" spc="-70" dirty="0">
                          <a:latin typeface="Trebuchet MS"/>
                          <a:cs typeface="Trebuchet MS"/>
                        </a:rPr>
                        <a:t>Circulate </a:t>
                      </a:r>
                      <a:r>
                        <a:rPr sz="1600" spc="-135" dirty="0">
                          <a:latin typeface="Trebuchet MS"/>
                          <a:cs typeface="Trebuchet MS"/>
                        </a:rPr>
                        <a:t>left </a:t>
                      </a:r>
                      <a:r>
                        <a:rPr sz="1600" spc="145" dirty="0">
                          <a:latin typeface="Trebuchet MS"/>
                          <a:cs typeface="Trebuchet MS"/>
                        </a:rPr>
                        <a:t>AC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6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</a:tr>
              <a:tr h="370159">
                <a:tc>
                  <a:txBody>
                    <a:bodyPr/>
                    <a:lstStyle/>
                    <a:p>
                      <a:pPr marL="129539" algn="ctr">
                        <a:lnSpc>
                          <a:spcPts val="1810"/>
                        </a:lnSpc>
                      </a:pPr>
                      <a:r>
                        <a:rPr sz="1600" spc="114" dirty="0">
                          <a:latin typeface="Trebuchet MS"/>
                          <a:cs typeface="Trebuchet MS"/>
                        </a:rPr>
                        <a:t>INC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158115" algn="ctr">
                        <a:lnSpc>
                          <a:spcPts val="1810"/>
                        </a:lnSpc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7020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80" dirty="0">
                          <a:latin typeface="Trebuchet MS"/>
                          <a:cs typeface="Trebuchet MS"/>
                        </a:rPr>
                        <a:t>Increment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145" dirty="0">
                          <a:latin typeface="Trebuchet MS"/>
                          <a:cs typeface="Trebuchet MS"/>
                        </a:rPr>
                        <a:t>AC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</a:tr>
              <a:tr h="368879">
                <a:tc>
                  <a:txBody>
                    <a:bodyPr/>
                    <a:lstStyle/>
                    <a:p>
                      <a:pPr marL="128270" algn="ctr">
                        <a:lnSpc>
                          <a:spcPts val="1810"/>
                        </a:lnSpc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SPA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158115" algn="ctr">
                        <a:lnSpc>
                          <a:spcPts val="1810"/>
                        </a:lnSpc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7010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75" dirty="0">
                          <a:latin typeface="Trebuchet MS"/>
                          <a:cs typeface="Trebuchet MS"/>
                        </a:rPr>
                        <a:t>Skip next instruction </a:t>
                      </a:r>
                      <a:r>
                        <a:rPr sz="1600" spc="-155" dirty="0">
                          <a:latin typeface="Trebuchet MS"/>
                          <a:cs typeface="Trebuchet MS"/>
                        </a:rPr>
                        <a:t>if </a:t>
                      </a:r>
                      <a:r>
                        <a:rPr sz="1600" spc="145" dirty="0">
                          <a:latin typeface="Trebuchet MS"/>
                          <a:cs typeface="Trebuchet MS"/>
                        </a:rPr>
                        <a:t>AC</a:t>
                      </a:r>
                      <a:r>
                        <a:rPr sz="1600" spc="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85" dirty="0">
                          <a:latin typeface="Trebuchet MS"/>
                          <a:cs typeface="Trebuchet MS"/>
                        </a:rPr>
                        <a:t>positive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</a:tr>
              <a:tr h="737757">
                <a:tc>
                  <a:txBody>
                    <a:bodyPr/>
                    <a:lstStyle/>
                    <a:p>
                      <a:pPr marL="128270" algn="ctr">
                        <a:lnSpc>
                          <a:spcPts val="1810"/>
                        </a:lnSpc>
                      </a:pPr>
                      <a:r>
                        <a:rPr sz="1600" spc="100" dirty="0">
                          <a:latin typeface="Trebuchet MS"/>
                          <a:cs typeface="Trebuchet MS"/>
                        </a:rPr>
                        <a:t>SNA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158115" algn="ctr">
                        <a:lnSpc>
                          <a:spcPts val="1810"/>
                        </a:lnSpc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7008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75" dirty="0">
                          <a:latin typeface="Trebuchet MS"/>
                          <a:cs typeface="Trebuchet MS"/>
                        </a:rPr>
                        <a:t>Skip next instruction is </a:t>
                      </a:r>
                      <a:r>
                        <a:rPr sz="1600" spc="140" dirty="0">
                          <a:latin typeface="Trebuchet MS"/>
                          <a:cs typeface="Trebuchet MS"/>
                        </a:rPr>
                        <a:t>AC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is </a:t>
                      </a:r>
                      <a:r>
                        <a:rPr sz="1600" spc="-110" dirty="0">
                          <a:latin typeface="Trebuchet MS"/>
                          <a:cs typeface="Trebuchet MS"/>
                        </a:rPr>
                        <a:t>negative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</a:tr>
              <a:tr h="368879">
                <a:tc>
                  <a:txBody>
                    <a:bodyPr/>
                    <a:lstStyle/>
                    <a:p>
                      <a:pPr marL="128270" algn="ctr">
                        <a:lnSpc>
                          <a:spcPts val="1810"/>
                        </a:lnSpc>
                      </a:pPr>
                      <a:r>
                        <a:rPr sz="1600" spc="75" dirty="0">
                          <a:latin typeface="Trebuchet MS"/>
                          <a:cs typeface="Trebuchet MS"/>
                        </a:rPr>
                        <a:t>SZA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158115" algn="ctr">
                        <a:lnSpc>
                          <a:spcPts val="1810"/>
                        </a:lnSpc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7004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75" dirty="0">
                          <a:latin typeface="Trebuchet MS"/>
                          <a:cs typeface="Trebuchet MS"/>
                        </a:rPr>
                        <a:t>Skip next instruction is </a:t>
                      </a:r>
                      <a:r>
                        <a:rPr sz="1600" spc="140" dirty="0">
                          <a:latin typeface="Trebuchet MS"/>
                          <a:cs typeface="Trebuchet MS"/>
                        </a:rPr>
                        <a:t>AC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is 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pPr marL="128905" algn="ctr">
                        <a:lnSpc>
                          <a:spcPts val="1800"/>
                        </a:lnSpc>
                      </a:pPr>
                      <a:r>
                        <a:rPr sz="1600" spc="15" dirty="0">
                          <a:latin typeface="Trebuchet MS"/>
                          <a:cs typeface="Trebuchet MS"/>
                        </a:rPr>
                        <a:t>SZE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158115" algn="ctr">
                        <a:lnSpc>
                          <a:spcPts val="1800"/>
                        </a:lnSpc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7002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00"/>
                        </a:lnSpc>
                      </a:pPr>
                      <a:r>
                        <a:rPr sz="1600" spc="-75" dirty="0">
                          <a:latin typeface="Trebuchet MS"/>
                          <a:cs typeface="Trebuchet MS"/>
                        </a:rPr>
                        <a:t>Skip next instruction is 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E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600" spc="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</a:tr>
              <a:tr h="368877">
                <a:tc>
                  <a:txBody>
                    <a:bodyPr/>
                    <a:lstStyle/>
                    <a:p>
                      <a:pPr marL="129539" algn="ctr">
                        <a:lnSpc>
                          <a:spcPts val="1810"/>
                        </a:lnSpc>
                      </a:pPr>
                      <a:r>
                        <a:rPr sz="1600" spc="35" dirty="0">
                          <a:latin typeface="Trebuchet MS"/>
                          <a:cs typeface="Trebuchet MS"/>
                        </a:rPr>
                        <a:t>HLT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158115" algn="ctr">
                        <a:lnSpc>
                          <a:spcPts val="1810"/>
                        </a:lnSpc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7001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70" dirty="0">
                          <a:latin typeface="Trebuchet MS"/>
                          <a:cs typeface="Trebuchet MS"/>
                        </a:rPr>
                        <a:t>Halt</a:t>
                      </a:r>
                      <a:r>
                        <a:rPr sz="16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0" dirty="0">
                          <a:latin typeface="Trebuchet MS"/>
                          <a:cs typeface="Trebuchet MS"/>
                        </a:rPr>
                        <a:t>computer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200" y="558800"/>
            <a:ext cx="64122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>
                <a:latin typeface="Times New Roman" pitchFamily="18" charset="0"/>
                <a:cs typeface="Times New Roman" pitchFamily="18" charset="0"/>
              </a:rPr>
              <a:t>I/O </a:t>
            </a:r>
            <a:r>
              <a:rPr spc="-40" dirty="0"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pc="-3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10" dirty="0">
                <a:latin typeface="Times New Roman" pitchFamily="18" charset="0"/>
                <a:cs typeface="Times New Roman" pitchFamily="18" charset="0"/>
              </a:rPr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6389" y="1252220"/>
            <a:ext cx="29933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I/O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z="2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95" dirty="0">
                <a:latin typeface="Times New Roman" pitchFamily="18" charset="0"/>
                <a:cs typeface="Times New Roman" pitchFamily="18" charset="0"/>
              </a:rPr>
              <a:t>Instruction: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6389" y="2023109"/>
            <a:ext cx="228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3790A6"/>
                </a:solidFill>
                <a:latin typeface="UnDotum"/>
                <a:cs typeface="UnDotum"/>
              </a:rPr>
              <a:t></a:t>
            </a:r>
            <a:endParaRPr sz="1600">
              <a:latin typeface="UnDotum"/>
              <a:cs typeface="UnDot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9450" y="2014220"/>
            <a:ext cx="46564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5" dirty="0">
                <a:latin typeface="Times New Roman" pitchFamily="18" charset="0"/>
                <a:cs typeface="Times New Roman" pitchFamily="18" charset="0"/>
              </a:rPr>
              <a:t>First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12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bits </a:t>
            </a:r>
            <a:r>
              <a:rPr sz="2000" spc="-70" dirty="0">
                <a:latin typeface="Times New Roman" pitchFamily="18" charset="0"/>
                <a:cs typeface="Times New Roman" pitchFamily="18" charset="0"/>
              </a:rPr>
              <a:t>(0-11)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specify </a:t>
            </a:r>
            <a:r>
              <a:rPr sz="2000" spc="-12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I/O</a:t>
            </a:r>
            <a:r>
              <a:rPr sz="2000" spc="2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operation.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20040" indent="-281940">
              <a:lnSpc>
                <a:spcPct val="100000"/>
              </a:lnSpc>
              <a:spcBef>
                <a:spcPts val="700"/>
              </a:spcBef>
              <a:buClr>
                <a:srgbClr val="3790A6"/>
              </a:buClr>
              <a:buSzPct val="80000"/>
              <a:buFont typeface="UnDotum"/>
              <a:buChar char=""/>
              <a:tabLst>
                <a:tab pos="320040" algn="l"/>
              </a:tabLst>
            </a:pPr>
            <a:r>
              <a:rPr sz="2000" spc="-6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90" dirty="0">
                <a:latin typeface="Times New Roman" pitchFamily="18" charset="0"/>
                <a:cs typeface="Times New Roman" pitchFamily="18" charset="0"/>
              </a:rPr>
              <a:t>next </a:t>
            </a:r>
            <a:r>
              <a:rPr sz="2000" spc="-95" dirty="0">
                <a:latin typeface="Times New Roman" pitchFamily="18" charset="0"/>
                <a:cs typeface="Times New Roman" pitchFamily="18" charset="0"/>
              </a:rPr>
              <a:t>three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bits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equals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to 111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specify</a:t>
            </a:r>
            <a:r>
              <a:rPr sz="2000" spc="1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opcode.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320040" indent="-281940">
              <a:lnSpc>
                <a:spcPct val="100000"/>
              </a:lnSpc>
              <a:spcBef>
                <a:spcPts val="600"/>
              </a:spcBef>
              <a:buClr>
                <a:srgbClr val="3790A6"/>
              </a:buClr>
              <a:buSzPct val="80000"/>
              <a:buFont typeface="UnDotum"/>
              <a:buChar char=""/>
              <a:tabLst>
                <a:tab pos="320040" algn="l"/>
              </a:tabLst>
            </a:pPr>
            <a:r>
              <a:rPr sz="2000" spc="-6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135" dirty="0">
                <a:latin typeface="Times New Roman" pitchFamily="18" charset="0"/>
                <a:cs typeface="Times New Roman" pitchFamily="18" charset="0"/>
              </a:rPr>
              <a:t>last </a:t>
            </a:r>
            <a:r>
              <a:rPr sz="2000" spc="-80" dirty="0">
                <a:latin typeface="Times New Roman" pitchFamily="18" charset="0"/>
                <a:cs typeface="Times New Roman" pitchFamily="18" charset="0"/>
              </a:rPr>
              <a:t>mode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bit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sz="2000" spc="-12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instruction is</a:t>
            </a:r>
            <a:r>
              <a:rPr sz="2000" spc="2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70" dirty="0">
                <a:latin typeface="Times New Roman" pitchFamily="18" charset="0"/>
                <a:cs typeface="Times New Roman" pitchFamily="18" charset="0"/>
              </a:rPr>
              <a:t>1.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320040" marR="30480" indent="-281940">
              <a:lnSpc>
                <a:spcPct val="100000"/>
              </a:lnSpc>
              <a:spcBef>
                <a:spcPts val="600"/>
              </a:spcBef>
              <a:buClr>
                <a:srgbClr val="3790A6"/>
              </a:buClr>
              <a:buSzPct val="80000"/>
              <a:buFont typeface="UnDotum"/>
              <a:buChar char=""/>
              <a:tabLst>
                <a:tab pos="320040" algn="l"/>
              </a:tabLst>
            </a:pPr>
            <a:r>
              <a:rPr sz="2000" spc="-95" dirty="0">
                <a:latin typeface="Times New Roman" pitchFamily="18" charset="0"/>
                <a:cs typeface="Times New Roman" pitchFamily="18" charset="0"/>
              </a:rPr>
              <a:t>Therefore, </a:t>
            </a:r>
            <a:r>
              <a:rPr sz="2000" spc="-165" dirty="0">
                <a:latin typeface="Times New Roman" pitchFamily="18" charset="0"/>
                <a:cs typeface="Times New Roman" pitchFamily="18" charset="0"/>
              </a:rPr>
              <a:t>left </a:t>
            </a:r>
            <a:r>
              <a:rPr sz="2000" spc="-65" dirty="0">
                <a:latin typeface="Times New Roman" pitchFamily="18" charset="0"/>
                <a:cs typeface="Times New Roman" pitchFamily="18" charset="0"/>
              </a:rPr>
              <a:t>most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4 </a:t>
            </a:r>
            <a:r>
              <a:rPr sz="2000" spc="-105" dirty="0">
                <a:latin typeface="Times New Roman" pitchFamily="18" charset="0"/>
                <a:cs typeface="Times New Roman" pitchFamily="18" charset="0"/>
              </a:rPr>
              <a:t>bits </a:t>
            </a:r>
            <a:r>
              <a:rPr sz="2000" spc="-110" dirty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always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1111 </a:t>
            </a:r>
            <a:r>
              <a:rPr sz="2000" spc="-100" dirty="0">
                <a:latin typeface="Times New Roman" pitchFamily="18" charset="0"/>
                <a:cs typeface="Times New Roman" pitchFamily="18" charset="0"/>
              </a:rPr>
              <a:t>which </a:t>
            </a:r>
            <a:r>
              <a:rPr sz="2000" spc="-85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000" spc="-140" dirty="0">
                <a:latin typeface="Times New Roman" pitchFamily="18" charset="0"/>
                <a:cs typeface="Times New Roman" pitchFamily="18" charset="0"/>
              </a:rPr>
              <a:t>equal 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to  </a:t>
            </a:r>
            <a:r>
              <a:rPr sz="2000" spc="-125" dirty="0">
                <a:latin typeface="Times New Roman" pitchFamily="18" charset="0"/>
                <a:cs typeface="Times New Roman" pitchFamily="18" charset="0"/>
              </a:rPr>
              <a:t>hexadecimal</a:t>
            </a:r>
            <a:r>
              <a:rPr sz="2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pc="-13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sz="2000" spc="-130" dirty="0">
                <a:latin typeface="Times New Roman" pitchFamily="18" charset="0"/>
                <a:cs typeface="Times New Roman" pitchFamily="18" charset="0"/>
              </a:rPr>
              <a:t>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67000" y="4343399"/>
            <a:ext cx="4895850" cy="18288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28709" y="6550020"/>
            <a:ext cx="228600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1200" spc="-30" dirty="0">
                <a:solidFill>
                  <a:srgbClr val="B4A687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15"/>
                </a:spcBef>
              </a:pPr>
              <a:t>11</a:t>
            </a:fld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558800"/>
            <a:ext cx="67170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>
                <a:latin typeface="Times New Roman" pitchFamily="18" charset="0"/>
                <a:cs typeface="Times New Roman" pitchFamily="18" charset="0"/>
              </a:rPr>
              <a:t>I/O </a:t>
            </a:r>
            <a:r>
              <a:rPr spc="-40" dirty="0">
                <a:latin typeface="Times New Roman" pitchFamily="18" charset="0"/>
                <a:cs typeface="Times New Roman" pitchFamily="18" charset="0"/>
              </a:rPr>
              <a:t>Reference</a:t>
            </a:r>
            <a:r>
              <a:rPr spc="-3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10" dirty="0">
                <a:latin typeface="Times New Roman" pitchFamily="18" charset="0"/>
                <a:cs typeface="Times New Roman" pitchFamily="18" charset="0"/>
              </a:rPr>
              <a:t>Instructions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709" y="6550020"/>
            <a:ext cx="228600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1200" spc="-30" dirty="0">
                <a:solidFill>
                  <a:srgbClr val="B4A687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15"/>
                </a:spcBef>
              </a:pPr>
              <a:t>12</a:t>
            </a:fld>
            <a:endParaRPr sz="12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6800" y="1600200"/>
          <a:ext cx="7848600" cy="464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4805"/>
                <a:gridCol w="2386508"/>
                <a:gridCol w="3607287"/>
              </a:tblGrid>
              <a:tr h="602754">
                <a:tc>
                  <a:txBody>
                    <a:bodyPr/>
                    <a:lstStyle/>
                    <a:p>
                      <a:pPr marL="129539" algn="ctr">
                        <a:lnSpc>
                          <a:spcPts val="1810"/>
                        </a:lnSpc>
                      </a:pPr>
                      <a:r>
                        <a:rPr sz="1600" b="1" spc="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Symbol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954204"/>
                    </a:solidFill>
                  </a:tcPr>
                </a:tc>
                <a:tc>
                  <a:txBody>
                    <a:bodyPr/>
                    <a:lstStyle/>
                    <a:p>
                      <a:pPr marL="487045">
                        <a:lnSpc>
                          <a:spcPts val="1810"/>
                        </a:lnSpc>
                      </a:pPr>
                      <a:r>
                        <a:rPr sz="1600" b="1" spc="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Hexadecimal</a:t>
                      </a:r>
                      <a:r>
                        <a:rPr sz="1600" b="1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code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954204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1810"/>
                        </a:lnSpc>
                      </a:pPr>
                      <a:r>
                        <a:rPr sz="1600" b="1" spc="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Description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954204"/>
                    </a:solidFill>
                  </a:tcPr>
                </a:tc>
              </a:tr>
              <a:tr h="672667">
                <a:tc>
                  <a:txBody>
                    <a:bodyPr/>
                    <a:lstStyle/>
                    <a:p>
                      <a:pPr marL="128905" algn="ctr">
                        <a:lnSpc>
                          <a:spcPts val="1800"/>
                        </a:lnSpc>
                      </a:pPr>
                      <a:r>
                        <a:rPr sz="1600" spc="30" dirty="0">
                          <a:latin typeface="Trebuchet MS"/>
                          <a:cs typeface="Trebuchet MS"/>
                        </a:rPr>
                        <a:t>INP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159385" algn="ctr">
                        <a:lnSpc>
                          <a:spcPts val="1800"/>
                        </a:lnSpc>
                      </a:pPr>
                      <a:r>
                        <a:rPr sz="1600" spc="-55" dirty="0">
                          <a:latin typeface="Trebuchet MS"/>
                          <a:cs typeface="Trebuchet MS"/>
                        </a:rPr>
                        <a:t>F800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00"/>
                        </a:lnSpc>
                      </a:pPr>
                      <a:r>
                        <a:rPr sz="1600" spc="-80" dirty="0">
                          <a:latin typeface="Trebuchet MS"/>
                          <a:cs typeface="Trebuchet MS"/>
                        </a:rPr>
                        <a:t>Input </a:t>
                      </a:r>
                      <a:r>
                        <a:rPr sz="1600" spc="-90" dirty="0">
                          <a:latin typeface="Trebuchet MS"/>
                          <a:cs typeface="Trebuchet MS"/>
                        </a:rPr>
                        <a:t>character </a:t>
                      </a:r>
                      <a:r>
                        <a:rPr sz="1600" spc="-45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6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145" dirty="0">
                          <a:latin typeface="Trebuchet MS"/>
                          <a:cs typeface="Trebuchet MS"/>
                        </a:rPr>
                        <a:t>AC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</a:tr>
              <a:tr h="674555">
                <a:tc>
                  <a:txBody>
                    <a:bodyPr/>
                    <a:lstStyle/>
                    <a:p>
                      <a:pPr marL="130175" algn="ctr">
                        <a:lnSpc>
                          <a:spcPts val="1810"/>
                        </a:lnSpc>
                      </a:pPr>
                      <a:r>
                        <a:rPr sz="1600" spc="114" dirty="0">
                          <a:latin typeface="Trebuchet MS"/>
                          <a:cs typeface="Trebuchet MS"/>
                        </a:rPr>
                        <a:t>OUT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159385" algn="ctr">
                        <a:lnSpc>
                          <a:spcPts val="1810"/>
                        </a:lnSpc>
                      </a:pPr>
                      <a:r>
                        <a:rPr sz="1600" spc="-55" dirty="0">
                          <a:latin typeface="Trebuchet MS"/>
                          <a:cs typeface="Trebuchet MS"/>
                        </a:rPr>
                        <a:t>F400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Output </a:t>
                      </a:r>
                      <a:r>
                        <a:rPr sz="1600" spc="-90" dirty="0">
                          <a:latin typeface="Trebuchet MS"/>
                          <a:cs typeface="Trebuchet MS"/>
                        </a:rPr>
                        <a:t>character </a:t>
                      </a:r>
                      <a:r>
                        <a:rPr sz="1600" spc="-70" dirty="0">
                          <a:latin typeface="Trebuchet MS"/>
                          <a:cs typeface="Trebuchet MS"/>
                        </a:rPr>
                        <a:t>from</a:t>
                      </a:r>
                      <a:r>
                        <a:rPr sz="16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145" dirty="0">
                          <a:latin typeface="Trebuchet MS"/>
                          <a:cs typeface="Trebuchet MS"/>
                        </a:rPr>
                        <a:t>AC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</a:tr>
              <a:tr h="674556">
                <a:tc>
                  <a:txBody>
                    <a:bodyPr/>
                    <a:lstStyle/>
                    <a:p>
                      <a:pPr marL="128905" algn="ctr">
                        <a:lnSpc>
                          <a:spcPts val="1810"/>
                        </a:lnSpc>
                      </a:pPr>
                      <a:r>
                        <a:rPr sz="1600" spc="10" dirty="0">
                          <a:latin typeface="Trebuchet MS"/>
                          <a:cs typeface="Trebuchet MS"/>
                        </a:rPr>
                        <a:t>SKI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159385" algn="ctr">
                        <a:lnSpc>
                          <a:spcPts val="1810"/>
                        </a:lnSpc>
                      </a:pPr>
                      <a:r>
                        <a:rPr sz="1600" spc="-55" dirty="0">
                          <a:latin typeface="Trebuchet MS"/>
                          <a:cs typeface="Trebuchet MS"/>
                        </a:rPr>
                        <a:t>F200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75" dirty="0">
                          <a:latin typeface="Trebuchet MS"/>
                          <a:cs typeface="Trebuchet MS"/>
                        </a:rPr>
                        <a:t>Skip 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on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input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flag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</a:tr>
              <a:tr h="674555">
                <a:tc>
                  <a:txBody>
                    <a:bodyPr/>
                    <a:lstStyle/>
                    <a:p>
                      <a:pPr marL="130175" algn="ctr">
                        <a:lnSpc>
                          <a:spcPts val="1810"/>
                        </a:lnSpc>
                      </a:pPr>
                      <a:r>
                        <a:rPr sz="1600" spc="105" dirty="0">
                          <a:latin typeface="Trebuchet MS"/>
                          <a:cs typeface="Trebuchet MS"/>
                        </a:rPr>
                        <a:t>SKO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159385" algn="ctr">
                        <a:lnSpc>
                          <a:spcPts val="1810"/>
                        </a:lnSpc>
                      </a:pPr>
                      <a:r>
                        <a:rPr sz="1600" spc="-55" dirty="0">
                          <a:latin typeface="Trebuchet MS"/>
                          <a:cs typeface="Trebuchet MS"/>
                        </a:rPr>
                        <a:t>F100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75" dirty="0">
                          <a:latin typeface="Trebuchet MS"/>
                          <a:cs typeface="Trebuchet MS"/>
                        </a:rPr>
                        <a:t>Skip 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on 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Output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5" dirty="0">
                          <a:latin typeface="Trebuchet MS"/>
                          <a:cs typeface="Trebuchet MS"/>
                        </a:rPr>
                        <a:t>flag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</a:tr>
              <a:tr h="672667">
                <a:tc>
                  <a:txBody>
                    <a:bodyPr/>
                    <a:lstStyle/>
                    <a:p>
                      <a:pPr marL="128905" algn="ctr">
                        <a:lnSpc>
                          <a:spcPts val="1810"/>
                        </a:lnSpc>
                      </a:pPr>
                      <a:r>
                        <a:rPr sz="1600" spc="135" dirty="0">
                          <a:latin typeface="Trebuchet MS"/>
                          <a:cs typeface="Trebuchet MS"/>
                        </a:rPr>
                        <a:t>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159385" algn="ctr">
                        <a:lnSpc>
                          <a:spcPts val="1810"/>
                        </a:lnSpc>
                      </a:pPr>
                      <a:r>
                        <a:rPr sz="1600" spc="-55" dirty="0">
                          <a:latin typeface="Trebuchet MS"/>
                          <a:cs typeface="Trebuchet MS"/>
                        </a:rPr>
                        <a:t>F080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65" dirty="0">
                          <a:latin typeface="Trebuchet MS"/>
                          <a:cs typeface="Trebuchet MS"/>
                        </a:rPr>
                        <a:t>Interrupt</a:t>
                      </a:r>
                      <a:r>
                        <a:rPr sz="16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DCCECC"/>
                    </a:solidFill>
                  </a:tcPr>
                </a:tc>
              </a:tr>
              <a:tr h="676446">
                <a:tc>
                  <a:txBody>
                    <a:bodyPr/>
                    <a:lstStyle/>
                    <a:p>
                      <a:pPr marL="130810" algn="ctr">
                        <a:lnSpc>
                          <a:spcPts val="1810"/>
                        </a:lnSpc>
                      </a:pPr>
                      <a:r>
                        <a:rPr sz="1600" spc="25" dirty="0">
                          <a:latin typeface="Trebuchet MS"/>
                          <a:cs typeface="Trebuchet MS"/>
                        </a:rPr>
                        <a:t>IOF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159385" algn="ctr">
                        <a:lnSpc>
                          <a:spcPts val="1810"/>
                        </a:lnSpc>
                      </a:pPr>
                      <a:r>
                        <a:rPr sz="1600" spc="-55" dirty="0">
                          <a:latin typeface="Trebuchet MS"/>
                          <a:cs typeface="Trebuchet MS"/>
                        </a:rPr>
                        <a:t>F040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10"/>
                        </a:lnSpc>
                      </a:pPr>
                      <a:r>
                        <a:rPr sz="1600" spc="-65" dirty="0">
                          <a:latin typeface="Trebuchet MS"/>
                          <a:cs typeface="Trebuchet MS"/>
                        </a:rPr>
                        <a:t>Interrupt</a:t>
                      </a:r>
                      <a:r>
                        <a:rPr sz="16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25" dirty="0">
                          <a:latin typeface="Trebuchet MS"/>
                          <a:cs typeface="Trebuchet MS"/>
                        </a:rPr>
                        <a:t>off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EEE8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nu Chanti\Desktop\Thank 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199" y="381000"/>
            <a:ext cx="6781801" cy="586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