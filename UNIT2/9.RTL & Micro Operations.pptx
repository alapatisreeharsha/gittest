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6/24/2022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6/24/2022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136648" y="2511551"/>
            <a:ext cx="4884420" cy="1104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194560" y="2526791"/>
            <a:ext cx="4768595" cy="9875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07792" y="6103618"/>
            <a:ext cx="6236208" cy="7543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6/24/2022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3855" y="700786"/>
            <a:ext cx="6676288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5109" y="2336038"/>
            <a:ext cx="8433435" cy="3509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3891" y="1114425"/>
            <a:ext cx="7543165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600" b="1" i="1" spc="-5">
                <a:solidFill>
                  <a:srgbClr val="E26C09"/>
                </a:solidFill>
                <a:latin typeface="Times New Roman"/>
                <a:cs typeface="Times New Roman"/>
              </a:rPr>
              <a:t>Register </a:t>
            </a:r>
            <a:r>
              <a:rPr sz="6600" b="1" i="1" spc="-65" smtClean="0">
                <a:solidFill>
                  <a:srgbClr val="E26C09"/>
                </a:solidFill>
                <a:latin typeface="Times New Roman"/>
                <a:cs typeface="Times New Roman"/>
              </a:rPr>
              <a:t>Transfer</a:t>
            </a:r>
            <a:r>
              <a:rPr lang="en-US" sz="6600" b="1" i="1" spc="-65" dirty="0" smtClean="0">
                <a:solidFill>
                  <a:srgbClr val="E26C09"/>
                </a:solidFill>
                <a:latin typeface="Times New Roman"/>
                <a:cs typeface="Times New Roman"/>
              </a:rPr>
              <a:t> Language</a:t>
            </a:r>
            <a:r>
              <a:rPr sz="6600" b="1" i="1" spc="-135" smtClean="0">
                <a:solidFill>
                  <a:srgbClr val="E26C09"/>
                </a:solidFill>
                <a:latin typeface="Times New Roman"/>
                <a:cs typeface="Times New Roman"/>
              </a:rPr>
              <a:t> </a:t>
            </a:r>
            <a:r>
              <a:rPr sz="6600" b="1" i="1" dirty="0">
                <a:solidFill>
                  <a:srgbClr val="E26C09"/>
                </a:solidFill>
                <a:latin typeface="Times New Roman"/>
                <a:cs typeface="Times New Roman"/>
              </a:rPr>
              <a:t>and  </a:t>
            </a:r>
            <a:r>
              <a:rPr sz="6600" b="1" i="1" spc="-10" dirty="0">
                <a:solidFill>
                  <a:srgbClr val="E26C09"/>
                </a:solidFill>
                <a:latin typeface="Times New Roman"/>
                <a:cs typeface="Times New Roman"/>
              </a:rPr>
              <a:t>Micro</a:t>
            </a:r>
            <a:r>
              <a:rPr sz="6600" b="1" i="1" spc="-310" dirty="0">
                <a:solidFill>
                  <a:srgbClr val="E26C09"/>
                </a:solidFill>
                <a:latin typeface="Times New Roman"/>
                <a:cs typeface="Times New Roman"/>
              </a:rPr>
              <a:t> </a:t>
            </a:r>
            <a:r>
              <a:rPr sz="6600" b="1" i="1" dirty="0">
                <a:solidFill>
                  <a:srgbClr val="E26C09"/>
                </a:solidFill>
                <a:latin typeface="Times New Roman"/>
                <a:cs typeface="Times New Roman"/>
              </a:rPr>
              <a:t>operation</a:t>
            </a:r>
            <a:endParaRPr sz="6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464566"/>
            <a:ext cx="891539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Register </a:t>
            </a:r>
            <a:r>
              <a:rPr sz="4000" b="1" spc="-6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Transfer </a:t>
            </a:r>
            <a:r>
              <a:rPr sz="40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4000" b="1" spc="-1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Micro</a:t>
            </a:r>
            <a:r>
              <a:rPr sz="4000" b="1" spc="-9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4000" b="1" spc="-1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operations</a:t>
            </a:r>
            <a:endParaRPr sz="40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898" y="1482598"/>
            <a:ext cx="4902302" cy="360868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33679" indent="-220979">
              <a:lnSpc>
                <a:spcPct val="100000"/>
              </a:lnSpc>
              <a:spcBef>
                <a:spcPts val="820"/>
              </a:spcBef>
              <a:buChar char="•"/>
              <a:tabLst>
                <a:tab pos="233679" algn="l"/>
              </a:tabLst>
            </a:pPr>
            <a:r>
              <a:rPr sz="2800" b="1" spc="-25" dirty="0">
                <a:latin typeface="Times New Roman" pitchFamily="18" charset="0"/>
                <a:cs typeface="Times New Roman" pitchFamily="18" charset="0"/>
              </a:rPr>
              <a:t>Register </a:t>
            </a:r>
            <a:r>
              <a:rPr sz="2800" b="1" spc="-70" dirty="0"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sz="2800" b="1" spc="-1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15" dirty="0">
                <a:latin typeface="Times New Roman" pitchFamily="18" charset="0"/>
                <a:cs typeface="Times New Roman" pitchFamily="18" charset="0"/>
              </a:rPr>
              <a:t>Language</a:t>
            </a:r>
            <a:endParaRPr sz="2800" b="1">
              <a:latin typeface="Times New Roman" pitchFamily="18" charset="0"/>
              <a:cs typeface="Times New Roman" pitchFamily="18" charset="0"/>
            </a:endParaRPr>
          </a:p>
          <a:p>
            <a:pPr marL="233679" indent="-220979">
              <a:lnSpc>
                <a:spcPct val="100000"/>
              </a:lnSpc>
              <a:spcBef>
                <a:spcPts val="720"/>
              </a:spcBef>
              <a:buChar char="•"/>
              <a:tabLst>
                <a:tab pos="233679" algn="l"/>
              </a:tabLst>
            </a:pP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Register</a:t>
            </a:r>
            <a:r>
              <a:rPr sz="2800" b="1" spc="-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35" dirty="0">
                <a:latin typeface="Times New Roman" pitchFamily="18" charset="0"/>
                <a:cs typeface="Times New Roman" pitchFamily="18" charset="0"/>
              </a:rPr>
              <a:t>Transfer</a:t>
            </a:r>
            <a:endParaRPr sz="2800" b="1">
              <a:latin typeface="Times New Roman" pitchFamily="18" charset="0"/>
              <a:cs typeface="Times New Roman" pitchFamily="18" charset="0"/>
            </a:endParaRPr>
          </a:p>
          <a:p>
            <a:pPr marL="233679" indent="-220979">
              <a:lnSpc>
                <a:spcPct val="100000"/>
              </a:lnSpc>
              <a:spcBef>
                <a:spcPts val="680"/>
              </a:spcBef>
              <a:buChar char="•"/>
              <a:tabLst>
                <a:tab pos="233679" algn="l"/>
              </a:tabLst>
            </a:pPr>
            <a:r>
              <a:rPr sz="2800" b="1" dirty="0">
                <a:latin typeface="Times New Roman" pitchFamily="18" charset="0"/>
                <a:cs typeface="Times New Roman" pitchFamily="18" charset="0"/>
              </a:rPr>
              <a:t>Arithmetic</a:t>
            </a:r>
            <a:r>
              <a:rPr sz="2800" b="1" spc="-1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25" dirty="0">
                <a:latin typeface="Times New Roman" pitchFamily="18" charset="0"/>
                <a:cs typeface="Times New Roman" pitchFamily="18" charset="0"/>
              </a:rPr>
              <a:t>Micro-operations</a:t>
            </a:r>
            <a:endParaRPr sz="2800" b="1">
              <a:latin typeface="Times New Roman" pitchFamily="18" charset="0"/>
              <a:cs typeface="Times New Roman" pitchFamily="18" charset="0"/>
            </a:endParaRPr>
          </a:p>
          <a:p>
            <a:pPr marL="233679" indent="-220979">
              <a:lnSpc>
                <a:spcPct val="100000"/>
              </a:lnSpc>
              <a:spcBef>
                <a:spcPts val="605"/>
              </a:spcBef>
              <a:buChar char="•"/>
              <a:tabLst>
                <a:tab pos="233679" algn="l"/>
              </a:tabLst>
            </a:pP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Logic</a:t>
            </a:r>
            <a:r>
              <a:rPr sz="2800" b="1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20" dirty="0">
                <a:latin typeface="Times New Roman" pitchFamily="18" charset="0"/>
                <a:cs typeface="Times New Roman" pitchFamily="18" charset="0"/>
              </a:rPr>
              <a:t>Micro-operations</a:t>
            </a:r>
            <a:endParaRPr sz="2800" b="1">
              <a:latin typeface="Times New Roman" pitchFamily="18" charset="0"/>
              <a:cs typeface="Times New Roman" pitchFamily="18" charset="0"/>
            </a:endParaRPr>
          </a:p>
          <a:p>
            <a:pPr marL="233679" indent="-220979">
              <a:lnSpc>
                <a:spcPct val="100000"/>
              </a:lnSpc>
              <a:spcBef>
                <a:spcPts val="600"/>
              </a:spcBef>
              <a:buChar char="•"/>
              <a:tabLst>
                <a:tab pos="233679" algn="l"/>
              </a:tabLst>
            </a:pP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Shift</a:t>
            </a:r>
            <a:r>
              <a:rPr sz="2800" b="1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20" dirty="0">
                <a:latin typeface="Times New Roman" pitchFamily="18" charset="0"/>
                <a:cs typeface="Times New Roman" pitchFamily="18" charset="0"/>
              </a:rPr>
              <a:t>Micro-operations</a:t>
            </a:r>
            <a:endParaRPr sz="2800" b="1">
              <a:latin typeface="Times New Roman" pitchFamily="18" charset="0"/>
              <a:cs typeface="Times New Roman" pitchFamily="18" charset="0"/>
            </a:endParaRPr>
          </a:p>
          <a:p>
            <a:pPr marL="233679" indent="-220979">
              <a:lnSpc>
                <a:spcPct val="100000"/>
              </a:lnSpc>
              <a:spcBef>
                <a:spcPts val="600"/>
              </a:spcBef>
              <a:buChar char="•"/>
              <a:tabLst>
                <a:tab pos="233679" algn="l"/>
              </a:tabLst>
            </a:pPr>
            <a:r>
              <a:rPr sz="2800" b="1" spc="-25" dirty="0">
                <a:latin typeface="Times New Roman" pitchFamily="18" charset="0"/>
                <a:cs typeface="Times New Roman" pitchFamily="18" charset="0"/>
              </a:rPr>
              <a:t>Register</a:t>
            </a:r>
            <a:r>
              <a:rPr sz="2800" b="1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70" dirty="0">
                <a:latin typeface="Times New Roman" pitchFamily="18" charset="0"/>
                <a:cs typeface="Times New Roman" pitchFamily="18" charset="0"/>
              </a:rPr>
              <a:t>Transfer</a:t>
            </a:r>
            <a:endParaRPr sz="2800" b="1">
              <a:latin typeface="Times New Roman" pitchFamily="18" charset="0"/>
              <a:cs typeface="Times New Roman" pitchFamily="18" charset="0"/>
            </a:endParaRPr>
          </a:p>
          <a:p>
            <a:pPr marL="233679" indent="-220979">
              <a:lnSpc>
                <a:spcPct val="100000"/>
              </a:lnSpc>
              <a:spcBef>
                <a:spcPts val="600"/>
              </a:spcBef>
              <a:buChar char="•"/>
              <a:tabLst>
                <a:tab pos="233679" algn="l"/>
              </a:tabLst>
            </a:pPr>
            <a:r>
              <a:rPr sz="2800" b="1" dirty="0">
                <a:latin typeface="Times New Roman" pitchFamily="18" charset="0"/>
                <a:cs typeface="Times New Roman" pitchFamily="18" charset="0"/>
              </a:rPr>
              <a:t>Bus and Memory</a:t>
            </a:r>
            <a:r>
              <a:rPr sz="2800" b="1" spc="-1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70" dirty="0">
                <a:latin typeface="Times New Roman" pitchFamily="18" charset="0"/>
                <a:cs typeface="Times New Roman" pitchFamily="18" charset="0"/>
              </a:rPr>
              <a:t>Transfers</a:t>
            </a:r>
            <a:endParaRPr sz="2800" b="1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9635" y="391109"/>
            <a:ext cx="48190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Times New Roman" pitchFamily="18" charset="0"/>
                <a:cs typeface="Times New Roman" pitchFamily="18" charset="0"/>
              </a:rPr>
              <a:t>Register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sz="3600" spc="-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language</a:t>
            </a:r>
            <a:endParaRPr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635" y="1155319"/>
            <a:ext cx="7832725" cy="378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specific notation used to specify the digital </a:t>
            </a:r>
            <a:r>
              <a:rPr sz="240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sz="2400" spc="-325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3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sz="2400" spc="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30" smtClean="0">
                <a:latin typeface="Times New Roman" pitchFamily="18" charset="0"/>
                <a:cs typeface="Times New Roman" pitchFamily="18" charset="0"/>
              </a:rPr>
              <a:t>called 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register transfer</a:t>
            </a:r>
            <a:r>
              <a:rPr sz="2400" spc="-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language.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5600" marR="959485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For any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function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computer,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 register</a:t>
            </a:r>
            <a:r>
              <a:rPr sz="2400" spc="-2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transfer  language can be used to describe the (sequence of</a:t>
            </a:r>
            <a:r>
              <a:rPr sz="2400">
                <a:latin typeface="Times New Roman" pitchFamily="18" charset="0"/>
                <a:cs typeface="Times New Roman" pitchFamily="18" charset="0"/>
              </a:rPr>
              <a:t>)  </a:t>
            </a:r>
            <a:r>
              <a:rPr sz="2400" spc="-10" smtClean="0">
                <a:latin typeface="Times New Roman" pitchFamily="18" charset="0"/>
                <a:cs typeface="Times New Roman" pitchFamily="18" charset="0"/>
              </a:rPr>
              <a:t>micro-operations</a:t>
            </a:r>
            <a:r>
              <a:rPr lang="en-US" sz="2400" spc="-1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Register transfer</a:t>
            </a:r>
            <a:r>
              <a:rPr sz="2400" spc="-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language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52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symbolic</a:t>
            </a:r>
            <a:r>
              <a:rPr sz="2000" spc="-2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language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756285" marR="314325" lvl="1" indent="-287020">
              <a:lnSpc>
                <a:spcPct val="100000"/>
              </a:lnSpc>
              <a:spcBef>
                <a:spcPts val="49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A convenient tool for describing the internal 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organization</a:t>
            </a:r>
            <a:r>
              <a:rPr sz="2000" spc="-3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15" dirty="0">
                <a:latin typeface="Times New Roman" pitchFamily="18" charset="0"/>
                <a:cs typeface="Times New Roman" pitchFamily="18" charset="0"/>
              </a:rPr>
              <a:t>ofdigital 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computers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50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 pitchFamily="18" charset="0"/>
                <a:cs typeface="Times New Roman" pitchFamily="18" charset="0"/>
              </a:rPr>
              <a:t>Can also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be used to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facilitate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the design process of digital</a:t>
            </a:r>
            <a:r>
              <a:rPr sz="2000" spc="-3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systems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2560" y="391109"/>
            <a:ext cx="457123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Times New Roman" pitchFamily="18" charset="0"/>
                <a:cs typeface="Times New Roman" pitchFamily="18" charset="0"/>
              </a:rPr>
              <a:t>Micro-operations</a:t>
            </a:r>
            <a:endParaRPr sz="36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635" y="1077296"/>
            <a:ext cx="7958455" cy="429768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Simple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systems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are frequently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characterized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terms</a:t>
            </a:r>
            <a:r>
              <a:rPr sz="2400" spc="-2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of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52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the registers they contain,</a:t>
            </a:r>
            <a:r>
              <a:rPr sz="2000" spc="-2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and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49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the operations that they</a:t>
            </a:r>
            <a:r>
              <a:rPr sz="2000" spc="-1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perform.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355600" marR="833755" indent="-342900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The operations on the data in registers are called</a:t>
            </a:r>
            <a:r>
              <a:rPr sz="2400" spc="-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micro- 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operations.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functions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built into registers are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examples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-2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micro-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operation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s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52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Shift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50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Load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49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 pitchFamily="18" charset="0"/>
                <a:cs typeface="Times New Roman" pitchFamily="18" charset="0"/>
              </a:rPr>
              <a:t>Clear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50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 pitchFamily="18" charset="0"/>
                <a:cs typeface="Times New Roman" pitchFamily="18" charset="0"/>
              </a:rPr>
              <a:t>Increment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...etc.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2561" y="391109"/>
            <a:ext cx="31953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Micro-operations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95071" y="1656079"/>
            <a:ext cx="6652259" cy="36676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har char="•"/>
              <a:tabLst>
                <a:tab pos="195580" algn="l"/>
              </a:tabLst>
            </a:pPr>
            <a:r>
              <a:rPr sz="2400" spc="-5" dirty="0">
                <a:latin typeface="Times New Roman"/>
                <a:cs typeface="Times New Roman"/>
              </a:rPr>
              <a:t>Computer </a:t>
            </a:r>
            <a:r>
              <a:rPr sz="2400" dirty="0">
                <a:latin typeface="Times New Roman"/>
                <a:cs typeface="Times New Roman"/>
              </a:rPr>
              <a:t>system </a:t>
            </a:r>
            <a:r>
              <a:rPr sz="2400" spc="-5" dirty="0">
                <a:latin typeface="Times New Roman"/>
                <a:cs typeface="Times New Roman"/>
              </a:rPr>
              <a:t>micro-operations </a:t>
            </a:r>
            <a:r>
              <a:rPr sz="2400" dirty="0">
                <a:latin typeface="Times New Roman"/>
                <a:cs typeface="Times New Roman"/>
              </a:rPr>
              <a:t>are of four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1126490" lvl="1" indent="-161925">
              <a:lnSpc>
                <a:spcPct val="100000"/>
              </a:lnSpc>
              <a:spcBef>
                <a:spcPts val="5"/>
              </a:spcBef>
              <a:buChar char="-"/>
              <a:tabLst>
                <a:tab pos="1127125" algn="l"/>
              </a:tabLst>
            </a:pPr>
            <a:r>
              <a:rPr sz="2400" dirty="0">
                <a:latin typeface="Times New Roman"/>
                <a:cs typeface="Times New Roman"/>
              </a:rPr>
              <a:t>Register </a:t>
            </a:r>
            <a:r>
              <a:rPr sz="2400">
                <a:latin typeface="Times New Roman"/>
                <a:cs typeface="Times New Roman"/>
              </a:rPr>
              <a:t>transfer</a:t>
            </a:r>
            <a:r>
              <a:rPr sz="2400" spc="-75">
                <a:latin typeface="Times New Roman"/>
                <a:cs typeface="Times New Roman"/>
              </a:rPr>
              <a:t> </a:t>
            </a:r>
            <a:r>
              <a:rPr sz="2400" spc="-10" smtClean="0">
                <a:latin typeface="Times New Roman"/>
                <a:cs typeface="Times New Roman"/>
              </a:rPr>
              <a:t>micro-operations</a:t>
            </a:r>
            <a:endParaRPr lang="en-US" sz="2400" spc="-10" dirty="0" smtClean="0">
              <a:latin typeface="Times New Roman"/>
              <a:cs typeface="Times New Roman"/>
            </a:endParaRPr>
          </a:p>
          <a:p>
            <a:pPr marL="1126490" lvl="1" indent="-161925">
              <a:lnSpc>
                <a:spcPct val="100000"/>
              </a:lnSpc>
              <a:spcBef>
                <a:spcPts val="5"/>
              </a:spcBef>
              <a:tabLst>
                <a:tab pos="1127125" algn="l"/>
              </a:tabLst>
            </a:pPr>
            <a:endParaRPr sz="2400">
              <a:latin typeface="Times New Roman"/>
              <a:cs typeface="Times New Roman"/>
            </a:endParaRPr>
          </a:p>
          <a:p>
            <a:pPr marL="1126490" lvl="1" indent="-161925">
              <a:lnSpc>
                <a:spcPct val="100000"/>
              </a:lnSpc>
              <a:buChar char="-"/>
              <a:tabLst>
                <a:tab pos="1127125" algn="l"/>
              </a:tabLst>
            </a:pPr>
            <a:r>
              <a:rPr sz="2400" spc="-5">
                <a:latin typeface="Times New Roman"/>
                <a:cs typeface="Times New Roman"/>
              </a:rPr>
              <a:t>Arithmetic</a:t>
            </a:r>
            <a:r>
              <a:rPr sz="2400" spc="-70">
                <a:latin typeface="Times New Roman"/>
                <a:cs typeface="Times New Roman"/>
              </a:rPr>
              <a:t> </a:t>
            </a:r>
            <a:r>
              <a:rPr sz="2400" spc="-5" smtClean="0">
                <a:latin typeface="Times New Roman"/>
                <a:cs typeface="Times New Roman"/>
              </a:rPr>
              <a:t>micro-operations</a:t>
            </a:r>
            <a:endParaRPr lang="en-US" sz="2400" spc="-5" dirty="0" smtClean="0">
              <a:latin typeface="Times New Roman"/>
              <a:cs typeface="Times New Roman"/>
            </a:endParaRPr>
          </a:p>
          <a:p>
            <a:pPr marL="1126490" lvl="1" indent="-161925">
              <a:lnSpc>
                <a:spcPct val="100000"/>
              </a:lnSpc>
              <a:tabLst>
                <a:tab pos="1127125" algn="l"/>
              </a:tabLst>
            </a:pPr>
            <a:endParaRPr sz="2400">
              <a:latin typeface="Times New Roman"/>
              <a:cs typeface="Times New Roman"/>
            </a:endParaRPr>
          </a:p>
          <a:p>
            <a:pPr marL="1143000" lvl="1" indent="-178435">
              <a:lnSpc>
                <a:spcPct val="100000"/>
              </a:lnSpc>
              <a:spcBef>
                <a:spcPts val="800"/>
              </a:spcBef>
              <a:buChar char="-"/>
              <a:tabLst>
                <a:tab pos="1143635" algn="l"/>
              </a:tabLst>
            </a:pPr>
            <a:r>
              <a:rPr sz="2400">
                <a:latin typeface="Times New Roman"/>
                <a:cs typeface="Times New Roman"/>
              </a:rPr>
              <a:t>Logic</a:t>
            </a:r>
            <a:r>
              <a:rPr sz="2400" spc="-35">
                <a:latin typeface="Times New Roman"/>
                <a:cs typeface="Times New Roman"/>
              </a:rPr>
              <a:t> </a:t>
            </a:r>
            <a:r>
              <a:rPr sz="2400" spc="-10" smtClean="0">
                <a:latin typeface="Times New Roman"/>
                <a:cs typeface="Times New Roman"/>
              </a:rPr>
              <a:t>micro-operations</a:t>
            </a:r>
            <a:endParaRPr lang="en-US" sz="2400" spc="-10" dirty="0" smtClean="0">
              <a:latin typeface="Times New Roman"/>
              <a:cs typeface="Times New Roman"/>
            </a:endParaRPr>
          </a:p>
          <a:p>
            <a:pPr marL="1143000" lvl="1" indent="-178435">
              <a:lnSpc>
                <a:spcPct val="100000"/>
              </a:lnSpc>
              <a:spcBef>
                <a:spcPts val="800"/>
              </a:spcBef>
              <a:tabLst>
                <a:tab pos="1143635" algn="l"/>
              </a:tabLst>
            </a:pPr>
            <a:endParaRPr sz="2400">
              <a:latin typeface="Times New Roman"/>
              <a:cs typeface="Times New Roman"/>
            </a:endParaRPr>
          </a:p>
          <a:p>
            <a:pPr marL="1143000" lvl="1" indent="-178435">
              <a:lnSpc>
                <a:spcPct val="100000"/>
              </a:lnSpc>
              <a:spcBef>
                <a:spcPts val="795"/>
              </a:spcBef>
              <a:buChar char="-"/>
              <a:tabLst>
                <a:tab pos="1143635" algn="l"/>
              </a:tabLst>
            </a:pPr>
            <a:r>
              <a:rPr sz="2400" dirty="0">
                <a:latin typeface="Times New Roman"/>
                <a:cs typeface="Times New Roman"/>
              </a:rPr>
              <a:t>Shift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micro-operations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8657" y="391109"/>
            <a:ext cx="410794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Times New Roman" pitchFamily="18" charset="0"/>
                <a:cs typeface="Times New Roman" pitchFamily="18" charset="0"/>
              </a:rPr>
              <a:t>Register</a:t>
            </a:r>
            <a:r>
              <a:rPr sz="3600" b="1" spc="-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b="1" spc="-25" dirty="0">
                <a:latin typeface="Times New Roman" pitchFamily="18" charset="0"/>
                <a:cs typeface="Times New Roman" pitchFamily="18" charset="0"/>
              </a:rPr>
              <a:t>Transfer</a:t>
            </a:r>
            <a:endParaRPr sz="36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443" y="1155319"/>
            <a:ext cx="8039100" cy="45694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480695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400" dirty="0">
                <a:latin typeface="Times New Roman"/>
                <a:cs typeface="Times New Roman"/>
              </a:rPr>
              <a:t>Copying the contents of one register to another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register  transfer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67665" marR="3697604" indent="-355600">
              <a:lnSpc>
                <a:spcPct val="120000"/>
              </a:lnSpc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register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transfer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indicated</a:t>
            </a:r>
            <a:r>
              <a:rPr sz="2400" spc="-2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  </a:t>
            </a:r>
            <a:r>
              <a:rPr sz="2400" dirty="0">
                <a:latin typeface="Times New Roman"/>
                <a:cs typeface="Times New Roman"/>
              </a:rPr>
              <a:t>R2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R1</a:t>
            </a:r>
            <a:endParaRPr sz="2400">
              <a:latin typeface="Times New Roman"/>
              <a:cs typeface="Times New Roman"/>
            </a:endParaRPr>
          </a:p>
          <a:p>
            <a:pPr marL="768350" marR="799465" lvl="1" indent="-287020">
              <a:lnSpc>
                <a:spcPct val="100000"/>
              </a:lnSpc>
              <a:spcBef>
                <a:spcPts val="900"/>
              </a:spcBef>
              <a:buFont typeface="Arial"/>
              <a:buChar char="–"/>
              <a:tabLst>
                <a:tab pos="768985" algn="l"/>
                <a:tab pos="6755130" algn="l"/>
              </a:tabLst>
            </a:pP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his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</a:t>
            </a:r>
            <a:r>
              <a:rPr sz="2400" dirty="0">
                <a:latin typeface="Times New Roman"/>
                <a:cs typeface="Times New Roman"/>
              </a:rPr>
              <a:t>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conten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5">
                <a:latin typeface="Times New Roman"/>
                <a:cs typeface="Times New Roman"/>
              </a:rPr>
              <a:t>r</a:t>
            </a:r>
            <a:r>
              <a:rPr sz="2400">
                <a:latin typeface="Times New Roman"/>
                <a:cs typeface="Times New Roman"/>
              </a:rPr>
              <a:t>egi</a:t>
            </a:r>
            <a:r>
              <a:rPr sz="2400" spc="5">
                <a:latin typeface="Times New Roman"/>
                <a:cs typeface="Times New Roman"/>
              </a:rPr>
              <a:t>s</a:t>
            </a:r>
            <a:r>
              <a:rPr sz="2400">
                <a:latin typeface="Times New Roman"/>
                <a:cs typeface="Times New Roman"/>
              </a:rPr>
              <a:t>ter</a:t>
            </a:r>
            <a:r>
              <a:rPr sz="2400" spc="-30">
                <a:latin typeface="Times New Roman"/>
                <a:cs typeface="Times New Roman"/>
              </a:rPr>
              <a:t> </a:t>
            </a:r>
            <a:r>
              <a:rPr sz="2400" smtClean="0">
                <a:latin typeface="Times New Roman"/>
                <a:cs typeface="Times New Roman"/>
              </a:rPr>
              <a:t>R</a:t>
            </a:r>
            <a:r>
              <a:rPr lang="en-US" sz="2400" dirty="0" smtClean="0">
                <a:latin typeface="Times New Roman"/>
                <a:cs typeface="Times New Roman"/>
              </a:rPr>
              <a:t>1</a:t>
            </a:r>
            <a:r>
              <a:rPr sz="2400" smtClean="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are</a:t>
            </a:r>
            <a:r>
              <a:rPr sz="2400" spc="15">
                <a:latin typeface="Times New Roman"/>
                <a:cs typeface="Times New Roman"/>
              </a:rPr>
              <a:t> </a:t>
            </a:r>
            <a:r>
              <a:rPr sz="2400" spc="-20" smtClean="0">
                <a:latin typeface="Times New Roman"/>
                <a:cs typeface="Times New Roman"/>
              </a:rPr>
              <a:t>m</a:t>
            </a:r>
            <a:r>
              <a:rPr sz="2400" smtClean="0">
                <a:latin typeface="Times New Roman"/>
                <a:cs typeface="Times New Roman"/>
              </a:rPr>
              <a:t>ove</a:t>
            </a:r>
            <a:r>
              <a:rPr lang="en-US" sz="2400" dirty="0" smtClean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	in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o  </a:t>
            </a:r>
            <a:r>
              <a:rPr sz="2400">
                <a:latin typeface="Times New Roman"/>
                <a:cs typeface="Times New Roman"/>
              </a:rPr>
              <a:t>register</a:t>
            </a:r>
            <a:r>
              <a:rPr sz="2400" spc="-90">
                <a:latin typeface="Times New Roman"/>
                <a:cs typeface="Times New Roman"/>
              </a:rPr>
              <a:t> </a:t>
            </a:r>
            <a:r>
              <a:rPr sz="2400" spc="-5" smtClean="0">
                <a:latin typeface="Times New Roman"/>
                <a:cs typeface="Times New Roman"/>
              </a:rPr>
              <a:t>R</a:t>
            </a:r>
            <a:r>
              <a:rPr lang="en-US" sz="2400" spc="-5" dirty="0" smtClean="0">
                <a:latin typeface="Times New Roman"/>
                <a:cs typeface="Times New Roman"/>
              </a:rPr>
              <a:t>2.</a:t>
            </a:r>
            <a:endParaRPr sz="2400">
              <a:latin typeface="Times New Roman"/>
              <a:cs typeface="Times New Roman"/>
            </a:endParaRPr>
          </a:p>
          <a:p>
            <a:pPr marL="768350" marR="5080" lvl="1" indent="-287020">
              <a:lnSpc>
                <a:spcPct val="100000"/>
              </a:lnSpc>
              <a:spcBef>
                <a:spcPts val="605"/>
              </a:spcBef>
              <a:buFont typeface="Arial"/>
              <a:buChar char="–"/>
              <a:tabLst>
                <a:tab pos="768985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simultaneous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transfer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 destination register R2, during one </a:t>
            </a:r>
            <a:r>
              <a:rPr sz="2400">
                <a:latin typeface="Times New Roman"/>
                <a:cs typeface="Times New Roman"/>
              </a:rPr>
              <a:t>clock</a:t>
            </a:r>
            <a:r>
              <a:rPr sz="2400" spc="-250">
                <a:latin typeface="Times New Roman"/>
                <a:cs typeface="Times New Roman"/>
              </a:rPr>
              <a:t> </a:t>
            </a:r>
            <a:r>
              <a:rPr sz="2400" smtClean="0">
                <a:latin typeface="Times New Roman"/>
                <a:cs typeface="Times New Roman"/>
              </a:rPr>
              <a:t>pulse</a:t>
            </a:r>
            <a:r>
              <a:rPr lang="en-US" sz="2400" dirty="0" smtClean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68350" marR="389890" lvl="1" indent="-287020">
              <a:lnSpc>
                <a:spcPct val="100000"/>
              </a:lnSpc>
              <a:spcBef>
                <a:spcPts val="600"/>
              </a:spcBef>
              <a:buFont typeface="Arial"/>
              <a:buChar char="–"/>
              <a:tabLst>
                <a:tab pos="768985" algn="l"/>
                <a:tab pos="7268209" algn="l"/>
              </a:tabLst>
            </a:pPr>
            <a:r>
              <a:rPr sz="2400" dirty="0">
                <a:latin typeface="Times New Roman"/>
                <a:cs typeface="Times New Roman"/>
              </a:rPr>
              <a:t>Note th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s 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des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ructive;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i.e.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R1	are  not altered by copying (loading) them </a:t>
            </a:r>
            <a:r>
              <a:rPr sz="2400">
                <a:latin typeface="Times New Roman"/>
                <a:cs typeface="Times New Roman"/>
              </a:rPr>
              <a:t>to</a:t>
            </a:r>
            <a:r>
              <a:rPr sz="2400" spc="-285">
                <a:latin typeface="Times New Roman"/>
                <a:cs typeface="Times New Roman"/>
              </a:rPr>
              <a:t> </a:t>
            </a:r>
            <a:r>
              <a:rPr sz="2400" spc="-10" smtClean="0">
                <a:latin typeface="Times New Roman"/>
                <a:cs typeface="Times New Roman"/>
              </a:rPr>
              <a:t>R2</a:t>
            </a:r>
            <a:r>
              <a:rPr lang="en-US" sz="2400" spc="-10" dirty="0" smtClean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176527" y="4483608"/>
          <a:ext cx="6677024" cy="1981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5139"/>
                <a:gridCol w="4921885"/>
              </a:tblGrid>
              <a:tr h="318354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R3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R1 +</a:t>
                      </a:r>
                      <a:r>
                        <a:rPr sz="1400" spc="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R2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768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Contents of R1 plus R2 transferred to</a:t>
                      </a:r>
                      <a:r>
                        <a:rPr sz="1400" b="1" spc="-15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R3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768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0191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R3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R1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Contents of R1 </a:t>
                      </a:r>
                      <a:r>
                        <a:rPr sz="1400" b="1" spc="-5" dirty="0">
                          <a:latin typeface="Times New Roman" pitchFamily="18" charset="0"/>
                          <a:cs typeface="Times New Roman" pitchFamily="18" charset="0"/>
                        </a:rPr>
                        <a:t>minus </a:t>
                      </a: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R2 transferred to</a:t>
                      </a:r>
                      <a:r>
                        <a:rPr sz="1400" b="1" spc="-26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R3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2505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R2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R2’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b="1" spc="-5" dirty="0">
                          <a:latin typeface="Times New Roman" pitchFamily="18" charset="0"/>
                          <a:cs typeface="Times New Roman" pitchFamily="18" charset="0"/>
                        </a:rPr>
                        <a:t>Complement </a:t>
                      </a: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the contents of</a:t>
                      </a:r>
                      <a:r>
                        <a:rPr sz="1400" b="1" spc="-15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400" b="1" spc="-5" dirty="0">
                          <a:latin typeface="Times New Roman" pitchFamily="18" charset="0"/>
                          <a:cs typeface="Times New Roman" pitchFamily="18" charset="0"/>
                        </a:rPr>
                        <a:t>R2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14209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R2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R2’+</a:t>
                      </a:r>
                      <a:r>
                        <a:rPr sz="1400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R3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R1 +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R2’+</a:t>
                      </a:r>
                      <a:r>
                        <a:rPr sz="1400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2's </a:t>
                      </a:r>
                      <a:r>
                        <a:rPr sz="1400" b="1" spc="-5" dirty="0">
                          <a:latin typeface="Times New Roman" pitchFamily="18" charset="0"/>
                          <a:cs typeface="Times New Roman" pitchFamily="18" charset="0"/>
                        </a:rPr>
                        <a:t>complement </a:t>
                      </a: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the contents of R2</a:t>
                      </a:r>
                      <a:r>
                        <a:rPr sz="1400" b="1" spc="-17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(negate)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257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subtraction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66980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R1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R1 +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Increment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48959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R1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R1 -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b="1" spc="-10" dirty="0">
                          <a:latin typeface="Times New Roman" pitchFamily="18" charset="0"/>
                          <a:cs typeface="Times New Roman" pitchFamily="18" charset="0"/>
                        </a:rPr>
                        <a:t>Decrement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45388" y="937640"/>
            <a:ext cx="7684212" cy="34887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ts val="23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The basic </a:t>
            </a:r>
            <a:r>
              <a:rPr sz="2000" spc="-5" dirty="0">
                <a:latin typeface="Times New Roman"/>
                <a:cs typeface="Times New Roman"/>
              </a:rPr>
              <a:t>arithmetic </a:t>
            </a:r>
            <a:r>
              <a:rPr sz="2000" spc="-10" dirty="0">
                <a:latin typeface="Times New Roman"/>
                <a:cs typeface="Times New Roman"/>
              </a:rPr>
              <a:t>micro-operations</a:t>
            </a:r>
            <a:r>
              <a:rPr sz="2000" spc="-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195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Addition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2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Subtraction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25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Increment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35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Decrement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ts val="2305"/>
              </a:lnSpc>
              <a:spcBef>
                <a:spcPts val="18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The additional </a:t>
            </a:r>
            <a:r>
              <a:rPr sz="2000" spc="-5" dirty="0">
                <a:latin typeface="Times New Roman"/>
                <a:cs typeface="Times New Roman"/>
              </a:rPr>
              <a:t>arithmetic </a:t>
            </a:r>
            <a:r>
              <a:rPr sz="2000" spc="-10" dirty="0">
                <a:latin typeface="Times New Roman"/>
                <a:cs typeface="Times New Roman"/>
              </a:rPr>
              <a:t>micro-operations</a:t>
            </a:r>
            <a:r>
              <a:rPr sz="2000" spc="-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2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5" dirty="0">
                <a:latin typeface="Times New Roman"/>
                <a:cs typeface="Times New Roman"/>
              </a:rPr>
              <a:t>Add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carry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195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Subtract with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borrow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25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Times New Roman"/>
                <a:cs typeface="Times New Roman"/>
              </a:rPr>
              <a:t>Transfer/Load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355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etc.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…</a:t>
            </a:r>
            <a:endParaRPr sz="2000">
              <a:latin typeface="Times New Roman"/>
              <a:cs typeface="Times New Roman"/>
            </a:endParaRPr>
          </a:p>
          <a:p>
            <a:pPr marL="1564005">
              <a:lnSpc>
                <a:spcPct val="100000"/>
              </a:lnSpc>
              <a:spcBef>
                <a:spcPts val="140"/>
              </a:spcBef>
            </a:pPr>
            <a:r>
              <a:rPr sz="2000" dirty="0">
                <a:latin typeface="Carlito"/>
                <a:cs typeface="Carlito"/>
              </a:rPr>
              <a:t>Summary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spc="-25" dirty="0">
                <a:latin typeface="Carlito"/>
                <a:cs typeface="Carlito"/>
              </a:rPr>
              <a:t>Typical </a:t>
            </a:r>
            <a:r>
              <a:rPr sz="2000" spc="-5" dirty="0">
                <a:latin typeface="Carlito"/>
                <a:cs typeface="Carlito"/>
              </a:rPr>
              <a:t>Arithmetic</a:t>
            </a:r>
            <a:r>
              <a:rPr sz="2000" spc="-10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Micro-Operations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18842" y="301828"/>
            <a:ext cx="6386958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Carlito"/>
                <a:cs typeface="Carlito"/>
              </a:rPr>
              <a:t>Arithmetic</a:t>
            </a:r>
            <a:r>
              <a:rPr sz="3600" spc="-130" dirty="0">
                <a:latin typeface="Carlito"/>
                <a:cs typeface="Carlito"/>
              </a:rPr>
              <a:t> </a:t>
            </a:r>
            <a:r>
              <a:rPr sz="3600" spc="-20" dirty="0">
                <a:latin typeface="Carlito"/>
                <a:cs typeface="Carlito"/>
              </a:rPr>
              <a:t>Micro-operations</a:t>
            </a:r>
            <a:endParaRPr sz="36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4129" y="70231"/>
            <a:ext cx="40043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Arithmetic</a:t>
            </a:r>
            <a:r>
              <a:rPr sz="4400" spc="-170" dirty="0"/>
              <a:t> </a:t>
            </a:r>
            <a:r>
              <a:rPr sz="4400" dirty="0"/>
              <a:t>circuit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79896" y="4800600"/>
          <a:ext cx="6463903" cy="1904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093"/>
                <a:gridCol w="447697"/>
                <a:gridCol w="579673"/>
                <a:gridCol w="612485"/>
                <a:gridCol w="1511525"/>
                <a:gridCol w="2852430"/>
              </a:tblGrid>
              <a:tr h="3577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1100" b="1" spc="-5" dirty="0">
                          <a:latin typeface="Times New Roman"/>
                          <a:cs typeface="Times New Roman"/>
                        </a:rPr>
                        <a:t>S1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1100" b="1" spc="-5" dirty="0">
                          <a:latin typeface="Times New Roman"/>
                          <a:cs typeface="Times New Roman"/>
                        </a:rPr>
                        <a:t>S0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21920">
                        <a:lnSpc>
                          <a:spcPct val="100000"/>
                        </a:lnSpc>
                      </a:pPr>
                      <a:r>
                        <a:rPr sz="1100" b="1" spc="-5" dirty="0">
                          <a:latin typeface="Times New Roman"/>
                          <a:cs typeface="Times New Roman"/>
                        </a:rPr>
                        <a:t>Cin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226060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Output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269240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Microoperation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0642">
                <a:tc>
                  <a:txBody>
                    <a:bodyPr/>
                    <a:lstStyle/>
                    <a:p>
                      <a:pPr marL="141605">
                        <a:lnSpc>
                          <a:spcPts val="1315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315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315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315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ts val="1315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D = A +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ts val="1315"/>
                        </a:lnSpc>
                      </a:pPr>
                      <a:r>
                        <a:rPr sz="1100" b="1" spc="-5" dirty="0">
                          <a:latin typeface="Times New Roman"/>
                          <a:cs typeface="Times New Roman"/>
                        </a:rPr>
                        <a:t>Add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405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D = A + B +</a:t>
                      </a:r>
                      <a:r>
                        <a:rPr sz="11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spc="-5" dirty="0">
                          <a:latin typeface="Times New Roman"/>
                          <a:cs typeface="Times New Roman"/>
                        </a:rPr>
                        <a:t>Add </a:t>
                      </a:r>
                      <a:r>
                        <a:rPr sz="1100" b="1" spc="5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1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carry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4082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spc="5" dirty="0">
                          <a:latin typeface="Times New Roman"/>
                          <a:cs typeface="Times New Roman"/>
                        </a:rPr>
                        <a:t>B’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D = A +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5" dirty="0">
                          <a:latin typeface="Times New Roman"/>
                          <a:cs typeface="Times New Roman"/>
                        </a:rPr>
                        <a:t>B’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Subtract with</a:t>
                      </a:r>
                      <a:r>
                        <a:rPr sz="11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borrow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4082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spc="5" dirty="0">
                          <a:latin typeface="Times New Roman"/>
                          <a:cs typeface="Times New Roman"/>
                        </a:rPr>
                        <a:t>B’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D = A + B’+</a:t>
                      </a:r>
                      <a:r>
                        <a:rPr sz="11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Subtract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4520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D =</a:t>
                      </a:r>
                      <a:r>
                        <a:rPr sz="11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1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4365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D = A +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Increment</a:t>
                      </a:r>
                      <a:r>
                        <a:rPr sz="1100" b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129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D = A -</a:t>
                      </a:r>
                      <a:r>
                        <a:rPr sz="11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Decrement</a:t>
                      </a:r>
                      <a:r>
                        <a:rPr sz="11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2419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D =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1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600200" y="685800"/>
            <a:ext cx="6019800" cy="4038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1930" y="391109"/>
            <a:ext cx="58352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Times New Roman" pitchFamily="18" charset="0"/>
                <a:cs typeface="Times New Roman" pitchFamily="18" charset="0"/>
              </a:rPr>
              <a:t>Logical</a:t>
            </a:r>
            <a:r>
              <a:rPr sz="3600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b="1" spc="-5" dirty="0">
                <a:latin typeface="Times New Roman" pitchFamily="18" charset="0"/>
                <a:cs typeface="Times New Roman" pitchFamily="18" charset="0"/>
              </a:rPr>
              <a:t>micro-operations</a:t>
            </a:r>
            <a:endParaRPr sz="36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5388" y="971778"/>
            <a:ext cx="7467600" cy="174053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Specify binary operations on the strings of </a:t>
            </a:r>
            <a:r>
              <a:rPr sz="2000">
                <a:latin typeface="Times New Roman" pitchFamily="18" charset="0"/>
                <a:cs typeface="Times New Roman" pitchFamily="18" charset="0"/>
              </a:rPr>
              <a:t>bits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409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registers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756285" marR="69215" indent="-287020">
              <a:lnSpc>
                <a:spcPct val="100000"/>
              </a:lnSpc>
              <a:spcBef>
                <a:spcPts val="505"/>
              </a:spcBef>
              <a:tabLst>
                <a:tab pos="756285" algn="l"/>
              </a:tabLst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–	Logic 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micro-operations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are bit-wise operations, i.e., they work</a:t>
            </a:r>
            <a:r>
              <a:rPr sz="2000" spc="-2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on  the individual bits </a:t>
            </a:r>
            <a:r>
              <a:rPr sz="200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-185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There are,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principle, 16 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different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logic functions that can be</a:t>
            </a:r>
            <a:r>
              <a:rPr sz="2000" spc="-4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defined  over two binary </a:t>
            </a:r>
            <a:r>
              <a:rPr sz="2000">
                <a:latin typeface="Times New Roman" pitchFamily="18" charset="0"/>
                <a:cs typeface="Times New Roman" pitchFamily="18" charset="0"/>
              </a:rPr>
              <a:t>input</a:t>
            </a:r>
            <a:r>
              <a:rPr sz="2000" spc="-185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variables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5388" y="4508346"/>
            <a:ext cx="7684212" cy="1128514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20" dirty="0">
                <a:latin typeface="Times New Roman"/>
                <a:cs typeface="Times New Roman"/>
              </a:rPr>
              <a:t>However, </a:t>
            </a:r>
            <a:r>
              <a:rPr sz="2000" spc="-5" dirty="0">
                <a:latin typeface="Times New Roman"/>
                <a:cs typeface="Times New Roman"/>
              </a:rPr>
              <a:t>most systems </a:t>
            </a:r>
            <a:r>
              <a:rPr sz="2000" dirty="0">
                <a:latin typeface="Times New Roman"/>
                <a:cs typeface="Times New Roman"/>
              </a:rPr>
              <a:t>only </a:t>
            </a:r>
            <a:r>
              <a:rPr sz="2000" spc="-5" dirty="0">
                <a:latin typeface="Times New Roman"/>
                <a:cs typeface="Times New Roman"/>
              </a:rPr>
              <a:t>implement </a:t>
            </a:r>
            <a:r>
              <a:rPr sz="2000" dirty="0">
                <a:latin typeface="Times New Roman"/>
                <a:cs typeface="Times New Roman"/>
              </a:rPr>
              <a:t>four of</a:t>
            </a:r>
            <a:r>
              <a:rPr sz="2000" spc="-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–	</a:t>
            </a:r>
            <a:r>
              <a:rPr sz="2000" dirty="0">
                <a:latin typeface="Times New Roman"/>
                <a:cs typeface="Times New Roman"/>
              </a:rPr>
              <a:t>AND (</a:t>
            </a:r>
            <a:r>
              <a:rPr sz="2000" dirty="0">
                <a:latin typeface="Symbol"/>
                <a:cs typeface="Symbol"/>
              </a:rPr>
              <a:t></a:t>
            </a:r>
            <a:r>
              <a:rPr sz="2000" dirty="0">
                <a:latin typeface="Times New Roman"/>
                <a:cs typeface="Times New Roman"/>
              </a:rPr>
              <a:t>), OR (</a:t>
            </a:r>
            <a:r>
              <a:rPr sz="2000" dirty="0">
                <a:latin typeface="Symbol"/>
                <a:cs typeface="Symbol"/>
              </a:rPr>
              <a:t></a:t>
            </a:r>
            <a:r>
              <a:rPr sz="2000" dirty="0">
                <a:latin typeface="Times New Roman"/>
                <a:cs typeface="Times New Roman"/>
              </a:rPr>
              <a:t>), XOR (</a:t>
            </a:r>
            <a:r>
              <a:rPr sz="2000" dirty="0">
                <a:latin typeface="Symbol"/>
                <a:cs typeface="Symbol"/>
              </a:rPr>
              <a:t></a:t>
            </a:r>
            <a:r>
              <a:rPr sz="2000" dirty="0">
                <a:latin typeface="Times New Roman"/>
                <a:cs typeface="Times New Roman"/>
              </a:rPr>
              <a:t>),</a:t>
            </a:r>
            <a:r>
              <a:rPr sz="2000" spc="-2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Complement/NOT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The others can be created from </a:t>
            </a:r>
            <a:r>
              <a:rPr sz="2000" spc="-5" dirty="0">
                <a:latin typeface="Times New Roman"/>
                <a:cs typeface="Times New Roman"/>
              </a:rPr>
              <a:t>combination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44864" y="2847784"/>
          <a:ext cx="3754116" cy="1429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5620"/>
                <a:gridCol w="380364"/>
                <a:gridCol w="457834"/>
                <a:gridCol w="377189"/>
                <a:gridCol w="314960"/>
                <a:gridCol w="308610"/>
                <a:gridCol w="365125"/>
                <a:gridCol w="393064"/>
                <a:gridCol w="641350"/>
              </a:tblGrid>
              <a:tr h="324612"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spc="-7" baseline="-16203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 baseline="-1620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spc="-7" baseline="-16203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 baseline="-1620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baseline="-16203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 baseline="-1620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700" spc="-7" baseline="10802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700" spc="-7" baseline="10802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700" spc="-7" baseline="10802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145">
                <a:tc>
                  <a:txBody>
                    <a:bodyPr/>
                    <a:lstStyle/>
                    <a:p>
                      <a:pPr marR="9715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83019">
                <a:tc>
                  <a:txBody>
                    <a:bodyPr/>
                    <a:lstStyle/>
                    <a:p>
                      <a:pPr marR="97155" algn="r">
                        <a:lnSpc>
                          <a:spcPts val="213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13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213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213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3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213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3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13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13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61366">
                <a:tc>
                  <a:txBody>
                    <a:bodyPr/>
                    <a:lstStyle/>
                    <a:p>
                      <a:pPr marR="97155" algn="r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61368">
                <a:tc>
                  <a:txBody>
                    <a:bodyPr/>
                    <a:lstStyle/>
                    <a:p>
                      <a:pPr marR="97155" algn="r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…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19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5939" y="244602"/>
            <a:ext cx="55426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/>
              <a:t>Logical</a:t>
            </a:r>
            <a:r>
              <a:rPr sz="3600" spc="-25"/>
              <a:t> </a:t>
            </a:r>
            <a:r>
              <a:rPr sz="3600" spc="-5" smtClean="0"/>
              <a:t>Micro-operation</a:t>
            </a:r>
            <a:r>
              <a:rPr lang="en-US" sz="3600" spc="-5" dirty="0" smtClean="0"/>
              <a:t>s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80999" y="2727960"/>
          <a:ext cx="7086601" cy="3825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759"/>
                <a:gridCol w="823416"/>
                <a:gridCol w="1519011"/>
                <a:gridCol w="1748522"/>
                <a:gridCol w="2737893"/>
              </a:tblGrid>
              <a:tr h="449580">
                <a:tc>
                  <a:txBody>
                    <a:bodyPr/>
                    <a:lstStyle/>
                    <a:p>
                      <a:pPr marL="80645">
                        <a:lnSpc>
                          <a:spcPts val="146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146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0 0 1</a:t>
                      </a:r>
                      <a:r>
                        <a:rPr sz="1400" spc="-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730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0 1 0</a:t>
                      </a:r>
                      <a:r>
                        <a:rPr sz="1400" spc="-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6535">
                        <a:lnSpc>
                          <a:spcPts val="1520"/>
                        </a:lnSpc>
                      </a:pPr>
                      <a:r>
                        <a:rPr sz="1400" b="1" i="1" spc="-1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Boolean</a:t>
                      </a:r>
                      <a:endParaRPr sz="1400" b="1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216535">
                        <a:lnSpc>
                          <a:spcPct val="100000"/>
                        </a:lnSpc>
                      </a:pPr>
                      <a:r>
                        <a:rPr sz="1400" b="1" i="1" spc="-15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Function</a:t>
                      </a:r>
                      <a:endParaRPr sz="1400" b="1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4960">
                        <a:lnSpc>
                          <a:spcPts val="1415"/>
                        </a:lnSpc>
                      </a:pPr>
                      <a:r>
                        <a:rPr sz="1400" b="1" i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Micro-</a:t>
                      </a:r>
                      <a:endParaRPr sz="1400" b="1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14960">
                        <a:lnSpc>
                          <a:spcPct val="100000"/>
                        </a:lnSpc>
                      </a:pPr>
                      <a:r>
                        <a:rPr sz="1400" b="1" i="1" spc="-1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Operations</a:t>
                      </a:r>
                      <a:endParaRPr sz="1400" b="1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343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400" b="1" i="1" spc="-5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endParaRPr sz="1400" b="1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8255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75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515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0 0 0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0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595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0 0 0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600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0 0 1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0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600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0 0 1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595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0 1 0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0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600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0 1 0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625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0 1 1</a:t>
                      </a:r>
                      <a:r>
                        <a:rPr sz="1400" spc="-2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0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664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0 1 1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1 0 0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0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639"/>
                        </a:lnSpc>
                        <a:spcBef>
                          <a:spcPts val="25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1 0 0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600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1 0 1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0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600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1 0 1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595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1 1 0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0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605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1 1 0</a:t>
                      </a:r>
                      <a:r>
                        <a:rPr sz="1400" spc="-2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605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1 1 1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0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56515">
                        <a:lnSpc>
                          <a:spcPts val="1639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1 1 1</a:t>
                      </a:r>
                      <a:r>
                        <a:rPr sz="1400" spc="-2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 algn="just">
                        <a:lnSpc>
                          <a:spcPts val="1520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F0 =</a:t>
                      </a:r>
                      <a:r>
                        <a:rPr sz="1400" spc="-16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0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347980" marR="422275" algn="just">
                        <a:lnSpc>
                          <a:spcPct val="961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F1 = xy  F2 =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xy' 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F3 =</a:t>
                      </a:r>
                      <a:r>
                        <a:rPr sz="1400" spc="-1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x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347980" marR="423545" algn="just">
                        <a:lnSpc>
                          <a:spcPts val="1610"/>
                        </a:lnSpc>
                        <a:spcBef>
                          <a:spcPts val="120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F4 =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x'y 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F5 =</a:t>
                      </a:r>
                      <a:r>
                        <a:rPr sz="1400" spc="-1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y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347980">
                        <a:lnSpc>
                          <a:spcPts val="1445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F6 = x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</a:t>
                      </a:r>
                      <a:r>
                        <a:rPr sz="1400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y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347980">
                        <a:lnSpc>
                          <a:spcPts val="1655"/>
                        </a:lnSpc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F7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= x +</a:t>
                      </a:r>
                      <a:r>
                        <a:rPr sz="1400" spc="-1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y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3479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F8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=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(x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+</a:t>
                      </a:r>
                      <a:r>
                        <a:rPr sz="1400" spc="-1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y)'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347980" marR="147320">
                        <a:lnSpc>
                          <a:spcPts val="158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F9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=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(x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</a:t>
                      </a:r>
                      <a:r>
                        <a:rPr sz="14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y)'  F10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=</a:t>
                      </a:r>
                      <a:r>
                        <a:rPr sz="1400" spc="-9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y'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347980" marR="227965">
                        <a:lnSpc>
                          <a:spcPts val="16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F11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= x +</a:t>
                      </a:r>
                      <a:r>
                        <a:rPr sz="1400" spc="-2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y' 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F12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=</a:t>
                      </a:r>
                      <a:r>
                        <a:rPr sz="1400" spc="-9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x'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347980">
                        <a:lnSpc>
                          <a:spcPts val="1525"/>
                        </a:lnSpc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F13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=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x'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+</a:t>
                      </a:r>
                      <a:r>
                        <a:rPr sz="1400" spc="-17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y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347980" marR="276860">
                        <a:lnSpc>
                          <a:spcPts val="1600"/>
                        </a:lnSpc>
                        <a:spcBef>
                          <a:spcPts val="8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F14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=</a:t>
                      </a:r>
                      <a:r>
                        <a:rPr sz="1400" spc="-1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(xy)'  F15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=</a:t>
                      </a:r>
                      <a:r>
                        <a:rPr sz="1400" spc="-10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 algn="just">
                        <a:lnSpc>
                          <a:spcPts val="1535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spc="-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0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154940" marR="630555" indent="39370" algn="just">
                        <a:lnSpc>
                          <a:spcPct val="961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A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B  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A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B’ 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A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180975" marR="659130" indent="13335">
                        <a:lnSpc>
                          <a:spcPts val="1600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A’</a:t>
                      </a:r>
                      <a:r>
                        <a:rPr sz="1400" spc="-1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1400" spc="-2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B  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B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171450">
                        <a:lnSpc>
                          <a:spcPts val="1435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F </a:t>
                      </a:r>
                      <a:r>
                        <a:rPr sz="1400" spc="5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A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</a:t>
                      </a:r>
                      <a:r>
                        <a:rPr sz="1400" spc="-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B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163830">
                        <a:lnSpc>
                          <a:spcPts val="1655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A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140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B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200660" marR="422275" indent="-7620" algn="just">
                        <a:lnSpc>
                          <a:spcPct val="98900"/>
                        </a:lnSpc>
                        <a:spcBef>
                          <a:spcPts val="370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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A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B)’ 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(A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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B)’ 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B’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222250" marR="638175" indent="-7620">
                        <a:lnSpc>
                          <a:spcPts val="1600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A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1400" spc="-2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B  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rlito"/>
                          <a:cs typeface="Carlito"/>
                        </a:rPr>
                        <a:t>A’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214629">
                        <a:lnSpc>
                          <a:spcPts val="1420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F </a:t>
                      </a:r>
                      <a:r>
                        <a:rPr sz="1400" spc="5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A’</a:t>
                      </a:r>
                      <a:r>
                        <a:rPr sz="1400" spc="-1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1400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B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258445" marR="363855" indent="-22860">
                        <a:lnSpc>
                          <a:spcPts val="16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(A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1400" spc="-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B)’b 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F </a:t>
                      </a:r>
                      <a:r>
                        <a:rPr sz="1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all</a:t>
                      </a:r>
                      <a:r>
                        <a:rPr sz="1400" spc="-10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1's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ts val="1515"/>
                        </a:lnSpc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Clear</a:t>
                      </a:r>
                      <a:endParaRPr sz="1400">
                        <a:latin typeface="Carlito"/>
                        <a:cs typeface="Carlito"/>
                      </a:endParaRPr>
                    </a:p>
                    <a:p>
                      <a:pPr marL="379095">
                        <a:lnSpc>
                          <a:spcPts val="1639"/>
                        </a:lnSpc>
                      </a:pP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AND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79095" marR="1352550">
                        <a:lnSpc>
                          <a:spcPct val="195700"/>
                        </a:lnSpc>
                        <a:spcBef>
                          <a:spcPts val="10"/>
                        </a:spcBef>
                      </a:pPr>
                      <a:r>
                        <a:rPr sz="1400" b="1" spc="-25" dirty="0">
                          <a:latin typeface="Times New Roman" pitchFamily="18" charset="0"/>
                          <a:cs typeface="Times New Roman" pitchFamily="18" charset="0"/>
                        </a:rPr>
                        <a:t>Transfer</a:t>
                      </a:r>
                      <a:r>
                        <a:rPr sz="1400" b="1" spc="-9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A  </a:t>
                      </a:r>
                      <a:r>
                        <a:rPr sz="1400" b="1" spc="-25" dirty="0">
                          <a:latin typeface="Times New Roman" pitchFamily="18" charset="0"/>
                          <a:cs typeface="Times New Roman" pitchFamily="18" charset="0"/>
                        </a:rPr>
                        <a:t>Transfer</a:t>
                      </a:r>
                      <a:r>
                        <a:rPr sz="1400" b="1" spc="-7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79095">
                        <a:lnSpc>
                          <a:spcPts val="1585"/>
                        </a:lnSpc>
                      </a:pPr>
                      <a:r>
                        <a:rPr sz="1400" b="1" spc="-10" dirty="0">
                          <a:latin typeface="Times New Roman" pitchFamily="18" charset="0"/>
                          <a:cs typeface="Times New Roman" pitchFamily="18" charset="0"/>
                        </a:rPr>
                        <a:t>Exclusive-OR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79095">
                        <a:lnSpc>
                          <a:spcPts val="1645"/>
                        </a:lnSpc>
                      </a:pPr>
                      <a:r>
                        <a:rPr sz="1400" b="1" spc="-20" dirty="0">
                          <a:latin typeface="Times New Roman" pitchFamily="18" charset="0"/>
                          <a:cs typeface="Times New Roman" pitchFamily="18" charset="0"/>
                        </a:rPr>
                        <a:t>OR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7909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" dirty="0">
                          <a:latin typeface="Times New Roman" pitchFamily="18" charset="0"/>
                          <a:cs typeface="Times New Roman" pitchFamily="18" charset="0"/>
                        </a:rPr>
                        <a:t>NOR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79095" marR="1013460">
                        <a:lnSpc>
                          <a:spcPts val="1600"/>
                        </a:lnSpc>
                        <a:spcBef>
                          <a:spcPts val="240"/>
                        </a:spcBef>
                      </a:pPr>
                      <a:r>
                        <a:rPr sz="1400" b="1" spc="-5" dirty="0">
                          <a:latin typeface="Times New Roman" pitchFamily="18" charset="0"/>
                          <a:cs typeface="Times New Roman" pitchFamily="18" charset="0"/>
                        </a:rPr>
                        <a:t>Exclusive-NOR  Complement</a:t>
                      </a:r>
                      <a:r>
                        <a:rPr sz="1400" b="1" spc="-16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418465" marR="1007744" indent="-40005">
                        <a:lnSpc>
                          <a:spcPts val="3210"/>
                        </a:lnSpc>
                        <a:spcBef>
                          <a:spcPts val="180"/>
                        </a:spcBef>
                      </a:pPr>
                      <a:r>
                        <a:rPr sz="1400" b="1" spc="-5" dirty="0">
                          <a:latin typeface="Times New Roman" pitchFamily="18" charset="0"/>
                          <a:cs typeface="Times New Roman" pitchFamily="18" charset="0"/>
                        </a:rPr>
                        <a:t>Complement</a:t>
                      </a:r>
                      <a:r>
                        <a:rPr sz="1400" b="1" spc="-16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A  NAND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418465">
                        <a:lnSpc>
                          <a:spcPts val="1340"/>
                        </a:lnSpc>
                      </a:pPr>
                      <a:r>
                        <a:rPr sz="1400" b="1" spc="-5" dirty="0">
                          <a:latin typeface="Times New Roman" pitchFamily="18" charset="0"/>
                          <a:cs typeface="Times New Roman" pitchFamily="18" charset="0"/>
                        </a:rPr>
                        <a:t>Set </a:t>
                      </a:r>
                      <a:r>
                        <a:rPr sz="1400" b="1" spc="-10" dirty="0">
                          <a:latin typeface="Times New Roman" pitchFamily="18" charset="0"/>
                          <a:cs typeface="Times New Roman" pitchFamily="18" charset="0"/>
                        </a:rPr>
                        <a:t>to </a:t>
                      </a: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all</a:t>
                      </a:r>
                      <a:r>
                        <a:rPr sz="1400" b="1" spc="-4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1's</a:t>
                      </a:r>
                      <a:endParaRPr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15872" y="756740"/>
            <a:ext cx="6218327" cy="182562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6379" indent="-182880">
              <a:lnSpc>
                <a:spcPct val="100000"/>
              </a:lnSpc>
              <a:spcBef>
                <a:spcPts val="640"/>
              </a:spcBef>
              <a:buChar char="•"/>
              <a:tabLst>
                <a:tab pos="246379" algn="l"/>
              </a:tabLst>
            </a:pPr>
            <a:r>
              <a:rPr sz="2000" spc="-20" dirty="0">
                <a:latin typeface="Carlito"/>
                <a:cs typeface="Carlito"/>
              </a:rPr>
              <a:t>List </a:t>
            </a:r>
            <a:r>
              <a:rPr sz="2000" spc="-5" dirty="0">
                <a:latin typeface="Carlito"/>
                <a:cs typeface="Carlito"/>
              </a:rPr>
              <a:t>of Logic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Micro-operations</a:t>
            </a:r>
            <a:endParaRPr sz="2000">
              <a:latin typeface="Carlito"/>
              <a:cs typeface="Carlito"/>
            </a:endParaRPr>
          </a:p>
          <a:p>
            <a:pPr marL="340360" lvl="1" indent="-107314">
              <a:lnSpc>
                <a:spcPct val="100000"/>
              </a:lnSpc>
              <a:spcBef>
                <a:spcPts val="425"/>
              </a:spcBef>
              <a:buChar char="-"/>
              <a:tabLst>
                <a:tab pos="340995" algn="l"/>
              </a:tabLst>
            </a:pPr>
            <a:r>
              <a:rPr sz="1600" spc="-5" dirty="0">
                <a:latin typeface="Carlito"/>
                <a:cs typeface="Carlito"/>
              </a:rPr>
              <a:t>16 </a:t>
            </a:r>
            <a:r>
              <a:rPr sz="1600" spc="-25" dirty="0">
                <a:latin typeface="Carlito"/>
                <a:cs typeface="Carlito"/>
              </a:rPr>
              <a:t>different </a:t>
            </a:r>
            <a:r>
              <a:rPr sz="1600" spc="-5" dirty="0">
                <a:latin typeface="Carlito"/>
                <a:cs typeface="Carlito"/>
              </a:rPr>
              <a:t>logic </a:t>
            </a:r>
            <a:r>
              <a:rPr sz="1600" spc="-20" dirty="0">
                <a:latin typeface="Carlito"/>
                <a:cs typeface="Carlito"/>
              </a:rPr>
              <a:t>operations </a:t>
            </a:r>
            <a:r>
              <a:rPr sz="1600" spc="-5" dirty="0">
                <a:latin typeface="Carlito"/>
                <a:cs typeface="Carlito"/>
              </a:rPr>
              <a:t>with 2 binary</a:t>
            </a:r>
            <a:r>
              <a:rPr sz="1600" spc="-40" dirty="0">
                <a:latin typeface="Carlito"/>
                <a:cs typeface="Carlito"/>
              </a:rPr>
              <a:t> </a:t>
            </a:r>
            <a:r>
              <a:rPr sz="1600" spc="-35" dirty="0">
                <a:latin typeface="Carlito"/>
                <a:cs typeface="Carlito"/>
              </a:rPr>
              <a:t>vars.</a:t>
            </a:r>
            <a:endParaRPr sz="1600">
              <a:latin typeface="Carlito"/>
              <a:cs typeface="Carlito"/>
            </a:endParaRPr>
          </a:p>
          <a:p>
            <a:pPr marL="354965" lvl="1" indent="-107950">
              <a:lnSpc>
                <a:spcPct val="100000"/>
              </a:lnSpc>
              <a:spcBef>
                <a:spcPts val="45"/>
              </a:spcBef>
              <a:buChar char="-"/>
              <a:tabLst>
                <a:tab pos="355600" algn="l"/>
                <a:tab pos="2282825" algn="l"/>
              </a:tabLst>
            </a:pPr>
            <a:r>
              <a:rPr sz="2400" spc="-7" baseline="1736" dirty="0">
                <a:latin typeface="Carlito"/>
                <a:cs typeface="Carlito"/>
              </a:rPr>
              <a:t>n binary </a:t>
            </a:r>
            <a:r>
              <a:rPr sz="2400" spc="-52" baseline="1736" dirty="0">
                <a:latin typeface="Carlito"/>
                <a:cs typeface="Carlito"/>
              </a:rPr>
              <a:t>vars </a:t>
            </a:r>
            <a:r>
              <a:rPr sz="2400" spc="-7" baseline="1736" dirty="0">
                <a:latin typeface="Carlito"/>
                <a:cs typeface="Carlito"/>
              </a:rPr>
              <a:t>→ </a:t>
            </a:r>
            <a:r>
              <a:rPr sz="1800" dirty="0">
                <a:latin typeface="Carlito"/>
                <a:cs typeface="Carlito"/>
              </a:rPr>
              <a:t>2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2100" baseline="23809" dirty="0">
                <a:latin typeface="Carlito"/>
                <a:cs typeface="Carlito"/>
              </a:rPr>
              <a:t>2</a:t>
            </a:r>
            <a:r>
              <a:rPr sz="2100" spc="315" baseline="23809" dirty="0">
                <a:latin typeface="Carlito"/>
                <a:cs typeface="Carlito"/>
              </a:rPr>
              <a:t> </a:t>
            </a:r>
            <a:r>
              <a:rPr sz="1800" baseline="48611" dirty="0">
                <a:latin typeface="Carlito"/>
                <a:cs typeface="Carlito"/>
              </a:rPr>
              <a:t>n	</a:t>
            </a:r>
            <a:r>
              <a:rPr sz="2400" spc="-15" baseline="1736" dirty="0">
                <a:latin typeface="Carlito"/>
                <a:cs typeface="Carlito"/>
              </a:rPr>
              <a:t>functions</a:t>
            </a:r>
            <a:endParaRPr sz="2400" baseline="1736">
              <a:latin typeface="Carlito"/>
              <a:cs typeface="Carlito"/>
            </a:endParaRPr>
          </a:p>
          <a:p>
            <a:pPr marL="195580" marR="17780" indent="-170815">
              <a:lnSpc>
                <a:spcPct val="102000"/>
              </a:lnSpc>
              <a:spcBef>
                <a:spcPts val="1785"/>
              </a:spcBef>
              <a:buChar char="•"/>
              <a:tabLst>
                <a:tab pos="196215" algn="l"/>
              </a:tabLst>
            </a:pPr>
            <a:r>
              <a:rPr sz="2000" spc="-45" dirty="0">
                <a:latin typeface="Carlito"/>
                <a:cs typeface="Carlito"/>
              </a:rPr>
              <a:t>Truth </a:t>
            </a:r>
            <a:r>
              <a:rPr sz="2000" spc="-5" dirty="0">
                <a:latin typeface="Carlito"/>
                <a:cs typeface="Carlito"/>
              </a:rPr>
              <a:t>tables </a:t>
            </a:r>
            <a:r>
              <a:rPr sz="2000" spc="-25" dirty="0">
                <a:latin typeface="Carlito"/>
                <a:cs typeface="Carlito"/>
              </a:rPr>
              <a:t>for </a:t>
            </a:r>
            <a:r>
              <a:rPr sz="2000" dirty="0">
                <a:latin typeface="Carlito"/>
                <a:cs typeface="Carlito"/>
              </a:rPr>
              <a:t>16 functions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2 </a:t>
            </a:r>
            <a:r>
              <a:rPr sz="2000" spc="-5" dirty="0">
                <a:latin typeface="Carlito"/>
                <a:cs typeface="Carlito"/>
              </a:rPr>
              <a:t>variables </a:t>
            </a:r>
            <a:r>
              <a:rPr sz="2000" dirty="0">
                <a:latin typeface="Carlito"/>
                <a:cs typeface="Carlito"/>
              </a:rPr>
              <a:t>and</a:t>
            </a:r>
            <a:r>
              <a:rPr sz="2000" spc="-16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the  </a:t>
            </a:r>
            <a:r>
              <a:rPr sz="2000" spc="-10" dirty="0">
                <a:latin typeface="Carlito"/>
                <a:cs typeface="Carlito"/>
              </a:rPr>
              <a:t>corresponding </a:t>
            </a:r>
            <a:r>
              <a:rPr sz="2000" dirty="0">
                <a:latin typeface="Carlito"/>
                <a:cs typeface="Carlito"/>
              </a:rPr>
              <a:t>16 logic</a:t>
            </a:r>
            <a:r>
              <a:rPr sz="2000" spc="-114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micro-operations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72183" y="3066288"/>
            <a:ext cx="6239255" cy="111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7737" y="528269"/>
            <a:ext cx="73253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Hardware implementation of </a:t>
            </a:r>
            <a:r>
              <a:rPr sz="2800" dirty="0"/>
              <a:t>logic</a:t>
            </a:r>
            <a:r>
              <a:rPr sz="2800" spc="-150" dirty="0"/>
              <a:t> </a:t>
            </a:r>
            <a:r>
              <a:rPr sz="2800" spc="-5" dirty="0"/>
              <a:t>Micro-operation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048000" y="3886200"/>
            <a:ext cx="29718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rlito"/>
                <a:cs typeface="Carlito"/>
              </a:rPr>
              <a:t>Function</a:t>
            </a:r>
            <a:r>
              <a:rPr sz="2000" spc="-16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table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39148" y="1338008"/>
            <a:ext cx="1190625" cy="1706880"/>
            <a:chOff x="2839148" y="1338008"/>
            <a:chExt cx="1190625" cy="1706880"/>
          </a:xfrm>
        </p:grpSpPr>
        <p:sp>
          <p:nvSpPr>
            <p:cNvPr id="5" name="object 5"/>
            <p:cNvSpPr/>
            <p:nvPr/>
          </p:nvSpPr>
          <p:spPr>
            <a:xfrm>
              <a:off x="3560825" y="1351026"/>
              <a:ext cx="271780" cy="335280"/>
            </a:xfrm>
            <a:custGeom>
              <a:avLst/>
              <a:gdLst/>
              <a:ahLst/>
              <a:cxnLst/>
              <a:rect l="l" t="t" r="r" b="b"/>
              <a:pathLst>
                <a:path w="271779" h="335280">
                  <a:moveTo>
                    <a:pt x="0" y="4572"/>
                  </a:moveTo>
                  <a:lnTo>
                    <a:pt x="0" y="322579"/>
                  </a:lnTo>
                </a:path>
                <a:path w="271779" h="335280">
                  <a:moveTo>
                    <a:pt x="4572" y="0"/>
                  </a:moveTo>
                  <a:lnTo>
                    <a:pt x="271272" y="0"/>
                  </a:lnTo>
                </a:path>
                <a:path w="271779" h="335280">
                  <a:moveTo>
                    <a:pt x="4572" y="335279"/>
                  </a:moveTo>
                  <a:lnTo>
                    <a:pt x="271272" y="335279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25239" y="1342644"/>
              <a:ext cx="202691" cy="3429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52165" y="1405890"/>
              <a:ext cx="1115695" cy="1626235"/>
            </a:xfrm>
            <a:custGeom>
              <a:avLst/>
              <a:gdLst/>
              <a:ahLst/>
              <a:cxnLst/>
              <a:rect l="l" t="t" r="r" b="b"/>
              <a:pathLst>
                <a:path w="1115695" h="1626235">
                  <a:moveTo>
                    <a:pt x="716280" y="224027"/>
                  </a:moveTo>
                  <a:lnTo>
                    <a:pt x="0" y="224027"/>
                  </a:lnTo>
                </a:path>
                <a:path w="1115695" h="1626235">
                  <a:moveTo>
                    <a:pt x="419099" y="1478280"/>
                  </a:moveTo>
                  <a:lnTo>
                    <a:pt x="419099" y="0"/>
                  </a:lnTo>
                </a:path>
                <a:path w="1115695" h="1626235">
                  <a:moveTo>
                    <a:pt x="1115313" y="1475232"/>
                  </a:moveTo>
                  <a:lnTo>
                    <a:pt x="749807" y="1277112"/>
                  </a:lnTo>
                </a:path>
                <a:path w="1115695" h="1626235">
                  <a:moveTo>
                    <a:pt x="1115313" y="1466088"/>
                  </a:moveTo>
                  <a:lnTo>
                    <a:pt x="749807" y="1625854"/>
                  </a:lnTo>
                </a:path>
                <a:path w="1115695" h="1626235">
                  <a:moveTo>
                    <a:pt x="768095" y="1298448"/>
                  </a:moveTo>
                  <a:lnTo>
                    <a:pt x="768095" y="1614932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41063" y="2819400"/>
              <a:ext cx="86867" cy="853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7717" y="1632966"/>
              <a:ext cx="939165" cy="911225"/>
            </a:xfrm>
            <a:custGeom>
              <a:avLst/>
              <a:gdLst/>
              <a:ahLst/>
              <a:cxnLst/>
              <a:rect l="l" t="t" r="r" b="b"/>
              <a:pathLst>
                <a:path w="939164" h="911225">
                  <a:moveTo>
                    <a:pt x="0" y="0"/>
                  </a:moveTo>
                  <a:lnTo>
                    <a:pt x="0" y="910844"/>
                  </a:lnTo>
                </a:path>
                <a:path w="939164" h="911225">
                  <a:moveTo>
                    <a:pt x="464819" y="163068"/>
                  </a:moveTo>
                  <a:lnTo>
                    <a:pt x="598423" y="163068"/>
                  </a:lnTo>
                </a:path>
                <a:path w="939164" h="911225">
                  <a:moveTo>
                    <a:pt x="620268" y="169163"/>
                  </a:moveTo>
                  <a:lnTo>
                    <a:pt x="620776" y="169163"/>
                  </a:lnTo>
                  <a:lnTo>
                    <a:pt x="621283" y="169163"/>
                  </a:lnTo>
                  <a:lnTo>
                    <a:pt x="621792" y="169163"/>
                  </a:lnTo>
                  <a:lnTo>
                    <a:pt x="685545" y="172466"/>
                  </a:lnTo>
                  <a:lnTo>
                    <a:pt x="744982" y="181737"/>
                  </a:lnTo>
                  <a:lnTo>
                    <a:pt x="798703" y="196469"/>
                  </a:lnTo>
                  <a:lnTo>
                    <a:pt x="845566" y="216026"/>
                  </a:lnTo>
                  <a:lnTo>
                    <a:pt x="884173" y="239649"/>
                  </a:lnTo>
                  <a:lnTo>
                    <a:pt x="913383" y="266700"/>
                  </a:lnTo>
                  <a:lnTo>
                    <a:pt x="931798" y="296799"/>
                  </a:lnTo>
                  <a:lnTo>
                    <a:pt x="938276" y="328930"/>
                  </a:lnTo>
                </a:path>
                <a:path w="939164" h="911225">
                  <a:moveTo>
                    <a:pt x="464819" y="501396"/>
                  </a:moveTo>
                  <a:lnTo>
                    <a:pt x="598423" y="501396"/>
                  </a:lnTo>
                </a:path>
                <a:path w="939164" h="911225">
                  <a:moveTo>
                    <a:pt x="938657" y="326136"/>
                  </a:moveTo>
                  <a:lnTo>
                    <a:pt x="913765" y="388366"/>
                  </a:lnTo>
                  <a:lnTo>
                    <a:pt x="884555" y="415417"/>
                  </a:lnTo>
                  <a:lnTo>
                    <a:pt x="845819" y="439038"/>
                  </a:lnTo>
                  <a:lnTo>
                    <a:pt x="798957" y="458597"/>
                  </a:lnTo>
                  <a:lnTo>
                    <a:pt x="745108" y="473329"/>
                  </a:lnTo>
                  <a:lnTo>
                    <a:pt x="685672" y="482600"/>
                  </a:lnTo>
                  <a:lnTo>
                    <a:pt x="621792" y="485901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09771" y="1789176"/>
              <a:ext cx="70103" cy="34137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21914" y="3042666"/>
            <a:ext cx="249554" cy="4921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sz="1200" dirty="0">
                <a:latin typeface="Carlito"/>
                <a:cs typeface="Carlito"/>
              </a:rPr>
              <a:t>S</a:t>
            </a:r>
            <a:r>
              <a:rPr sz="1200" spc="-170" dirty="0">
                <a:latin typeface="Carlito"/>
                <a:cs typeface="Carlito"/>
              </a:rPr>
              <a:t> </a:t>
            </a:r>
            <a:r>
              <a:rPr sz="1800" baseline="-11574" dirty="0">
                <a:latin typeface="Carlito"/>
                <a:cs typeface="Carlito"/>
              </a:rPr>
              <a:t>1</a:t>
            </a:r>
            <a:endParaRPr sz="1800" baseline="-11574">
              <a:latin typeface="Carlito"/>
              <a:cs typeface="Carlito"/>
            </a:endParaRPr>
          </a:p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latin typeface="Carlito"/>
                <a:cs typeface="Carlito"/>
              </a:rPr>
              <a:t>S</a:t>
            </a:r>
            <a:r>
              <a:rPr sz="1200" spc="-170" dirty="0">
                <a:latin typeface="Carlito"/>
                <a:cs typeface="Carlito"/>
              </a:rPr>
              <a:t> </a:t>
            </a:r>
            <a:r>
              <a:rPr sz="1800" baseline="-11574" dirty="0">
                <a:latin typeface="Carlito"/>
                <a:cs typeface="Carlito"/>
              </a:rPr>
              <a:t>0</a:t>
            </a:r>
            <a:endParaRPr sz="1800" baseline="-11574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24804" y="2030348"/>
            <a:ext cx="213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F</a:t>
            </a:r>
            <a:r>
              <a:rPr sz="1200" spc="-70" dirty="0">
                <a:latin typeface="Carlito"/>
                <a:cs typeface="Carlito"/>
              </a:rPr>
              <a:t> </a:t>
            </a:r>
            <a:r>
              <a:rPr sz="1800" baseline="-4629" dirty="0">
                <a:latin typeface="Carlito"/>
                <a:cs typeface="Carlito"/>
              </a:rPr>
              <a:t>i</a:t>
            </a:r>
            <a:endParaRPr sz="1800" baseline="-4629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10611" y="1232408"/>
            <a:ext cx="2197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" marR="30480" indent="-10795">
              <a:lnSpc>
                <a:spcPct val="125000"/>
              </a:lnSpc>
              <a:spcBef>
                <a:spcPts val="100"/>
              </a:spcBef>
            </a:pPr>
            <a:r>
              <a:rPr sz="1200" spc="110" dirty="0">
                <a:latin typeface="Carlito"/>
                <a:cs typeface="Carlito"/>
              </a:rPr>
              <a:t>A</a:t>
            </a:r>
            <a:r>
              <a:rPr sz="1800" baseline="-9259" dirty="0">
                <a:latin typeface="Carlito"/>
                <a:cs typeface="Carlito"/>
              </a:rPr>
              <a:t>i  </a:t>
            </a:r>
            <a:r>
              <a:rPr sz="1200" spc="114" dirty="0">
                <a:latin typeface="Carlito"/>
                <a:cs typeface="Carlito"/>
              </a:rPr>
              <a:t>B</a:t>
            </a:r>
            <a:r>
              <a:rPr sz="1800" baseline="-11574" dirty="0">
                <a:latin typeface="Carlito"/>
                <a:cs typeface="Carlito"/>
              </a:rPr>
              <a:t>i</a:t>
            </a:r>
            <a:endParaRPr sz="1800" baseline="-11574">
              <a:latin typeface="Carlito"/>
              <a:cs typeface="Carli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39148" y="1342580"/>
            <a:ext cx="2365375" cy="1693545"/>
            <a:chOff x="2839148" y="1342580"/>
            <a:chExt cx="2365375" cy="1693545"/>
          </a:xfrm>
        </p:grpSpPr>
        <p:sp>
          <p:nvSpPr>
            <p:cNvPr id="15" name="object 15"/>
            <p:cNvSpPr/>
            <p:nvPr/>
          </p:nvSpPr>
          <p:spPr>
            <a:xfrm>
              <a:off x="2852165" y="1410461"/>
              <a:ext cx="1164590" cy="1181100"/>
            </a:xfrm>
            <a:custGeom>
              <a:avLst/>
              <a:gdLst/>
              <a:ahLst/>
              <a:cxnLst/>
              <a:rect l="l" t="t" r="r" b="b"/>
              <a:pathLst>
                <a:path w="1164589" h="1181100">
                  <a:moveTo>
                    <a:pt x="716280" y="0"/>
                  </a:moveTo>
                  <a:lnTo>
                    <a:pt x="0" y="0"/>
                  </a:lnTo>
                </a:path>
                <a:path w="1164589" h="1181100">
                  <a:moveTo>
                    <a:pt x="691895" y="842772"/>
                  </a:moveTo>
                  <a:lnTo>
                    <a:pt x="824357" y="842772"/>
                  </a:lnTo>
                </a:path>
                <a:path w="1164589" h="1181100">
                  <a:moveTo>
                    <a:pt x="691895" y="1181100"/>
                  </a:moveTo>
                  <a:lnTo>
                    <a:pt x="824357" y="1181100"/>
                  </a:lnTo>
                </a:path>
                <a:path w="1164589" h="1181100">
                  <a:moveTo>
                    <a:pt x="845819" y="847343"/>
                  </a:moveTo>
                  <a:lnTo>
                    <a:pt x="846328" y="847343"/>
                  </a:lnTo>
                  <a:lnTo>
                    <a:pt x="846835" y="847343"/>
                  </a:lnTo>
                  <a:lnTo>
                    <a:pt x="847344" y="847343"/>
                  </a:lnTo>
                  <a:lnTo>
                    <a:pt x="911097" y="850646"/>
                  </a:lnTo>
                  <a:lnTo>
                    <a:pt x="970533" y="859916"/>
                  </a:lnTo>
                  <a:lnTo>
                    <a:pt x="1024255" y="874649"/>
                  </a:lnTo>
                  <a:lnTo>
                    <a:pt x="1071118" y="894207"/>
                  </a:lnTo>
                  <a:lnTo>
                    <a:pt x="1109725" y="917828"/>
                  </a:lnTo>
                  <a:lnTo>
                    <a:pt x="1138935" y="944879"/>
                  </a:lnTo>
                  <a:lnTo>
                    <a:pt x="1157350" y="974978"/>
                  </a:lnTo>
                  <a:lnTo>
                    <a:pt x="1163828" y="1007110"/>
                  </a:lnTo>
                </a:path>
                <a:path w="1164589" h="1181100">
                  <a:moveTo>
                    <a:pt x="1164208" y="1004315"/>
                  </a:moveTo>
                  <a:lnTo>
                    <a:pt x="1139317" y="1067562"/>
                  </a:lnTo>
                  <a:lnTo>
                    <a:pt x="1110107" y="1095248"/>
                  </a:lnTo>
                  <a:lnTo>
                    <a:pt x="1071371" y="1119377"/>
                  </a:lnTo>
                  <a:lnTo>
                    <a:pt x="1024508" y="1139189"/>
                  </a:lnTo>
                  <a:lnTo>
                    <a:pt x="970660" y="1154176"/>
                  </a:lnTo>
                  <a:lnTo>
                    <a:pt x="911224" y="1163701"/>
                  </a:lnTo>
                  <a:lnTo>
                    <a:pt x="847344" y="1167002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09771" y="2244851"/>
              <a:ext cx="70103" cy="3444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57905" y="1520189"/>
              <a:ext cx="1337945" cy="1347470"/>
            </a:xfrm>
            <a:custGeom>
              <a:avLst/>
              <a:gdLst/>
              <a:ahLst/>
              <a:cxnLst/>
              <a:rect l="l" t="t" r="r" b="b"/>
              <a:pathLst>
                <a:path w="1337945" h="1347470">
                  <a:moveTo>
                    <a:pt x="510413" y="562356"/>
                  </a:moveTo>
                  <a:lnTo>
                    <a:pt x="19812" y="562356"/>
                  </a:lnTo>
                </a:path>
                <a:path w="1337945" h="1347470">
                  <a:moveTo>
                    <a:pt x="510285" y="336804"/>
                  </a:moveTo>
                  <a:lnTo>
                    <a:pt x="207264" y="336804"/>
                  </a:lnTo>
                </a:path>
                <a:path w="1337945" h="1347470">
                  <a:moveTo>
                    <a:pt x="510540" y="1008888"/>
                  </a:moveTo>
                  <a:lnTo>
                    <a:pt x="0" y="1008888"/>
                  </a:lnTo>
                </a:path>
                <a:path w="1337945" h="1347470">
                  <a:moveTo>
                    <a:pt x="510285" y="780288"/>
                  </a:moveTo>
                  <a:lnTo>
                    <a:pt x="207264" y="780288"/>
                  </a:lnTo>
                </a:path>
                <a:path w="1337945" h="1347470">
                  <a:moveTo>
                    <a:pt x="569468" y="1347215"/>
                  </a:moveTo>
                  <a:lnTo>
                    <a:pt x="207264" y="1347215"/>
                  </a:lnTo>
                </a:path>
                <a:path w="1337945" h="1347470">
                  <a:moveTo>
                    <a:pt x="972311" y="0"/>
                  </a:moveTo>
                  <a:lnTo>
                    <a:pt x="1337818" y="0"/>
                  </a:lnTo>
                </a:path>
                <a:path w="1337945" h="1347470">
                  <a:moveTo>
                    <a:pt x="972311" y="446532"/>
                  </a:moveTo>
                  <a:lnTo>
                    <a:pt x="1328420" y="446532"/>
                  </a:lnTo>
                </a:path>
                <a:path w="1337945" h="1347470">
                  <a:moveTo>
                    <a:pt x="972311" y="903732"/>
                  </a:moveTo>
                  <a:lnTo>
                    <a:pt x="1319657" y="903732"/>
                  </a:lnTo>
                </a:path>
                <a:path w="1337945" h="1347470">
                  <a:moveTo>
                    <a:pt x="981456" y="1347215"/>
                  </a:moveTo>
                  <a:lnTo>
                    <a:pt x="1328801" y="1347215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50335" y="2244851"/>
              <a:ext cx="68579" cy="3444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91405" y="1355597"/>
              <a:ext cx="800100" cy="1667510"/>
            </a:xfrm>
            <a:custGeom>
              <a:avLst/>
              <a:gdLst/>
              <a:ahLst/>
              <a:cxnLst/>
              <a:rect l="l" t="t" r="r" b="b"/>
              <a:pathLst>
                <a:path w="800100" h="1667510">
                  <a:moveTo>
                    <a:pt x="0" y="1667002"/>
                  </a:moveTo>
                  <a:lnTo>
                    <a:pt x="800100" y="1667002"/>
                  </a:lnTo>
                  <a:lnTo>
                    <a:pt x="800100" y="0"/>
                  </a:lnTo>
                  <a:lnTo>
                    <a:pt x="0" y="0"/>
                  </a:lnTo>
                  <a:lnTo>
                    <a:pt x="0" y="166700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455921" y="1415922"/>
            <a:ext cx="90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0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43348" y="1862073"/>
            <a:ext cx="90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1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22621" y="1983994"/>
            <a:ext cx="320675" cy="3505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R="5080" indent="1270">
              <a:lnSpc>
                <a:spcPct val="77500"/>
              </a:lnSpc>
              <a:spcBef>
                <a:spcPts val="425"/>
              </a:spcBef>
            </a:pPr>
            <a:r>
              <a:rPr sz="1200" dirty="0">
                <a:latin typeface="Carlito"/>
                <a:cs typeface="Carlito"/>
              </a:rPr>
              <a:t>4 X</a:t>
            </a:r>
            <a:r>
              <a:rPr sz="1200" spc="-165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1  MUX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17414" y="2134361"/>
            <a:ext cx="182880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8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404614" y="2318130"/>
            <a:ext cx="575945" cy="701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2</a:t>
            </a:r>
            <a:endParaRPr sz="12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1200">
              <a:latin typeface="Carlito"/>
              <a:cs typeface="Carlito"/>
            </a:endParaRPr>
          </a:p>
          <a:p>
            <a:pPr marL="38100">
              <a:lnSpc>
                <a:spcPct val="100000"/>
              </a:lnSpc>
              <a:spcBef>
                <a:spcPts val="969"/>
              </a:spcBef>
            </a:pPr>
            <a:r>
              <a:rPr sz="1800" baseline="13888" dirty="0">
                <a:latin typeface="Carlito"/>
                <a:cs typeface="Carlito"/>
              </a:rPr>
              <a:t>3</a:t>
            </a:r>
            <a:r>
              <a:rPr sz="1800" spc="-22" baseline="13888" dirty="0">
                <a:latin typeface="Carlito"/>
                <a:cs typeface="Carlito"/>
              </a:rPr>
              <a:t> </a:t>
            </a:r>
            <a:r>
              <a:rPr sz="1200" spc="-5" dirty="0">
                <a:latin typeface="Carlito"/>
                <a:cs typeface="Carlito"/>
              </a:rPr>
              <a:t>Select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52166" y="3042666"/>
            <a:ext cx="2157730" cy="390525"/>
          </a:xfrm>
          <a:custGeom>
            <a:avLst/>
            <a:gdLst/>
            <a:ahLst/>
            <a:cxnLst/>
            <a:rect l="l" t="t" r="r" b="b"/>
            <a:pathLst>
              <a:path w="2157729" h="390525">
                <a:moveTo>
                  <a:pt x="1738883" y="0"/>
                </a:moveTo>
                <a:lnTo>
                  <a:pt x="1738883" y="148844"/>
                </a:lnTo>
              </a:path>
              <a:path w="2157729" h="390525">
                <a:moveTo>
                  <a:pt x="2151887" y="0"/>
                </a:moveTo>
                <a:lnTo>
                  <a:pt x="2151887" y="376300"/>
                </a:lnTo>
              </a:path>
              <a:path w="2157729" h="390525">
                <a:moveTo>
                  <a:pt x="1747900" y="163068"/>
                </a:moveTo>
                <a:lnTo>
                  <a:pt x="0" y="163068"/>
                </a:lnTo>
              </a:path>
              <a:path w="2157729" h="390525">
                <a:moveTo>
                  <a:pt x="2157603" y="390144"/>
                </a:moveTo>
                <a:lnTo>
                  <a:pt x="0" y="390144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1543240" y="4542472"/>
          <a:ext cx="4554855" cy="15148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370"/>
                <a:gridCol w="549910"/>
                <a:gridCol w="1329690"/>
                <a:gridCol w="2254885"/>
              </a:tblGrid>
              <a:tr h="303275">
                <a:tc>
                  <a:txBody>
                    <a:bodyPr/>
                    <a:lstStyle/>
                    <a:p>
                      <a:pPr marR="26034" algn="r">
                        <a:lnSpc>
                          <a:spcPts val="198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S</a:t>
                      </a:r>
                      <a:r>
                        <a:rPr sz="1800" baseline="-16203" dirty="0">
                          <a:latin typeface="Carlito"/>
                          <a:cs typeface="Carlito"/>
                        </a:rPr>
                        <a:t>1</a:t>
                      </a:r>
                      <a:endParaRPr sz="1800" baseline="-16203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ts val="198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S</a:t>
                      </a:r>
                      <a:r>
                        <a:rPr sz="1800" baseline="-16203" dirty="0">
                          <a:latin typeface="Carlito"/>
                          <a:cs typeface="Carlito"/>
                        </a:rPr>
                        <a:t>0</a:t>
                      </a:r>
                      <a:endParaRPr sz="1800" baseline="-16203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ts val="1985"/>
                        </a:lnSpc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Output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3384">
                        <a:lnSpc>
                          <a:spcPts val="2010"/>
                        </a:lnSpc>
                      </a:pPr>
                      <a:r>
                        <a:rPr sz="1800" spc="-15" dirty="0">
                          <a:latin typeface="Symbol"/>
                          <a:cs typeface="Symbol"/>
                        </a:rPr>
                        <a:t></a:t>
                      </a:r>
                      <a:r>
                        <a:rPr sz="1800" spc="-15" dirty="0">
                          <a:latin typeface="Carlito"/>
                          <a:cs typeface="Carlito"/>
                        </a:rPr>
                        <a:t>-operation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2818">
                <a:tc>
                  <a:txBody>
                    <a:bodyPr/>
                    <a:lstStyle/>
                    <a:p>
                      <a:pPr marR="48260" algn="r">
                        <a:lnSpc>
                          <a:spcPts val="179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3685" algn="r">
                        <a:lnSpc>
                          <a:spcPts val="179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F = A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18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B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4">
                  <a:txBody>
                    <a:bodyPr/>
                    <a:lstStyle/>
                    <a:p>
                      <a:pPr marL="47625">
                        <a:lnSpc>
                          <a:spcPts val="179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AND</a:t>
                      </a:r>
                      <a:endParaRPr sz="1800">
                        <a:latin typeface="Carlito"/>
                        <a:cs typeface="Carlito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OR</a:t>
                      </a:r>
                      <a:endParaRPr sz="1800">
                        <a:latin typeface="Carlito"/>
                        <a:cs typeface="Carlito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0" dirty="0">
                          <a:latin typeface="Carlito"/>
                          <a:cs typeface="Carlito"/>
                        </a:rPr>
                        <a:t>XOR</a:t>
                      </a:r>
                      <a:endParaRPr sz="1800">
                        <a:latin typeface="Carlito"/>
                        <a:cs typeface="Carlito"/>
                      </a:endParaRPr>
                    </a:p>
                    <a:p>
                      <a:pPr marL="463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Complement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0490"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286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7368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286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F = A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B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879"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73685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540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F = A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</a:t>
                      </a:r>
                      <a:r>
                        <a:rPr sz="1800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B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5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390">
                <a:tc>
                  <a:txBody>
                    <a:bodyPr/>
                    <a:lstStyle/>
                    <a:p>
                      <a:pPr marR="48260" algn="r">
                        <a:lnSpc>
                          <a:spcPts val="206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685" algn="r">
                        <a:lnSpc>
                          <a:spcPts val="206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20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F =</a:t>
                      </a:r>
                      <a:r>
                        <a:rPr sz="18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35" dirty="0">
                          <a:latin typeface="Carlito"/>
                          <a:cs typeface="Carlito"/>
                        </a:rPr>
                        <a:t>A’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5208" y="267969"/>
            <a:ext cx="5109592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0744" algn="l"/>
              </a:tabLst>
            </a:pPr>
            <a:r>
              <a:rPr spc="-5" smtClean="0">
                <a:latin typeface="Carlito"/>
                <a:cs typeface="Carlito"/>
              </a:rPr>
              <a:t>SHIFT</a:t>
            </a:r>
            <a:r>
              <a:rPr lang="en-US" spc="-5" dirty="0" smtClean="0">
                <a:latin typeface="Carlito"/>
                <a:cs typeface="Carlito"/>
              </a:rPr>
              <a:t> </a:t>
            </a:r>
            <a:r>
              <a:rPr spc="-30" smtClean="0">
                <a:latin typeface="Carlito"/>
                <a:cs typeface="Carlito"/>
              </a:rPr>
              <a:t>MICRO</a:t>
            </a:r>
            <a:r>
              <a:rPr lang="en-US" spc="-30" dirty="0" smtClean="0">
                <a:latin typeface="Carlito"/>
                <a:cs typeface="Carlito"/>
              </a:rPr>
              <a:t> </a:t>
            </a:r>
            <a:r>
              <a:rPr spc="-30" smtClean="0">
                <a:latin typeface="Carlito"/>
                <a:cs typeface="Carlito"/>
              </a:rPr>
              <a:t>OPERATIONS</a:t>
            </a:r>
            <a:endParaRPr spc="-30" dirty="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01951" y="4070603"/>
            <a:ext cx="6275705" cy="445134"/>
            <a:chOff x="1901951" y="4070603"/>
            <a:chExt cx="6275705" cy="445134"/>
          </a:xfrm>
        </p:grpSpPr>
        <p:sp>
          <p:nvSpPr>
            <p:cNvPr id="4" name="object 4"/>
            <p:cNvSpPr/>
            <p:nvPr/>
          </p:nvSpPr>
          <p:spPr>
            <a:xfrm>
              <a:off x="2410967" y="4076699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4" h="433070">
                  <a:moveTo>
                    <a:pt x="0" y="432562"/>
                  </a:moveTo>
                  <a:lnTo>
                    <a:pt x="361061" y="432562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72156" y="4255007"/>
              <a:ext cx="359410" cy="76200"/>
            </a:xfrm>
            <a:custGeom>
              <a:avLst/>
              <a:gdLst/>
              <a:ahLst/>
              <a:cxnLst/>
              <a:rect l="l" t="t" r="r" b="b"/>
              <a:pathLst>
                <a:path w="359410" h="76200">
                  <a:moveTo>
                    <a:pt x="28315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159" y="44450"/>
                  </a:lnTo>
                  <a:lnTo>
                    <a:pt x="283159" y="31750"/>
                  </a:lnTo>
                  <a:close/>
                </a:path>
                <a:path w="359410" h="76200">
                  <a:moveTo>
                    <a:pt x="359283" y="38100"/>
                  </a:moveTo>
                  <a:lnTo>
                    <a:pt x="346583" y="31750"/>
                  </a:lnTo>
                  <a:lnTo>
                    <a:pt x="283210" y="0"/>
                  </a:lnTo>
                  <a:lnTo>
                    <a:pt x="283210" y="76200"/>
                  </a:lnTo>
                  <a:lnTo>
                    <a:pt x="346583" y="44450"/>
                  </a:lnTo>
                  <a:lnTo>
                    <a:pt x="3592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31819" y="4076699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4" h="433070">
                  <a:moveTo>
                    <a:pt x="0" y="432562"/>
                  </a:moveTo>
                  <a:lnTo>
                    <a:pt x="361060" y="432562"/>
                  </a:lnTo>
                  <a:lnTo>
                    <a:pt x="361060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93008" y="4255007"/>
              <a:ext cx="359410" cy="76200"/>
            </a:xfrm>
            <a:custGeom>
              <a:avLst/>
              <a:gdLst/>
              <a:ahLst/>
              <a:cxnLst/>
              <a:rect l="l" t="t" r="r" b="b"/>
              <a:pathLst>
                <a:path w="359410" h="76200">
                  <a:moveTo>
                    <a:pt x="28315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159" y="44450"/>
                  </a:lnTo>
                  <a:lnTo>
                    <a:pt x="283159" y="31750"/>
                  </a:lnTo>
                  <a:close/>
                </a:path>
                <a:path w="359410" h="76200">
                  <a:moveTo>
                    <a:pt x="359283" y="38100"/>
                  </a:moveTo>
                  <a:lnTo>
                    <a:pt x="346583" y="31750"/>
                  </a:lnTo>
                  <a:lnTo>
                    <a:pt x="283210" y="0"/>
                  </a:lnTo>
                  <a:lnTo>
                    <a:pt x="283210" y="76200"/>
                  </a:lnTo>
                  <a:lnTo>
                    <a:pt x="346583" y="44450"/>
                  </a:lnTo>
                  <a:lnTo>
                    <a:pt x="3592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52672" y="4076699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4" h="433070">
                  <a:moveTo>
                    <a:pt x="0" y="432562"/>
                  </a:moveTo>
                  <a:lnTo>
                    <a:pt x="361061" y="432562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13860" y="4255007"/>
              <a:ext cx="359410" cy="76200"/>
            </a:xfrm>
            <a:custGeom>
              <a:avLst/>
              <a:gdLst/>
              <a:ahLst/>
              <a:cxnLst/>
              <a:rect l="l" t="t" r="r" b="b"/>
              <a:pathLst>
                <a:path w="359410" h="76200">
                  <a:moveTo>
                    <a:pt x="28315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159" y="44450"/>
                  </a:lnTo>
                  <a:lnTo>
                    <a:pt x="283159" y="31750"/>
                  </a:lnTo>
                  <a:close/>
                </a:path>
                <a:path w="359410" h="76200">
                  <a:moveTo>
                    <a:pt x="359283" y="38100"/>
                  </a:moveTo>
                  <a:lnTo>
                    <a:pt x="346583" y="31750"/>
                  </a:lnTo>
                  <a:lnTo>
                    <a:pt x="283210" y="0"/>
                  </a:lnTo>
                  <a:lnTo>
                    <a:pt x="283210" y="76200"/>
                  </a:lnTo>
                  <a:lnTo>
                    <a:pt x="346583" y="44450"/>
                  </a:lnTo>
                  <a:lnTo>
                    <a:pt x="3592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3523" y="4076699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4" h="433070">
                  <a:moveTo>
                    <a:pt x="0" y="432562"/>
                  </a:moveTo>
                  <a:lnTo>
                    <a:pt x="361061" y="432562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34712" y="4255007"/>
              <a:ext cx="359410" cy="76200"/>
            </a:xfrm>
            <a:custGeom>
              <a:avLst/>
              <a:gdLst/>
              <a:ahLst/>
              <a:cxnLst/>
              <a:rect l="l" t="t" r="r" b="b"/>
              <a:pathLst>
                <a:path w="359410" h="76200">
                  <a:moveTo>
                    <a:pt x="28315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159" y="44450"/>
                  </a:lnTo>
                  <a:lnTo>
                    <a:pt x="283159" y="31750"/>
                  </a:lnTo>
                  <a:close/>
                </a:path>
                <a:path w="359410" h="76200">
                  <a:moveTo>
                    <a:pt x="359283" y="38100"/>
                  </a:moveTo>
                  <a:lnTo>
                    <a:pt x="346583" y="31750"/>
                  </a:lnTo>
                  <a:lnTo>
                    <a:pt x="283210" y="0"/>
                  </a:lnTo>
                  <a:lnTo>
                    <a:pt x="283210" y="76200"/>
                  </a:lnTo>
                  <a:lnTo>
                    <a:pt x="346583" y="44450"/>
                  </a:lnTo>
                  <a:lnTo>
                    <a:pt x="3592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94375" y="4076699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70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54040" y="4255007"/>
              <a:ext cx="361315" cy="76200"/>
            </a:xfrm>
            <a:custGeom>
              <a:avLst/>
              <a:gdLst/>
              <a:ahLst/>
              <a:cxnLst/>
              <a:rect l="l" t="t" r="r" b="b"/>
              <a:pathLst>
                <a:path w="361314" h="76200">
                  <a:moveTo>
                    <a:pt x="361061" y="38100"/>
                  </a:moveTo>
                  <a:lnTo>
                    <a:pt x="348361" y="31750"/>
                  </a:lnTo>
                  <a:lnTo>
                    <a:pt x="284861" y="0"/>
                  </a:lnTo>
                  <a:lnTo>
                    <a:pt x="284861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284861" y="44450"/>
                  </a:lnTo>
                  <a:lnTo>
                    <a:pt x="284861" y="76200"/>
                  </a:lnTo>
                  <a:lnTo>
                    <a:pt x="348361" y="44450"/>
                  </a:lnTo>
                  <a:lnTo>
                    <a:pt x="36106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15227" y="4076699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70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74892" y="4255007"/>
              <a:ext cx="361315" cy="76200"/>
            </a:xfrm>
            <a:custGeom>
              <a:avLst/>
              <a:gdLst/>
              <a:ahLst/>
              <a:cxnLst/>
              <a:rect l="l" t="t" r="r" b="b"/>
              <a:pathLst>
                <a:path w="361315" h="76200">
                  <a:moveTo>
                    <a:pt x="361061" y="38100"/>
                  </a:moveTo>
                  <a:lnTo>
                    <a:pt x="348361" y="31750"/>
                  </a:lnTo>
                  <a:lnTo>
                    <a:pt x="284861" y="0"/>
                  </a:lnTo>
                  <a:lnTo>
                    <a:pt x="284861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284861" y="44450"/>
                  </a:lnTo>
                  <a:lnTo>
                    <a:pt x="284861" y="76200"/>
                  </a:lnTo>
                  <a:lnTo>
                    <a:pt x="348361" y="44450"/>
                  </a:lnTo>
                  <a:lnTo>
                    <a:pt x="36106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36080" y="4076699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09" h="433070">
                  <a:moveTo>
                    <a:pt x="0" y="432562"/>
                  </a:moveTo>
                  <a:lnTo>
                    <a:pt x="359282" y="432562"/>
                  </a:lnTo>
                  <a:lnTo>
                    <a:pt x="359282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95744" y="4255007"/>
              <a:ext cx="361315" cy="76200"/>
            </a:xfrm>
            <a:custGeom>
              <a:avLst/>
              <a:gdLst/>
              <a:ahLst/>
              <a:cxnLst/>
              <a:rect l="l" t="t" r="r" b="b"/>
              <a:pathLst>
                <a:path w="361315" h="76200">
                  <a:moveTo>
                    <a:pt x="361061" y="38100"/>
                  </a:moveTo>
                  <a:lnTo>
                    <a:pt x="348361" y="31750"/>
                  </a:lnTo>
                  <a:lnTo>
                    <a:pt x="284861" y="0"/>
                  </a:lnTo>
                  <a:lnTo>
                    <a:pt x="284861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284861" y="44450"/>
                  </a:lnTo>
                  <a:lnTo>
                    <a:pt x="284861" y="76200"/>
                  </a:lnTo>
                  <a:lnTo>
                    <a:pt x="348361" y="44450"/>
                  </a:lnTo>
                  <a:lnTo>
                    <a:pt x="36106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56931" y="4076699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09" h="433070">
                  <a:moveTo>
                    <a:pt x="0" y="432562"/>
                  </a:moveTo>
                  <a:lnTo>
                    <a:pt x="359282" y="432562"/>
                  </a:lnTo>
                  <a:lnTo>
                    <a:pt x="359282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51304" y="4255007"/>
              <a:ext cx="6126480" cy="76200"/>
            </a:xfrm>
            <a:custGeom>
              <a:avLst/>
              <a:gdLst/>
              <a:ahLst/>
              <a:cxnLst/>
              <a:rect l="l" t="t" r="r" b="b"/>
              <a:pathLst>
                <a:path w="6126480" h="76200">
                  <a:moveTo>
                    <a:pt x="28315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159" y="44450"/>
                  </a:lnTo>
                  <a:lnTo>
                    <a:pt x="283159" y="31750"/>
                  </a:lnTo>
                  <a:close/>
                </a:path>
                <a:path w="6126480" h="76200">
                  <a:moveTo>
                    <a:pt x="359283" y="38100"/>
                  </a:moveTo>
                  <a:lnTo>
                    <a:pt x="346583" y="31750"/>
                  </a:lnTo>
                  <a:lnTo>
                    <a:pt x="283210" y="0"/>
                  </a:lnTo>
                  <a:lnTo>
                    <a:pt x="283210" y="76200"/>
                  </a:lnTo>
                  <a:lnTo>
                    <a:pt x="346583" y="44450"/>
                  </a:lnTo>
                  <a:lnTo>
                    <a:pt x="359283" y="38100"/>
                  </a:lnTo>
                  <a:close/>
                </a:path>
                <a:path w="6126480" h="76200">
                  <a:moveTo>
                    <a:pt x="6126353" y="38100"/>
                  </a:moveTo>
                  <a:lnTo>
                    <a:pt x="6113653" y="31750"/>
                  </a:lnTo>
                  <a:lnTo>
                    <a:pt x="6050153" y="0"/>
                  </a:lnTo>
                  <a:lnTo>
                    <a:pt x="6050153" y="31750"/>
                  </a:lnTo>
                  <a:lnTo>
                    <a:pt x="5765292" y="31750"/>
                  </a:lnTo>
                  <a:lnTo>
                    <a:pt x="5765292" y="44450"/>
                  </a:lnTo>
                  <a:lnTo>
                    <a:pt x="6050153" y="44450"/>
                  </a:lnTo>
                  <a:lnTo>
                    <a:pt x="6050153" y="76200"/>
                  </a:lnTo>
                  <a:lnTo>
                    <a:pt x="6113653" y="44450"/>
                  </a:lnTo>
                  <a:lnTo>
                    <a:pt x="612635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08047" y="4076699"/>
              <a:ext cx="143510" cy="216535"/>
            </a:xfrm>
            <a:custGeom>
              <a:avLst/>
              <a:gdLst/>
              <a:ahLst/>
              <a:cxnLst/>
              <a:rect l="l" t="t" r="r" b="b"/>
              <a:pathLst>
                <a:path w="143510" h="216535">
                  <a:moveTo>
                    <a:pt x="143001" y="216281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048255" y="5655564"/>
            <a:ext cx="6274435" cy="445134"/>
            <a:chOff x="2048255" y="5655564"/>
            <a:chExt cx="6274435" cy="445134"/>
          </a:xfrm>
        </p:grpSpPr>
        <p:sp>
          <p:nvSpPr>
            <p:cNvPr id="22" name="object 22"/>
            <p:cNvSpPr/>
            <p:nvPr/>
          </p:nvSpPr>
          <p:spPr>
            <a:xfrm>
              <a:off x="2407919" y="5661660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4" h="433070">
                  <a:moveTo>
                    <a:pt x="0" y="432561"/>
                  </a:moveTo>
                  <a:lnTo>
                    <a:pt x="361061" y="432561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256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69107" y="5839968"/>
              <a:ext cx="76200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45180" y="5870524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10" h="13970">
                  <a:moveTo>
                    <a:pt x="283210" y="0"/>
                  </a:moveTo>
                  <a:lnTo>
                    <a:pt x="0" y="1206"/>
                  </a:lnTo>
                  <a:lnTo>
                    <a:pt x="126" y="13906"/>
                  </a:lnTo>
                  <a:lnTo>
                    <a:pt x="283210" y="12700"/>
                  </a:lnTo>
                  <a:lnTo>
                    <a:pt x="283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28772" y="5661660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4" h="433070">
                  <a:moveTo>
                    <a:pt x="0" y="432561"/>
                  </a:moveTo>
                  <a:lnTo>
                    <a:pt x="361061" y="432561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256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89959" y="5839968"/>
              <a:ext cx="76200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66033" y="5870524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10" h="13970">
                  <a:moveTo>
                    <a:pt x="283209" y="0"/>
                  </a:moveTo>
                  <a:lnTo>
                    <a:pt x="0" y="1206"/>
                  </a:lnTo>
                  <a:lnTo>
                    <a:pt x="126" y="13906"/>
                  </a:lnTo>
                  <a:lnTo>
                    <a:pt x="283209" y="12700"/>
                  </a:lnTo>
                  <a:lnTo>
                    <a:pt x="283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49623" y="5661660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4" h="433070">
                  <a:moveTo>
                    <a:pt x="0" y="432561"/>
                  </a:moveTo>
                  <a:lnTo>
                    <a:pt x="361061" y="432561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256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10811" y="5839968"/>
              <a:ext cx="76200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86885" y="5870524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10" h="13970">
                  <a:moveTo>
                    <a:pt x="283210" y="0"/>
                  </a:moveTo>
                  <a:lnTo>
                    <a:pt x="0" y="1206"/>
                  </a:lnTo>
                  <a:lnTo>
                    <a:pt x="126" y="13906"/>
                  </a:lnTo>
                  <a:lnTo>
                    <a:pt x="283210" y="12700"/>
                  </a:lnTo>
                  <a:lnTo>
                    <a:pt x="283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70476" y="5661660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70">
                  <a:moveTo>
                    <a:pt x="0" y="432561"/>
                  </a:moveTo>
                  <a:lnTo>
                    <a:pt x="359283" y="432561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30139" y="5839968"/>
              <a:ext cx="76326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06339" y="5870511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70">
                  <a:moveTo>
                    <a:pt x="284861" y="0"/>
                  </a:moveTo>
                  <a:lnTo>
                    <a:pt x="0" y="1206"/>
                  </a:lnTo>
                  <a:lnTo>
                    <a:pt x="0" y="13906"/>
                  </a:lnTo>
                  <a:lnTo>
                    <a:pt x="284861" y="12700"/>
                  </a:lnTo>
                  <a:lnTo>
                    <a:pt x="2848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91327" y="5661660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70">
                  <a:moveTo>
                    <a:pt x="0" y="432561"/>
                  </a:moveTo>
                  <a:lnTo>
                    <a:pt x="359283" y="432561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50991" y="5839968"/>
              <a:ext cx="76327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727191" y="5870511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70">
                  <a:moveTo>
                    <a:pt x="284861" y="0"/>
                  </a:moveTo>
                  <a:lnTo>
                    <a:pt x="0" y="1206"/>
                  </a:lnTo>
                  <a:lnTo>
                    <a:pt x="0" y="13906"/>
                  </a:lnTo>
                  <a:lnTo>
                    <a:pt x="284861" y="12700"/>
                  </a:lnTo>
                  <a:lnTo>
                    <a:pt x="2848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12179" y="5661660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70">
                  <a:moveTo>
                    <a:pt x="0" y="432561"/>
                  </a:moveTo>
                  <a:lnTo>
                    <a:pt x="359283" y="432561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71844" y="5839968"/>
              <a:ext cx="76326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448044" y="5870511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5" h="13970">
                  <a:moveTo>
                    <a:pt x="284860" y="0"/>
                  </a:moveTo>
                  <a:lnTo>
                    <a:pt x="0" y="1206"/>
                  </a:lnTo>
                  <a:lnTo>
                    <a:pt x="0" y="13906"/>
                  </a:lnTo>
                  <a:lnTo>
                    <a:pt x="284860" y="12700"/>
                  </a:lnTo>
                  <a:lnTo>
                    <a:pt x="2848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33032" y="5661660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09" h="433070">
                  <a:moveTo>
                    <a:pt x="0" y="432561"/>
                  </a:moveTo>
                  <a:lnTo>
                    <a:pt x="359282" y="432561"/>
                  </a:lnTo>
                  <a:lnTo>
                    <a:pt x="359282" y="0"/>
                  </a:lnTo>
                  <a:lnTo>
                    <a:pt x="0" y="0"/>
                  </a:lnTo>
                  <a:lnTo>
                    <a:pt x="0" y="43256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92696" y="5839968"/>
              <a:ext cx="76326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168896" y="5870511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5" h="13970">
                  <a:moveTo>
                    <a:pt x="284860" y="0"/>
                  </a:moveTo>
                  <a:lnTo>
                    <a:pt x="0" y="1206"/>
                  </a:lnTo>
                  <a:lnTo>
                    <a:pt x="0" y="13906"/>
                  </a:lnTo>
                  <a:lnTo>
                    <a:pt x="284860" y="12700"/>
                  </a:lnTo>
                  <a:lnTo>
                    <a:pt x="2848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53884" y="5661660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09" h="433070">
                  <a:moveTo>
                    <a:pt x="0" y="432561"/>
                  </a:moveTo>
                  <a:lnTo>
                    <a:pt x="359282" y="432561"/>
                  </a:lnTo>
                  <a:lnTo>
                    <a:pt x="359282" y="0"/>
                  </a:lnTo>
                  <a:lnTo>
                    <a:pt x="0" y="0"/>
                  </a:lnTo>
                  <a:lnTo>
                    <a:pt x="0" y="43256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812023" y="5839968"/>
              <a:ext cx="76326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888223" y="5870511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5" h="13970">
                  <a:moveTo>
                    <a:pt x="284860" y="0"/>
                  </a:moveTo>
                  <a:lnTo>
                    <a:pt x="0" y="1206"/>
                  </a:lnTo>
                  <a:lnTo>
                    <a:pt x="0" y="13906"/>
                  </a:lnTo>
                  <a:lnTo>
                    <a:pt x="284860" y="12700"/>
                  </a:lnTo>
                  <a:lnTo>
                    <a:pt x="2848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048255" y="5839968"/>
              <a:ext cx="76200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124328" y="5870524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10" h="13970">
                  <a:moveTo>
                    <a:pt x="283209" y="0"/>
                  </a:moveTo>
                  <a:lnTo>
                    <a:pt x="0" y="1206"/>
                  </a:lnTo>
                  <a:lnTo>
                    <a:pt x="126" y="13906"/>
                  </a:lnTo>
                  <a:lnTo>
                    <a:pt x="283209" y="12700"/>
                  </a:lnTo>
                  <a:lnTo>
                    <a:pt x="283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173211" y="5731764"/>
              <a:ext cx="143510" cy="144780"/>
            </a:xfrm>
            <a:custGeom>
              <a:avLst/>
              <a:gdLst/>
              <a:ahLst/>
              <a:cxnLst/>
              <a:rect l="l" t="t" r="r" b="b"/>
              <a:pathLst>
                <a:path w="143509" h="144779">
                  <a:moveTo>
                    <a:pt x="0" y="144780"/>
                  </a:moveTo>
                  <a:lnTo>
                    <a:pt x="143002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46912" y="864291"/>
            <a:ext cx="7606488" cy="340487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63220" indent="-3429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62585" algn="l"/>
                <a:tab pos="363220" algn="l"/>
              </a:tabLst>
            </a:pPr>
            <a:r>
              <a:rPr sz="2000" dirty="0">
                <a:latin typeface="Times New Roman"/>
                <a:cs typeface="Times New Roman"/>
              </a:rPr>
              <a:t>There are three </a:t>
            </a:r>
            <a:r>
              <a:rPr sz="2000" spc="-5" dirty="0">
                <a:latin typeface="Times New Roman"/>
                <a:cs typeface="Times New Roman"/>
              </a:rPr>
              <a:t>types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shifts</a:t>
            </a:r>
            <a:endParaRPr sz="2000">
              <a:latin typeface="Times New Roman"/>
              <a:cs typeface="Times New Roman"/>
            </a:endParaRPr>
          </a:p>
          <a:p>
            <a:pPr marL="763905" lvl="1" indent="-287020">
              <a:lnSpc>
                <a:spcPct val="100000"/>
              </a:lnSpc>
              <a:spcBef>
                <a:spcPts val="409"/>
              </a:spcBef>
              <a:buFont typeface="Arial"/>
              <a:buChar char="–"/>
              <a:tabLst>
                <a:tab pos="763905" algn="l"/>
                <a:tab pos="764540" algn="l"/>
              </a:tabLst>
            </a:pPr>
            <a:r>
              <a:rPr sz="1600" b="1" i="1" dirty="0">
                <a:latin typeface="Times New Roman"/>
                <a:cs typeface="Times New Roman"/>
              </a:rPr>
              <a:t>Logical</a:t>
            </a:r>
            <a:r>
              <a:rPr sz="1600" b="1" i="1" spc="-30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shift</a:t>
            </a:r>
            <a:endParaRPr sz="1600" b="1">
              <a:latin typeface="Times New Roman"/>
              <a:cs typeface="Times New Roman"/>
            </a:endParaRPr>
          </a:p>
          <a:p>
            <a:pPr marL="763905" lvl="1" indent="-287020">
              <a:lnSpc>
                <a:spcPct val="100000"/>
              </a:lnSpc>
              <a:spcBef>
                <a:spcPts val="400"/>
              </a:spcBef>
              <a:buFont typeface="Arial"/>
              <a:buChar char="–"/>
              <a:tabLst>
                <a:tab pos="763905" algn="l"/>
                <a:tab pos="764540" algn="l"/>
              </a:tabLst>
            </a:pPr>
            <a:r>
              <a:rPr sz="1600" b="1" i="1" spc="-20" dirty="0">
                <a:latin typeface="Times New Roman"/>
                <a:cs typeface="Times New Roman"/>
              </a:rPr>
              <a:t>Circular</a:t>
            </a:r>
            <a:r>
              <a:rPr sz="1600" b="1" i="1" spc="15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shift</a:t>
            </a:r>
            <a:endParaRPr sz="1600" b="1">
              <a:latin typeface="Times New Roman"/>
              <a:cs typeface="Times New Roman"/>
            </a:endParaRPr>
          </a:p>
          <a:p>
            <a:pPr marL="763905" lvl="1" indent="-287020">
              <a:lnSpc>
                <a:spcPct val="100000"/>
              </a:lnSpc>
              <a:spcBef>
                <a:spcPts val="409"/>
              </a:spcBef>
              <a:buFont typeface="Arial"/>
              <a:buChar char="–"/>
              <a:tabLst>
                <a:tab pos="763905" algn="l"/>
                <a:tab pos="764540" algn="l"/>
              </a:tabLst>
            </a:pPr>
            <a:r>
              <a:rPr sz="1600" b="1" i="1" spc="-5" dirty="0">
                <a:latin typeface="Times New Roman"/>
                <a:cs typeface="Times New Roman"/>
              </a:rPr>
              <a:t>Arithmetic</a:t>
            </a:r>
            <a:r>
              <a:rPr sz="1600" b="1" i="1" spc="-10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shift</a:t>
            </a:r>
            <a:endParaRPr sz="1600" b="1">
              <a:latin typeface="Times New Roman"/>
              <a:cs typeface="Times New Roman"/>
            </a:endParaRPr>
          </a:p>
          <a:p>
            <a:pPr marL="363220" marR="5080" indent="-3429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62585" algn="l"/>
                <a:tab pos="363220" algn="l"/>
              </a:tabLst>
            </a:pP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differentiates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information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serial  input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1555"/>
              </a:spcBef>
              <a:buChar char="•"/>
              <a:tabLst>
                <a:tab pos="195580" algn="l"/>
              </a:tabLst>
            </a:pP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right shift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operation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Carlito"/>
              <a:cs typeface="Carlito"/>
            </a:endParaRPr>
          </a:p>
          <a:p>
            <a:pPr marL="789305" marR="5855335" indent="-41275">
              <a:lnSpc>
                <a:spcPct val="78100"/>
              </a:lnSpc>
            </a:pPr>
            <a:r>
              <a:rPr sz="1600" spc="-5" dirty="0">
                <a:latin typeface="Arial"/>
                <a:cs typeface="Arial"/>
              </a:rPr>
              <a:t>Serial  input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46912" y="5114620"/>
            <a:ext cx="23158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har char="•"/>
              <a:tabLst>
                <a:tab pos="195580" algn="l"/>
              </a:tabLst>
            </a:pP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left shift</a:t>
            </a:r>
            <a:r>
              <a:rPr sz="2000" spc="-140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operation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126094" y="5199633"/>
            <a:ext cx="544830" cy="4597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52069" marR="5080" indent="-40005">
              <a:lnSpc>
                <a:spcPct val="78100"/>
              </a:lnSpc>
              <a:spcBef>
                <a:spcPts val="515"/>
              </a:spcBef>
            </a:pPr>
            <a:r>
              <a:rPr sz="1600" spc="-5" dirty="0">
                <a:latin typeface="Arial"/>
                <a:cs typeface="Arial"/>
              </a:rPr>
              <a:t>Ser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-5" dirty="0">
                <a:latin typeface="Arial"/>
                <a:cs typeface="Arial"/>
              </a:rPr>
              <a:t>al  input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5684" y="267969"/>
            <a:ext cx="3129916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>
                <a:latin typeface="Carlito"/>
                <a:cs typeface="Carlito"/>
              </a:rPr>
              <a:t>LOGICAL</a:t>
            </a:r>
            <a:r>
              <a:rPr spc="-65"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SHIFT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836" y="4573651"/>
            <a:ext cx="767476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In a </a:t>
            </a:r>
            <a:r>
              <a:rPr sz="2000" spc="-25" dirty="0">
                <a:latin typeface="Carlito"/>
                <a:cs typeface="Carlito"/>
              </a:rPr>
              <a:t>Register </a:t>
            </a:r>
            <a:r>
              <a:rPr sz="2000" spc="-65" dirty="0">
                <a:latin typeface="Carlito"/>
                <a:cs typeface="Carlito"/>
              </a:rPr>
              <a:t>Transfer </a:t>
            </a:r>
            <a:r>
              <a:rPr sz="2000" spc="-5" dirty="0">
                <a:latin typeface="Carlito"/>
                <a:cs typeface="Carlito"/>
              </a:rPr>
              <a:t>Language,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20" dirty="0">
                <a:latin typeface="Carlito"/>
                <a:cs typeface="Carlito"/>
              </a:rPr>
              <a:t>following notation </a:t>
            </a:r>
            <a:r>
              <a:rPr sz="2000" spc="-5" dirty="0">
                <a:latin typeface="Carlito"/>
                <a:cs typeface="Carlito"/>
              </a:rPr>
              <a:t>is</a:t>
            </a:r>
            <a:r>
              <a:rPr sz="2000" spc="114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used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4298" y="4865965"/>
            <a:ext cx="2492502" cy="611505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sz="1600" spc="-25" dirty="0">
                <a:latin typeface="Carlito"/>
                <a:cs typeface="Carlito"/>
              </a:rPr>
              <a:t>for </a:t>
            </a:r>
            <a:r>
              <a:rPr sz="1600" spc="-5" dirty="0">
                <a:latin typeface="Carlito"/>
                <a:cs typeface="Carlito"/>
              </a:rPr>
              <a:t>a </a:t>
            </a:r>
            <a:r>
              <a:rPr sz="1600" spc="-10" dirty="0">
                <a:latin typeface="Carlito"/>
                <a:cs typeface="Carlito"/>
              </a:rPr>
              <a:t>logical </a:t>
            </a:r>
            <a:r>
              <a:rPr sz="1600" spc="-5" dirty="0">
                <a:latin typeface="Carlito"/>
                <a:cs typeface="Carlito"/>
              </a:rPr>
              <a:t>shift</a:t>
            </a:r>
            <a:r>
              <a:rPr sz="1600" spc="-10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left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25" dirty="0">
                <a:latin typeface="Carlito"/>
                <a:cs typeface="Carlito"/>
              </a:rPr>
              <a:t>for </a:t>
            </a:r>
            <a:r>
              <a:rPr sz="1600" spc="-5" dirty="0">
                <a:latin typeface="Carlito"/>
                <a:cs typeface="Carlito"/>
              </a:rPr>
              <a:t>a </a:t>
            </a:r>
            <a:r>
              <a:rPr sz="1600" spc="-10" dirty="0">
                <a:latin typeface="Carlito"/>
                <a:cs typeface="Carlito"/>
              </a:rPr>
              <a:t>logical </a:t>
            </a:r>
            <a:r>
              <a:rPr sz="1600" spc="-5" dirty="0">
                <a:latin typeface="Carlito"/>
                <a:cs typeface="Carlito"/>
              </a:rPr>
              <a:t>shift</a:t>
            </a:r>
            <a:r>
              <a:rPr sz="1600" spc="-215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right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4885080"/>
            <a:ext cx="1523999" cy="90995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495"/>
              </a:spcBef>
              <a:buFont typeface="Arial"/>
              <a:buChar char="–"/>
              <a:tabLst>
                <a:tab pos="299085" algn="l"/>
                <a:tab pos="299720" algn="l"/>
              </a:tabLst>
            </a:pPr>
            <a:r>
              <a:rPr sz="1600" i="1" spc="-15" dirty="0">
                <a:latin typeface="Carlito"/>
                <a:cs typeface="Carlito"/>
              </a:rPr>
              <a:t>shl</a:t>
            </a:r>
            <a:endParaRPr sz="16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395"/>
              </a:spcBef>
              <a:buFont typeface="Arial"/>
              <a:buChar char="–"/>
              <a:tabLst>
                <a:tab pos="299085" algn="l"/>
                <a:tab pos="299720" algn="l"/>
              </a:tabLst>
            </a:pPr>
            <a:r>
              <a:rPr sz="1600" i="1" spc="-15" dirty="0">
                <a:latin typeface="Carlito"/>
                <a:cs typeface="Carlito"/>
              </a:rPr>
              <a:t>shr</a:t>
            </a:r>
            <a:endParaRPr sz="16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409"/>
              </a:spcBef>
              <a:buFont typeface="Arial"/>
              <a:buChar char="–"/>
              <a:tabLst>
                <a:tab pos="299085" algn="l"/>
                <a:tab pos="299720" algn="l"/>
              </a:tabLst>
            </a:pPr>
            <a:r>
              <a:rPr sz="1600" spc="-20" dirty="0">
                <a:latin typeface="Carlito"/>
                <a:cs typeface="Carlito"/>
              </a:rPr>
              <a:t>E</a:t>
            </a:r>
            <a:r>
              <a:rPr sz="1600" spc="-50" dirty="0">
                <a:latin typeface="Carlito"/>
                <a:cs typeface="Carlito"/>
              </a:rPr>
              <a:t>x</a:t>
            </a:r>
            <a:r>
              <a:rPr sz="1600" spc="-5" dirty="0">
                <a:latin typeface="Carlito"/>
                <a:cs typeface="Carlito"/>
              </a:rPr>
              <a:t>amp</a:t>
            </a:r>
            <a:r>
              <a:rPr sz="1600" dirty="0">
                <a:latin typeface="Carlito"/>
                <a:cs typeface="Carlito"/>
              </a:rPr>
              <a:t>l</a:t>
            </a:r>
            <a:r>
              <a:rPr sz="1600" spc="-5" dirty="0">
                <a:latin typeface="Carlito"/>
                <a:cs typeface="Carlito"/>
              </a:rPr>
              <a:t>es: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9262" y="5763546"/>
            <a:ext cx="1502537" cy="61785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600" spc="-5" dirty="0">
                <a:latin typeface="Carlito"/>
                <a:cs typeface="Carlito"/>
              </a:rPr>
              <a:t>R2 </a:t>
            </a:r>
            <a:r>
              <a:rPr sz="1600" spc="-5" dirty="0">
                <a:latin typeface="Symbol"/>
                <a:cs typeface="Symbol"/>
              </a:rPr>
              <a:t>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Carlito"/>
                <a:cs typeface="Carlito"/>
              </a:rPr>
              <a:t>shr</a:t>
            </a:r>
            <a:r>
              <a:rPr sz="1600" i="1" spc="-204" dirty="0">
                <a:latin typeface="Carlito"/>
                <a:cs typeface="Carlito"/>
              </a:rPr>
              <a:t> </a:t>
            </a:r>
            <a:r>
              <a:rPr sz="1600" spc="-25" dirty="0">
                <a:latin typeface="Carlito"/>
                <a:cs typeface="Carlito"/>
              </a:rPr>
              <a:t>R2</a:t>
            </a:r>
            <a:endParaRPr sz="16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41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600" spc="-5" dirty="0">
                <a:latin typeface="Carlito"/>
                <a:cs typeface="Carlito"/>
              </a:rPr>
              <a:t>R3 </a:t>
            </a:r>
            <a:r>
              <a:rPr sz="1600" spc="-5" dirty="0">
                <a:latin typeface="Symbol"/>
                <a:cs typeface="Symbol"/>
              </a:rPr>
              <a:t>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Carlito"/>
                <a:cs typeface="Carlito"/>
              </a:rPr>
              <a:t>shl</a:t>
            </a:r>
            <a:r>
              <a:rPr sz="1600" i="1" spc="-210" dirty="0">
                <a:latin typeface="Carlito"/>
                <a:cs typeface="Carlito"/>
              </a:rPr>
              <a:t> </a:t>
            </a:r>
            <a:r>
              <a:rPr sz="1600" spc="-20" dirty="0">
                <a:latin typeface="Carlito"/>
                <a:cs typeface="Carlito"/>
              </a:rPr>
              <a:t>R3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91511" y="2339339"/>
            <a:ext cx="6274435" cy="445134"/>
            <a:chOff x="2191511" y="2339339"/>
            <a:chExt cx="6274435" cy="445134"/>
          </a:xfrm>
        </p:grpSpPr>
        <p:sp>
          <p:nvSpPr>
            <p:cNvPr id="8" name="object 8"/>
            <p:cNvSpPr/>
            <p:nvPr/>
          </p:nvSpPr>
          <p:spPr>
            <a:xfrm>
              <a:off x="2700527" y="2345435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69">
                  <a:moveTo>
                    <a:pt x="0" y="432562"/>
                  </a:moveTo>
                  <a:lnTo>
                    <a:pt x="359282" y="432562"/>
                  </a:lnTo>
                  <a:lnTo>
                    <a:pt x="359282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60192" y="2522219"/>
              <a:ext cx="361315" cy="76200"/>
            </a:xfrm>
            <a:custGeom>
              <a:avLst/>
              <a:gdLst/>
              <a:ahLst/>
              <a:cxnLst/>
              <a:rect l="l" t="t" r="r" b="b"/>
              <a:pathLst>
                <a:path w="361314" h="76200">
                  <a:moveTo>
                    <a:pt x="361061" y="38100"/>
                  </a:moveTo>
                  <a:lnTo>
                    <a:pt x="348361" y="31750"/>
                  </a:lnTo>
                  <a:lnTo>
                    <a:pt x="284861" y="0"/>
                  </a:lnTo>
                  <a:lnTo>
                    <a:pt x="284861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284861" y="44450"/>
                  </a:lnTo>
                  <a:lnTo>
                    <a:pt x="284861" y="76200"/>
                  </a:lnTo>
                  <a:lnTo>
                    <a:pt x="348361" y="44450"/>
                  </a:lnTo>
                  <a:lnTo>
                    <a:pt x="36106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21379" y="2345435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69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1044" y="2522219"/>
              <a:ext cx="361315" cy="76200"/>
            </a:xfrm>
            <a:custGeom>
              <a:avLst/>
              <a:gdLst/>
              <a:ahLst/>
              <a:cxnLst/>
              <a:rect l="l" t="t" r="r" b="b"/>
              <a:pathLst>
                <a:path w="361314" h="76200">
                  <a:moveTo>
                    <a:pt x="361061" y="38100"/>
                  </a:moveTo>
                  <a:lnTo>
                    <a:pt x="348361" y="31750"/>
                  </a:lnTo>
                  <a:lnTo>
                    <a:pt x="284861" y="0"/>
                  </a:lnTo>
                  <a:lnTo>
                    <a:pt x="284861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284861" y="44450"/>
                  </a:lnTo>
                  <a:lnTo>
                    <a:pt x="284861" y="76200"/>
                  </a:lnTo>
                  <a:lnTo>
                    <a:pt x="348361" y="44450"/>
                  </a:lnTo>
                  <a:lnTo>
                    <a:pt x="36106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2232" y="2345435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69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01896" y="2522219"/>
              <a:ext cx="361315" cy="76200"/>
            </a:xfrm>
            <a:custGeom>
              <a:avLst/>
              <a:gdLst/>
              <a:ahLst/>
              <a:cxnLst/>
              <a:rect l="l" t="t" r="r" b="b"/>
              <a:pathLst>
                <a:path w="361314" h="76200">
                  <a:moveTo>
                    <a:pt x="361061" y="38100"/>
                  </a:moveTo>
                  <a:lnTo>
                    <a:pt x="348361" y="31750"/>
                  </a:lnTo>
                  <a:lnTo>
                    <a:pt x="284861" y="0"/>
                  </a:lnTo>
                  <a:lnTo>
                    <a:pt x="284861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284861" y="44450"/>
                  </a:lnTo>
                  <a:lnTo>
                    <a:pt x="284861" y="76200"/>
                  </a:lnTo>
                  <a:lnTo>
                    <a:pt x="348361" y="44450"/>
                  </a:lnTo>
                  <a:lnTo>
                    <a:pt x="36106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63083" y="2345435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69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22748" y="2522219"/>
              <a:ext cx="361315" cy="76200"/>
            </a:xfrm>
            <a:custGeom>
              <a:avLst/>
              <a:gdLst/>
              <a:ahLst/>
              <a:cxnLst/>
              <a:rect l="l" t="t" r="r" b="b"/>
              <a:pathLst>
                <a:path w="361314" h="76200">
                  <a:moveTo>
                    <a:pt x="361061" y="38100"/>
                  </a:moveTo>
                  <a:lnTo>
                    <a:pt x="348361" y="31750"/>
                  </a:lnTo>
                  <a:lnTo>
                    <a:pt x="284861" y="0"/>
                  </a:lnTo>
                  <a:lnTo>
                    <a:pt x="284861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284861" y="44450"/>
                  </a:lnTo>
                  <a:lnTo>
                    <a:pt x="284861" y="76200"/>
                  </a:lnTo>
                  <a:lnTo>
                    <a:pt x="348361" y="44450"/>
                  </a:lnTo>
                  <a:lnTo>
                    <a:pt x="36106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83935" y="2345435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69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43600" y="2522219"/>
              <a:ext cx="359410" cy="76200"/>
            </a:xfrm>
            <a:custGeom>
              <a:avLst/>
              <a:gdLst/>
              <a:ahLst/>
              <a:cxnLst/>
              <a:rect l="l" t="t" r="r" b="b"/>
              <a:pathLst>
                <a:path w="359410" h="76200">
                  <a:moveTo>
                    <a:pt x="28315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159" y="44450"/>
                  </a:lnTo>
                  <a:lnTo>
                    <a:pt x="283159" y="31750"/>
                  </a:lnTo>
                  <a:close/>
                </a:path>
                <a:path w="359410" h="76200">
                  <a:moveTo>
                    <a:pt x="359283" y="38100"/>
                  </a:moveTo>
                  <a:lnTo>
                    <a:pt x="346583" y="31750"/>
                  </a:lnTo>
                  <a:lnTo>
                    <a:pt x="283210" y="0"/>
                  </a:lnTo>
                  <a:lnTo>
                    <a:pt x="283210" y="76200"/>
                  </a:lnTo>
                  <a:lnTo>
                    <a:pt x="346583" y="44450"/>
                  </a:lnTo>
                  <a:lnTo>
                    <a:pt x="3592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03264" y="2345435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5" h="433069">
                  <a:moveTo>
                    <a:pt x="0" y="432562"/>
                  </a:moveTo>
                  <a:lnTo>
                    <a:pt x="361061" y="432562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64452" y="2522219"/>
              <a:ext cx="359410" cy="76200"/>
            </a:xfrm>
            <a:custGeom>
              <a:avLst/>
              <a:gdLst/>
              <a:ahLst/>
              <a:cxnLst/>
              <a:rect l="l" t="t" r="r" b="b"/>
              <a:pathLst>
                <a:path w="359409" h="76200">
                  <a:moveTo>
                    <a:pt x="28315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159" y="44450"/>
                  </a:lnTo>
                  <a:lnTo>
                    <a:pt x="283159" y="31750"/>
                  </a:lnTo>
                  <a:close/>
                </a:path>
                <a:path w="359409" h="76200">
                  <a:moveTo>
                    <a:pt x="359283" y="38100"/>
                  </a:moveTo>
                  <a:lnTo>
                    <a:pt x="346583" y="31750"/>
                  </a:lnTo>
                  <a:lnTo>
                    <a:pt x="283210" y="0"/>
                  </a:lnTo>
                  <a:lnTo>
                    <a:pt x="283210" y="76200"/>
                  </a:lnTo>
                  <a:lnTo>
                    <a:pt x="346583" y="44450"/>
                  </a:lnTo>
                  <a:lnTo>
                    <a:pt x="3592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24115" y="2345435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5" h="433069">
                  <a:moveTo>
                    <a:pt x="0" y="432562"/>
                  </a:moveTo>
                  <a:lnTo>
                    <a:pt x="361060" y="432562"/>
                  </a:lnTo>
                  <a:lnTo>
                    <a:pt x="361060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85304" y="2522219"/>
              <a:ext cx="359410" cy="76200"/>
            </a:xfrm>
            <a:custGeom>
              <a:avLst/>
              <a:gdLst/>
              <a:ahLst/>
              <a:cxnLst/>
              <a:rect l="l" t="t" r="r" b="b"/>
              <a:pathLst>
                <a:path w="359409" h="76200">
                  <a:moveTo>
                    <a:pt x="28315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159" y="44450"/>
                  </a:lnTo>
                  <a:lnTo>
                    <a:pt x="283159" y="31750"/>
                  </a:lnTo>
                  <a:close/>
                </a:path>
                <a:path w="359409" h="76200">
                  <a:moveTo>
                    <a:pt x="359283" y="38100"/>
                  </a:moveTo>
                  <a:lnTo>
                    <a:pt x="346583" y="31750"/>
                  </a:lnTo>
                  <a:lnTo>
                    <a:pt x="283210" y="0"/>
                  </a:lnTo>
                  <a:lnTo>
                    <a:pt x="283210" y="76200"/>
                  </a:lnTo>
                  <a:lnTo>
                    <a:pt x="346583" y="44450"/>
                  </a:lnTo>
                  <a:lnTo>
                    <a:pt x="3592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44967" y="2345435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5" h="433069">
                  <a:moveTo>
                    <a:pt x="0" y="432562"/>
                  </a:moveTo>
                  <a:lnTo>
                    <a:pt x="361060" y="432562"/>
                  </a:lnTo>
                  <a:lnTo>
                    <a:pt x="361060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39340" y="2522219"/>
              <a:ext cx="6126480" cy="76200"/>
            </a:xfrm>
            <a:custGeom>
              <a:avLst/>
              <a:gdLst/>
              <a:ahLst/>
              <a:cxnLst/>
              <a:rect l="l" t="t" r="r" b="b"/>
              <a:pathLst>
                <a:path w="6126480" h="76200">
                  <a:moveTo>
                    <a:pt x="361061" y="38100"/>
                  </a:moveTo>
                  <a:lnTo>
                    <a:pt x="348361" y="31750"/>
                  </a:lnTo>
                  <a:lnTo>
                    <a:pt x="284861" y="0"/>
                  </a:lnTo>
                  <a:lnTo>
                    <a:pt x="284861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284861" y="44450"/>
                  </a:lnTo>
                  <a:lnTo>
                    <a:pt x="284861" y="76200"/>
                  </a:lnTo>
                  <a:lnTo>
                    <a:pt x="348361" y="44450"/>
                  </a:lnTo>
                  <a:lnTo>
                    <a:pt x="361061" y="38100"/>
                  </a:lnTo>
                  <a:close/>
                </a:path>
                <a:path w="6126480" h="76200">
                  <a:moveTo>
                    <a:pt x="6049975" y="31750"/>
                  </a:moveTo>
                  <a:lnTo>
                    <a:pt x="5766816" y="31750"/>
                  </a:lnTo>
                  <a:lnTo>
                    <a:pt x="5766816" y="44450"/>
                  </a:lnTo>
                  <a:lnTo>
                    <a:pt x="6049975" y="44450"/>
                  </a:lnTo>
                  <a:lnTo>
                    <a:pt x="6049975" y="31750"/>
                  </a:lnTo>
                  <a:close/>
                </a:path>
                <a:path w="6126480" h="76200">
                  <a:moveTo>
                    <a:pt x="6126099" y="38100"/>
                  </a:moveTo>
                  <a:lnTo>
                    <a:pt x="6113399" y="31750"/>
                  </a:lnTo>
                  <a:lnTo>
                    <a:pt x="6050026" y="0"/>
                  </a:lnTo>
                  <a:lnTo>
                    <a:pt x="6050026" y="76200"/>
                  </a:lnTo>
                  <a:lnTo>
                    <a:pt x="6113399" y="44450"/>
                  </a:lnTo>
                  <a:lnTo>
                    <a:pt x="6126099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97607" y="2345435"/>
              <a:ext cx="141605" cy="214629"/>
            </a:xfrm>
            <a:custGeom>
              <a:avLst/>
              <a:gdLst/>
              <a:ahLst/>
              <a:cxnLst/>
              <a:rect l="l" t="t" r="r" b="b"/>
              <a:pathLst>
                <a:path w="141605" h="214630">
                  <a:moveTo>
                    <a:pt x="141224" y="214502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54836" y="915162"/>
            <a:ext cx="6150763" cy="150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In a </a:t>
            </a:r>
            <a:r>
              <a:rPr sz="2000" spc="-5" dirty="0">
                <a:latin typeface="Carlito"/>
                <a:cs typeface="Carlito"/>
              </a:rPr>
              <a:t>logical shift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serial </a:t>
            </a:r>
            <a:r>
              <a:rPr sz="2000" dirty="0">
                <a:latin typeface="Carlito"/>
                <a:cs typeface="Carlito"/>
              </a:rPr>
              <a:t>input </a:t>
            </a:r>
            <a:r>
              <a:rPr sz="2000" spc="-20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shift </a:t>
            </a:r>
            <a:r>
              <a:rPr sz="2000" dirty="0">
                <a:latin typeface="Carlito"/>
                <a:cs typeface="Carlito"/>
              </a:rPr>
              <a:t>is a</a:t>
            </a:r>
            <a:r>
              <a:rPr sz="2000" spc="-7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0.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28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right logical shift</a:t>
            </a:r>
            <a:r>
              <a:rPr sz="2000" spc="-75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operation:</a:t>
            </a:r>
            <a:endParaRPr sz="2000">
              <a:latin typeface="Carlito"/>
              <a:cs typeface="Carlito"/>
            </a:endParaRPr>
          </a:p>
          <a:p>
            <a:pPr marL="1445260">
              <a:lnSpc>
                <a:spcPct val="100000"/>
              </a:lnSpc>
              <a:spcBef>
                <a:spcPts val="1185"/>
              </a:spcBef>
            </a:pPr>
            <a:r>
              <a:rPr sz="1800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4837" y="3155695"/>
            <a:ext cx="32550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left logical shift</a:t>
            </a:r>
            <a:r>
              <a:rPr sz="2000" spc="-120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operation: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34767" y="3640835"/>
            <a:ext cx="6276340" cy="445134"/>
            <a:chOff x="2334767" y="3640835"/>
            <a:chExt cx="6276340" cy="445134"/>
          </a:xfrm>
        </p:grpSpPr>
        <p:sp>
          <p:nvSpPr>
            <p:cNvPr id="28" name="object 28"/>
            <p:cNvSpPr/>
            <p:nvPr/>
          </p:nvSpPr>
          <p:spPr>
            <a:xfrm>
              <a:off x="2695955" y="3646931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70">
                  <a:moveTo>
                    <a:pt x="0" y="432562"/>
                  </a:moveTo>
                  <a:lnTo>
                    <a:pt x="359282" y="432562"/>
                  </a:lnTo>
                  <a:lnTo>
                    <a:pt x="359282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55619" y="3825239"/>
              <a:ext cx="76327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31819" y="3855846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70">
                  <a:moveTo>
                    <a:pt x="284860" y="0"/>
                  </a:moveTo>
                  <a:lnTo>
                    <a:pt x="0" y="1269"/>
                  </a:lnTo>
                  <a:lnTo>
                    <a:pt x="0" y="13969"/>
                  </a:lnTo>
                  <a:lnTo>
                    <a:pt x="284860" y="12700"/>
                  </a:lnTo>
                  <a:lnTo>
                    <a:pt x="2848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16807" y="3646931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70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76471" y="3825239"/>
              <a:ext cx="76326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52671" y="3855846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70">
                  <a:moveTo>
                    <a:pt x="284861" y="0"/>
                  </a:moveTo>
                  <a:lnTo>
                    <a:pt x="0" y="1269"/>
                  </a:lnTo>
                  <a:lnTo>
                    <a:pt x="0" y="13969"/>
                  </a:lnTo>
                  <a:lnTo>
                    <a:pt x="284861" y="12700"/>
                  </a:lnTo>
                  <a:lnTo>
                    <a:pt x="2848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137660" y="3646931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70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97323" y="3825239"/>
              <a:ext cx="76326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73523" y="3855846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70">
                  <a:moveTo>
                    <a:pt x="284861" y="0"/>
                  </a:moveTo>
                  <a:lnTo>
                    <a:pt x="0" y="1269"/>
                  </a:lnTo>
                  <a:lnTo>
                    <a:pt x="0" y="13969"/>
                  </a:lnTo>
                  <a:lnTo>
                    <a:pt x="284861" y="12700"/>
                  </a:lnTo>
                  <a:lnTo>
                    <a:pt x="2848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58511" y="3646931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70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18175" y="3825239"/>
              <a:ext cx="76200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94248" y="3855846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10" h="13970">
                  <a:moveTo>
                    <a:pt x="283210" y="0"/>
                  </a:moveTo>
                  <a:lnTo>
                    <a:pt x="0" y="1269"/>
                  </a:lnTo>
                  <a:lnTo>
                    <a:pt x="126" y="13969"/>
                  </a:lnTo>
                  <a:lnTo>
                    <a:pt x="283210" y="12700"/>
                  </a:lnTo>
                  <a:lnTo>
                    <a:pt x="283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577839" y="3646931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4" h="433070">
                  <a:moveTo>
                    <a:pt x="0" y="432562"/>
                  </a:moveTo>
                  <a:lnTo>
                    <a:pt x="361061" y="432562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39027" y="3825239"/>
              <a:ext cx="76200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015101" y="3855846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10" h="13970">
                  <a:moveTo>
                    <a:pt x="283210" y="0"/>
                  </a:moveTo>
                  <a:lnTo>
                    <a:pt x="0" y="1269"/>
                  </a:lnTo>
                  <a:lnTo>
                    <a:pt x="126" y="13969"/>
                  </a:lnTo>
                  <a:lnTo>
                    <a:pt x="283210" y="12700"/>
                  </a:lnTo>
                  <a:lnTo>
                    <a:pt x="283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98691" y="3646931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5" h="433070">
                  <a:moveTo>
                    <a:pt x="0" y="432562"/>
                  </a:moveTo>
                  <a:lnTo>
                    <a:pt x="361061" y="432562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659879" y="3825239"/>
              <a:ext cx="76200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735952" y="3855846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09" h="13970">
                  <a:moveTo>
                    <a:pt x="283210" y="0"/>
                  </a:moveTo>
                  <a:lnTo>
                    <a:pt x="0" y="1269"/>
                  </a:lnTo>
                  <a:lnTo>
                    <a:pt x="126" y="13969"/>
                  </a:lnTo>
                  <a:lnTo>
                    <a:pt x="283210" y="12700"/>
                  </a:lnTo>
                  <a:lnTo>
                    <a:pt x="283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19544" y="3646931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5" h="433070">
                  <a:moveTo>
                    <a:pt x="0" y="432562"/>
                  </a:moveTo>
                  <a:lnTo>
                    <a:pt x="361060" y="432562"/>
                  </a:lnTo>
                  <a:lnTo>
                    <a:pt x="361060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80732" y="3825239"/>
              <a:ext cx="76200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456804" y="3855846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09" h="13970">
                  <a:moveTo>
                    <a:pt x="283210" y="0"/>
                  </a:moveTo>
                  <a:lnTo>
                    <a:pt x="0" y="1269"/>
                  </a:lnTo>
                  <a:lnTo>
                    <a:pt x="126" y="13969"/>
                  </a:lnTo>
                  <a:lnTo>
                    <a:pt x="283210" y="12700"/>
                  </a:lnTo>
                  <a:lnTo>
                    <a:pt x="283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740396" y="3646931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5" h="433070">
                  <a:moveTo>
                    <a:pt x="0" y="432562"/>
                  </a:moveTo>
                  <a:lnTo>
                    <a:pt x="361060" y="432562"/>
                  </a:lnTo>
                  <a:lnTo>
                    <a:pt x="361060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100059" y="3825239"/>
              <a:ext cx="76200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176133" y="3855846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09" h="13970">
                  <a:moveTo>
                    <a:pt x="283210" y="0"/>
                  </a:moveTo>
                  <a:lnTo>
                    <a:pt x="0" y="1269"/>
                  </a:lnTo>
                  <a:lnTo>
                    <a:pt x="126" y="13969"/>
                  </a:lnTo>
                  <a:lnTo>
                    <a:pt x="283210" y="12700"/>
                  </a:lnTo>
                  <a:lnTo>
                    <a:pt x="283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334767" y="3825239"/>
              <a:ext cx="76326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410967" y="3855846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70">
                  <a:moveTo>
                    <a:pt x="284861" y="0"/>
                  </a:moveTo>
                  <a:lnTo>
                    <a:pt x="0" y="1269"/>
                  </a:lnTo>
                  <a:lnTo>
                    <a:pt x="0" y="13969"/>
                  </a:lnTo>
                  <a:lnTo>
                    <a:pt x="284861" y="12700"/>
                  </a:lnTo>
                  <a:lnTo>
                    <a:pt x="2848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459723" y="3718559"/>
              <a:ext cx="144780" cy="143510"/>
            </a:xfrm>
            <a:custGeom>
              <a:avLst/>
              <a:gdLst/>
              <a:ahLst/>
              <a:cxnLst/>
              <a:rect l="l" t="t" r="r" b="b"/>
              <a:pathLst>
                <a:path w="144779" h="143510">
                  <a:moveTo>
                    <a:pt x="0" y="143001"/>
                  </a:moveTo>
                  <a:lnTo>
                    <a:pt x="144779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8612505" y="336270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0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5768" y="267969"/>
            <a:ext cx="3296031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Carlito"/>
                <a:cs typeface="Carlito"/>
              </a:rPr>
              <a:t>CIRCULAR</a:t>
            </a:r>
            <a:r>
              <a:rPr spc="-40"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SHIFT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862076"/>
            <a:ext cx="8229599" cy="1193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ts val="215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In a </a:t>
            </a:r>
            <a:r>
              <a:rPr sz="2000" spc="-5" dirty="0">
                <a:latin typeface="Carlito"/>
                <a:cs typeface="Carlito"/>
              </a:rPr>
              <a:t>circular shift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serial </a:t>
            </a:r>
            <a:r>
              <a:rPr sz="2000" dirty="0">
                <a:latin typeface="Carlito"/>
                <a:cs typeface="Carlito"/>
              </a:rPr>
              <a:t>input is the bit </a:t>
            </a:r>
            <a:r>
              <a:rPr sz="2000" spc="-5" dirty="0">
                <a:latin typeface="Carlito"/>
                <a:cs typeface="Carlito"/>
              </a:rPr>
              <a:t>that </a:t>
            </a:r>
            <a:r>
              <a:rPr sz="2000" dirty="0">
                <a:latin typeface="Carlito"/>
                <a:cs typeface="Carlito"/>
              </a:rPr>
              <a:t>is </a:t>
            </a:r>
            <a:r>
              <a:rPr sz="2000" spc="-15" dirty="0">
                <a:latin typeface="Carlito"/>
                <a:cs typeface="Carlito"/>
              </a:rPr>
              <a:t>shifted </a:t>
            </a:r>
            <a:r>
              <a:rPr sz="2000" spc="-5" dirty="0">
                <a:latin typeface="Carlito"/>
                <a:cs typeface="Carlito"/>
              </a:rPr>
              <a:t>out of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-10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other</a:t>
            </a:r>
            <a:endParaRPr sz="2000">
              <a:latin typeface="Carlito"/>
              <a:cs typeface="Carlito"/>
            </a:endParaRPr>
          </a:p>
          <a:p>
            <a:pPr marL="355600">
              <a:lnSpc>
                <a:spcPts val="2150"/>
              </a:lnSpc>
            </a:pPr>
            <a:r>
              <a:rPr sz="2000" dirty="0">
                <a:latin typeface="Carlito"/>
                <a:cs typeface="Carlito"/>
              </a:rPr>
              <a:t>end of the</a:t>
            </a:r>
            <a:r>
              <a:rPr sz="2000" spc="-80" dirty="0">
                <a:latin typeface="Carlito"/>
                <a:cs typeface="Carlito"/>
              </a:rPr>
              <a:t> </a:t>
            </a:r>
            <a:r>
              <a:rPr sz="2000" spc="-65" dirty="0">
                <a:latin typeface="Carlito"/>
                <a:cs typeface="Carlito"/>
              </a:rPr>
              <a:t>register.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right circular shift</a:t>
            </a:r>
            <a:r>
              <a:rPr sz="2000" spc="-100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operation: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4837" y="2933445"/>
            <a:ext cx="554116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A </a:t>
            </a:r>
            <a:r>
              <a:rPr sz="2000" spc="-15" dirty="0">
                <a:latin typeface="Carlito"/>
                <a:cs typeface="Carlito"/>
              </a:rPr>
              <a:t>left </a:t>
            </a:r>
            <a:r>
              <a:rPr sz="2000" spc="-5" dirty="0">
                <a:latin typeface="Carlito"/>
                <a:cs typeface="Carlito"/>
              </a:rPr>
              <a:t>circular shift</a:t>
            </a:r>
            <a:r>
              <a:rPr sz="2000" spc="-70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operation: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837" y="4457446"/>
            <a:ext cx="5160163" cy="256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In a </a:t>
            </a:r>
            <a:r>
              <a:rPr sz="2000" spc="-5" dirty="0">
                <a:latin typeface="Carlito"/>
                <a:cs typeface="Carlito"/>
              </a:rPr>
              <a:t>RTL,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20" dirty="0">
                <a:latin typeface="Carlito"/>
                <a:cs typeface="Carlito"/>
              </a:rPr>
              <a:t>following notation </a:t>
            </a:r>
            <a:r>
              <a:rPr sz="2000" spc="-5">
                <a:latin typeface="Carlito"/>
                <a:cs typeface="Carlito"/>
              </a:rPr>
              <a:t>is</a:t>
            </a:r>
            <a:r>
              <a:rPr sz="2000" spc="-70">
                <a:latin typeface="Carlito"/>
                <a:cs typeface="Carlito"/>
              </a:rPr>
              <a:t> </a:t>
            </a:r>
            <a:r>
              <a:rPr sz="2000" spc="-5" smtClean="0">
                <a:latin typeface="Carlito"/>
                <a:cs typeface="Carlito"/>
              </a:rPr>
              <a:t>used</a:t>
            </a:r>
            <a:endParaRPr lang="en-US" sz="2000" spc="-5" dirty="0" smtClean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z="2000" spc="-5" dirty="0" smtClean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z="2000" spc="-5" dirty="0" smtClean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z="2000" spc="-5" dirty="0" smtClean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z="2000" spc="-5" dirty="0" smtClean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z="2000" spc="-5" dirty="0" smtClean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z="2000" spc="-5" dirty="0" smtClean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0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4298" y="4768977"/>
            <a:ext cx="18707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rlito"/>
                <a:cs typeface="Carlito"/>
              </a:rPr>
              <a:t>for </a:t>
            </a:r>
            <a:r>
              <a:rPr sz="1600" spc="-5" dirty="0">
                <a:latin typeface="Carlito"/>
                <a:cs typeface="Carlito"/>
              </a:rPr>
              <a:t>a </a:t>
            </a:r>
            <a:r>
              <a:rPr sz="1600" spc="-10" dirty="0">
                <a:latin typeface="Carlito"/>
                <a:cs typeface="Carlito"/>
              </a:rPr>
              <a:t>circular </a:t>
            </a:r>
            <a:r>
              <a:rPr sz="1600" spc="-5" dirty="0">
                <a:latin typeface="Carlito"/>
                <a:cs typeface="Carlito"/>
              </a:rPr>
              <a:t>shift </a:t>
            </a:r>
            <a:r>
              <a:rPr sz="1600" spc="-15" dirty="0">
                <a:latin typeface="Carlito"/>
                <a:cs typeface="Carlito"/>
              </a:rPr>
              <a:t>left  </a:t>
            </a:r>
            <a:r>
              <a:rPr sz="1600" spc="-25" dirty="0">
                <a:latin typeface="Carlito"/>
                <a:cs typeface="Carlito"/>
              </a:rPr>
              <a:t>for </a:t>
            </a:r>
            <a:r>
              <a:rPr sz="1600" spc="-5" dirty="0">
                <a:latin typeface="Carlito"/>
                <a:cs typeface="Carlito"/>
              </a:rPr>
              <a:t>a </a:t>
            </a:r>
            <a:r>
              <a:rPr sz="1600" spc="-10" dirty="0">
                <a:latin typeface="Carlito"/>
                <a:cs typeface="Carlito"/>
              </a:rPr>
              <a:t>circular </a:t>
            </a:r>
            <a:r>
              <a:rPr sz="1600" spc="-5" dirty="0">
                <a:latin typeface="Carlito"/>
                <a:cs typeface="Carlito"/>
              </a:rPr>
              <a:t>shift</a:t>
            </a:r>
            <a:r>
              <a:rPr sz="1600" spc="-200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right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2037" y="4768977"/>
            <a:ext cx="2188363" cy="1245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Arial"/>
              <a:buChar char="–"/>
              <a:tabLst>
                <a:tab pos="299085" algn="l"/>
                <a:tab pos="299720" algn="l"/>
              </a:tabLst>
            </a:pPr>
            <a:r>
              <a:rPr sz="1600" i="1" spc="-5" dirty="0">
                <a:latin typeface="Carlito"/>
                <a:cs typeface="Carlito"/>
              </a:rPr>
              <a:t>cil</a:t>
            </a:r>
            <a:endParaRPr sz="16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–"/>
              <a:tabLst>
                <a:tab pos="299085" algn="l"/>
                <a:tab pos="299720" algn="l"/>
              </a:tabLst>
            </a:pPr>
            <a:r>
              <a:rPr sz="1600" i="1" spc="-5" dirty="0">
                <a:latin typeface="Carlito"/>
                <a:cs typeface="Carlito"/>
              </a:rPr>
              <a:t>cir</a:t>
            </a:r>
            <a:endParaRPr sz="16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–"/>
              <a:tabLst>
                <a:tab pos="299085" algn="l"/>
                <a:tab pos="299720" algn="l"/>
              </a:tabLst>
            </a:pPr>
            <a:r>
              <a:rPr sz="1600" spc="-10" dirty="0">
                <a:latin typeface="Carlito"/>
                <a:cs typeface="Carlito"/>
              </a:rPr>
              <a:t>Examples:</a:t>
            </a:r>
            <a:endParaRPr sz="16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600" spc="-5" dirty="0">
                <a:latin typeface="Carlito"/>
                <a:cs typeface="Carlito"/>
              </a:rPr>
              <a:t>R2 </a:t>
            </a:r>
            <a:r>
              <a:rPr sz="1600" spc="-5" dirty="0">
                <a:latin typeface="Symbol"/>
                <a:cs typeface="Symbol"/>
              </a:rPr>
              <a:t>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Carlito"/>
                <a:cs typeface="Carlito"/>
              </a:rPr>
              <a:t>cir</a:t>
            </a:r>
            <a:r>
              <a:rPr sz="1600" i="1" spc="-195" dirty="0">
                <a:latin typeface="Carlito"/>
                <a:cs typeface="Carlito"/>
              </a:rPr>
              <a:t> </a:t>
            </a:r>
            <a:r>
              <a:rPr sz="1600" spc="-20" dirty="0">
                <a:latin typeface="Carlito"/>
                <a:cs typeface="Carlito"/>
              </a:rPr>
              <a:t>R2</a:t>
            </a:r>
            <a:endParaRPr sz="16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600" spc="-5" dirty="0">
                <a:latin typeface="Carlito"/>
                <a:cs typeface="Carlito"/>
              </a:rPr>
              <a:t>R3 </a:t>
            </a:r>
            <a:r>
              <a:rPr sz="1600" spc="-5" dirty="0">
                <a:latin typeface="Symbol"/>
                <a:cs typeface="Symbol"/>
              </a:rPr>
              <a:t>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Carlito"/>
                <a:cs typeface="Carlito"/>
              </a:rPr>
              <a:t>cil</a:t>
            </a:r>
            <a:r>
              <a:rPr sz="1600" i="1" spc="-210" dirty="0">
                <a:latin typeface="Carlito"/>
                <a:cs typeface="Carlito"/>
              </a:rPr>
              <a:t> </a:t>
            </a:r>
            <a:r>
              <a:rPr sz="1600" spc="-20" dirty="0">
                <a:latin typeface="Carlito"/>
                <a:cs typeface="Carlito"/>
              </a:rPr>
              <a:t>R3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3244" y="2296667"/>
            <a:ext cx="6126480" cy="637540"/>
            <a:chOff x="2333244" y="2296667"/>
            <a:chExt cx="6126480" cy="637540"/>
          </a:xfrm>
        </p:grpSpPr>
        <p:sp>
          <p:nvSpPr>
            <p:cNvPr id="9" name="object 9"/>
            <p:cNvSpPr/>
            <p:nvPr/>
          </p:nvSpPr>
          <p:spPr>
            <a:xfrm>
              <a:off x="2694432" y="2302763"/>
              <a:ext cx="359410" cy="434340"/>
            </a:xfrm>
            <a:custGeom>
              <a:avLst/>
              <a:gdLst/>
              <a:ahLst/>
              <a:cxnLst/>
              <a:rect l="l" t="t" r="r" b="b"/>
              <a:pathLst>
                <a:path w="359410" h="434339">
                  <a:moveTo>
                    <a:pt x="0" y="434339"/>
                  </a:moveTo>
                  <a:lnTo>
                    <a:pt x="359282" y="434339"/>
                  </a:lnTo>
                  <a:lnTo>
                    <a:pt x="359282" y="0"/>
                  </a:lnTo>
                  <a:lnTo>
                    <a:pt x="0" y="0"/>
                  </a:lnTo>
                  <a:lnTo>
                    <a:pt x="0" y="43433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54096" y="2481071"/>
              <a:ext cx="361315" cy="76200"/>
            </a:xfrm>
            <a:custGeom>
              <a:avLst/>
              <a:gdLst/>
              <a:ahLst/>
              <a:cxnLst/>
              <a:rect l="l" t="t" r="r" b="b"/>
              <a:pathLst>
                <a:path w="361314" h="76200">
                  <a:moveTo>
                    <a:pt x="361061" y="38100"/>
                  </a:moveTo>
                  <a:lnTo>
                    <a:pt x="348361" y="31750"/>
                  </a:lnTo>
                  <a:lnTo>
                    <a:pt x="284861" y="0"/>
                  </a:lnTo>
                  <a:lnTo>
                    <a:pt x="284861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284861" y="44450"/>
                  </a:lnTo>
                  <a:lnTo>
                    <a:pt x="284861" y="76200"/>
                  </a:lnTo>
                  <a:lnTo>
                    <a:pt x="348361" y="44450"/>
                  </a:lnTo>
                  <a:lnTo>
                    <a:pt x="36106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15283" y="2302763"/>
              <a:ext cx="359410" cy="434340"/>
            </a:xfrm>
            <a:custGeom>
              <a:avLst/>
              <a:gdLst/>
              <a:ahLst/>
              <a:cxnLst/>
              <a:rect l="l" t="t" r="r" b="b"/>
              <a:pathLst>
                <a:path w="359410" h="434339">
                  <a:moveTo>
                    <a:pt x="0" y="434339"/>
                  </a:moveTo>
                  <a:lnTo>
                    <a:pt x="359283" y="434339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433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74948" y="2481071"/>
              <a:ext cx="361315" cy="76200"/>
            </a:xfrm>
            <a:custGeom>
              <a:avLst/>
              <a:gdLst/>
              <a:ahLst/>
              <a:cxnLst/>
              <a:rect l="l" t="t" r="r" b="b"/>
              <a:pathLst>
                <a:path w="361314" h="76200">
                  <a:moveTo>
                    <a:pt x="361061" y="38100"/>
                  </a:moveTo>
                  <a:lnTo>
                    <a:pt x="348361" y="31750"/>
                  </a:lnTo>
                  <a:lnTo>
                    <a:pt x="284861" y="0"/>
                  </a:lnTo>
                  <a:lnTo>
                    <a:pt x="284861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284861" y="44450"/>
                  </a:lnTo>
                  <a:lnTo>
                    <a:pt x="284861" y="76200"/>
                  </a:lnTo>
                  <a:lnTo>
                    <a:pt x="348361" y="44450"/>
                  </a:lnTo>
                  <a:lnTo>
                    <a:pt x="36106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36136" y="2302763"/>
              <a:ext cx="359410" cy="434340"/>
            </a:xfrm>
            <a:custGeom>
              <a:avLst/>
              <a:gdLst/>
              <a:ahLst/>
              <a:cxnLst/>
              <a:rect l="l" t="t" r="r" b="b"/>
              <a:pathLst>
                <a:path w="359410" h="434339">
                  <a:moveTo>
                    <a:pt x="0" y="434339"/>
                  </a:moveTo>
                  <a:lnTo>
                    <a:pt x="359283" y="434339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433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95800" y="2481071"/>
              <a:ext cx="359410" cy="76200"/>
            </a:xfrm>
            <a:custGeom>
              <a:avLst/>
              <a:gdLst/>
              <a:ahLst/>
              <a:cxnLst/>
              <a:rect l="l" t="t" r="r" b="b"/>
              <a:pathLst>
                <a:path w="359410" h="76200">
                  <a:moveTo>
                    <a:pt x="28315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159" y="44450"/>
                  </a:lnTo>
                  <a:lnTo>
                    <a:pt x="283159" y="31750"/>
                  </a:lnTo>
                  <a:close/>
                </a:path>
                <a:path w="359410" h="76200">
                  <a:moveTo>
                    <a:pt x="359283" y="38100"/>
                  </a:moveTo>
                  <a:lnTo>
                    <a:pt x="346583" y="31750"/>
                  </a:lnTo>
                  <a:lnTo>
                    <a:pt x="283210" y="0"/>
                  </a:lnTo>
                  <a:lnTo>
                    <a:pt x="283210" y="76200"/>
                  </a:lnTo>
                  <a:lnTo>
                    <a:pt x="346583" y="44450"/>
                  </a:lnTo>
                  <a:lnTo>
                    <a:pt x="3592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55464" y="2302763"/>
              <a:ext cx="361315" cy="434340"/>
            </a:xfrm>
            <a:custGeom>
              <a:avLst/>
              <a:gdLst/>
              <a:ahLst/>
              <a:cxnLst/>
              <a:rect l="l" t="t" r="r" b="b"/>
              <a:pathLst>
                <a:path w="361314" h="434339">
                  <a:moveTo>
                    <a:pt x="0" y="434339"/>
                  </a:moveTo>
                  <a:lnTo>
                    <a:pt x="361061" y="434339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433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16652" y="2481071"/>
              <a:ext cx="359410" cy="76200"/>
            </a:xfrm>
            <a:custGeom>
              <a:avLst/>
              <a:gdLst/>
              <a:ahLst/>
              <a:cxnLst/>
              <a:rect l="l" t="t" r="r" b="b"/>
              <a:pathLst>
                <a:path w="359410" h="76200">
                  <a:moveTo>
                    <a:pt x="28315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159" y="44450"/>
                  </a:lnTo>
                  <a:lnTo>
                    <a:pt x="283159" y="31750"/>
                  </a:lnTo>
                  <a:close/>
                </a:path>
                <a:path w="359410" h="76200">
                  <a:moveTo>
                    <a:pt x="359283" y="38100"/>
                  </a:moveTo>
                  <a:lnTo>
                    <a:pt x="346583" y="31750"/>
                  </a:lnTo>
                  <a:lnTo>
                    <a:pt x="283210" y="0"/>
                  </a:lnTo>
                  <a:lnTo>
                    <a:pt x="283210" y="76200"/>
                  </a:lnTo>
                  <a:lnTo>
                    <a:pt x="346583" y="44450"/>
                  </a:lnTo>
                  <a:lnTo>
                    <a:pt x="3592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76316" y="2302763"/>
              <a:ext cx="361315" cy="434340"/>
            </a:xfrm>
            <a:custGeom>
              <a:avLst/>
              <a:gdLst/>
              <a:ahLst/>
              <a:cxnLst/>
              <a:rect l="l" t="t" r="r" b="b"/>
              <a:pathLst>
                <a:path w="361314" h="434339">
                  <a:moveTo>
                    <a:pt x="0" y="434339"/>
                  </a:moveTo>
                  <a:lnTo>
                    <a:pt x="361061" y="434339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433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37504" y="2481071"/>
              <a:ext cx="359410" cy="76200"/>
            </a:xfrm>
            <a:custGeom>
              <a:avLst/>
              <a:gdLst/>
              <a:ahLst/>
              <a:cxnLst/>
              <a:rect l="l" t="t" r="r" b="b"/>
              <a:pathLst>
                <a:path w="359410" h="76200">
                  <a:moveTo>
                    <a:pt x="28315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159" y="44450"/>
                  </a:lnTo>
                  <a:lnTo>
                    <a:pt x="283159" y="31750"/>
                  </a:lnTo>
                  <a:close/>
                </a:path>
                <a:path w="359410" h="76200">
                  <a:moveTo>
                    <a:pt x="359283" y="38100"/>
                  </a:moveTo>
                  <a:lnTo>
                    <a:pt x="346583" y="31750"/>
                  </a:lnTo>
                  <a:lnTo>
                    <a:pt x="283210" y="0"/>
                  </a:lnTo>
                  <a:lnTo>
                    <a:pt x="283210" y="76200"/>
                  </a:lnTo>
                  <a:lnTo>
                    <a:pt x="346583" y="44450"/>
                  </a:lnTo>
                  <a:lnTo>
                    <a:pt x="3592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97167" y="2302763"/>
              <a:ext cx="361315" cy="434340"/>
            </a:xfrm>
            <a:custGeom>
              <a:avLst/>
              <a:gdLst/>
              <a:ahLst/>
              <a:cxnLst/>
              <a:rect l="l" t="t" r="r" b="b"/>
              <a:pathLst>
                <a:path w="361315" h="434339">
                  <a:moveTo>
                    <a:pt x="0" y="434339"/>
                  </a:moveTo>
                  <a:lnTo>
                    <a:pt x="361061" y="434339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433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58356" y="2481071"/>
              <a:ext cx="359410" cy="76200"/>
            </a:xfrm>
            <a:custGeom>
              <a:avLst/>
              <a:gdLst/>
              <a:ahLst/>
              <a:cxnLst/>
              <a:rect l="l" t="t" r="r" b="b"/>
              <a:pathLst>
                <a:path w="359409" h="76200">
                  <a:moveTo>
                    <a:pt x="28315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159" y="44450"/>
                  </a:lnTo>
                  <a:lnTo>
                    <a:pt x="283159" y="31750"/>
                  </a:lnTo>
                  <a:close/>
                </a:path>
                <a:path w="359409" h="76200">
                  <a:moveTo>
                    <a:pt x="359283" y="38100"/>
                  </a:moveTo>
                  <a:lnTo>
                    <a:pt x="346583" y="31750"/>
                  </a:lnTo>
                  <a:lnTo>
                    <a:pt x="283210" y="0"/>
                  </a:lnTo>
                  <a:lnTo>
                    <a:pt x="283210" y="76200"/>
                  </a:lnTo>
                  <a:lnTo>
                    <a:pt x="346583" y="44450"/>
                  </a:lnTo>
                  <a:lnTo>
                    <a:pt x="3592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18020" y="2302763"/>
              <a:ext cx="361315" cy="434340"/>
            </a:xfrm>
            <a:custGeom>
              <a:avLst/>
              <a:gdLst/>
              <a:ahLst/>
              <a:cxnLst/>
              <a:rect l="l" t="t" r="r" b="b"/>
              <a:pathLst>
                <a:path w="361315" h="434339">
                  <a:moveTo>
                    <a:pt x="0" y="434339"/>
                  </a:moveTo>
                  <a:lnTo>
                    <a:pt x="361060" y="434339"/>
                  </a:lnTo>
                  <a:lnTo>
                    <a:pt x="361060" y="0"/>
                  </a:lnTo>
                  <a:lnTo>
                    <a:pt x="0" y="0"/>
                  </a:lnTo>
                  <a:lnTo>
                    <a:pt x="0" y="43433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79208" y="2481071"/>
              <a:ext cx="359410" cy="76200"/>
            </a:xfrm>
            <a:custGeom>
              <a:avLst/>
              <a:gdLst/>
              <a:ahLst/>
              <a:cxnLst/>
              <a:rect l="l" t="t" r="r" b="b"/>
              <a:pathLst>
                <a:path w="359409" h="76200">
                  <a:moveTo>
                    <a:pt x="28315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159" y="44450"/>
                  </a:lnTo>
                  <a:lnTo>
                    <a:pt x="283159" y="31750"/>
                  </a:lnTo>
                  <a:close/>
                </a:path>
                <a:path w="359409" h="76200">
                  <a:moveTo>
                    <a:pt x="359283" y="38100"/>
                  </a:moveTo>
                  <a:lnTo>
                    <a:pt x="346583" y="31750"/>
                  </a:lnTo>
                  <a:lnTo>
                    <a:pt x="283210" y="0"/>
                  </a:lnTo>
                  <a:lnTo>
                    <a:pt x="283210" y="76200"/>
                  </a:lnTo>
                  <a:lnTo>
                    <a:pt x="346583" y="44450"/>
                  </a:lnTo>
                  <a:lnTo>
                    <a:pt x="3592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38872" y="2302763"/>
              <a:ext cx="361315" cy="434340"/>
            </a:xfrm>
            <a:custGeom>
              <a:avLst/>
              <a:gdLst/>
              <a:ahLst/>
              <a:cxnLst/>
              <a:rect l="l" t="t" r="r" b="b"/>
              <a:pathLst>
                <a:path w="361315" h="434339">
                  <a:moveTo>
                    <a:pt x="0" y="434339"/>
                  </a:moveTo>
                  <a:lnTo>
                    <a:pt x="361060" y="434339"/>
                  </a:lnTo>
                  <a:lnTo>
                    <a:pt x="361060" y="0"/>
                  </a:lnTo>
                  <a:lnTo>
                    <a:pt x="0" y="0"/>
                  </a:lnTo>
                  <a:lnTo>
                    <a:pt x="0" y="43433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33244" y="2481071"/>
              <a:ext cx="6126480" cy="76200"/>
            </a:xfrm>
            <a:custGeom>
              <a:avLst/>
              <a:gdLst/>
              <a:ahLst/>
              <a:cxnLst/>
              <a:rect l="l" t="t" r="r" b="b"/>
              <a:pathLst>
                <a:path w="6126480" h="76200">
                  <a:moveTo>
                    <a:pt x="361061" y="38100"/>
                  </a:moveTo>
                  <a:lnTo>
                    <a:pt x="348361" y="31750"/>
                  </a:lnTo>
                  <a:lnTo>
                    <a:pt x="284861" y="0"/>
                  </a:lnTo>
                  <a:lnTo>
                    <a:pt x="284861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284861" y="44450"/>
                  </a:lnTo>
                  <a:lnTo>
                    <a:pt x="284861" y="76200"/>
                  </a:lnTo>
                  <a:lnTo>
                    <a:pt x="348361" y="44450"/>
                  </a:lnTo>
                  <a:lnTo>
                    <a:pt x="361061" y="38100"/>
                  </a:lnTo>
                  <a:close/>
                </a:path>
                <a:path w="6126480" h="76200">
                  <a:moveTo>
                    <a:pt x="6049975" y="31750"/>
                  </a:moveTo>
                  <a:lnTo>
                    <a:pt x="5766816" y="31750"/>
                  </a:lnTo>
                  <a:lnTo>
                    <a:pt x="5766816" y="44450"/>
                  </a:lnTo>
                  <a:lnTo>
                    <a:pt x="6049975" y="44450"/>
                  </a:lnTo>
                  <a:lnTo>
                    <a:pt x="6049975" y="31750"/>
                  </a:lnTo>
                  <a:close/>
                </a:path>
                <a:path w="6126480" h="76200">
                  <a:moveTo>
                    <a:pt x="6126099" y="38100"/>
                  </a:moveTo>
                  <a:lnTo>
                    <a:pt x="6113399" y="31750"/>
                  </a:lnTo>
                  <a:lnTo>
                    <a:pt x="6050026" y="0"/>
                  </a:lnTo>
                  <a:lnTo>
                    <a:pt x="6050026" y="76200"/>
                  </a:lnTo>
                  <a:lnTo>
                    <a:pt x="6113399" y="44450"/>
                  </a:lnTo>
                  <a:lnTo>
                    <a:pt x="6126099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39340" y="2519171"/>
              <a:ext cx="6114415" cy="408940"/>
            </a:xfrm>
            <a:custGeom>
              <a:avLst/>
              <a:gdLst/>
              <a:ahLst/>
              <a:cxnLst/>
              <a:rect l="l" t="t" r="r" b="b"/>
              <a:pathLst>
                <a:path w="6114415" h="408939">
                  <a:moveTo>
                    <a:pt x="0" y="407924"/>
                  </a:moveTo>
                  <a:lnTo>
                    <a:pt x="0" y="0"/>
                  </a:lnTo>
                </a:path>
                <a:path w="6114415" h="408939">
                  <a:moveTo>
                    <a:pt x="6114288" y="408431"/>
                  </a:moveTo>
                  <a:lnTo>
                    <a:pt x="6114288" y="12191"/>
                  </a:lnTo>
                </a:path>
                <a:path w="6114415" h="408939">
                  <a:moveTo>
                    <a:pt x="0" y="408431"/>
                  </a:moveTo>
                  <a:lnTo>
                    <a:pt x="6114161" y="408431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2334767" y="3649979"/>
            <a:ext cx="6137275" cy="626745"/>
            <a:chOff x="2334767" y="3649979"/>
            <a:chExt cx="6137275" cy="626745"/>
          </a:xfrm>
        </p:grpSpPr>
        <p:sp>
          <p:nvSpPr>
            <p:cNvPr id="27" name="object 27"/>
            <p:cNvSpPr/>
            <p:nvPr/>
          </p:nvSpPr>
          <p:spPr>
            <a:xfrm>
              <a:off x="2695955" y="3656075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70">
                  <a:moveTo>
                    <a:pt x="0" y="432562"/>
                  </a:moveTo>
                  <a:lnTo>
                    <a:pt x="359282" y="432562"/>
                  </a:lnTo>
                  <a:lnTo>
                    <a:pt x="359282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55619" y="3835907"/>
              <a:ext cx="76327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31819" y="3866514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70">
                  <a:moveTo>
                    <a:pt x="284860" y="0"/>
                  </a:moveTo>
                  <a:lnTo>
                    <a:pt x="0" y="1270"/>
                  </a:lnTo>
                  <a:lnTo>
                    <a:pt x="0" y="13970"/>
                  </a:lnTo>
                  <a:lnTo>
                    <a:pt x="284860" y="12700"/>
                  </a:lnTo>
                  <a:lnTo>
                    <a:pt x="2848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16807" y="3656075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70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76471" y="3835907"/>
              <a:ext cx="76326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52671" y="3866514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70">
                  <a:moveTo>
                    <a:pt x="284861" y="0"/>
                  </a:moveTo>
                  <a:lnTo>
                    <a:pt x="0" y="1270"/>
                  </a:lnTo>
                  <a:lnTo>
                    <a:pt x="0" y="13970"/>
                  </a:lnTo>
                  <a:lnTo>
                    <a:pt x="284861" y="12700"/>
                  </a:lnTo>
                  <a:lnTo>
                    <a:pt x="2848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137660" y="3656075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70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97323" y="3835907"/>
              <a:ext cx="76326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3523" y="3866514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70">
                  <a:moveTo>
                    <a:pt x="284861" y="0"/>
                  </a:moveTo>
                  <a:lnTo>
                    <a:pt x="0" y="1270"/>
                  </a:lnTo>
                  <a:lnTo>
                    <a:pt x="0" y="13970"/>
                  </a:lnTo>
                  <a:lnTo>
                    <a:pt x="284861" y="12700"/>
                  </a:lnTo>
                  <a:lnTo>
                    <a:pt x="2848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58511" y="3656075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70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18175" y="3835907"/>
              <a:ext cx="76200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94248" y="3866514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10" h="13970">
                  <a:moveTo>
                    <a:pt x="283210" y="0"/>
                  </a:moveTo>
                  <a:lnTo>
                    <a:pt x="0" y="1270"/>
                  </a:lnTo>
                  <a:lnTo>
                    <a:pt x="126" y="13970"/>
                  </a:lnTo>
                  <a:lnTo>
                    <a:pt x="283210" y="12700"/>
                  </a:lnTo>
                  <a:lnTo>
                    <a:pt x="283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77839" y="3656075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4" h="433070">
                  <a:moveTo>
                    <a:pt x="0" y="432562"/>
                  </a:moveTo>
                  <a:lnTo>
                    <a:pt x="361061" y="432562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939027" y="3835907"/>
              <a:ext cx="76200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15101" y="3866514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10" h="13970">
                  <a:moveTo>
                    <a:pt x="283210" y="0"/>
                  </a:moveTo>
                  <a:lnTo>
                    <a:pt x="0" y="1270"/>
                  </a:lnTo>
                  <a:lnTo>
                    <a:pt x="126" y="13970"/>
                  </a:lnTo>
                  <a:lnTo>
                    <a:pt x="283210" y="12700"/>
                  </a:lnTo>
                  <a:lnTo>
                    <a:pt x="283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98691" y="3656075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5" h="433070">
                  <a:moveTo>
                    <a:pt x="0" y="432562"/>
                  </a:moveTo>
                  <a:lnTo>
                    <a:pt x="361061" y="432562"/>
                  </a:lnTo>
                  <a:lnTo>
                    <a:pt x="361061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59879" y="3835907"/>
              <a:ext cx="76200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735952" y="3866514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09" h="13970">
                  <a:moveTo>
                    <a:pt x="283210" y="0"/>
                  </a:moveTo>
                  <a:lnTo>
                    <a:pt x="0" y="1270"/>
                  </a:lnTo>
                  <a:lnTo>
                    <a:pt x="126" y="13970"/>
                  </a:lnTo>
                  <a:lnTo>
                    <a:pt x="283210" y="12700"/>
                  </a:lnTo>
                  <a:lnTo>
                    <a:pt x="283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019544" y="3656075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5" h="433070">
                  <a:moveTo>
                    <a:pt x="0" y="432562"/>
                  </a:moveTo>
                  <a:lnTo>
                    <a:pt x="361060" y="432562"/>
                  </a:lnTo>
                  <a:lnTo>
                    <a:pt x="361060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380732" y="3835907"/>
              <a:ext cx="76200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456804" y="3866514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09" h="13970">
                  <a:moveTo>
                    <a:pt x="283210" y="0"/>
                  </a:moveTo>
                  <a:lnTo>
                    <a:pt x="0" y="1270"/>
                  </a:lnTo>
                  <a:lnTo>
                    <a:pt x="126" y="13970"/>
                  </a:lnTo>
                  <a:lnTo>
                    <a:pt x="283210" y="12700"/>
                  </a:lnTo>
                  <a:lnTo>
                    <a:pt x="283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40396" y="3656075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5" h="433070">
                  <a:moveTo>
                    <a:pt x="0" y="432562"/>
                  </a:moveTo>
                  <a:lnTo>
                    <a:pt x="361060" y="432562"/>
                  </a:lnTo>
                  <a:lnTo>
                    <a:pt x="361060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100059" y="3835907"/>
              <a:ext cx="76200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176133" y="3866514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09" h="13970">
                  <a:moveTo>
                    <a:pt x="283210" y="0"/>
                  </a:moveTo>
                  <a:lnTo>
                    <a:pt x="0" y="1270"/>
                  </a:lnTo>
                  <a:lnTo>
                    <a:pt x="126" y="13970"/>
                  </a:lnTo>
                  <a:lnTo>
                    <a:pt x="283210" y="12700"/>
                  </a:lnTo>
                  <a:lnTo>
                    <a:pt x="283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334767" y="3835907"/>
              <a:ext cx="76326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410967" y="3866514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70">
                  <a:moveTo>
                    <a:pt x="284861" y="0"/>
                  </a:moveTo>
                  <a:lnTo>
                    <a:pt x="0" y="1270"/>
                  </a:lnTo>
                  <a:lnTo>
                    <a:pt x="0" y="13970"/>
                  </a:lnTo>
                  <a:lnTo>
                    <a:pt x="284861" y="12700"/>
                  </a:lnTo>
                  <a:lnTo>
                    <a:pt x="2848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353055" y="3861815"/>
              <a:ext cx="6113145" cy="408940"/>
            </a:xfrm>
            <a:custGeom>
              <a:avLst/>
              <a:gdLst/>
              <a:ahLst/>
              <a:cxnLst/>
              <a:rect l="l" t="t" r="r" b="b"/>
              <a:pathLst>
                <a:path w="6113145" h="408939">
                  <a:moveTo>
                    <a:pt x="0" y="407923"/>
                  </a:moveTo>
                  <a:lnTo>
                    <a:pt x="0" y="0"/>
                  </a:lnTo>
                </a:path>
                <a:path w="6113145" h="408939">
                  <a:moveTo>
                    <a:pt x="6112764" y="408177"/>
                  </a:moveTo>
                  <a:lnTo>
                    <a:pt x="6112764" y="13715"/>
                  </a:lnTo>
                </a:path>
                <a:path w="6113145" h="408939">
                  <a:moveTo>
                    <a:pt x="0" y="408431"/>
                  </a:moveTo>
                  <a:lnTo>
                    <a:pt x="6112383" y="408431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7442" y="276809"/>
            <a:ext cx="48412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Arithmetic </a:t>
            </a:r>
            <a:r>
              <a:rPr sz="3600" dirty="0"/>
              <a:t>Shift</a:t>
            </a:r>
            <a:r>
              <a:rPr sz="3600" spc="-85" dirty="0"/>
              <a:t> </a:t>
            </a:r>
            <a:r>
              <a:rPr sz="3600" spc="-5" dirty="0"/>
              <a:t>operation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2340864" y="1807210"/>
            <a:ext cx="5555615" cy="445770"/>
            <a:chOff x="2340864" y="1807210"/>
            <a:chExt cx="5555615" cy="445770"/>
          </a:xfrm>
        </p:grpSpPr>
        <p:sp>
          <p:nvSpPr>
            <p:cNvPr id="4" name="object 4"/>
            <p:cNvSpPr/>
            <p:nvPr/>
          </p:nvSpPr>
          <p:spPr>
            <a:xfrm>
              <a:off x="2340864" y="1991868"/>
              <a:ext cx="76327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17064" y="2022475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69">
                  <a:moveTo>
                    <a:pt x="284861" y="0"/>
                  </a:moveTo>
                  <a:lnTo>
                    <a:pt x="0" y="1270"/>
                  </a:lnTo>
                  <a:lnTo>
                    <a:pt x="0" y="13970"/>
                  </a:lnTo>
                  <a:lnTo>
                    <a:pt x="284861" y="12700"/>
                  </a:lnTo>
                  <a:lnTo>
                    <a:pt x="2848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02052" y="1813560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69">
                  <a:moveTo>
                    <a:pt x="0" y="432562"/>
                  </a:moveTo>
                  <a:lnTo>
                    <a:pt x="359282" y="432562"/>
                  </a:lnTo>
                  <a:lnTo>
                    <a:pt x="359282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61716" y="1991868"/>
              <a:ext cx="76326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7916" y="2022475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69">
                  <a:moveTo>
                    <a:pt x="284860" y="0"/>
                  </a:moveTo>
                  <a:lnTo>
                    <a:pt x="0" y="1270"/>
                  </a:lnTo>
                  <a:lnTo>
                    <a:pt x="0" y="13970"/>
                  </a:lnTo>
                  <a:lnTo>
                    <a:pt x="284860" y="12700"/>
                  </a:lnTo>
                  <a:lnTo>
                    <a:pt x="2848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22904" y="1813560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69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82568" y="1991868"/>
              <a:ext cx="76327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58768" y="2022475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69">
                  <a:moveTo>
                    <a:pt x="284861" y="0"/>
                  </a:moveTo>
                  <a:lnTo>
                    <a:pt x="0" y="1270"/>
                  </a:lnTo>
                  <a:lnTo>
                    <a:pt x="0" y="13970"/>
                  </a:lnTo>
                  <a:lnTo>
                    <a:pt x="284861" y="12700"/>
                  </a:lnTo>
                  <a:lnTo>
                    <a:pt x="2848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3756" y="1813560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69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03420" y="1991868"/>
              <a:ext cx="76326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9620" y="2022475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69">
                  <a:moveTo>
                    <a:pt x="284860" y="0"/>
                  </a:moveTo>
                  <a:lnTo>
                    <a:pt x="0" y="1270"/>
                  </a:lnTo>
                  <a:lnTo>
                    <a:pt x="0" y="13970"/>
                  </a:lnTo>
                  <a:lnTo>
                    <a:pt x="284860" y="12700"/>
                  </a:lnTo>
                  <a:lnTo>
                    <a:pt x="2848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64608" y="1813560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69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24272" y="1991868"/>
              <a:ext cx="76326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00472" y="2022475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69">
                  <a:moveTo>
                    <a:pt x="284861" y="0"/>
                  </a:moveTo>
                  <a:lnTo>
                    <a:pt x="0" y="1270"/>
                  </a:lnTo>
                  <a:lnTo>
                    <a:pt x="0" y="13970"/>
                  </a:lnTo>
                  <a:lnTo>
                    <a:pt x="284861" y="12700"/>
                  </a:lnTo>
                  <a:lnTo>
                    <a:pt x="2848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85460" y="1813560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10" h="433069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45123" y="1991868"/>
              <a:ext cx="76326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21323" y="2022475"/>
              <a:ext cx="285115" cy="13970"/>
            </a:xfrm>
            <a:custGeom>
              <a:avLst/>
              <a:gdLst/>
              <a:ahLst/>
              <a:cxnLst/>
              <a:rect l="l" t="t" r="r" b="b"/>
              <a:pathLst>
                <a:path w="285114" h="13969">
                  <a:moveTo>
                    <a:pt x="284861" y="0"/>
                  </a:moveTo>
                  <a:lnTo>
                    <a:pt x="0" y="1270"/>
                  </a:lnTo>
                  <a:lnTo>
                    <a:pt x="0" y="13970"/>
                  </a:lnTo>
                  <a:lnTo>
                    <a:pt x="284861" y="12700"/>
                  </a:lnTo>
                  <a:lnTo>
                    <a:pt x="2848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06311" y="1813560"/>
              <a:ext cx="359410" cy="433070"/>
            </a:xfrm>
            <a:custGeom>
              <a:avLst/>
              <a:gdLst/>
              <a:ahLst/>
              <a:cxnLst/>
              <a:rect l="l" t="t" r="r" b="b"/>
              <a:pathLst>
                <a:path w="359409" h="433069">
                  <a:moveTo>
                    <a:pt x="0" y="432562"/>
                  </a:moveTo>
                  <a:lnTo>
                    <a:pt x="359283" y="432562"/>
                  </a:lnTo>
                  <a:lnTo>
                    <a:pt x="359283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65976" y="1991868"/>
              <a:ext cx="76200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42048" y="2022475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09" h="13969">
                  <a:moveTo>
                    <a:pt x="283209" y="0"/>
                  </a:moveTo>
                  <a:lnTo>
                    <a:pt x="0" y="1270"/>
                  </a:lnTo>
                  <a:lnTo>
                    <a:pt x="126" y="13970"/>
                  </a:lnTo>
                  <a:lnTo>
                    <a:pt x="283209" y="12700"/>
                  </a:lnTo>
                  <a:lnTo>
                    <a:pt x="283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25640" y="1813560"/>
              <a:ext cx="361315" cy="433070"/>
            </a:xfrm>
            <a:custGeom>
              <a:avLst/>
              <a:gdLst/>
              <a:ahLst/>
              <a:cxnLst/>
              <a:rect l="l" t="t" r="r" b="b"/>
              <a:pathLst>
                <a:path w="361315" h="433069">
                  <a:moveTo>
                    <a:pt x="0" y="432562"/>
                  </a:moveTo>
                  <a:lnTo>
                    <a:pt x="361060" y="432562"/>
                  </a:lnTo>
                  <a:lnTo>
                    <a:pt x="361060" y="0"/>
                  </a:lnTo>
                  <a:lnTo>
                    <a:pt x="0" y="0"/>
                  </a:lnTo>
                  <a:lnTo>
                    <a:pt x="0" y="4325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85304" y="1991868"/>
              <a:ext cx="76200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461377" y="2022475"/>
              <a:ext cx="283210" cy="13970"/>
            </a:xfrm>
            <a:custGeom>
              <a:avLst/>
              <a:gdLst/>
              <a:ahLst/>
              <a:cxnLst/>
              <a:rect l="l" t="t" r="r" b="b"/>
              <a:pathLst>
                <a:path w="283209" h="13969">
                  <a:moveTo>
                    <a:pt x="283209" y="0"/>
                  </a:moveTo>
                  <a:lnTo>
                    <a:pt x="0" y="1270"/>
                  </a:lnTo>
                  <a:lnTo>
                    <a:pt x="126" y="13970"/>
                  </a:lnTo>
                  <a:lnTo>
                    <a:pt x="283209" y="12700"/>
                  </a:lnTo>
                  <a:lnTo>
                    <a:pt x="283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44967" y="1883664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80">
                  <a:moveTo>
                    <a:pt x="0" y="144780"/>
                  </a:moveTo>
                  <a:lnTo>
                    <a:pt x="144779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54837" y="930401"/>
            <a:ext cx="7493000" cy="91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An </a:t>
            </a:r>
            <a:r>
              <a:rPr sz="2000" spc="-5" dirty="0">
                <a:latin typeface="Times New Roman"/>
                <a:cs typeface="Times New Roman"/>
              </a:rPr>
              <a:t>left </a:t>
            </a:r>
            <a:r>
              <a:rPr sz="2000" spc="-10" dirty="0">
                <a:latin typeface="Times New Roman"/>
                <a:cs typeface="Times New Roman"/>
              </a:rPr>
              <a:t>arithmetic </a:t>
            </a:r>
            <a:r>
              <a:rPr sz="2000" dirty="0">
                <a:latin typeface="Times New Roman"/>
                <a:cs typeface="Times New Roman"/>
              </a:rPr>
              <a:t>shift operation </a:t>
            </a:r>
            <a:r>
              <a:rPr sz="2000" spc="-5" dirty="0">
                <a:latin typeface="Times New Roman"/>
                <a:cs typeface="Times New Roman"/>
              </a:rPr>
              <a:t>must </a:t>
            </a:r>
            <a:r>
              <a:rPr sz="2000" dirty="0">
                <a:latin typeface="Times New Roman"/>
                <a:cs typeface="Times New Roman"/>
              </a:rPr>
              <a:t>be checked for the</a:t>
            </a:r>
            <a:r>
              <a:rPr sz="2000" spc="-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overflow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rlito"/>
                <a:cs typeface="Carlito"/>
              </a:rPr>
              <a:t>0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626107" y="2023872"/>
            <a:ext cx="2517775" cy="1030605"/>
            <a:chOff x="1626107" y="2023872"/>
            <a:chExt cx="2517775" cy="1030605"/>
          </a:xfrm>
        </p:grpSpPr>
        <p:sp>
          <p:nvSpPr>
            <p:cNvPr id="30" name="object 30"/>
            <p:cNvSpPr/>
            <p:nvPr/>
          </p:nvSpPr>
          <p:spPr>
            <a:xfrm>
              <a:off x="1632203" y="2029968"/>
              <a:ext cx="2202180" cy="1017905"/>
            </a:xfrm>
            <a:custGeom>
              <a:avLst/>
              <a:gdLst/>
              <a:ahLst/>
              <a:cxnLst/>
              <a:rect l="l" t="t" r="r" b="b"/>
              <a:pathLst>
                <a:path w="2202179" h="1017905">
                  <a:moveTo>
                    <a:pt x="348741" y="0"/>
                  </a:moveTo>
                  <a:lnTo>
                    <a:pt x="0" y="0"/>
                  </a:lnTo>
                </a:path>
                <a:path w="2202179" h="1017905">
                  <a:moveTo>
                    <a:pt x="1708404" y="600456"/>
                  </a:moveTo>
                  <a:lnTo>
                    <a:pt x="1773555" y="602361"/>
                  </a:lnTo>
                  <a:lnTo>
                    <a:pt x="1836038" y="607695"/>
                  </a:lnTo>
                  <a:lnTo>
                    <a:pt x="1895220" y="616331"/>
                  </a:lnTo>
                  <a:lnTo>
                    <a:pt x="1950720" y="628015"/>
                  </a:lnTo>
                  <a:lnTo>
                    <a:pt x="2001773" y="642620"/>
                  </a:lnTo>
                  <a:lnTo>
                    <a:pt x="2047874" y="659638"/>
                  </a:lnTo>
                  <a:lnTo>
                    <a:pt x="2088387" y="679069"/>
                  </a:lnTo>
                  <a:lnTo>
                    <a:pt x="2122932" y="700659"/>
                  </a:lnTo>
                  <a:lnTo>
                    <a:pt x="2171319" y="748919"/>
                  </a:lnTo>
                  <a:lnTo>
                    <a:pt x="2184019" y="775208"/>
                  </a:lnTo>
                  <a:lnTo>
                    <a:pt x="2188463" y="802640"/>
                  </a:lnTo>
                </a:path>
                <a:path w="2202179" h="1017905">
                  <a:moveTo>
                    <a:pt x="2201925" y="792480"/>
                  </a:moveTo>
                  <a:lnTo>
                    <a:pt x="2186812" y="847852"/>
                  </a:lnTo>
                  <a:lnTo>
                    <a:pt x="2144141" y="898271"/>
                  </a:lnTo>
                  <a:lnTo>
                    <a:pt x="2113534" y="921004"/>
                  </a:lnTo>
                  <a:lnTo>
                    <a:pt x="2077338" y="941959"/>
                  </a:lnTo>
                  <a:lnTo>
                    <a:pt x="2036191" y="960755"/>
                  </a:lnTo>
                  <a:lnTo>
                    <a:pt x="1990344" y="977265"/>
                  </a:lnTo>
                  <a:lnTo>
                    <a:pt x="1940433" y="991108"/>
                  </a:lnTo>
                  <a:lnTo>
                    <a:pt x="1886711" y="1002411"/>
                  </a:lnTo>
                  <a:lnTo>
                    <a:pt x="1829943" y="1010666"/>
                  </a:lnTo>
                  <a:lnTo>
                    <a:pt x="1770253" y="1015746"/>
                  </a:lnTo>
                  <a:lnTo>
                    <a:pt x="1708404" y="1017524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85159" y="2624327"/>
              <a:ext cx="259079" cy="4297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32203" y="2029968"/>
              <a:ext cx="2511425" cy="937260"/>
            </a:xfrm>
            <a:custGeom>
              <a:avLst/>
              <a:gdLst/>
              <a:ahLst/>
              <a:cxnLst/>
              <a:rect l="l" t="t" r="r" b="b"/>
              <a:pathLst>
                <a:path w="2511425" h="937260">
                  <a:moveTo>
                    <a:pt x="1793494" y="688848"/>
                  </a:moveTo>
                  <a:lnTo>
                    <a:pt x="1261871" y="688848"/>
                  </a:lnTo>
                </a:path>
                <a:path w="2511425" h="937260">
                  <a:moveTo>
                    <a:pt x="1793620" y="937260"/>
                  </a:moveTo>
                  <a:lnTo>
                    <a:pt x="0" y="937260"/>
                  </a:lnTo>
                </a:path>
                <a:path w="2511425" h="937260">
                  <a:moveTo>
                    <a:pt x="2226563" y="803148"/>
                  </a:moveTo>
                  <a:lnTo>
                    <a:pt x="2511424" y="803148"/>
                  </a:lnTo>
                </a:path>
                <a:path w="2511425" h="937260">
                  <a:moveTo>
                    <a:pt x="0" y="0"/>
                  </a:moveTo>
                  <a:lnTo>
                    <a:pt x="0" y="937260"/>
                  </a:lnTo>
                </a:path>
                <a:path w="2511425" h="937260">
                  <a:moveTo>
                    <a:pt x="1261871" y="216408"/>
                  </a:moveTo>
                  <a:lnTo>
                    <a:pt x="1261871" y="68884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143755" y="2604516"/>
            <a:ext cx="360045" cy="43434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40"/>
              </a:spcBef>
            </a:pPr>
            <a:r>
              <a:rPr sz="1800" dirty="0">
                <a:latin typeface="Arial"/>
                <a:cs typeface="Arial"/>
              </a:rPr>
              <a:t>V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51908" y="2495550"/>
            <a:ext cx="34778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1F477B"/>
                </a:solidFill>
                <a:latin typeface="Arial"/>
                <a:cs typeface="Arial"/>
              </a:rPr>
              <a:t>Before </a:t>
            </a:r>
            <a:r>
              <a:rPr sz="1800" i="1" dirty="0">
                <a:solidFill>
                  <a:srgbClr val="1F477B"/>
                </a:solidFill>
                <a:latin typeface="Arial"/>
                <a:cs typeface="Arial"/>
              </a:rPr>
              <a:t>the </a:t>
            </a:r>
            <a:r>
              <a:rPr sz="1800" i="1" spc="-5" dirty="0">
                <a:solidFill>
                  <a:srgbClr val="1F477B"/>
                </a:solidFill>
                <a:latin typeface="Arial"/>
                <a:cs typeface="Arial"/>
              </a:rPr>
              <a:t>shift, if </a:t>
            </a:r>
            <a:r>
              <a:rPr sz="1800" i="1" dirty="0">
                <a:solidFill>
                  <a:srgbClr val="1F477B"/>
                </a:solidFill>
                <a:latin typeface="Arial"/>
                <a:cs typeface="Arial"/>
              </a:rPr>
              <a:t>the </a:t>
            </a:r>
            <a:r>
              <a:rPr sz="1800" i="1" spc="-10" dirty="0">
                <a:solidFill>
                  <a:srgbClr val="1F477B"/>
                </a:solidFill>
                <a:latin typeface="Arial"/>
                <a:cs typeface="Arial"/>
              </a:rPr>
              <a:t>leftmost </a:t>
            </a:r>
            <a:r>
              <a:rPr sz="1800" i="1" dirty="0">
                <a:solidFill>
                  <a:srgbClr val="1F477B"/>
                </a:solidFill>
                <a:latin typeface="Arial"/>
                <a:cs typeface="Arial"/>
              </a:rPr>
              <a:t>two  </a:t>
            </a:r>
            <a:r>
              <a:rPr sz="1800" i="1" spc="-5" dirty="0">
                <a:solidFill>
                  <a:srgbClr val="1F477B"/>
                </a:solidFill>
                <a:latin typeface="Arial"/>
                <a:cs typeface="Arial"/>
              </a:rPr>
              <a:t>bits </a:t>
            </a:r>
            <a:r>
              <a:rPr sz="1800" i="1" spc="-40" dirty="0">
                <a:solidFill>
                  <a:srgbClr val="1F477B"/>
                </a:solidFill>
                <a:latin typeface="Arial"/>
                <a:cs typeface="Arial"/>
              </a:rPr>
              <a:t>differ, </a:t>
            </a:r>
            <a:r>
              <a:rPr sz="1800" i="1" dirty="0">
                <a:solidFill>
                  <a:srgbClr val="1F477B"/>
                </a:solidFill>
                <a:latin typeface="Arial"/>
                <a:cs typeface="Arial"/>
              </a:rPr>
              <a:t>the </a:t>
            </a:r>
            <a:r>
              <a:rPr sz="1800" i="1" spc="-10" dirty="0">
                <a:solidFill>
                  <a:srgbClr val="1F477B"/>
                </a:solidFill>
                <a:latin typeface="Arial"/>
                <a:cs typeface="Arial"/>
              </a:rPr>
              <a:t>shift </a:t>
            </a:r>
            <a:r>
              <a:rPr sz="1800" i="1" spc="-5" dirty="0">
                <a:solidFill>
                  <a:srgbClr val="1F477B"/>
                </a:solidFill>
                <a:latin typeface="Arial"/>
                <a:cs typeface="Arial"/>
              </a:rPr>
              <a:t>will </a:t>
            </a:r>
            <a:r>
              <a:rPr sz="1800" i="1" spc="-10" dirty="0">
                <a:solidFill>
                  <a:srgbClr val="1F477B"/>
                </a:solidFill>
                <a:latin typeface="Arial"/>
                <a:cs typeface="Arial"/>
              </a:rPr>
              <a:t>result </a:t>
            </a:r>
            <a:r>
              <a:rPr sz="1800" i="1" spc="-15" dirty="0">
                <a:solidFill>
                  <a:srgbClr val="1F477B"/>
                </a:solidFill>
                <a:latin typeface="Arial"/>
                <a:cs typeface="Arial"/>
              </a:rPr>
              <a:t>in </a:t>
            </a:r>
            <a:r>
              <a:rPr sz="1800" i="1" spc="-10" dirty="0">
                <a:solidFill>
                  <a:srgbClr val="1F477B"/>
                </a:solidFill>
                <a:latin typeface="Arial"/>
                <a:cs typeface="Arial"/>
              </a:rPr>
              <a:t>an  </a:t>
            </a:r>
            <a:r>
              <a:rPr sz="1800" i="1" spc="-5" dirty="0">
                <a:solidFill>
                  <a:srgbClr val="1F477B"/>
                </a:solidFill>
                <a:latin typeface="Arial"/>
                <a:cs typeface="Arial"/>
              </a:rPr>
              <a:t>overflow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4837" y="3784853"/>
            <a:ext cx="43338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2000" dirty="0">
                <a:latin typeface="Times New Roman"/>
                <a:cs typeface="Times New Roman"/>
              </a:rPr>
              <a:t>In a </a:t>
            </a:r>
            <a:r>
              <a:rPr sz="2000" spc="-60" dirty="0">
                <a:latin typeface="Times New Roman"/>
                <a:cs typeface="Times New Roman"/>
              </a:rPr>
              <a:t>RTL, </a:t>
            </a:r>
            <a:r>
              <a:rPr sz="2000" dirty="0">
                <a:latin typeface="Times New Roman"/>
                <a:cs typeface="Times New Roman"/>
              </a:rPr>
              <a:t>the following notation is</a:t>
            </a:r>
            <a:r>
              <a:rPr sz="2000" spc="-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12037" y="4095343"/>
            <a:ext cx="707390" cy="6870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00"/>
              </a:spcBef>
              <a:buFont typeface="Times New Roman"/>
              <a:buChar char="–"/>
              <a:tabLst>
                <a:tab pos="241300" algn="l"/>
              </a:tabLst>
            </a:pPr>
            <a:r>
              <a:rPr sz="2000" i="1" dirty="0">
                <a:latin typeface="Times New Roman"/>
                <a:cs typeface="Times New Roman"/>
              </a:rPr>
              <a:t>ashl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Times New Roman"/>
              <a:buChar char="–"/>
              <a:tabLst>
                <a:tab pos="241300" algn="l"/>
              </a:tabLst>
            </a:pPr>
            <a:r>
              <a:rPr sz="2000" i="1" dirty="0">
                <a:latin typeface="Times New Roman"/>
                <a:cs typeface="Times New Roman"/>
              </a:rPr>
              <a:t>ashr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79498" y="4066387"/>
            <a:ext cx="27482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for an </a:t>
            </a:r>
            <a:r>
              <a:rPr sz="2000" spc="-5" dirty="0">
                <a:latin typeface="Times New Roman"/>
                <a:cs typeface="Times New Roman"/>
              </a:rPr>
              <a:t>arithmetic </a:t>
            </a:r>
            <a:r>
              <a:rPr sz="2000" dirty="0">
                <a:latin typeface="Times New Roman"/>
                <a:cs typeface="Times New Roman"/>
              </a:rPr>
              <a:t>shift </a:t>
            </a:r>
            <a:r>
              <a:rPr sz="2000" spc="-5" dirty="0">
                <a:latin typeface="Times New Roman"/>
                <a:cs typeface="Times New Roman"/>
              </a:rPr>
              <a:t>left  </a:t>
            </a:r>
            <a:r>
              <a:rPr sz="2000" dirty="0">
                <a:latin typeface="Times New Roman"/>
                <a:cs typeface="Times New Roman"/>
              </a:rPr>
              <a:t>for an </a:t>
            </a:r>
            <a:r>
              <a:rPr sz="2000" spc="-5" dirty="0">
                <a:latin typeface="Times New Roman"/>
                <a:cs typeface="Times New Roman"/>
              </a:rPr>
              <a:t>arithmetic </a:t>
            </a:r>
            <a:r>
              <a:rPr sz="2000" dirty="0">
                <a:latin typeface="Times New Roman"/>
                <a:cs typeface="Times New Roman"/>
              </a:rPr>
              <a:t>shift</a:t>
            </a:r>
            <a:r>
              <a:rPr sz="2000" spc="-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right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12037" y="4751679"/>
            <a:ext cx="2120265" cy="104457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Examples: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2000" dirty="0">
                <a:latin typeface="Times New Roman"/>
                <a:cs typeface="Times New Roman"/>
              </a:rPr>
              <a:t>» </a:t>
            </a:r>
            <a:r>
              <a:rPr sz="2000" spc="-5" dirty="0">
                <a:latin typeface="Times New Roman"/>
                <a:cs typeface="Times New Roman"/>
              </a:rPr>
              <a:t>R2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ashr</a:t>
            </a:r>
            <a:r>
              <a:rPr sz="2000" i="1" spc="-3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R2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95"/>
              </a:spcBef>
            </a:pPr>
            <a:r>
              <a:rPr sz="2000" dirty="0">
                <a:latin typeface="Times New Roman"/>
                <a:cs typeface="Times New Roman"/>
              </a:rPr>
              <a:t>» R3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ashl</a:t>
            </a:r>
            <a:r>
              <a:rPr sz="2000" i="1" spc="-4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R3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81200" y="1813560"/>
            <a:ext cx="360045" cy="43307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137160" marR="34290" indent="-508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Arial"/>
                <a:cs typeface="Arial"/>
              </a:rPr>
              <a:t>s</a:t>
            </a:r>
            <a:r>
              <a:rPr sz="1000" spc="-25" dirty="0">
                <a:latin typeface="Arial"/>
                <a:cs typeface="Arial"/>
              </a:rPr>
              <a:t>i</a:t>
            </a:r>
            <a:r>
              <a:rPr sz="1000" spc="-5" dirty="0">
                <a:latin typeface="Arial"/>
                <a:cs typeface="Arial"/>
              </a:rPr>
              <a:t>gn  bit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855" y="700786"/>
            <a:ext cx="6676288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 smtClean="0">
                <a:solidFill>
                  <a:srgbClr val="FF0000"/>
                </a:solidFill>
              </a:rPr>
              <a:t>Basic Symbols For Register</a:t>
            </a:r>
            <a:r>
              <a:rPr lang="en-US" sz="3200" b="1" spc="-254" dirty="0" smtClean="0">
                <a:solidFill>
                  <a:srgbClr val="FF0000"/>
                </a:solidFill>
              </a:rPr>
              <a:t> </a:t>
            </a:r>
            <a:r>
              <a:rPr lang="en-US" sz="3200" b="1" spc="-5" dirty="0" smtClean="0">
                <a:solidFill>
                  <a:srgbClr val="FF0000"/>
                </a:solidFill>
              </a:rPr>
              <a:t>Transfers</a:t>
            </a:r>
            <a:endParaRPr lang="en-US" sz="3200" b="1" spc="-5" dirty="0">
              <a:solidFill>
                <a:srgbClr val="FF0000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5109" y="2336038"/>
          <a:ext cx="8414384" cy="34930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4830"/>
                <a:gridCol w="4597400"/>
                <a:gridCol w="2002154"/>
              </a:tblGrid>
              <a:tr h="386334"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Symbols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34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Examples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9297">
                <a:tc>
                  <a:txBody>
                    <a:bodyPr/>
                    <a:lstStyle/>
                    <a:p>
                      <a:pPr marL="130810">
                        <a:lnSpc>
                          <a:spcPts val="20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Capital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letters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6">
                  <a:txBody>
                    <a:bodyPr/>
                    <a:lstStyle/>
                    <a:p>
                      <a:pPr marL="164465">
                        <a:lnSpc>
                          <a:spcPts val="20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Denotes a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register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89230" marR="1521460" indent="-12700">
                        <a:lnSpc>
                          <a:spcPct val="163900"/>
                        </a:lnSpc>
                        <a:spcBef>
                          <a:spcPts val="9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Denotes a part of a register  Denotes transfer of</a:t>
                      </a:r>
                      <a:r>
                        <a:rPr sz="1800" spc="-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information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1295" marR="765175">
                        <a:lnSpc>
                          <a:spcPct val="1151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Denotes termination of control</a:t>
                      </a:r>
                      <a:r>
                        <a:rPr sz="1800" spc="-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function  Separates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two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micro-operations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2045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MAR,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84320">
                <a:tc>
                  <a:txBody>
                    <a:bodyPr/>
                    <a:lstStyle/>
                    <a:p>
                      <a:pPr marL="130810">
                        <a:lnSpc>
                          <a:spcPts val="213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numerals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0226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Parentheses</a:t>
                      </a:r>
                      <a:r>
                        <a:rPr sz="1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ts val="200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R2(0-7),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R2(L)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38540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019"/>
                        </a:spcBef>
                        <a:tabLst>
                          <a:tab pos="956944" algn="l"/>
                        </a:tabLst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Arrow	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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1295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R2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26263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918844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Colon	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P: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P2</a:t>
                      </a:r>
                      <a:r>
                        <a:rPr sz="1800" spc="-10" dirty="0">
                          <a:latin typeface="Symbol"/>
                          <a:cs typeface="Symbol"/>
                        </a:rPr>
                        <a:t>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398026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Comma</a:t>
                      </a:r>
                      <a:r>
                        <a:rPr sz="1800" spc="3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B, B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95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4364" y="304291"/>
            <a:ext cx="4318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2315" algn="l"/>
                <a:tab pos="1556385" algn="l"/>
                <a:tab pos="2752725" algn="l"/>
              </a:tabLst>
            </a:pPr>
            <a:r>
              <a:rPr sz="2400" spc="-5" dirty="0"/>
              <a:t>B</a:t>
            </a:r>
            <a:r>
              <a:rPr sz="2400" spc="-25" dirty="0"/>
              <a:t>U</a:t>
            </a:r>
            <a:r>
              <a:rPr sz="2400" spc="-5" dirty="0"/>
              <a:t>S</a:t>
            </a:r>
            <a:r>
              <a:rPr sz="2400" dirty="0"/>
              <a:t>	</a:t>
            </a:r>
            <a:r>
              <a:rPr sz="2400" spc="-10" dirty="0"/>
              <a:t>A</a:t>
            </a:r>
            <a:r>
              <a:rPr sz="2400" spc="-25" dirty="0"/>
              <a:t>N</a:t>
            </a:r>
            <a:r>
              <a:rPr sz="2400" spc="-5" dirty="0"/>
              <a:t>D</a:t>
            </a:r>
            <a:r>
              <a:rPr sz="2400" dirty="0"/>
              <a:t>	</a:t>
            </a:r>
            <a:r>
              <a:rPr sz="2400" spc="-5" dirty="0"/>
              <a:t>Me</a:t>
            </a:r>
            <a:r>
              <a:rPr sz="2400" spc="-30" dirty="0"/>
              <a:t>m</a:t>
            </a:r>
            <a:r>
              <a:rPr sz="2400" dirty="0"/>
              <a:t>ory	</a:t>
            </a:r>
            <a:r>
              <a:rPr sz="2400" spc="-5" dirty="0"/>
              <a:t>TR</a:t>
            </a:r>
            <a:r>
              <a:rPr sz="2400" spc="-25" dirty="0"/>
              <a:t>A</a:t>
            </a:r>
            <a:r>
              <a:rPr sz="2400" spc="-10" dirty="0"/>
              <a:t>N</a:t>
            </a:r>
            <a:r>
              <a:rPr sz="2400" spc="-20" dirty="0"/>
              <a:t>S</a:t>
            </a:r>
            <a:r>
              <a:rPr sz="2400" spc="-10" dirty="0"/>
              <a:t>FER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10972" y="891920"/>
            <a:ext cx="8589010" cy="11569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4925" marR="5080">
              <a:lnSpc>
                <a:spcPct val="102000"/>
              </a:lnSpc>
              <a:spcBef>
                <a:spcPts val="55"/>
              </a:spcBef>
            </a:pPr>
            <a:r>
              <a:rPr sz="2000" dirty="0">
                <a:latin typeface="Times New Roman"/>
                <a:cs typeface="Times New Roman"/>
              </a:rPr>
              <a:t>Bus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path(of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wires)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information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transferred,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 several sources to any of several</a:t>
            </a:r>
            <a:r>
              <a:rPr sz="2000" spc="-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destinations.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000" dirty="0">
                <a:latin typeface="Times New Roman"/>
                <a:cs typeface="Times New Roman"/>
              </a:rPr>
              <a:t>From a register to bus: BUS </a:t>
            </a:r>
            <a:r>
              <a:rPr sz="2000" spc="5" dirty="0">
                <a:latin typeface="Symbol"/>
                <a:cs typeface="Symbol"/>
              </a:rPr>
              <a:t></a:t>
            </a:r>
            <a:r>
              <a:rPr sz="2000" spc="-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26016" y="3881564"/>
            <a:ext cx="845819" cy="189230"/>
            <a:chOff x="2926016" y="3881564"/>
            <a:chExt cx="845819" cy="189230"/>
          </a:xfrm>
        </p:grpSpPr>
        <p:sp>
          <p:nvSpPr>
            <p:cNvPr id="5" name="object 5"/>
            <p:cNvSpPr/>
            <p:nvPr/>
          </p:nvSpPr>
          <p:spPr>
            <a:xfrm>
              <a:off x="2939034" y="3894582"/>
              <a:ext cx="188595" cy="163195"/>
            </a:xfrm>
            <a:custGeom>
              <a:avLst/>
              <a:gdLst/>
              <a:ahLst/>
              <a:cxnLst/>
              <a:rect l="l" t="t" r="r" b="b"/>
              <a:pathLst>
                <a:path w="188594" h="163195">
                  <a:moveTo>
                    <a:pt x="0" y="162941"/>
                  </a:moveTo>
                  <a:lnTo>
                    <a:pt x="188468" y="162941"/>
                  </a:lnTo>
                  <a:lnTo>
                    <a:pt x="188468" y="0"/>
                  </a:lnTo>
                  <a:lnTo>
                    <a:pt x="0" y="0"/>
                  </a:lnTo>
                  <a:lnTo>
                    <a:pt x="0" y="16294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51988" y="3906012"/>
              <a:ext cx="161925" cy="137160"/>
            </a:xfrm>
            <a:custGeom>
              <a:avLst/>
              <a:gdLst/>
              <a:ahLst/>
              <a:cxnLst/>
              <a:rect l="l" t="t" r="r" b="b"/>
              <a:pathLst>
                <a:path w="161925" h="137160">
                  <a:moveTo>
                    <a:pt x="161544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61544" y="137160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52394" y="3894582"/>
              <a:ext cx="186055" cy="163195"/>
            </a:xfrm>
            <a:custGeom>
              <a:avLst/>
              <a:gdLst/>
              <a:ahLst/>
              <a:cxnLst/>
              <a:rect l="l" t="t" r="r" b="b"/>
              <a:pathLst>
                <a:path w="186054" h="163195">
                  <a:moveTo>
                    <a:pt x="0" y="162941"/>
                  </a:moveTo>
                  <a:lnTo>
                    <a:pt x="185801" y="162941"/>
                  </a:lnTo>
                  <a:lnTo>
                    <a:pt x="185801" y="0"/>
                  </a:lnTo>
                  <a:lnTo>
                    <a:pt x="0" y="0"/>
                  </a:lnTo>
                  <a:lnTo>
                    <a:pt x="0" y="16294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63824" y="3906012"/>
              <a:ext cx="160020" cy="137160"/>
            </a:xfrm>
            <a:custGeom>
              <a:avLst/>
              <a:gdLst/>
              <a:ahLst/>
              <a:cxnLst/>
              <a:rect l="l" t="t" r="r" b="b"/>
              <a:pathLst>
                <a:path w="160020" h="137160">
                  <a:moveTo>
                    <a:pt x="16002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60020" y="137160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62706" y="3894582"/>
              <a:ext cx="187325" cy="163195"/>
            </a:xfrm>
            <a:custGeom>
              <a:avLst/>
              <a:gdLst/>
              <a:ahLst/>
              <a:cxnLst/>
              <a:rect l="l" t="t" r="r" b="b"/>
              <a:pathLst>
                <a:path w="187325" h="163195">
                  <a:moveTo>
                    <a:pt x="0" y="162941"/>
                  </a:moveTo>
                  <a:lnTo>
                    <a:pt x="186944" y="162941"/>
                  </a:lnTo>
                  <a:lnTo>
                    <a:pt x="186944" y="0"/>
                  </a:lnTo>
                  <a:lnTo>
                    <a:pt x="0" y="0"/>
                  </a:lnTo>
                  <a:lnTo>
                    <a:pt x="0" y="16294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74136" y="3906012"/>
              <a:ext cx="161925" cy="137160"/>
            </a:xfrm>
            <a:custGeom>
              <a:avLst/>
              <a:gdLst/>
              <a:ahLst/>
              <a:cxnLst/>
              <a:rect l="l" t="t" r="r" b="b"/>
              <a:pathLst>
                <a:path w="161925" h="137160">
                  <a:moveTo>
                    <a:pt x="161544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61544" y="137160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73018" y="3894582"/>
              <a:ext cx="186055" cy="163195"/>
            </a:xfrm>
            <a:custGeom>
              <a:avLst/>
              <a:gdLst/>
              <a:ahLst/>
              <a:cxnLst/>
              <a:rect l="l" t="t" r="r" b="b"/>
              <a:pathLst>
                <a:path w="186054" h="163195">
                  <a:moveTo>
                    <a:pt x="0" y="162941"/>
                  </a:moveTo>
                  <a:lnTo>
                    <a:pt x="185800" y="162941"/>
                  </a:lnTo>
                  <a:lnTo>
                    <a:pt x="185800" y="0"/>
                  </a:lnTo>
                  <a:lnTo>
                    <a:pt x="0" y="0"/>
                  </a:lnTo>
                  <a:lnTo>
                    <a:pt x="0" y="16294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84448" y="3906012"/>
              <a:ext cx="160020" cy="137160"/>
            </a:xfrm>
            <a:custGeom>
              <a:avLst/>
              <a:gdLst/>
              <a:ahLst/>
              <a:cxnLst/>
              <a:rect l="l" t="t" r="r" b="b"/>
              <a:pathLst>
                <a:path w="160020" h="137160">
                  <a:moveTo>
                    <a:pt x="16002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60020" y="137160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028884" y="3865816"/>
          <a:ext cx="817880" cy="16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"/>
                <a:gridCol w="210820"/>
                <a:gridCol w="210820"/>
                <a:gridCol w="198120"/>
              </a:tblGrid>
              <a:tr h="163068">
                <a:tc>
                  <a:txBody>
                    <a:bodyPr/>
                    <a:lstStyle/>
                    <a:p>
                      <a:pPr marL="62865">
                        <a:lnSpc>
                          <a:spcPts val="1185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1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185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2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1185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3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185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4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156644" y="3865816"/>
          <a:ext cx="818514" cy="16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390"/>
                <a:gridCol w="210185"/>
                <a:gridCol w="211454"/>
                <a:gridCol w="197485"/>
              </a:tblGrid>
              <a:tr h="163068">
                <a:tc>
                  <a:txBody>
                    <a:bodyPr/>
                    <a:lstStyle/>
                    <a:p>
                      <a:pPr marL="52069">
                        <a:lnSpc>
                          <a:spcPts val="1185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1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185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2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185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3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85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4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285928" y="3865816"/>
          <a:ext cx="819149" cy="16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755"/>
                <a:gridCol w="210820"/>
                <a:gridCol w="210820"/>
                <a:gridCol w="198754"/>
              </a:tblGrid>
              <a:tr h="163068">
                <a:tc>
                  <a:txBody>
                    <a:bodyPr/>
                    <a:lstStyle/>
                    <a:p>
                      <a:pPr marL="52705">
                        <a:lnSpc>
                          <a:spcPts val="1185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1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185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2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185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3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185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4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3022092" y="4064444"/>
            <a:ext cx="728980" cy="728980"/>
            <a:chOff x="3022092" y="4064444"/>
            <a:chExt cx="728980" cy="728980"/>
          </a:xfrm>
        </p:grpSpPr>
        <p:sp>
          <p:nvSpPr>
            <p:cNvPr id="17" name="object 17"/>
            <p:cNvSpPr/>
            <p:nvPr/>
          </p:nvSpPr>
          <p:spPr>
            <a:xfrm>
              <a:off x="3022092" y="4689348"/>
              <a:ext cx="94487" cy="1036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622" y="4077462"/>
              <a:ext cx="0" cy="624840"/>
            </a:xfrm>
            <a:custGeom>
              <a:avLst/>
              <a:gdLst/>
              <a:ahLst/>
              <a:cxnLst/>
              <a:rect l="l" t="t" r="r" b="b"/>
              <a:pathLst>
                <a:path h="624839">
                  <a:moveTo>
                    <a:pt x="0" y="0"/>
                  </a:moveTo>
                  <a:lnTo>
                    <a:pt x="0" y="624586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33928" y="4625340"/>
              <a:ext cx="94487" cy="1676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44240" y="4625340"/>
              <a:ext cx="94487" cy="1676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56076" y="4625340"/>
              <a:ext cx="94487" cy="1676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977642" y="3657601"/>
            <a:ext cx="756158" cy="336630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12700" marR="5080" indent="12700">
              <a:lnSpc>
                <a:spcPct val="74700"/>
              </a:lnSpc>
              <a:spcBef>
                <a:spcPts val="464"/>
              </a:spcBef>
              <a:tabLst>
                <a:tab pos="224790" algn="l"/>
                <a:tab pos="434975" algn="l"/>
                <a:tab pos="648335" algn="l"/>
              </a:tabLst>
            </a:pPr>
            <a:r>
              <a:rPr sz="1200" spc="-20" dirty="0">
                <a:latin typeface="Carlito"/>
                <a:cs typeface="Carlito"/>
              </a:rPr>
              <a:t>Register </a:t>
            </a:r>
            <a:r>
              <a:rPr sz="1200" dirty="0">
                <a:latin typeface="Carlito"/>
                <a:cs typeface="Carlito"/>
              </a:rPr>
              <a:t>A  1	2	3	4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06036" y="3657601"/>
            <a:ext cx="77076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rlito"/>
                <a:cs typeface="Carlito"/>
              </a:rPr>
              <a:t>Register</a:t>
            </a:r>
            <a:r>
              <a:rPr sz="1200" spc="-65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B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37226" y="3581401"/>
            <a:ext cx="78257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rlito"/>
                <a:cs typeface="Carlito"/>
              </a:rPr>
              <a:t>Register</a:t>
            </a:r>
            <a:r>
              <a:rPr sz="1200" spc="-55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C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68034" y="3581401"/>
            <a:ext cx="87096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rlito"/>
                <a:cs typeface="Carlito"/>
              </a:rPr>
              <a:t>Register</a:t>
            </a:r>
            <a:r>
              <a:rPr sz="1200" spc="-110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D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64458" y="4442841"/>
            <a:ext cx="797942" cy="205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B</a:t>
            </a:r>
            <a:r>
              <a:rPr sz="1200" spc="-145" dirty="0">
                <a:latin typeface="Carlito"/>
                <a:cs typeface="Carlito"/>
              </a:rPr>
              <a:t> </a:t>
            </a:r>
            <a:r>
              <a:rPr sz="1800" baseline="-9259" dirty="0">
                <a:latin typeface="Carlito"/>
                <a:cs typeface="Carlito"/>
              </a:rPr>
              <a:t>1</a:t>
            </a:r>
            <a:r>
              <a:rPr sz="1800" spc="-89" baseline="-9259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C</a:t>
            </a:r>
            <a:r>
              <a:rPr sz="1200" spc="-40" dirty="0">
                <a:latin typeface="Carlito"/>
                <a:cs typeface="Carlito"/>
              </a:rPr>
              <a:t> </a:t>
            </a:r>
            <a:r>
              <a:rPr sz="1800" baseline="-9259" dirty="0">
                <a:latin typeface="Carlito"/>
                <a:cs typeface="Carlito"/>
              </a:rPr>
              <a:t>1</a:t>
            </a:r>
            <a:r>
              <a:rPr sz="1800" spc="-89" baseline="-9259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D</a:t>
            </a:r>
            <a:r>
              <a:rPr sz="1200" spc="-80" dirty="0">
                <a:latin typeface="Carlito"/>
                <a:cs typeface="Carlito"/>
              </a:rPr>
              <a:t> </a:t>
            </a:r>
            <a:r>
              <a:rPr sz="1800" baseline="-9259" dirty="0">
                <a:latin typeface="Carlito"/>
                <a:cs typeface="Carlito"/>
              </a:rPr>
              <a:t>1</a:t>
            </a:r>
            <a:endParaRPr sz="1800" baseline="-9259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569400" y="4625340"/>
            <a:ext cx="3677285" cy="1357630"/>
            <a:chOff x="2569400" y="4625340"/>
            <a:chExt cx="3677285" cy="1357630"/>
          </a:xfrm>
        </p:grpSpPr>
        <p:sp>
          <p:nvSpPr>
            <p:cNvPr id="28" name="object 28"/>
            <p:cNvSpPr/>
            <p:nvPr/>
          </p:nvSpPr>
          <p:spPr>
            <a:xfrm>
              <a:off x="2582418" y="4918710"/>
              <a:ext cx="3651250" cy="1051560"/>
            </a:xfrm>
            <a:custGeom>
              <a:avLst/>
              <a:gdLst/>
              <a:ahLst/>
              <a:cxnLst/>
              <a:rect l="l" t="t" r="r" b="b"/>
              <a:pathLst>
                <a:path w="3651250" h="1051560">
                  <a:moveTo>
                    <a:pt x="208787" y="0"/>
                  </a:moveTo>
                  <a:lnTo>
                    <a:pt x="333629" y="0"/>
                  </a:lnTo>
                </a:path>
                <a:path w="3651250" h="1051560">
                  <a:moveTo>
                    <a:pt x="204215" y="6095"/>
                  </a:moveTo>
                  <a:lnTo>
                    <a:pt x="204215" y="598423"/>
                  </a:lnTo>
                </a:path>
                <a:path w="3651250" h="1051560">
                  <a:moveTo>
                    <a:pt x="281939" y="248412"/>
                  </a:moveTo>
                  <a:lnTo>
                    <a:pt x="333248" y="248412"/>
                  </a:lnTo>
                </a:path>
                <a:path w="3651250" h="1051560">
                  <a:moveTo>
                    <a:pt x="277368" y="254507"/>
                  </a:moveTo>
                  <a:lnTo>
                    <a:pt x="277368" y="780033"/>
                  </a:lnTo>
                </a:path>
                <a:path w="3651250" h="1051560">
                  <a:moveTo>
                    <a:pt x="0" y="614171"/>
                  </a:moveTo>
                  <a:lnTo>
                    <a:pt x="3577844" y="614171"/>
                  </a:lnTo>
                </a:path>
                <a:path w="3651250" h="1051560">
                  <a:moveTo>
                    <a:pt x="0" y="796442"/>
                  </a:moveTo>
                  <a:lnTo>
                    <a:pt x="3651123" y="790955"/>
                  </a:lnTo>
                </a:path>
                <a:path w="3651250" h="1051560">
                  <a:moveTo>
                    <a:pt x="772668" y="428243"/>
                  </a:moveTo>
                  <a:lnTo>
                    <a:pt x="772668" y="1051052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28544" y="5686044"/>
              <a:ext cx="36830" cy="45720"/>
            </a:xfrm>
            <a:custGeom>
              <a:avLst/>
              <a:gdLst/>
              <a:ahLst/>
              <a:cxnLst/>
              <a:rect l="l" t="t" r="r" b="b"/>
              <a:pathLst>
                <a:path w="36830" h="45720">
                  <a:moveTo>
                    <a:pt x="18161" y="0"/>
                  </a:moveTo>
                  <a:lnTo>
                    <a:pt x="11049" y="1790"/>
                  </a:lnTo>
                  <a:lnTo>
                    <a:pt x="5333" y="6654"/>
                  </a:lnTo>
                  <a:lnTo>
                    <a:pt x="1397" y="13881"/>
                  </a:lnTo>
                  <a:lnTo>
                    <a:pt x="0" y="22732"/>
                  </a:lnTo>
                  <a:lnTo>
                    <a:pt x="1397" y="31572"/>
                  </a:lnTo>
                  <a:lnTo>
                    <a:pt x="5333" y="38798"/>
                  </a:lnTo>
                  <a:lnTo>
                    <a:pt x="11049" y="43675"/>
                  </a:lnTo>
                  <a:lnTo>
                    <a:pt x="18161" y="45453"/>
                  </a:lnTo>
                  <a:lnTo>
                    <a:pt x="25273" y="43675"/>
                  </a:lnTo>
                  <a:lnTo>
                    <a:pt x="30987" y="38798"/>
                  </a:lnTo>
                  <a:lnTo>
                    <a:pt x="34925" y="31572"/>
                  </a:lnTo>
                  <a:lnTo>
                    <a:pt x="36322" y="22732"/>
                  </a:lnTo>
                  <a:lnTo>
                    <a:pt x="34925" y="13881"/>
                  </a:lnTo>
                  <a:lnTo>
                    <a:pt x="30987" y="6654"/>
                  </a:lnTo>
                  <a:lnTo>
                    <a:pt x="25273" y="1790"/>
                  </a:lnTo>
                  <a:lnTo>
                    <a:pt x="181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29306" y="5686806"/>
              <a:ext cx="36830" cy="45720"/>
            </a:xfrm>
            <a:custGeom>
              <a:avLst/>
              <a:gdLst/>
              <a:ahLst/>
              <a:cxnLst/>
              <a:rect l="l" t="t" r="r" b="b"/>
              <a:pathLst>
                <a:path w="36830" h="45720">
                  <a:moveTo>
                    <a:pt x="0" y="22733"/>
                  </a:moveTo>
                  <a:lnTo>
                    <a:pt x="1396" y="13881"/>
                  </a:lnTo>
                  <a:lnTo>
                    <a:pt x="5333" y="6654"/>
                  </a:lnTo>
                  <a:lnTo>
                    <a:pt x="11049" y="1790"/>
                  </a:lnTo>
                  <a:lnTo>
                    <a:pt x="18161" y="0"/>
                  </a:lnTo>
                  <a:lnTo>
                    <a:pt x="25273" y="1790"/>
                  </a:lnTo>
                  <a:lnTo>
                    <a:pt x="30987" y="6654"/>
                  </a:lnTo>
                  <a:lnTo>
                    <a:pt x="34925" y="13881"/>
                  </a:lnTo>
                  <a:lnTo>
                    <a:pt x="36321" y="22733"/>
                  </a:lnTo>
                  <a:lnTo>
                    <a:pt x="34925" y="31572"/>
                  </a:lnTo>
                  <a:lnTo>
                    <a:pt x="30987" y="38798"/>
                  </a:lnTo>
                  <a:lnTo>
                    <a:pt x="25273" y="43675"/>
                  </a:lnTo>
                  <a:lnTo>
                    <a:pt x="18161" y="45453"/>
                  </a:lnTo>
                  <a:lnTo>
                    <a:pt x="11049" y="43675"/>
                  </a:lnTo>
                  <a:lnTo>
                    <a:pt x="5333" y="38798"/>
                  </a:lnTo>
                  <a:lnTo>
                    <a:pt x="1396" y="31572"/>
                  </a:lnTo>
                  <a:lnTo>
                    <a:pt x="0" y="2273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40152" y="5492496"/>
              <a:ext cx="63754" cy="6807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63211" y="4625340"/>
              <a:ext cx="94487" cy="1676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73523" y="4625340"/>
              <a:ext cx="94487" cy="1676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83836" y="4625340"/>
              <a:ext cx="96012" cy="1676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293742" y="4442841"/>
            <a:ext cx="887858" cy="205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B</a:t>
            </a:r>
            <a:r>
              <a:rPr sz="1800" baseline="-9259" dirty="0">
                <a:latin typeface="Carlito"/>
                <a:cs typeface="Carlito"/>
              </a:rPr>
              <a:t>2 </a:t>
            </a:r>
            <a:r>
              <a:rPr sz="1200" dirty="0">
                <a:latin typeface="Carlito"/>
                <a:cs typeface="Carlito"/>
              </a:rPr>
              <a:t>C </a:t>
            </a:r>
            <a:r>
              <a:rPr sz="1800" baseline="-9259" dirty="0">
                <a:latin typeface="Carlito"/>
                <a:cs typeface="Carlito"/>
              </a:rPr>
              <a:t>2 </a:t>
            </a:r>
            <a:r>
              <a:rPr sz="1200" dirty="0">
                <a:latin typeface="Carlito"/>
                <a:cs typeface="Carlito"/>
              </a:rPr>
              <a:t>D</a:t>
            </a:r>
            <a:r>
              <a:rPr sz="1200" spc="-190" dirty="0">
                <a:latin typeface="Carlito"/>
                <a:cs typeface="Carlito"/>
              </a:rPr>
              <a:t> </a:t>
            </a:r>
            <a:r>
              <a:rPr sz="1800" baseline="-9259" dirty="0">
                <a:latin typeface="Carlito"/>
                <a:cs typeface="Carlito"/>
              </a:rPr>
              <a:t>2</a:t>
            </a:r>
            <a:endParaRPr sz="1800" baseline="-9259">
              <a:latin typeface="Carlito"/>
              <a:cs typeface="Carlito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857244" y="4625340"/>
            <a:ext cx="2138680" cy="1225550"/>
            <a:chOff x="3857244" y="4625340"/>
            <a:chExt cx="2138680" cy="1225550"/>
          </a:xfrm>
        </p:grpSpPr>
        <p:sp>
          <p:nvSpPr>
            <p:cNvPr id="37" name="object 37"/>
            <p:cNvSpPr/>
            <p:nvPr/>
          </p:nvSpPr>
          <p:spPr>
            <a:xfrm>
              <a:off x="3914394" y="4918710"/>
              <a:ext cx="559435" cy="919480"/>
            </a:xfrm>
            <a:custGeom>
              <a:avLst/>
              <a:gdLst/>
              <a:ahLst/>
              <a:cxnLst/>
              <a:rect l="l" t="t" r="r" b="b"/>
              <a:pathLst>
                <a:path w="559435" h="919479">
                  <a:moveTo>
                    <a:pt x="4571" y="0"/>
                  </a:moveTo>
                  <a:lnTo>
                    <a:pt x="118617" y="0"/>
                  </a:lnTo>
                </a:path>
                <a:path w="559435" h="919479">
                  <a:moveTo>
                    <a:pt x="79247" y="248412"/>
                  </a:moveTo>
                  <a:lnTo>
                    <a:pt x="117347" y="248412"/>
                  </a:lnTo>
                </a:path>
                <a:path w="559435" h="919479">
                  <a:moveTo>
                    <a:pt x="74675" y="254507"/>
                  </a:moveTo>
                  <a:lnTo>
                    <a:pt x="74675" y="780033"/>
                  </a:lnTo>
                </a:path>
                <a:path w="559435" h="919479">
                  <a:moveTo>
                    <a:pt x="0" y="6095"/>
                  </a:moveTo>
                  <a:lnTo>
                    <a:pt x="0" y="598423"/>
                  </a:lnTo>
                </a:path>
                <a:path w="559435" h="919479">
                  <a:moveTo>
                    <a:pt x="559307" y="416051"/>
                  </a:moveTo>
                  <a:lnTo>
                    <a:pt x="559307" y="918971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31920" y="5673852"/>
              <a:ext cx="74675" cy="7010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57244" y="5490972"/>
              <a:ext cx="74675" cy="685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478780" y="4625340"/>
              <a:ext cx="94487" cy="1676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89092" y="4625340"/>
              <a:ext cx="94487" cy="16763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00927" y="4625340"/>
              <a:ext cx="94487" cy="1676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411088" y="4442841"/>
            <a:ext cx="837311" cy="205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B</a:t>
            </a:r>
            <a:r>
              <a:rPr sz="1200" spc="-170" dirty="0">
                <a:latin typeface="Carlito"/>
                <a:cs typeface="Carlito"/>
              </a:rPr>
              <a:t> </a:t>
            </a:r>
            <a:r>
              <a:rPr sz="1800" baseline="-9259" dirty="0">
                <a:latin typeface="Carlito"/>
                <a:cs typeface="Carlito"/>
              </a:rPr>
              <a:t>3</a:t>
            </a:r>
            <a:r>
              <a:rPr sz="1800" spc="-75" baseline="-9259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C</a:t>
            </a:r>
            <a:r>
              <a:rPr sz="1200" spc="-65" dirty="0">
                <a:latin typeface="Carlito"/>
                <a:cs typeface="Carlito"/>
              </a:rPr>
              <a:t> </a:t>
            </a:r>
            <a:r>
              <a:rPr sz="1800" baseline="-9259" dirty="0">
                <a:latin typeface="Carlito"/>
                <a:cs typeface="Carlito"/>
              </a:rPr>
              <a:t>3</a:t>
            </a:r>
            <a:r>
              <a:rPr sz="1800" spc="-60" baseline="-9259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D</a:t>
            </a:r>
            <a:r>
              <a:rPr sz="1200" spc="-65" dirty="0">
                <a:latin typeface="Carlito"/>
                <a:cs typeface="Carlito"/>
              </a:rPr>
              <a:t> </a:t>
            </a:r>
            <a:r>
              <a:rPr sz="1800" baseline="-9259" dirty="0">
                <a:latin typeface="Carlito"/>
                <a:cs typeface="Carlito"/>
              </a:rPr>
              <a:t>3</a:t>
            </a:r>
            <a:endParaRPr sz="1800" baseline="-9259">
              <a:latin typeface="Carlito"/>
              <a:cs typeface="Carli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986528" y="4625340"/>
            <a:ext cx="2138680" cy="1225550"/>
            <a:chOff x="4986528" y="4625340"/>
            <a:chExt cx="2138680" cy="1225550"/>
          </a:xfrm>
        </p:grpSpPr>
        <p:sp>
          <p:nvSpPr>
            <p:cNvPr id="45" name="object 45"/>
            <p:cNvSpPr/>
            <p:nvPr/>
          </p:nvSpPr>
          <p:spPr>
            <a:xfrm>
              <a:off x="5042154" y="4918710"/>
              <a:ext cx="559435" cy="918844"/>
            </a:xfrm>
            <a:custGeom>
              <a:avLst/>
              <a:gdLst/>
              <a:ahLst/>
              <a:cxnLst/>
              <a:rect l="l" t="t" r="r" b="b"/>
              <a:pathLst>
                <a:path w="559435" h="918845">
                  <a:moveTo>
                    <a:pt x="7620" y="0"/>
                  </a:moveTo>
                  <a:lnTo>
                    <a:pt x="120142" y="0"/>
                  </a:lnTo>
                </a:path>
                <a:path w="559435" h="918845">
                  <a:moveTo>
                    <a:pt x="70104" y="248412"/>
                  </a:moveTo>
                  <a:lnTo>
                    <a:pt x="119887" y="248412"/>
                  </a:lnTo>
                </a:path>
                <a:path w="559435" h="918845">
                  <a:moveTo>
                    <a:pt x="64008" y="254507"/>
                  </a:moveTo>
                  <a:lnTo>
                    <a:pt x="64008" y="780033"/>
                  </a:lnTo>
                </a:path>
                <a:path w="559435" h="918845">
                  <a:moveTo>
                    <a:pt x="0" y="6095"/>
                  </a:moveTo>
                  <a:lnTo>
                    <a:pt x="0" y="598423"/>
                  </a:lnTo>
                </a:path>
                <a:path w="559435" h="918845">
                  <a:moveTo>
                    <a:pt x="559308" y="435863"/>
                  </a:moveTo>
                  <a:lnTo>
                    <a:pt x="559308" y="91859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059680" y="5673852"/>
              <a:ext cx="76200" cy="7010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86528" y="5490972"/>
              <a:ext cx="74675" cy="685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608064" y="4625340"/>
              <a:ext cx="94486" cy="16763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818376" y="4625340"/>
              <a:ext cx="94486" cy="16763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28688" y="4625340"/>
              <a:ext cx="96011" cy="16763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540372" y="4442841"/>
            <a:ext cx="92722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50" dirty="0">
                <a:latin typeface="Carlito"/>
                <a:cs typeface="Carlito"/>
              </a:rPr>
              <a:t>B</a:t>
            </a:r>
            <a:r>
              <a:rPr sz="1800" spc="75" baseline="-9259" dirty="0">
                <a:latin typeface="Carlito"/>
                <a:cs typeface="Carlito"/>
              </a:rPr>
              <a:t>4</a:t>
            </a:r>
            <a:r>
              <a:rPr sz="1800" spc="-60" baseline="-9259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C</a:t>
            </a:r>
            <a:r>
              <a:rPr sz="1200" spc="-60" dirty="0">
                <a:latin typeface="Carlito"/>
                <a:cs typeface="Carlito"/>
              </a:rPr>
              <a:t> </a:t>
            </a:r>
            <a:r>
              <a:rPr sz="1800" baseline="-9259" dirty="0">
                <a:latin typeface="Carlito"/>
                <a:cs typeface="Carlito"/>
              </a:rPr>
              <a:t>4</a:t>
            </a:r>
            <a:r>
              <a:rPr sz="1800" spc="-75" baseline="-9259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D</a:t>
            </a:r>
            <a:r>
              <a:rPr sz="1200" spc="-55" dirty="0">
                <a:latin typeface="Carlito"/>
                <a:cs typeface="Carlito"/>
              </a:rPr>
              <a:t> </a:t>
            </a:r>
            <a:r>
              <a:rPr sz="1800" baseline="-9259" dirty="0">
                <a:latin typeface="Carlito"/>
                <a:cs typeface="Carlito"/>
              </a:rPr>
              <a:t>4</a:t>
            </a:r>
            <a:endParaRPr sz="1800" baseline="-9259">
              <a:latin typeface="Carlito"/>
              <a:cs typeface="Carlit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608064" y="4076700"/>
            <a:ext cx="94486" cy="16763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818376" y="4076700"/>
            <a:ext cx="94486" cy="16763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028688" y="4076700"/>
            <a:ext cx="96011" cy="16763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5" name="object 55"/>
          <p:cNvGrpSpPr/>
          <p:nvPr/>
        </p:nvGrpSpPr>
        <p:grpSpPr>
          <a:xfrm>
            <a:off x="2926016" y="4055300"/>
            <a:ext cx="3822065" cy="2078989"/>
            <a:chOff x="2926016" y="4055300"/>
            <a:chExt cx="3822065" cy="2078989"/>
          </a:xfrm>
        </p:grpSpPr>
        <p:sp>
          <p:nvSpPr>
            <p:cNvPr id="56" name="object 56"/>
            <p:cNvSpPr/>
            <p:nvPr/>
          </p:nvSpPr>
          <p:spPr>
            <a:xfrm>
              <a:off x="4151376" y="4076700"/>
              <a:ext cx="94487" cy="16763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51376" y="4689348"/>
              <a:ext cx="94487" cy="10363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75838" y="4068318"/>
              <a:ext cx="925194" cy="632460"/>
            </a:xfrm>
            <a:custGeom>
              <a:avLst/>
              <a:gdLst/>
              <a:ahLst/>
              <a:cxnLst/>
              <a:rect l="l" t="t" r="r" b="b"/>
              <a:pathLst>
                <a:path w="925195" h="632460">
                  <a:moveTo>
                    <a:pt x="925067" y="373379"/>
                  </a:moveTo>
                  <a:lnTo>
                    <a:pt x="925067" y="632459"/>
                  </a:lnTo>
                </a:path>
                <a:path w="925195" h="632460">
                  <a:moveTo>
                    <a:pt x="917321" y="364108"/>
                  </a:moveTo>
                  <a:lnTo>
                    <a:pt x="0" y="364108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363212" y="4076700"/>
              <a:ext cx="94487" cy="16763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73524" y="4076700"/>
              <a:ext cx="94487" cy="16763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783836" y="4076700"/>
              <a:ext cx="96012" cy="16763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268468" y="4076700"/>
              <a:ext cx="94487" cy="16763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486150" y="4068318"/>
              <a:ext cx="1824355" cy="300355"/>
            </a:xfrm>
            <a:custGeom>
              <a:avLst/>
              <a:gdLst/>
              <a:ahLst/>
              <a:cxnLst/>
              <a:rect l="l" t="t" r="r" b="b"/>
              <a:pathLst>
                <a:path w="1824354" h="300354">
                  <a:moveTo>
                    <a:pt x="0" y="0"/>
                  </a:moveTo>
                  <a:lnTo>
                    <a:pt x="0" y="300227"/>
                  </a:lnTo>
                  <a:lnTo>
                    <a:pt x="1824101" y="300227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268468" y="4689348"/>
              <a:ext cx="94487" cy="10363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316474" y="4379214"/>
              <a:ext cx="0" cy="323215"/>
            </a:xfrm>
            <a:custGeom>
              <a:avLst/>
              <a:gdLst/>
              <a:ahLst/>
              <a:cxnLst/>
              <a:rect l="l" t="t" r="r" b="b"/>
              <a:pathLst>
                <a:path h="323214">
                  <a:moveTo>
                    <a:pt x="0" y="0"/>
                  </a:moveTo>
                  <a:lnTo>
                    <a:pt x="0" y="322961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478780" y="4076700"/>
              <a:ext cx="94487" cy="16763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689092" y="4076700"/>
              <a:ext cx="94487" cy="16763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00927" y="4076700"/>
              <a:ext cx="94487" cy="16763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397751" y="4076700"/>
              <a:ext cx="94487" cy="16763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696462" y="4068318"/>
              <a:ext cx="2743200" cy="236220"/>
            </a:xfrm>
            <a:custGeom>
              <a:avLst/>
              <a:gdLst/>
              <a:ahLst/>
              <a:cxnLst/>
              <a:rect l="l" t="t" r="r" b="b"/>
              <a:pathLst>
                <a:path w="2743200" h="236220">
                  <a:moveTo>
                    <a:pt x="0" y="0"/>
                  </a:moveTo>
                  <a:lnTo>
                    <a:pt x="0" y="235711"/>
                  </a:lnTo>
                  <a:lnTo>
                    <a:pt x="2742946" y="235711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397751" y="4689348"/>
              <a:ext cx="94487" cy="10363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478274" y="4313682"/>
              <a:ext cx="1967864" cy="1518285"/>
            </a:xfrm>
            <a:custGeom>
              <a:avLst/>
              <a:gdLst/>
              <a:ahLst/>
              <a:cxnLst/>
              <a:rect l="l" t="t" r="r" b="b"/>
              <a:pathLst>
                <a:path w="1967864" h="1518285">
                  <a:moveTo>
                    <a:pt x="1967484" y="0"/>
                  </a:moveTo>
                  <a:lnTo>
                    <a:pt x="1967484" y="388620"/>
                  </a:lnTo>
                </a:path>
                <a:path w="1967864" h="1518285">
                  <a:moveTo>
                    <a:pt x="1687067" y="605028"/>
                  </a:moveTo>
                  <a:lnTo>
                    <a:pt x="1811654" y="605028"/>
                  </a:lnTo>
                </a:path>
                <a:path w="1967864" h="1518285">
                  <a:moveTo>
                    <a:pt x="1761743" y="853440"/>
                  </a:moveTo>
                  <a:lnTo>
                    <a:pt x="1811909" y="853440"/>
                  </a:lnTo>
                </a:path>
                <a:path w="1967864" h="1518285">
                  <a:moveTo>
                    <a:pt x="1754124" y="859536"/>
                  </a:moveTo>
                  <a:lnTo>
                    <a:pt x="1754124" y="1400556"/>
                  </a:lnTo>
                </a:path>
                <a:path w="1967864" h="1518285">
                  <a:moveTo>
                    <a:pt x="1682496" y="611124"/>
                  </a:moveTo>
                  <a:lnTo>
                    <a:pt x="1682496" y="1218692"/>
                  </a:lnTo>
                </a:path>
                <a:path w="1967864" h="1518285">
                  <a:moveTo>
                    <a:pt x="0" y="1517904"/>
                  </a:moveTo>
                  <a:lnTo>
                    <a:pt x="363727" y="1517904"/>
                  </a:lnTo>
                </a:path>
                <a:path w="1967864" h="1518285">
                  <a:moveTo>
                    <a:pt x="780288" y="1517904"/>
                  </a:moveTo>
                  <a:lnTo>
                    <a:pt x="1118235" y="1517904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783836" y="5838444"/>
              <a:ext cx="96012" cy="29565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205983" y="5838444"/>
              <a:ext cx="94487" cy="29565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353562" y="5962650"/>
              <a:ext cx="1113790" cy="0"/>
            </a:xfrm>
            <a:custGeom>
              <a:avLst/>
              <a:gdLst/>
              <a:ahLst/>
              <a:cxnLst/>
              <a:rect l="l" t="t" r="r" b="b"/>
              <a:pathLst>
                <a:path w="1113789">
                  <a:moveTo>
                    <a:pt x="0" y="0"/>
                  </a:moveTo>
                  <a:lnTo>
                    <a:pt x="1113663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424172" y="5964936"/>
              <a:ext cx="94487" cy="169163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628132" y="5964936"/>
              <a:ext cx="94487" cy="169163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680710" y="5354574"/>
              <a:ext cx="1054735" cy="620395"/>
            </a:xfrm>
            <a:custGeom>
              <a:avLst/>
              <a:gdLst/>
              <a:ahLst/>
              <a:cxnLst/>
              <a:rect l="l" t="t" r="r" b="b"/>
              <a:pathLst>
                <a:path w="1054734" h="620395">
                  <a:moveTo>
                    <a:pt x="1048512" y="0"/>
                  </a:moveTo>
                  <a:lnTo>
                    <a:pt x="1048512" y="619887"/>
                  </a:lnTo>
                </a:path>
                <a:path w="1054734" h="620395">
                  <a:moveTo>
                    <a:pt x="0" y="608076"/>
                  </a:moveTo>
                  <a:lnTo>
                    <a:pt x="1054226" y="608076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939034" y="4807458"/>
              <a:ext cx="820419" cy="527685"/>
            </a:xfrm>
            <a:custGeom>
              <a:avLst/>
              <a:gdLst/>
              <a:ahLst/>
              <a:cxnLst/>
              <a:rect l="l" t="t" r="r" b="b"/>
              <a:pathLst>
                <a:path w="820420" h="527685">
                  <a:moveTo>
                    <a:pt x="819912" y="0"/>
                  </a:moveTo>
                  <a:lnTo>
                    <a:pt x="0" y="0"/>
                  </a:lnTo>
                  <a:lnTo>
                    <a:pt x="0" y="527304"/>
                  </a:lnTo>
                  <a:lnTo>
                    <a:pt x="819912" y="527304"/>
                  </a:lnTo>
                  <a:lnTo>
                    <a:pt x="819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939034" y="4807458"/>
              <a:ext cx="820419" cy="527685"/>
            </a:xfrm>
            <a:custGeom>
              <a:avLst/>
              <a:gdLst/>
              <a:ahLst/>
              <a:cxnLst/>
              <a:rect l="l" t="t" r="r" b="b"/>
              <a:pathLst>
                <a:path w="820420" h="527685">
                  <a:moveTo>
                    <a:pt x="0" y="527304"/>
                  </a:moveTo>
                  <a:lnTo>
                    <a:pt x="819912" y="527304"/>
                  </a:lnTo>
                  <a:lnTo>
                    <a:pt x="819912" y="0"/>
                  </a:lnTo>
                  <a:lnTo>
                    <a:pt x="0" y="0"/>
                  </a:lnTo>
                  <a:lnTo>
                    <a:pt x="0" y="52730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668392" y="6215279"/>
            <a:ext cx="104660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4-line</a:t>
            </a:r>
            <a:r>
              <a:rPr sz="1200" spc="-165" dirty="0">
                <a:latin typeface="Carlito"/>
                <a:cs typeface="Carlito"/>
              </a:rPr>
              <a:t> </a:t>
            </a:r>
            <a:r>
              <a:rPr sz="1200" spc="5" dirty="0">
                <a:latin typeface="Carlito"/>
                <a:cs typeface="Carlito"/>
              </a:rPr>
              <a:t>bus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421763" y="5420614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x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421763" y="5666638"/>
            <a:ext cx="94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y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905000" y="5538927"/>
            <a:ext cx="82727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rlito"/>
                <a:cs typeface="Carlito"/>
              </a:rPr>
              <a:t>se</a:t>
            </a:r>
            <a:r>
              <a:rPr sz="1200" dirty="0">
                <a:latin typeface="Carlito"/>
                <a:cs typeface="Carlito"/>
              </a:rPr>
              <a:t>le</a:t>
            </a:r>
            <a:r>
              <a:rPr sz="1200" spc="-5" dirty="0">
                <a:latin typeface="Carlito"/>
                <a:cs typeface="Carlito"/>
              </a:rPr>
              <a:t>c</a:t>
            </a:r>
            <a:r>
              <a:rPr sz="1200" dirty="0">
                <a:latin typeface="Carlito"/>
                <a:cs typeface="Carlito"/>
              </a:rPr>
              <a:t>t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991357" y="4802504"/>
            <a:ext cx="90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0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203194" y="4866513"/>
            <a:ext cx="454406" cy="3733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R="5080">
              <a:lnSpc>
                <a:spcPts val="1300"/>
              </a:lnSpc>
              <a:spcBef>
                <a:spcPts val="259"/>
              </a:spcBef>
            </a:pPr>
            <a:r>
              <a:rPr sz="1200" dirty="0">
                <a:latin typeface="Carlito"/>
                <a:cs typeface="Carlito"/>
              </a:rPr>
              <a:t>4 </a:t>
            </a:r>
            <a:r>
              <a:rPr sz="1200" spc="-5" dirty="0">
                <a:latin typeface="Carlito"/>
                <a:cs typeface="Carlito"/>
              </a:rPr>
              <a:t>x1  </a:t>
            </a:r>
            <a:r>
              <a:rPr sz="1200" dirty="0">
                <a:latin typeface="Carlito"/>
                <a:cs typeface="Carlito"/>
              </a:rPr>
              <a:t>MUX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4044632" y="4794440"/>
            <a:ext cx="844550" cy="553720"/>
            <a:chOff x="4044632" y="4794440"/>
            <a:chExt cx="844550" cy="553720"/>
          </a:xfrm>
        </p:grpSpPr>
        <p:sp>
          <p:nvSpPr>
            <p:cNvPr id="88" name="object 88"/>
            <p:cNvSpPr/>
            <p:nvPr/>
          </p:nvSpPr>
          <p:spPr>
            <a:xfrm>
              <a:off x="4057650" y="4807458"/>
              <a:ext cx="818515" cy="527685"/>
            </a:xfrm>
            <a:custGeom>
              <a:avLst/>
              <a:gdLst/>
              <a:ahLst/>
              <a:cxnLst/>
              <a:rect l="l" t="t" r="r" b="b"/>
              <a:pathLst>
                <a:path w="818514" h="527685">
                  <a:moveTo>
                    <a:pt x="818388" y="0"/>
                  </a:moveTo>
                  <a:lnTo>
                    <a:pt x="0" y="0"/>
                  </a:lnTo>
                  <a:lnTo>
                    <a:pt x="0" y="527304"/>
                  </a:lnTo>
                  <a:lnTo>
                    <a:pt x="818388" y="527304"/>
                  </a:lnTo>
                  <a:lnTo>
                    <a:pt x="818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057650" y="4807458"/>
              <a:ext cx="818515" cy="527685"/>
            </a:xfrm>
            <a:custGeom>
              <a:avLst/>
              <a:gdLst/>
              <a:ahLst/>
              <a:cxnLst/>
              <a:rect l="l" t="t" r="r" b="b"/>
              <a:pathLst>
                <a:path w="818514" h="527685">
                  <a:moveTo>
                    <a:pt x="0" y="527304"/>
                  </a:moveTo>
                  <a:lnTo>
                    <a:pt x="818388" y="527304"/>
                  </a:lnTo>
                  <a:lnTo>
                    <a:pt x="818388" y="0"/>
                  </a:lnTo>
                  <a:lnTo>
                    <a:pt x="0" y="0"/>
                  </a:lnTo>
                  <a:lnTo>
                    <a:pt x="0" y="52730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4119371" y="4802504"/>
            <a:ext cx="90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0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331208" y="4866513"/>
            <a:ext cx="469392" cy="3733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R="5080">
              <a:lnSpc>
                <a:spcPts val="1300"/>
              </a:lnSpc>
              <a:spcBef>
                <a:spcPts val="259"/>
              </a:spcBef>
            </a:pPr>
            <a:r>
              <a:rPr sz="1200" dirty="0">
                <a:latin typeface="Carlito"/>
                <a:cs typeface="Carlito"/>
              </a:rPr>
              <a:t>4 </a:t>
            </a:r>
            <a:r>
              <a:rPr sz="1200" spc="-5" dirty="0">
                <a:latin typeface="Carlito"/>
                <a:cs typeface="Carlito"/>
              </a:rPr>
              <a:t>x1  </a:t>
            </a:r>
            <a:r>
              <a:rPr sz="1200" dirty="0">
                <a:latin typeface="Carlito"/>
                <a:cs typeface="Carlito"/>
              </a:rPr>
              <a:t>MUX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5170868" y="4794440"/>
            <a:ext cx="847725" cy="553720"/>
            <a:chOff x="5170868" y="4794440"/>
            <a:chExt cx="847725" cy="553720"/>
          </a:xfrm>
        </p:grpSpPr>
        <p:sp>
          <p:nvSpPr>
            <p:cNvPr id="93" name="object 93"/>
            <p:cNvSpPr/>
            <p:nvPr/>
          </p:nvSpPr>
          <p:spPr>
            <a:xfrm>
              <a:off x="5183885" y="4807458"/>
              <a:ext cx="821690" cy="527685"/>
            </a:xfrm>
            <a:custGeom>
              <a:avLst/>
              <a:gdLst/>
              <a:ahLst/>
              <a:cxnLst/>
              <a:rect l="l" t="t" r="r" b="b"/>
              <a:pathLst>
                <a:path w="821689" h="527685">
                  <a:moveTo>
                    <a:pt x="821436" y="0"/>
                  </a:moveTo>
                  <a:lnTo>
                    <a:pt x="0" y="0"/>
                  </a:lnTo>
                  <a:lnTo>
                    <a:pt x="0" y="527304"/>
                  </a:lnTo>
                  <a:lnTo>
                    <a:pt x="821436" y="527304"/>
                  </a:lnTo>
                  <a:lnTo>
                    <a:pt x="821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183885" y="4807458"/>
              <a:ext cx="821690" cy="527685"/>
            </a:xfrm>
            <a:custGeom>
              <a:avLst/>
              <a:gdLst/>
              <a:ahLst/>
              <a:cxnLst/>
              <a:rect l="l" t="t" r="r" b="b"/>
              <a:pathLst>
                <a:path w="821689" h="527685">
                  <a:moveTo>
                    <a:pt x="0" y="527304"/>
                  </a:moveTo>
                  <a:lnTo>
                    <a:pt x="821436" y="527304"/>
                  </a:lnTo>
                  <a:lnTo>
                    <a:pt x="821436" y="0"/>
                  </a:lnTo>
                  <a:lnTo>
                    <a:pt x="0" y="0"/>
                  </a:lnTo>
                  <a:lnTo>
                    <a:pt x="0" y="52730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5236464" y="4802504"/>
            <a:ext cx="90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0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448300" y="4866513"/>
            <a:ext cx="495300" cy="3733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R="5080">
              <a:lnSpc>
                <a:spcPts val="1300"/>
              </a:lnSpc>
              <a:spcBef>
                <a:spcPts val="259"/>
              </a:spcBef>
            </a:pPr>
            <a:r>
              <a:rPr sz="1200" dirty="0">
                <a:latin typeface="Carlito"/>
                <a:cs typeface="Carlito"/>
              </a:rPr>
              <a:t>4 </a:t>
            </a:r>
            <a:r>
              <a:rPr sz="1200" spc="-5" dirty="0">
                <a:latin typeface="Carlito"/>
                <a:cs typeface="Carlito"/>
              </a:rPr>
              <a:t>x1  </a:t>
            </a:r>
            <a:r>
              <a:rPr sz="1200" dirty="0">
                <a:latin typeface="Carlito"/>
                <a:cs typeface="Carlito"/>
              </a:rPr>
              <a:t>MUX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6301740" y="4794503"/>
            <a:ext cx="845819" cy="553720"/>
            <a:chOff x="6301740" y="4794503"/>
            <a:chExt cx="845819" cy="553720"/>
          </a:xfrm>
        </p:grpSpPr>
        <p:sp>
          <p:nvSpPr>
            <p:cNvPr id="98" name="object 98"/>
            <p:cNvSpPr/>
            <p:nvPr/>
          </p:nvSpPr>
          <p:spPr>
            <a:xfrm>
              <a:off x="6314694" y="4807457"/>
              <a:ext cx="820419" cy="527685"/>
            </a:xfrm>
            <a:custGeom>
              <a:avLst/>
              <a:gdLst/>
              <a:ahLst/>
              <a:cxnLst/>
              <a:rect l="l" t="t" r="r" b="b"/>
              <a:pathLst>
                <a:path w="820420" h="527685">
                  <a:moveTo>
                    <a:pt x="819911" y="0"/>
                  </a:moveTo>
                  <a:lnTo>
                    <a:pt x="0" y="0"/>
                  </a:lnTo>
                  <a:lnTo>
                    <a:pt x="0" y="527304"/>
                  </a:lnTo>
                  <a:lnTo>
                    <a:pt x="819911" y="527304"/>
                  </a:lnTo>
                  <a:lnTo>
                    <a:pt x="8199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314694" y="4807457"/>
              <a:ext cx="820419" cy="527685"/>
            </a:xfrm>
            <a:custGeom>
              <a:avLst/>
              <a:gdLst/>
              <a:ahLst/>
              <a:cxnLst/>
              <a:rect l="l" t="t" r="r" b="b"/>
              <a:pathLst>
                <a:path w="820420" h="527685">
                  <a:moveTo>
                    <a:pt x="0" y="527304"/>
                  </a:moveTo>
                  <a:lnTo>
                    <a:pt x="819911" y="527304"/>
                  </a:lnTo>
                  <a:lnTo>
                    <a:pt x="819911" y="0"/>
                  </a:lnTo>
                  <a:lnTo>
                    <a:pt x="0" y="0"/>
                  </a:lnTo>
                  <a:lnTo>
                    <a:pt x="0" y="52730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6367526" y="4802504"/>
            <a:ext cx="90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0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577838" y="4866513"/>
            <a:ext cx="432562" cy="3733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R="5080">
              <a:lnSpc>
                <a:spcPts val="1300"/>
              </a:lnSpc>
              <a:spcBef>
                <a:spcPts val="259"/>
              </a:spcBef>
            </a:pPr>
            <a:r>
              <a:rPr sz="1200" dirty="0">
                <a:latin typeface="Carlito"/>
                <a:cs typeface="Carlito"/>
              </a:rPr>
              <a:t>4 </a:t>
            </a:r>
            <a:r>
              <a:rPr sz="1200" spc="-5" dirty="0">
                <a:latin typeface="Carlito"/>
                <a:cs typeface="Carlito"/>
              </a:rPr>
              <a:t>x1  </a:t>
            </a:r>
            <a:r>
              <a:rPr sz="1200" dirty="0">
                <a:latin typeface="Carlito"/>
                <a:cs typeface="Carlito"/>
              </a:rPr>
              <a:t>MUX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3040316" y="2293556"/>
            <a:ext cx="913130" cy="252095"/>
            <a:chOff x="3040316" y="2293556"/>
            <a:chExt cx="913130" cy="252095"/>
          </a:xfrm>
        </p:grpSpPr>
        <p:sp>
          <p:nvSpPr>
            <p:cNvPr id="103" name="object 103"/>
            <p:cNvSpPr/>
            <p:nvPr/>
          </p:nvSpPr>
          <p:spPr>
            <a:xfrm>
              <a:off x="3053334" y="2306574"/>
              <a:ext cx="887094" cy="226060"/>
            </a:xfrm>
            <a:custGeom>
              <a:avLst/>
              <a:gdLst/>
              <a:ahLst/>
              <a:cxnLst/>
              <a:rect l="l" t="t" r="r" b="b"/>
              <a:pathLst>
                <a:path w="887095" h="226060">
                  <a:moveTo>
                    <a:pt x="886968" y="0"/>
                  </a:moveTo>
                  <a:lnTo>
                    <a:pt x="0" y="0"/>
                  </a:lnTo>
                  <a:lnTo>
                    <a:pt x="0" y="225551"/>
                  </a:lnTo>
                  <a:lnTo>
                    <a:pt x="886968" y="225551"/>
                  </a:lnTo>
                  <a:lnTo>
                    <a:pt x="886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053334" y="2306574"/>
              <a:ext cx="887094" cy="226060"/>
            </a:xfrm>
            <a:custGeom>
              <a:avLst/>
              <a:gdLst/>
              <a:ahLst/>
              <a:cxnLst/>
              <a:rect l="l" t="t" r="r" b="b"/>
              <a:pathLst>
                <a:path w="887095" h="226060">
                  <a:moveTo>
                    <a:pt x="0" y="225551"/>
                  </a:moveTo>
                  <a:lnTo>
                    <a:pt x="886968" y="225551"/>
                  </a:lnTo>
                  <a:lnTo>
                    <a:pt x="886968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3053333" y="2306573"/>
            <a:ext cx="887094" cy="22606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40"/>
              </a:spcBef>
            </a:pPr>
            <a:r>
              <a:rPr sz="1200" spc="-20" dirty="0">
                <a:latin typeface="Carlito"/>
                <a:cs typeface="Carlito"/>
              </a:rPr>
              <a:t>Register</a:t>
            </a:r>
            <a:r>
              <a:rPr sz="1200" spc="-30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A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4248848" y="2293556"/>
            <a:ext cx="913130" cy="252095"/>
            <a:chOff x="4248848" y="2293556"/>
            <a:chExt cx="913130" cy="252095"/>
          </a:xfrm>
        </p:grpSpPr>
        <p:sp>
          <p:nvSpPr>
            <p:cNvPr id="107" name="object 107"/>
            <p:cNvSpPr/>
            <p:nvPr/>
          </p:nvSpPr>
          <p:spPr>
            <a:xfrm>
              <a:off x="4261865" y="2306574"/>
              <a:ext cx="887094" cy="226060"/>
            </a:xfrm>
            <a:custGeom>
              <a:avLst/>
              <a:gdLst/>
              <a:ahLst/>
              <a:cxnLst/>
              <a:rect l="l" t="t" r="r" b="b"/>
              <a:pathLst>
                <a:path w="887095" h="226060">
                  <a:moveTo>
                    <a:pt x="886967" y="0"/>
                  </a:moveTo>
                  <a:lnTo>
                    <a:pt x="0" y="0"/>
                  </a:lnTo>
                  <a:lnTo>
                    <a:pt x="0" y="225551"/>
                  </a:lnTo>
                  <a:lnTo>
                    <a:pt x="886967" y="225551"/>
                  </a:lnTo>
                  <a:lnTo>
                    <a:pt x="8869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261865" y="2306574"/>
              <a:ext cx="887094" cy="226060"/>
            </a:xfrm>
            <a:custGeom>
              <a:avLst/>
              <a:gdLst/>
              <a:ahLst/>
              <a:cxnLst/>
              <a:rect l="l" t="t" r="r" b="b"/>
              <a:pathLst>
                <a:path w="887095" h="226060">
                  <a:moveTo>
                    <a:pt x="0" y="225551"/>
                  </a:moveTo>
                  <a:lnTo>
                    <a:pt x="886967" y="225551"/>
                  </a:lnTo>
                  <a:lnTo>
                    <a:pt x="886967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4261865" y="2306573"/>
            <a:ext cx="887094" cy="22606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40"/>
              </a:spcBef>
            </a:pPr>
            <a:r>
              <a:rPr sz="1200" spc="-20" dirty="0">
                <a:latin typeface="Carlito"/>
                <a:cs typeface="Carlito"/>
              </a:rPr>
              <a:t>Register</a:t>
            </a:r>
            <a:r>
              <a:rPr sz="1200" spc="-30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B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5472620" y="2293556"/>
            <a:ext cx="911860" cy="252095"/>
            <a:chOff x="5472620" y="2293556"/>
            <a:chExt cx="911860" cy="252095"/>
          </a:xfrm>
        </p:grpSpPr>
        <p:sp>
          <p:nvSpPr>
            <p:cNvPr id="111" name="object 111"/>
            <p:cNvSpPr/>
            <p:nvPr/>
          </p:nvSpPr>
          <p:spPr>
            <a:xfrm>
              <a:off x="5485638" y="2306574"/>
              <a:ext cx="885825" cy="226060"/>
            </a:xfrm>
            <a:custGeom>
              <a:avLst/>
              <a:gdLst/>
              <a:ahLst/>
              <a:cxnLst/>
              <a:rect l="l" t="t" r="r" b="b"/>
              <a:pathLst>
                <a:path w="885825" h="226060">
                  <a:moveTo>
                    <a:pt x="885443" y="0"/>
                  </a:moveTo>
                  <a:lnTo>
                    <a:pt x="0" y="0"/>
                  </a:lnTo>
                  <a:lnTo>
                    <a:pt x="0" y="225551"/>
                  </a:lnTo>
                  <a:lnTo>
                    <a:pt x="885443" y="225551"/>
                  </a:lnTo>
                  <a:lnTo>
                    <a:pt x="8854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485638" y="2306574"/>
              <a:ext cx="885825" cy="226060"/>
            </a:xfrm>
            <a:custGeom>
              <a:avLst/>
              <a:gdLst/>
              <a:ahLst/>
              <a:cxnLst/>
              <a:rect l="l" t="t" r="r" b="b"/>
              <a:pathLst>
                <a:path w="885825" h="226060">
                  <a:moveTo>
                    <a:pt x="0" y="225551"/>
                  </a:moveTo>
                  <a:lnTo>
                    <a:pt x="885443" y="225551"/>
                  </a:lnTo>
                  <a:lnTo>
                    <a:pt x="885443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5485638" y="2306573"/>
            <a:ext cx="885825" cy="22606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40"/>
              </a:spcBef>
            </a:pPr>
            <a:r>
              <a:rPr sz="1200" spc="-20" dirty="0">
                <a:latin typeface="Carlito"/>
                <a:cs typeface="Carlito"/>
              </a:rPr>
              <a:t>Register</a:t>
            </a:r>
            <a:r>
              <a:rPr sz="1200" spc="-30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C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6693344" y="2293556"/>
            <a:ext cx="913130" cy="252095"/>
            <a:chOff x="6693344" y="2293556"/>
            <a:chExt cx="913130" cy="252095"/>
          </a:xfrm>
        </p:grpSpPr>
        <p:sp>
          <p:nvSpPr>
            <p:cNvPr id="115" name="object 115"/>
            <p:cNvSpPr/>
            <p:nvPr/>
          </p:nvSpPr>
          <p:spPr>
            <a:xfrm>
              <a:off x="6706361" y="2306574"/>
              <a:ext cx="887094" cy="226060"/>
            </a:xfrm>
            <a:custGeom>
              <a:avLst/>
              <a:gdLst/>
              <a:ahLst/>
              <a:cxnLst/>
              <a:rect l="l" t="t" r="r" b="b"/>
              <a:pathLst>
                <a:path w="887095" h="226060">
                  <a:moveTo>
                    <a:pt x="886968" y="0"/>
                  </a:moveTo>
                  <a:lnTo>
                    <a:pt x="0" y="0"/>
                  </a:lnTo>
                  <a:lnTo>
                    <a:pt x="0" y="225551"/>
                  </a:lnTo>
                  <a:lnTo>
                    <a:pt x="886968" y="225551"/>
                  </a:lnTo>
                  <a:lnTo>
                    <a:pt x="886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706361" y="2306574"/>
              <a:ext cx="887094" cy="226060"/>
            </a:xfrm>
            <a:custGeom>
              <a:avLst/>
              <a:gdLst/>
              <a:ahLst/>
              <a:cxnLst/>
              <a:rect l="l" t="t" r="r" b="b"/>
              <a:pathLst>
                <a:path w="887095" h="226060">
                  <a:moveTo>
                    <a:pt x="0" y="225551"/>
                  </a:moveTo>
                  <a:lnTo>
                    <a:pt x="886968" y="225551"/>
                  </a:lnTo>
                  <a:lnTo>
                    <a:pt x="886968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6706361" y="2306573"/>
            <a:ext cx="887094" cy="22606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40"/>
              </a:spcBef>
            </a:pPr>
            <a:r>
              <a:rPr sz="1200" spc="-20" dirty="0">
                <a:latin typeface="Carlito"/>
                <a:cs typeface="Carlito"/>
              </a:rPr>
              <a:t>Register</a:t>
            </a:r>
            <a:r>
              <a:rPr sz="1200" spc="-30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D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2510027" y="2121407"/>
            <a:ext cx="5477510" cy="1388745"/>
            <a:chOff x="2510027" y="2121407"/>
            <a:chExt cx="5477510" cy="1388745"/>
          </a:xfrm>
        </p:grpSpPr>
        <p:sp>
          <p:nvSpPr>
            <p:cNvPr id="119" name="object 119"/>
            <p:cNvSpPr/>
            <p:nvPr/>
          </p:nvSpPr>
          <p:spPr>
            <a:xfrm>
              <a:off x="3518916" y="2816351"/>
              <a:ext cx="102108" cy="144779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571494" y="2562605"/>
              <a:ext cx="0" cy="269875"/>
            </a:xfrm>
            <a:custGeom>
              <a:avLst/>
              <a:gdLst/>
              <a:ahLst/>
              <a:cxnLst/>
              <a:rect l="l" t="t" r="r" b="b"/>
              <a:pathLst>
                <a:path h="269875">
                  <a:moveTo>
                    <a:pt x="0" y="0"/>
                  </a:moveTo>
                  <a:lnTo>
                    <a:pt x="0" y="269367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741163" y="2816351"/>
              <a:ext cx="102108" cy="144779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792217" y="2562605"/>
              <a:ext cx="0" cy="269875"/>
            </a:xfrm>
            <a:custGeom>
              <a:avLst/>
              <a:gdLst/>
              <a:ahLst/>
              <a:cxnLst/>
              <a:rect l="l" t="t" r="r" b="b"/>
              <a:pathLst>
                <a:path h="269875">
                  <a:moveTo>
                    <a:pt x="0" y="0"/>
                  </a:moveTo>
                  <a:lnTo>
                    <a:pt x="0" y="269367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963412" y="2816351"/>
              <a:ext cx="102108" cy="144779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014466" y="2562605"/>
              <a:ext cx="0" cy="269875"/>
            </a:xfrm>
            <a:custGeom>
              <a:avLst/>
              <a:gdLst/>
              <a:ahLst/>
              <a:cxnLst/>
              <a:rect l="l" t="t" r="r" b="b"/>
              <a:pathLst>
                <a:path h="269875">
                  <a:moveTo>
                    <a:pt x="0" y="0"/>
                  </a:moveTo>
                  <a:lnTo>
                    <a:pt x="0" y="269367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185660" y="2816351"/>
              <a:ext cx="102107" cy="144779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053333" y="2562605"/>
              <a:ext cx="4191000" cy="411480"/>
            </a:xfrm>
            <a:custGeom>
              <a:avLst/>
              <a:gdLst/>
              <a:ahLst/>
              <a:cxnLst/>
              <a:rect l="l" t="t" r="r" b="b"/>
              <a:pathLst>
                <a:path w="4191000" h="411480">
                  <a:moveTo>
                    <a:pt x="4184904" y="0"/>
                  </a:moveTo>
                  <a:lnTo>
                    <a:pt x="4184904" y="269367"/>
                  </a:lnTo>
                </a:path>
                <a:path w="4191000" h="411480">
                  <a:moveTo>
                    <a:pt x="0" y="411480"/>
                  </a:moveTo>
                  <a:lnTo>
                    <a:pt x="4191000" y="41148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994659" y="2982467"/>
              <a:ext cx="102107" cy="321563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514599" y="2125979"/>
              <a:ext cx="5468620" cy="1379220"/>
            </a:xfrm>
            <a:custGeom>
              <a:avLst/>
              <a:gdLst/>
              <a:ahLst/>
              <a:cxnLst/>
              <a:rect l="l" t="t" r="r" b="b"/>
              <a:pathLst>
                <a:path w="5468620" h="1379220">
                  <a:moveTo>
                    <a:pt x="0" y="1379220"/>
                  </a:moveTo>
                  <a:lnTo>
                    <a:pt x="5468111" y="1379220"/>
                  </a:lnTo>
                  <a:lnTo>
                    <a:pt x="5468111" y="0"/>
                  </a:lnTo>
                  <a:lnTo>
                    <a:pt x="0" y="0"/>
                  </a:lnTo>
                  <a:lnTo>
                    <a:pt x="0" y="137922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3168522" y="3202051"/>
            <a:ext cx="102247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rlito"/>
                <a:cs typeface="Carlito"/>
              </a:rPr>
              <a:t>Bus</a:t>
            </a:r>
            <a:r>
              <a:rPr sz="1200" spc="-80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lines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7632" y="211277"/>
            <a:ext cx="8163967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5" dirty="0">
                <a:latin typeface="Carlito"/>
                <a:cs typeface="Carlito"/>
              </a:rPr>
              <a:t>Transfer </a:t>
            </a:r>
            <a:r>
              <a:rPr sz="3600" spc="-20" dirty="0">
                <a:latin typeface="Carlito"/>
                <a:cs typeface="Carlito"/>
              </a:rPr>
              <a:t>from </a:t>
            </a:r>
            <a:r>
              <a:rPr sz="3600" dirty="0">
                <a:latin typeface="Carlito"/>
                <a:cs typeface="Carlito"/>
              </a:rPr>
              <a:t>Bus </a:t>
            </a:r>
            <a:r>
              <a:rPr sz="3600" spc="-20" dirty="0">
                <a:latin typeface="Carlito"/>
                <a:cs typeface="Carlito"/>
              </a:rPr>
              <a:t>to </a:t>
            </a:r>
            <a:r>
              <a:rPr sz="3600" spc="-15" dirty="0">
                <a:latin typeface="Carlito"/>
                <a:cs typeface="Carlito"/>
              </a:rPr>
              <a:t>destination</a:t>
            </a:r>
            <a:r>
              <a:rPr sz="3600" spc="-155" dirty="0">
                <a:latin typeface="Carlito"/>
                <a:cs typeface="Carlito"/>
              </a:rPr>
              <a:t> </a:t>
            </a:r>
            <a:r>
              <a:rPr sz="3600" spc="-25" dirty="0">
                <a:latin typeface="Carlito"/>
                <a:cs typeface="Carlito"/>
              </a:rPr>
              <a:t>register</a:t>
            </a:r>
            <a:endParaRPr sz="36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0046" y="2999358"/>
            <a:ext cx="341335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Carlito"/>
                <a:cs typeface="Carlito"/>
              </a:rPr>
              <a:t>Three-State 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Bus</a:t>
            </a:r>
            <a:r>
              <a:rPr sz="1800" b="1" spc="-12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rlito"/>
                <a:cs typeface="Carlito"/>
              </a:rPr>
              <a:t>Buffers</a:t>
            </a:r>
            <a:endParaRPr sz="1800" b="1">
              <a:solidFill>
                <a:srgbClr val="FF0000"/>
              </a:solidFill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046" y="4371594"/>
            <a:ext cx="470875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Bus </a:t>
            </a:r>
            <a:r>
              <a:rPr sz="1800" b="1" spc="-15" dirty="0">
                <a:solidFill>
                  <a:srgbClr val="FF0000"/>
                </a:solidFill>
                <a:latin typeface="Carlito"/>
                <a:cs typeface="Carlito"/>
              </a:rPr>
              <a:t>line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with </a:t>
            </a:r>
            <a:r>
              <a:rPr sz="1800" b="1" spc="-25" dirty="0">
                <a:solidFill>
                  <a:srgbClr val="FF0000"/>
                </a:solidFill>
                <a:latin typeface="Carlito"/>
                <a:cs typeface="Carlito"/>
              </a:rPr>
              <a:t>three-state</a:t>
            </a:r>
            <a:r>
              <a:rPr sz="1800" b="1" spc="-4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rlito"/>
                <a:cs typeface="Carlito"/>
              </a:rPr>
              <a:t>buffers</a:t>
            </a:r>
            <a:endParaRPr sz="1800" b="1">
              <a:solidFill>
                <a:srgbClr val="FF0000"/>
              </a:solidFill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38920" y="1533080"/>
            <a:ext cx="755015" cy="231775"/>
            <a:chOff x="2538920" y="1533080"/>
            <a:chExt cx="755015" cy="231775"/>
          </a:xfrm>
        </p:grpSpPr>
        <p:sp>
          <p:nvSpPr>
            <p:cNvPr id="6" name="object 6"/>
            <p:cNvSpPr/>
            <p:nvPr/>
          </p:nvSpPr>
          <p:spPr>
            <a:xfrm>
              <a:off x="2551937" y="1546097"/>
              <a:ext cx="728980" cy="205740"/>
            </a:xfrm>
            <a:custGeom>
              <a:avLst/>
              <a:gdLst/>
              <a:ahLst/>
              <a:cxnLst/>
              <a:rect l="l" t="t" r="r" b="b"/>
              <a:pathLst>
                <a:path w="728979" h="205739">
                  <a:moveTo>
                    <a:pt x="728472" y="0"/>
                  </a:moveTo>
                  <a:lnTo>
                    <a:pt x="0" y="0"/>
                  </a:lnTo>
                  <a:lnTo>
                    <a:pt x="0" y="205739"/>
                  </a:lnTo>
                  <a:lnTo>
                    <a:pt x="728472" y="205739"/>
                  </a:lnTo>
                  <a:lnTo>
                    <a:pt x="7284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51937" y="1546097"/>
              <a:ext cx="728980" cy="205740"/>
            </a:xfrm>
            <a:custGeom>
              <a:avLst/>
              <a:gdLst/>
              <a:ahLst/>
              <a:cxnLst/>
              <a:rect l="l" t="t" r="r" b="b"/>
              <a:pathLst>
                <a:path w="728979" h="205739">
                  <a:moveTo>
                    <a:pt x="0" y="205739"/>
                  </a:moveTo>
                  <a:lnTo>
                    <a:pt x="728472" y="205739"/>
                  </a:lnTo>
                  <a:lnTo>
                    <a:pt x="728472" y="0"/>
                  </a:lnTo>
                  <a:lnTo>
                    <a:pt x="0" y="0"/>
                  </a:lnTo>
                  <a:lnTo>
                    <a:pt x="0" y="20573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551938" y="1546097"/>
            <a:ext cx="728980" cy="2057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35"/>
              </a:spcBef>
            </a:pPr>
            <a:r>
              <a:rPr sz="1200" spc="-20" dirty="0">
                <a:latin typeface="Carlito"/>
                <a:cs typeface="Carlito"/>
              </a:rPr>
              <a:t>Reg.</a:t>
            </a:r>
            <a:r>
              <a:rPr sz="1200" spc="-40" dirty="0">
                <a:latin typeface="Carlito"/>
                <a:cs typeface="Carlito"/>
              </a:rPr>
              <a:t> </a:t>
            </a:r>
            <a:r>
              <a:rPr sz="1200" spc="-5" dirty="0">
                <a:latin typeface="Carlito"/>
                <a:cs typeface="Carlito"/>
              </a:rPr>
              <a:t>R0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642296" y="1533080"/>
            <a:ext cx="755015" cy="231775"/>
            <a:chOff x="3642296" y="1533080"/>
            <a:chExt cx="755015" cy="231775"/>
          </a:xfrm>
        </p:grpSpPr>
        <p:sp>
          <p:nvSpPr>
            <p:cNvPr id="10" name="object 10"/>
            <p:cNvSpPr/>
            <p:nvPr/>
          </p:nvSpPr>
          <p:spPr>
            <a:xfrm>
              <a:off x="3655314" y="1546097"/>
              <a:ext cx="728980" cy="205740"/>
            </a:xfrm>
            <a:custGeom>
              <a:avLst/>
              <a:gdLst/>
              <a:ahLst/>
              <a:cxnLst/>
              <a:rect l="l" t="t" r="r" b="b"/>
              <a:pathLst>
                <a:path w="728979" h="205739">
                  <a:moveTo>
                    <a:pt x="728472" y="0"/>
                  </a:moveTo>
                  <a:lnTo>
                    <a:pt x="0" y="0"/>
                  </a:lnTo>
                  <a:lnTo>
                    <a:pt x="0" y="205739"/>
                  </a:lnTo>
                  <a:lnTo>
                    <a:pt x="728472" y="205739"/>
                  </a:lnTo>
                  <a:lnTo>
                    <a:pt x="7284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55314" y="1546097"/>
              <a:ext cx="728980" cy="205740"/>
            </a:xfrm>
            <a:custGeom>
              <a:avLst/>
              <a:gdLst/>
              <a:ahLst/>
              <a:cxnLst/>
              <a:rect l="l" t="t" r="r" b="b"/>
              <a:pathLst>
                <a:path w="728979" h="205739">
                  <a:moveTo>
                    <a:pt x="0" y="205739"/>
                  </a:moveTo>
                  <a:lnTo>
                    <a:pt x="728472" y="205739"/>
                  </a:lnTo>
                  <a:lnTo>
                    <a:pt x="728472" y="0"/>
                  </a:lnTo>
                  <a:lnTo>
                    <a:pt x="0" y="0"/>
                  </a:lnTo>
                  <a:lnTo>
                    <a:pt x="0" y="20573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655314" y="1546097"/>
            <a:ext cx="728980" cy="2057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35"/>
              </a:spcBef>
            </a:pPr>
            <a:r>
              <a:rPr sz="1200" spc="-20" dirty="0">
                <a:latin typeface="Carlito"/>
                <a:cs typeface="Carlito"/>
              </a:rPr>
              <a:t>Reg.</a:t>
            </a:r>
            <a:r>
              <a:rPr sz="1200" spc="-40" dirty="0">
                <a:latin typeface="Carlito"/>
                <a:cs typeface="Carlito"/>
              </a:rPr>
              <a:t> </a:t>
            </a:r>
            <a:r>
              <a:rPr sz="1200" spc="-5" dirty="0">
                <a:latin typeface="Carlito"/>
                <a:cs typeface="Carlito"/>
              </a:rPr>
              <a:t>R1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33480" y="1533080"/>
            <a:ext cx="768350" cy="231775"/>
            <a:chOff x="4733480" y="1533080"/>
            <a:chExt cx="768350" cy="231775"/>
          </a:xfrm>
        </p:grpSpPr>
        <p:sp>
          <p:nvSpPr>
            <p:cNvPr id="14" name="object 14"/>
            <p:cNvSpPr/>
            <p:nvPr/>
          </p:nvSpPr>
          <p:spPr>
            <a:xfrm>
              <a:off x="4746497" y="1546097"/>
              <a:ext cx="742315" cy="205740"/>
            </a:xfrm>
            <a:custGeom>
              <a:avLst/>
              <a:gdLst/>
              <a:ahLst/>
              <a:cxnLst/>
              <a:rect l="l" t="t" r="r" b="b"/>
              <a:pathLst>
                <a:path w="742314" h="205739">
                  <a:moveTo>
                    <a:pt x="742188" y="0"/>
                  </a:moveTo>
                  <a:lnTo>
                    <a:pt x="0" y="0"/>
                  </a:lnTo>
                  <a:lnTo>
                    <a:pt x="0" y="205739"/>
                  </a:lnTo>
                  <a:lnTo>
                    <a:pt x="742188" y="205739"/>
                  </a:lnTo>
                  <a:lnTo>
                    <a:pt x="742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46497" y="1546097"/>
              <a:ext cx="742315" cy="205740"/>
            </a:xfrm>
            <a:custGeom>
              <a:avLst/>
              <a:gdLst/>
              <a:ahLst/>
              <a:cxnLst/>
              <a:rect l="l" t="t" r="r" b="b"/>
              <a:pathLst>
                <a:path w="742314" h="205739">
                  <a:moveTo>
                    <a:pt x="0" y="205739"/>
                  </a:moveTo>
                  <a:lnTo>
                    <a:pt x="742188" y="205739"/>
                  </a:lnTo>
                  <a:lnTo>
                    <a:pt x="742188" y="0"/>
                  </a:lnTo>
                  <a:lnTo>
                    <a:pt x="0" y="0"/>
                  </a:lnTo>
                  <a:lnTo>
                    <a:pt x="0" y="20573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46497" y="1546097"/>
            <a:ext cx="742315" cy="2057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35"/>
              </a:spcBef>
            </a:pPr>
            <a:r>
              <a:rPr sz="1200" spc="-20" dirty="0">
                <a:latin typeface="Carlito"/>
                <a:cs typeface="Carlito"/>
              </a:rPr>
              <a:t>Reg.</a:t>
            </a:r>
            <a:r>
              <a:rPr sz="1200" spc="-40" dirty="0">
                <a:latin typeface="Carlito"/>
                <a:cs typeface="Carlito"/>
              </a:rPr>
              <a:t> </a:t>
            </a:r>
            <a:r>
              <a:rPr sz="1200" spc="-5" dirty="0">
                <a:latin typeface="Carlito"/>
                <a:cs typeface="Carlito"/>
              </a:rPr>
              <a:t>R2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836856" y="1533080"/>
            <a:ext cx="756285" cy="231775"/>
            <a:chOff x="5836856" y="1533080"/>
            <a:chExt cx="756285" cy="231775"/>
          </a:xfrm>
        </p:grpSpPr>
        <p:sp>
          <p:nvSpPr>
            <p:cNvPr id="18" name="object 18"/>
            <p:cNvSpPr/>
            <p:nvPr/>
          </p:nvSpPr>
          <p:spPr>
            <a:xfrm>
              <a:off x="5849874" y="1546097"/>
              <a:ext cx="730250" cy="205740"/>
            </a:xfrm>
            <a:custGeom>
              <a:avLst/>
              <a:gdLst/>
              <a:ahLst/>
              <a:cxnLst/>
              <a:rect l="l" t="t" r="r" b="b"/>
              <a:pathLst>
                <a:path w="730250" h="205739">
                  <a:moveTo>
                    <a:pt x="729996" y="0"/>
                  </a:moveTo>
                  <a:lnTo>
                    <a:pt x="0" y="0"/>
                  </a:lnTo>
                  <a:lnTo>
                    <a:pt x="0" y="205739"/>
                  </a:lnTo>
                  <a:lnTo>
                    <a:pt x="729996" y="205739"/>
                  </a:lnTo>
                  <a:lnTo>
                    <a:pt x="729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49874" y="1546097"/>
              <a:ext cx="730250" cy="205740"/>
            </a:xfrm>
            <a:custGeom>
              <a:avLst/>
              <a:gdLst/>
              <a:ahLst/>
              <a:cxnLst/>
              <a:rect l="l" t="t" r="r" b="b"/>
              <a:pathLst>
                <a:path w="730250" h="205739">
                  <a:moveTo>
                    <a:pt x="0" y="205739"/>
                  </a:moveTo>
                  <a:lnTo>
                    <a:pt x="729996" y="205739"/>
                  </a:lnTo>
                  <a:lnTo>
                    <a:pt x="729996" y="0"/>
                  </a:lnTo>
                  <a:lnTo>
                    <a:pt x="0" y="0"/>
                  </a:lnTo>
                  <a:lnTo>
                    <a:pt x="0" y="20573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49873" y="1546097"/>
            <a:ext cx="730250" cy="2057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35"/>
              </a:spcBef>
            </a:pPr>
            <a:r>
              <a:rPr sz="1200" spc="-20" dirty="0">
                <a:latin typeface="Carlito"/>
                <a:cs typeface="Carlito"/>
              </a:rPr>
              <a:t>Reg.</a:t>
            </a:r>
            <a:r>
              <a:rPr sz="1200" spc="-40" dirty="0">
                <a:latin typeface="Carlito"/>
                <a:cs typeface="Carlito"/>
              </a:rPr>
              <a:t> </a:t>
            </a:r>
            <a:r>
              <a:rPr sz="1200" spc="-5" dirty="0">
                <a:latin typeface="Carlito"/>
                <a:cs typeface="Carlito"/>
              </a:rPr>
              <a:t>R3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551938" y="12336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>
                <a:moveTo>
                  <a:pt x="0" y="0"/>
                </a:moveTo>
                <a:lnTo>
                  <a:pt x="3686556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133600" y="1004697"/>
            <a:ext cx="90703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rlito"/>
                <a:cs typeface="Carlito"/>
              </a:rPr>
              <a:t>Bus</a:t>
            </a:r>
            <a:r>
              <a:rPr sz="1200" spc="-135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lines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84626" y="1622297"/>
            <a:ext cx="3402965" cy="623570"/>
          </a:xfrm>
          <a:custGeom>
            <a:avLst/>
            <a:gdLst/>
            <a:ahLst/>
            <a:cxnLst/>
            <a:rect l="l" t="t" r="r" b="b"/>
            <a:pathLst>
              <a:path w="3402965" h="623569">
                <a:moveTo>
                  <a:pt x="783336" y="623062"/>
                </a:moveTo>
                <a:lnTo>
                  <a:pt x="783336" y="312419"/>
                </a:lnTo>
              </a:path>
              <a:path w="3402965" h="623569">
                <a:moveTo>
                  <a:pt x="788924" y="315467"/>
                </a:moveTo>
                <a:lnTo>
                  <a:pt x="0" y="315467"/>
                </a:lnTo>
              </a:path>
              <a:path w="3402965" h="623569">
                <a:moveTo>
                  <a:pt x="19812" y="0"/>
                </a:moveTo>
                <a:lnTo>
                  <a:pt x="19812" y="312165"/>
                </a:lnTo>
              </a:path>
              <a:path w="3402965" h="623569">
                <a:moveTo>
                  <a:pt x="1461515" y="623188"/>
                </a:moveTo>
                <a:lnTo>
                  <a:pt x="1461515" y="292607"/>
                </a:lnTo>
              </a:path>
              <a:path w="3402965" h="623569">
                <a:moveTo>
                  <a:pt x="1469136" y="315467"/>
                </a:moveTo>
                <a:lnTo>
                  <a:pt x="2236978" y="315467"/>
                </a:lnTo>
              </a:path>
              <a:path w="3402965" h="623569">
                <a:moveTo>
                  <a:pt x="1813560" y="622807"/>
                </a:moveTo>
                <a:lnTo>
                  <a:pt x="1813560" y="441960"/>
                </a:lnTo>
              </a:path>
              <a:path w="3402965" h="623569">
                <a:moveTo>
                  <a:pt x="1821179" y="464819"/>
                </a:moveTo>
                <a:lnTo>
                  <a:pt x="3402583" y="464819"/>
                </a:lnTo>
              </a:path>
              <a:path w="3402965" h="623569">
                <a:moveTo>
                  <a:pt x="3390900" y="0"/>
                </a:moveTo>
                <a:lnTo>
                  <a:pt x="3390900" y="462788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737731" y="1404365"/>
            <a:ext cx="729869" cy="195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rlito"/>
                <a:cs typeface="Carlito"/>
              </a:rPr>
              <a:t>Lo</a:t>
            </a:r>
            <a:r>
              <a:rPr sz="1200" dirty="0">
                <a:latin typeface="Carlito"/>
                <a:cs typeface="Carlito"/>
              </a:rPr>
              <a:t>ad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055300" y="2231072"/>
            <a:ext cx="1446530" cy="701675"/>
            <a:chOff x="4055300" y="2231072"/>
            <a:chExt cx="1446530" cy="701675"/>
          </a:xfrm>
        </p:grpSpPr>
        <p:sp>
          <p:nvSpPr>
            <p:cNvPr id="26" name="object 26"/>
            <p:cNvSpPr/>
            <p:nvPr/>
          </p:nvSpPr>
          <p:spPr>
            <a:xfrm>
              <a:off x="4068318" y="2244090"/>
              <a:ext cx="1420495" cy="675640"/>
            </a:xfrm>
            <a:custGeom>
              <a:avLst/>
              <a:gdLst/>
              <a:ahLst/>
              <a:cxnLst/>
              <a:rect l="l" t="t" r="r" b="b"/>
              <a:pathLst>
                <a:path w="1420495" h="675639">
                  <a:moveTo>
                    <a:pt x="1420367" y="0"/>
                  </a:moveTo>
                  <a:lnTo>
                    <a:pt x="0" y="0"/>
                  </a:lnTo>
                  <a:lnTo>
                    <a:pt x="0" y="675131"/>
                  </a:lnTo>
                  <a:lnTo>
                    <a:pt x="1420367" y="675131"/>
                  </a:lnTo>
                  <a:lnTo>
                    <a:pt x="14203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8318" y="2244090"/>
              <a:ext cx="1420495" cy="675640"/>
            </a:xfrm>
            <a:custGeom>
              <a:avLst/>
              <a:gdLst/>
              <a:ahLst/>
              <a:cxnLst/>
              <a:rect l="l" t="t" r="r" b="b"/>
              <a:pathLst>
                <a:path w="1420495" h="675639">
                  <a:moveTo>
                    <a:pt x="0" y="675131"/>
                  </a:moveTo>
                  <a:lnTo>
                    <a:pt x="1420367" y="675131"/>
                  </a:lnTo>
                  <a:lnTo>
                    <a:pt x="1420367" y="0"/>
                  </a:lnTo>
                  <a:lnTo>
                    <a:pt x="0" y="0"/>
                  </a:lnTo>
                  <a:lnTo>
                    <a:pt x="0" y="67513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68317" y="2244089"/>
            <a:ext cx="1494283" cy="627992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175"/>
              </a:spcBef>
              <a:tabLst>
                <a:tab pos="475615" algn="l"/>
                <a:tab pos="814069" algn="l"/>
                <a:tab pos="1155700" algn="l"/>
              </a:tabLst>
            </a:pPr>
            <a:r>
              <a:rPr sz="1200" dirty="0">
                <a:latin typeface="Carlito"/>
                <a:cs typeface="Carlito"/>
              </a:rPr>
              <a:t>D</a:t>
            </a:r>
            <a:r>
              <a:rPr sz="1200" spc="-65" dirty="0">
                <a:latin typeface="Carlito"/>
                <a:cs typeface="Carlito"/>
              </a:rPr>
              <a:t> </a:t>
            </a:r>
            <a:r>
              <a:rPr sz="1800" baseline="-13888" dirty="0">
                <a:latin typeface="Carlito"/>
                <a:cs typeface="Carlito"/>
              </a:rPr>
              <a:t>0	</a:t>
            </a:r>
            <a:r>
              <a:rPr sz="1200" spc="25" dirty="0">
                <a:latin typeface="Carlito"/>
                <a:cs typeface="Carlito"/>
              </a:rPr>
              <a:t>D</a:t>
            </a:r>
            <a:r>
              <a:rPr sz="1800" spc="37" baseline="-13888" dirty="0">
                <a:latin typeface="Carlito"/>
                <a:cs typeface="Carlito"/>
              </a:rPr>
              <a:t>1	</a:t>
            </a:r>
            <a:r>
              <a:rPr sz="1200" dirty="0">
                <a:latin typeface="Carlito"/>
                <a:cs typeface="Carlito"/>
              </a:rPr>
              <a:t>D</a:t>
            </a:r>
            <a:r>
              <a:rPr sz="1200" spc="-125" dirty="0">
                <a:latin typeface="Carlito"/>
                <a:cs typeface="Carlito"/>
              </a:rPr>
              <a:t> </a:t>
            </a:r>
            <a:r>
              <a:rPr sz="1800" baseline="-13888" dirty="0">
                <a:latin typeface="Carlito"/>
                <a:cs typeface="Carlito"/>
              </a:rPr>
              <a:t>2	</a:t>
            </a:r>
            <a:r>
              <a:rPr sz="1200" dirty="0">
                <a:latin typeface="Carlito"/>
                <a:cs typeface="Carlito"/>
              </a:rPr>
              <a:t>D</a:t>
            </a:r>
            <a:r>
              <a:rPr sz="1200" spc="-105" dirty="0">
                <a:latin typeface="Carlito"/>
                <a:cs typeface="Carlito"/>
              </a:rPr>
              <a:t> </a:t>
            </a:r>
            <a:r>
              <a:rPr sz="1800" baseline="-13888" dirty="0">
                <a:latin typeface="Carlito"/>
                <a:cs typeface="Carlito"/>
              </a:rPr>
              <a:t>3</a:t>
            </a:r>
            <a:endParaRPr sz="1800" baseline="-13888">
              <a:latin typeface="Carlito"/>
              <a:cs typeface="Carlito"/>
            </a:endParaRPr>
          </a:p>
          <a:p>
            <a:pPr marL="428625" marR="460375" indent="121920">
              <a:lnSpc>
                <a:spcPct val="106700"/>
              </a:lnSpc>
              <a:spcBef>
                <a:spcPts val="215"/>
              </a:spcBef>
            </a:pPr>
            <a:r>
              <a:rPr sz="1200" dirty="0">
                <a:latin typeface="Carlito"/>
                <a:cs typeface="Carlito"/>
              </a:rPr>
              <a:t>2 x </a:t>
            </a:r>
            <a:r>
              <a:rPr sz="1200">
                <a:latin typeface="Carlito"/>
                <a:cs typeface="Carlito"/>
              </a:rPr>
              <a:t>4  </a:t>
            </a:r>
            <a:r>
              <a:rPr sz="1200" spc="5" smtClean="0">
                <a:latin typeface="Carlito"/>
                <a:cs typeface="Carlito"/>
              </a:rPr>
              <a:t>D</a:t>
            </a:r>
            <a:r>
              <a:rPr sz="1200" smtClean="0">
                <a:latin typeface="Carlito"/>
                <a:cs typeface="Carlito"/>
              </a:rPr>
              <a:t>e</a:t>
            </a:r>
            <a:r>
              <a:rPr sz="1200" spc="-30" smtClean="0">
                <a:latin typeface="Carlito"/>
                <a:cs typeface="Carlito"/>
              </a:rPr>
              <a:t>c</a:t>
            </a:r>
            <a:r>
              <a:rPr sz="1200" smtClean="0">
                <a:latin typeface="Carlito"/>
                <a:cs typeface="Carlito"/>
              </a:rPr>
              <a:t>o</a:t>
            </a:r>
            <a:r>
              <a:rPr sz="1200" spc="5" smtClean="0">
                <a:latin typeface="Carlito"/>
                <a:cs typeface="Carlito"/>
              </a:rPr>
              <a:t>d</a:t>
            </a:r>
            <a:r>
              <a:rPr sz="1200" smtClean="0">
                <a:latin typeface="Carlito"/>
                <a:cs typeface="Carlito"/>
              </a:rPr>
              <a:t>e</a:t>
            </a:r>
            <a:r>
              <a:rPr lang="en-US" sz="1200" dirty="0" smtClean="0">
                <a:latin typeface="Carlito"/>
                <a:cs typeface="Carlito"/>
              </a:rPr>
              <a:t>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72636" y="2311145"/>
            <a:ext cx="134620" cy="467359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latin typeface="Carlito"/>
                <a:cs typeface="Carlito"/>
              </a:rPr>
              <a:t>z</a:t>
            </a:r>
            <a:endParaRPr sz="1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latin typeface="Carlito"/>
                <a:cs typeface="Carlito"/>
              </a:rPr>
              <a:t>w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19400" y="2461005"/>
            <a:ext cx="64147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Sele</a:t>
            </a:r>
            <a:r>
              <a:rPr sz="1200" spc="-5" dirty="0">
                <a:latin typeface="Carlito"/>
                <a:cs typeface="Carlito"/>
              </a:rPr>
              <a:t>c</a:t>
            </a:r>
            <a:r>
              <a:rPr sz="1200" dirty="0">
                <a:latin typeface="Carlito"/>
                <a:cs typeface="Carlito"/>
              </a:rPr>
              <a:t>t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65697" y="2418079"/>
            <a:ext cx="6400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rlito"/>
                <a:cs typeface="Carlito"/>
              </a:rPr>
              <a:t>E</a:t>
            </a:r>
            <a:r>
              <a:rPr sz="1200" spc="-105" dirty="0">
                <a:latin typeface="Carlito"/>
                <a:cs typeface="Carlito"/>
              </a:rPr>
              <a:t> </a:t>
            </a:r>
            <a:r>
              <a:rPr sz="1200" spc="-5" dirty="0">
                <a:latin typeface="Carlito"/>
                <a:cs typeface="Carlito"/>
              </a:rPr>
              <a:t>(enable)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153661" y="3515105"/>
            <a:ext cx="1294130" cy="462915"/>
          </a:xfrm>
          <a:custGeom>
            <a:avLst/>
            <a:gdLst/>
            <a:ahLst/>
            <a:cxnLst/>
            <a:rect l="l" t="t" r="r" b="b"/>
            <a:pathLst>
              <a:path w="1294129" h="462914">
                <a:moveTo>
                  <a:pt x="345948" y="10668"/>
                </a:moveTo>
                <a:lnTo>
                  <a:pt x="345948" y="229616"/>
                </a:lnTo>
              </a:path>
              <a:path w="1294129" h="462914">
                <a:moveTo>
                  <a:pt x="341375" y="0"/>
                </a:moveTo>
                <a:lnTo>
                  <a:pt x="657987" y="114300"/>
                </a:lnTo>
                <a:lnTo>
                  <a:pt x="341375" y="239141"/>
                </a:lnTo>
              </a:path>
              <a:path w="1294129" h="462914">
                <a:moveTo>
                  <a:pt x="669036" y="120396"/>
                </a:moveTo>
                <a:lnTo>
                  <a:pt x="1293622" y="120396"/>
                </a:lnTo>
              </a:path>
              <a:path w="1294129" h="462914">
                <a:moveTo>
                  <a:pt x="350520" y="120396"/>
                </a:moveTo>
                <a:lnTo>
                  <a:pt x="0" y="120396"/>
                </a:lnTo>
              </a:path>
              <a:path w="1294129" h="462914">
                <a:moveTo>
                  <a:pt x="10667" y="462788"/>
                </a:moveTo>
                <a:lnTo>
                  <a:pt x="534542" y="462788"/>
                </a:lnTo>
                <a:lnTo>
                  <a:pt x="534542" y="178308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646546" y="3384295"/>
            <a:ext cx="2125854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rlito"/>
                <a:cs typeface="Carlito"/>
              </a:rPr>
              <a:t>Output Y=A </a:t>
            </a:r>
            <a:r>
              <a:rPr sz="1400" dirty="0">
                <a:latin typeface="Carlito"/>
                <a:cs typeface="Carlito"/>
              </a:rPr>
              <a:t>if </a:t>
            </a:r>
            <a:r>
              <a:rPr sz="1400" spc="-5">
                <a:latin typeface="Carlito"/>
                <a:cs typeface="Carlito"/>
              </a:rPr>
              <a:t>C=1  </a:t>
            </a:r>
            <a:endParaRPr lang="en-US" sz="1400" spc="-5" dirty="0" smtClean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" smtClean="0">
                <a:latin typeface="Carlito"/>
                <a:cs typeface="Carlito"/>
              </a:rPr>
              <a:t>High-impedence </a:t>
            </a:r>
            <a:r>
              <a:rPr sz="1400" dirty="0">
                <a:latin typeface="Carlito"/>
                <a:cs typeface="Carlito"/>
              </a:rPr>
              <a:t>if</a:t>
            </a:r>
            <a:r>
              <a:rPr sz="1400" spc="-145" dirty="0">
                <a:latin typeface="Carlito"/>
                <a:cs typeface="Carlito"/>
              </a:rPr>
              <a:t> </a:t>
            </a:r>
            <a:r>
              <a:rPr sz="1400" spc="-5" dirty="0">
                <a:latin typeface="Carlito"/>
                <a:cs typeface="Carlito"/>
              </a:rPr>
              <a:t>C=0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46250" y="3357727"/>
            <a:ext cx="1758950" cy="62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Normal input</a:t>
            </a:r>
            <a:r>
              <a:rPr sz="1400" spc="-180" dirty="0">
                <a:latin typeface="Carlito"/>
                <a:cs typeface="Carlito"/>
              </a:rPr>
              <a:t> </a:t>
            </a:r>
            <a:r>
              <a:rPr sz="1400" dirty="0">
                <a:latin typeface="Carlito"/>
                <a:cs typeface="Carlito"/>
              </a:rPr>
              <a:t>A  </a:t>
            </a:r>
            <a:r>
              <a:rPr sz="1400" spc="-20" dirty="0">
                <a:latin typeface="Carlito"/>
                <a:cs typeface="Carlito"/>
              </a:rPr>
              <a:t>Control </a:t>
            </a:r>
            <a:r>
              <a:rPr sz="1400" spc="-5" dirty="0">
                <a:latin typeface="Carlito"/>
                <a:cs typeface="Carlito"/>
              </a:rPr>
              <a:t>input</a:t>
            </a:r>
            <a:r>
              <a:rPr sz="1400" spc="-75" dirty="0">
                <a:latin typeface="Carlito"/>
                <a:cs typeface="Carlito"/>
              </a:rPr>
              <a:t> </a:t>
            </a:r>
            <a:r>
              <a:rPr sz="1400" dirty="0">
                <a:latin typeface="Carlito"/>
                <a:cs typeface="Carlito"/>
              </a:rPr>
              <a:t>C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90800" y="5770575"/>
            <a:ext cx="887983" cy="629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Select  E</a:t>
            </a:r>
            <a:r>
              <a:rPr sz="1400" spc="-20" dirty="0">
                <a:latin typeface="Carlito"/>
                <a:cs typeface="Carlito"/>
              </a:rPr>
              <a:t>n</a:t>
            </a:r>
            <a:r>
              <a:rPr sz="1400" spc="-5" dirty="0">
                <a:latin typeface="Carlito"/>
                <a:cs typeface="Carlito"/>
              </a:rPr>
              <a:t>a</a:t>
            </a:r>
            <a:r>
              <a:rPr sz="1400" spc="-20" dirty="0">
                <a:latin typeface="Carlito"/>
                <a:cs typeface="Carlito"/>
              </a:rPr>
              <a:t>b</a:t>
            </a:r>
            <a:r>
              <a:rPr sz="1400" dirty="0">
                <a:latin typeface="Carlito"/>
                <a:cs typeface="Carlito"/>
              </a:rPr>
              <a:t>le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350258" y="4723638"/>
            <a:ext cx="3028315" cy="1694814"/>
          </a:xfrm>
          <a:custGeom>
            <a:avLst/>
            <a:gdLst/>
            <a:ahLst/>
            <a:cxnLst/>
            <a:rect l="l" t="t" r="r" b="b"/>
            <a:pathLst>
              <a:path w="3028315" h="1694814">
                <a:moveTo>
                  <a:pt x="687324" y="9143"/>
                </a:moveTo>
                <a:lnTo>
                  <a:pt x="687324" y="213106"/>
                </a:lnTo>
              </a:path>
              <a:path w="3028315" h="1694814">
                <a:moveTo>
                  <a:pt x="679703" y="0"/>
                </a:moveTo>
                <a:lnTo>
                  <a:pt x="987297" y="106425"/>
                </a:lnTo>
                <a:lnTo>
                  <a:pt x="679703" y="222376"/>
                </a:lnTo>
              </a:path>
              <a:path w="3028315" h="1694814">
                <a:moveTo>
                  <a:pt x="251459" y="112775"/>
                </a:moveTo>
                <a:lnTo>
                  <a:pt x="670305" y="112775"/>
                </a:lnTo>
              </a:path>
              <a:path w="3028315" h="1694814">
                <a:moveTo>
                  <a:pt x="996695" y="112775"/>
                </a:moveTo>
                <a:lnTo>
                  <a:pt x="3028061" y="112775"/>
                </a:lnTo>
              </a:path>
              <a:path w="3028315" h="1694814">
                <a:moveTo>
                  <a:pt x="870203" y="173736"/>
                </a:moveTo>
                <a:lnTo>
                  <a:pt x="870203" y="1084961"/>
                </a:lnTo>
              </a:path>
              <a:path w="3028315" h="1694814">
                <a:moveTo>
                  <a:pt x="993647" y="230124"/>
                </a:moveTo>
                <a:lnTo>
                  <a:pt x="993647" y="426212"/>
                </a:lnTo>
              </a:path>
              <a:path w="3028315" h="1694814">
                <a:moveTo>
                  <a:pt x="986027" y="220980"/>
                </a:moveTo>
                <a:lnTo>
                  <a:pt x="1293621" y="328168"/>
                </a:lnTo>
                <a:lnTo>
                  <a:pt x="986027" y="435482"/>
                </a:lnTo>
              </a:path>
              <a:path w="3028315" h="1694814">
                <a:moveTo>
                  <a:pt x="251459" y="335280"/>
                </a:moveTo>
                <a:lnTo>
                  <a:pt x="975359" y="335280"/>
                </a:lnTo>
              </a:path>
              <a:path w="3028315" h="1694814">
                <a:moveTo>
                  <a:pt x="1304543" y="335280"/>
                </a:moveTo>
                <a:lnTo>
                  <a:pt x="1656206" y="335280"/>
                </a:lnTo>
              </a:path>
              <a:path w="3028315" h="1694814">
                <a:moveTo>
                  <a:pt x="1178052" y="394716"/>
                </a:moveTo>
                <a:lnTo>
                  <a:pt x="1178052" y="1268984"/>
                </a:lnTo>
              </a:path>
              <a:path w="3028315" h="1694814">
                <a:moveTo>
                  <a:pt x="1298447" y="446531"/>
                </a:moveTo>
                <a:lnTo>
                  <a:pt x="1298447" y="648716"/>
                </a:lnTo>
              </a:path>
              <a:path w="3028315" h="1694814">
                <a:moveTo>
                  <a:pt x="1292352" y="435863"/>
                </a:moveTo>
                <a:lnTo>
                  <a:pt x="1613407" y="551815"/>
                </a:lnTo>
                <a:lnTo>
                  <a:pt x="1292352" y="658241"/>
                </a:lnTo>
              </a:path>
              <a:path w="3028315" h="1694814">
                <a:moveTo>
                  <a:pt x="251459" y="557784"/>
                </a:moveTo>
                <a:lnTo>
                  <a:pt x="1282827" y="557784"/>
                </a:lnTo>
              </a:path>
              <a:path w="3028315" h="1694814">
                <a:moveTo>
                  <a:pt x="1616964" y="669036"/>
                </a:moveTo>
                <a:lnTo>
                  <a:pt x="1616964" y="872744"/>
                </a:lnTo>
              </a:path>
              <a:path w="3028315" h="1694814">
                <a:moveTo>
                  <a:pt x="1612391" y="658368"/>
                </a:moveTo>
                <a:lnTo>
                  <a:pt x="1920239" y="765429"/>
                </a:lnTo>
                <a:lnTo>
                  <a:pt x="1612391" y="882332"/>
                </a:lnTo>
              </a:path>
              <a:path w="3028315" h="1694814">
                <a:moveTo>
                  <a:pt x="251459" y="769620"/>
                </a:moveTo>
                <a:lnTo>
                  <a:pt x="1600200" y="769620"/>
                </a:lnTo>
              </a:path>
              <a:path w="3028315" h="1694814">
                <a:moveTo>
                  <a:pt x="1802891" y="832104"/>
                </a:moveTo>
                <a:lnTo>
                  <a:pt x="1802891" y="1578864"/>
                </a:lnTo>
              </a:path>
              <a:path w="3028315" h="1694814">
                <a:moveTo>
                  <a:pt x="690371" y="1100328"/>
                </a:moveTo>
                <a:lnTo>
                  <a:pt x="877696" y="1100328"/>
                </a:lnTo>
              </a:path>
              <a:path w="3028315" h="1694814">
                <a:moveTo>
                  <a:pt x="690371" y="1264920"/>
                </a:moveTo>
                <a:lnTo>
                  <a:pt x="1174877" y="1264920"/>
                </a:lnTo>
              </a:path>
              <a:path w="3028315" h="1694814">
                <a:moveTo>
                  <a:pt x="690371" y="1429512"/>
                </a:moveTo>
                <a:lnTo>
                  <a:pt x="1485518" y="1429512"/>
                </a:lnTo>
              </a:path>
              <a:path w="3028315" h="1694814">
                <a:moveTo>
                  <a:pt x="690371" y="1592580"/>
                </a:moveTo>
                <a:lnTo>
                  <a:pt x="1802638" y="1592580"/>
                </a:lnTo>
              </a:path>
              <a:path w="3028315" h="1694814">
                <a:moveTo>
                  <a:pt x="1623059" y="557784"/>
                </a:moveTo>
                <a:lnTo>
                  <a:pt x="1973579" y="557784"/>
                </a:lnTo>
              </a:path>
              <a:path w="3028315" h="1694814">
                <a:moveTo>
                  <a:pt x="1929383" y="769620"/>
                </a:moveTo>
                <a:lnTo>
                  <a:pt x="2279903" y="769620"/>
                </a:lnTo>
              </a:path>
              <a:path w="3028315" h="1694814">
                <a:moveTo>
                  <a:pt x="1671827" y="339851"/>
                </a:moveTo>
                <a:lnTo>
                  <a:pt x="1671827" y="96012"/>
                </a:lnTo>
              </a:path>
              <a:path w="3028315" h="1694814">
                <a:moveTo>
                  <a:pt x="1990343" y="561975"/>
                </a:moveTo>
                <a:lnTo>
                  <a:pt x="1990343" y="96012"/>
                </a:lnTo>
              </a:path>
              <a:path w="3028315" h="1694814">
                <a:moveTo>
                  <a:pt x="2296667" y="774192"/>
                </a:moveTo>
                <a:lnTo>
                  <a:pt x="2296667" y="96012"/>
                </a:lnTo>
              </a:path>
              <a:path w="3028315" h="1694814">
                <a:moveTo>
                  <a:pt x="0" y="1694688"/>
                </a:moveTo>
                <a:lnTo>
                  <a:pt x="670560" y="1694688"/>
                </a:lnTo>
                <a:lnTo>
                  <a:pt x="670560" y="999744"/>
                </a:lnTo>
                <a:lnTo>
                  <a:pt x="0" y="999744"/>
                </a:lnTo>
                <a:lnTo>
                  <a:pt x="0" y="169468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858003" y="5687974"/>
            <a:ext cx="127000" cy="741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>
              <a:lnSpc>
                <a:spcPts val="1510"/>
              </a:lnSpc>
              <a:spcBef>
                <a:spcPts val="100"/>
              </a:spcBef>
            </a:pPr>
            <a:r>
              <a:rPr sz="1400" dirty="0">
                <a:latin typeface="Carlito"/>
                <a:cs typeface="Carlito"/>
              </a:rPr>
              <a:t>0</a:t>
            </a:r>
            <a:endParaRPr sz="1400">
              <a:latin typeface="Carlito"/>
              <a:cs typeface="Carlito"/>
            </a:endParaRPr>
          </a:p>
          <a:p>
            <a:pPr marL="12700">
              <a:lnSpc>
                <a:spcPts val="1325"/>
              </a:lnSpc>
            </a:pPr>
            <a:r>
              <a:rPr sz="1400" dirty="0">
                <a:latin typeface="Carlito"/>
                <a:cs typeface="Carlito"/>
              </a:rPr>
              <a:t>1</a:t>
            </a:r>
            <a:endParaRPr sz="1400">
              <a:latin typeface="Carlito"/>
              <a:cs typeface="Carlito"/>
            </a:endParaRPr>
          </a:p>
          <a:p>
            <a:pPr marL="12700">
              <a:lnSpc>
                <a:spcPts val="1300"/>
              </a:lnSpc>
            </a:pPr>
            <a:r>
              <a:rPr sz="1400" dirty="0">
                <a:latin typeface="Carlito"/>
                <a:cs typeface="Carlito"/>
              </a:rPr>
              <a:t>2</a:t>
            </a:r>
            <a:endParaRPr sz="1400">
              <a:latin typeface="Carlito"/>
              <a:cs typeface="Carlito"/>
            </a:endParaRPr>
          </a:p>
          <a:p>
            <a:pPr marL="22860">
              <a:lnSpc>
                <a:spcPts val="1490"/>
              </a:lnSpc>
            </a:pPr>
            <a:r>
              <a:rPr sz="1400" dirty="0">
                <a:latin typeface="Carlito"/>
                <a:cs typeface="Carlito"/>
              </a:rPr>
              <a:t>3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021073" y="5880353"/>
            <a:ext cx="327660" cy="436245"/>
          </a:xfrm>
          <a:custGeom>
            <a:avLst/>
            <a:gdLst/>
            <a:ahLst/>
            <a:cxnLst/>
            <a:rect l="l" t="t" r="r" b="b"/>
            <a:pathLst>
              <a:path w="327660" h="436245">
                <a:moveTo>
                  <a:pt x="327660" y="0"/>
                </a:moveTo>
                <a:lnTo>
                  <a:pt x="0" y="0"/>
                </a:lnTo>
              </a:path>
              <a:path w="327660" h="436245">
                <a:moveTo>
                  <a:pt x="327660" y="224028"/>
                </a:moveTo>
                <a:lnTo>
                  <a:pt x="0" y="224028"/>
                </a:lnTo>
              </a:path>
              <a:path w="327660" h="436245">
                <a:moveTo>
                  <a:pt x="327660" y="435864"/>
                </a:moveTo>
                <a:lnTo>
                  <a:pt x="0" y="435864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581400" y="5751372"/>
            <a:ext cx="375665" cy="46355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20"/>
              </a:spcBef>
            </a:pPr>
            <a:r>
              <a:rPr sz="1400" spc="-5" dirty="0">
                <a:latin typeface="Carlito"/>
                <a:cs typeface="Carlito"/>
              </a:rPr>
              <a:t>S0  </a:t>
            </a:r>
            <a:r>
              <a:rPr sz="1400" dirty="0">
                <a:latin typeface="Carlito"/>
                <a:cs typeface="Carlito"/>
              </a:rPr>
              <a:t>S1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38600" y="4714747"/>
            <a:ext cx="458724" cy="89979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just">
              <a:lnSpc>
                <a:spcPct val="103099"/>
              </a:lnSpc>
              <a:spcBef>
                <a:spcPts val="50"/>
              </a:spcBef>
            </a:pPr>
            <a:r>
              <a:rPr sz="1400" dirty="0">
                <a:latin typeface="Carlito"/>
                <a:cs typeface="Carlito"/>
              </a:rPr>
              <a:t>A0  B0  </a:t>
            </a:r>
            <a:r>
              <a:rPr sz="1400" spc="-5" dirty="0">
                <a:latin typeface="Carlito"/>
                <a:cs typeface="Carlito"/>
              </a:rPr>
              <a:t>C</a:t>
            </a:r>
            <a:r>
              <a:rPr sz="1400" dirty="0">
                <a:latin typeface="Carlito"/>
                <a:cs typeface="Carlito"/>
              </a:rPr>
              <a:t>0  D0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09920" y="4568697"/>
            <a:ext cx="11830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Bus </a:t>
            </a:r>
            <a:r>
              <a:rPr sz="1400" dirty="0">
                <a:latin typeface="Carlito"/>
                <a:cs typeface="Carlito"/>
              </a:rPr>
              <a:t>line </a:t>
            </a:r>
            <a:r>
              <a:rPr sz="1400" spc="-15" dirty="0">
                <a:latin typeface="Carlito"/>
                <a:cs typeface="Carlito"/>
              </a:rPr>
              <a:t>for </a:t>
            </a:r>
            <a:r>
              <a:rPr sz="1400" spc="-5" dirty="0">
                <a:latin typeface="Carlito"/>
                <a:cs typeface="Carlito"/>
              </a:rPr>
              <a:t>bit</a:t>
            </a:r>
            <a:r>
              <a:rPr sz="1400" spc="-185" dirty="0">
                <a:latin typeface="Carlito"/>
                <a:cs typeface="Carlito"/>
              </a:rPr>
              <a:t> </a:t>
            </a:r>
            <a:r>
              <a:rPr sz="1400" dirty="0">
                <a:latin typeface="Carlito"/>
                <a:cs typeface="Carlito"/>
              </a:rPr>
              <a:t>0</a:t>
            </a:r>
            <a:endParaRPr sz="1400">
              <a:latin typeface="Carlito"/>
              <a:cs typeface="Carlito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895600" y="1228344"/>
            <a:ext cx="3992879" cy="1525270"/>
            <a:chOff x="2895600" y="1228344"/>
            <a:chExt cx="3992879" cy="1525270"/>
          </a:xfrm>
        </p:grpSpPr>
        <p:sp>
          <p:nvSpPr>
            <p:cNvPr id="43" name="object 43"/>
            <p:cNvSpPr/>
            <p:nvPr/>
          </p:nvSpPr>
          <p:spPr>
            <a:xfrm>
              <a:off x="3276600" y="1591056"/>
              <a:ext cx="228600" cy="777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372355" y="1609344"/>
              <a:ext cx="228600" cy="777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495544" y="1600200"/>
              <a:ext cx="228600" cy="777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583679" y="1591056"/>
              <a:ext cx="304800" cy="773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10861" y="1629918"/>
              <a:ext cx="1114425" cy="624840"/>
            </a:xfrm>
            <a:custGeom>
              <a:avLst/>
              <a:gdLst/>
              <a:ahLst/>
              <a:cxnLst/>
              <a:rect l="l" t="t" r="r" b="b"/>
              <a:pathLst>
                <a:path w="1114425" h="624839">
                  <a:moveTo>
                    <a:pt x="0" y="624332"/>
                  </a:moveTo>
                  <a:lnTo>
                    <a:pt x="0" y="18287"/>
                  </a:lnTo>
                </a:path>
                <a:path w="1114425" h="624839">
                  <a:moveTo>
                    <a:pt x="1114043" y="310642"/>
                  </a:moveTo>
                  <a:lnTo>
                    <a:pt x="1114043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486400" y="2514599"/>
              <a:ext cx="457200" cy="77470"/>
            </a:xfrm>
            <a:custGeom>
              <a:avLst/>
              <a:gdLst/>
              <a:ahLst/>
              <a:cxnLst/>
              <a:rect l="l" t="t" r="r" b="b"/>
              <a:pathLst>
                <a:path w="457200" h="77469">
                  <a:moveTo>
                    <a:pt x="457200" y="25793"/>
                  </a:moveTo>
                  <a:lnTo>
                    <a:pt x="77724" y="25793"/>
                  </a:lnTo>
                  <a:lnTo>
                    <a:pt x="64770" y="25793"/>
                  </a:lnTo>
                  <a:lnTo>
                    <a:pt x="77724" y="25781"/>
                  </a:lnTo>
                  <a:lnTo>
                    <a:pt x="77724" y="0"/>
                  </a:lnTo>
                  <a:lnTo>
                    <a:pt x="0" y="38735"/>
                  </a:lnTo>
                  <a:lnTo>
                    <a:pt x="77724" y="77343"/>
                  </a:lnTo>
                  <a:lnTo>
                    <a:pt x="77724" y="51562"/>
                  </a:lnTo>
                  <a:lnTo>
                    <a:pt x="457200" y="51562"/>
                  </a:lnTo>
                  <a:lnTo>
                    <a:pt x="457200" y="257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781044" y="2447544"/>
              <a:ext cx="278764" cy="7734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81044" y="2676144"/>
              <a:ext cx="278764" cy="7734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95600" y="1228344"/>
              <a:ext cx="77343" cy="3048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82211" y="1248156"/>
              <a:ext cx="77342" cy="3047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105400" y="1240536"/>
              <a:ext cx="77342" cy="3048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192011" y="1240536"/>
              <a:ext cx="77342" cy="3048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5811011" y="4796028"/>
            <a:ext cx="1199389" cy="1349375"/>
            <a:chOff x="5811011" y="4796028"/>
            <a:chExt cx="856615" cy="1349375"/>
          </a:xfrm>
        </p:grpSpPr>
        <p:sp>
          <p:nvSpPr>
            <p:cNvPr id="56" name="object 56"/>
            <p:cNvSpPr/>
            <p:nvPr/>
          </p:nvSpPr>
          <p:spPr>
            <a:xfrm>
              <a:off x="5981699" y="4796028"/>
              <a:ext cx="68579" cy="6400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300215" y="4796028"/>
              <a:ext cx="68579" cy="6400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618731" y="4809744"/>
              <a:ext cx="34925" cy="38100"/>
            </a:xfrm>
            <a:custGeom>
              <a:avLst/>
              <a:gdLst/>
              <a:ahLst/>
              <a:cxnLst/>
              <a:rect l="l" t="t" r="r" b="b"/>
              <a:pathLst>
                <a:path w="34925" h="38100">
                  <a:moveTo>
                    <a:pt x="27177" y="0"/>
                  </a:moveTo>
                  <a:lnTo>
                    <a:pt x="7747" y="0"/>
                  </a:lnTo>
                  <a:lnTo>
                    <a:pt x="0" y="8508"/>
                  </a:lnTo>
                  <a:lnTo>
                    <a:pt x="0" y="29590"/>
                  </a:lnTo>
                  <a:lnTo>
                    <a:pt x="7747" y="38099"/>
                  </a:lnTo>
                  <a:lnTo>
                    <a:pt x="27177" y="38099"/>
                  </a:lnTo>
                  <a:lnTo>
                    <a:pt x="34925" y="29590"/>
                  </a:lnTo>
                  <a:lnTo>
                    <a:pt x="34925" y="8508"/>
                  </a:lnTo>
                  <a:lnTo>
                    <a:pt x="271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823965" y="4810506"/>
              <a:ext cx="830580" cy="1334770"/>
            </a:xfrm>
            <a:custGeom>
              <a:avLst/>
              <a:gdLst/>
              <a:ahLst/>
              <a:cxnLst/>
              <a:rect l="l" t="t" r="r" b="b"/>
              <a:pathLst>
                <a:path w="830579" h="1334770">
                  <a:moveTo>
                    <a:pt x="795528" y="19050"/>
                  </a:moveTo>
                  <a:lnTo>
                    <a:pt x="795528" y="8509"/>
                  </a:lnTo>
                  <a:lnTo>
                    <a:pt x="803275" y="0"/>
                  </a:lnTo>
                  <a:lnTo>
                    <a:pt x="812927" y="0"/>
                  </a:lnTo>
                  <a:lnTo>
                    <a:pt x="822706" y="0"/>
                  </a:lnTo>
                  <a:lnTo>
                    <a:pt x="830453" y="8509"/>
                  </a:lnTo>
                  <a:lnTo>
                    <a:pt x="830453" y="19050"/>
                  </a:lnTo>
                  <a:lnTo>
                    <a:pt x="830453" y="29591"/>
                  </a:lnTo>
                  <a:lnTo>
                    <a:pt x="822706" y="38100"/>
                  </a:lnTo>
                  <a:lnTo>
                    <a:pt x="812927" y="38100"/>
                  </a:lnTo>
                  <a:lnTo>
                    <a:pt x="803275" y="38100"/>
                  </a:lnTo>
                  <a:lnTo>
                    <a:pt x="795528" y="29591"/>
                  </a:lnTo>
                  <a:lnTo>
                    <a:pt x="795528" y="19050"/>
                  </a:lnTo>
                  <a:close/>
                </a:path>
                <a:path w="830579" h="1334770">
                  <a:moveTo>
                    <a:pt x="0" y="509016"/>
                  </a:moveTo>
                  <a:lnTo>
                    <a:pt x="0" y="1334643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7866" y="391109"/>
            <a:ext cx="36645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Bus transfer in</a:t>
            </a:r>
            <a:r>
              <a:rPr sz="3600" spc="-200" dirty="0"/>
              <a:t> </a:t>
            </a:r>
            <a:r>
              <a:rPr sz="3600" spc="-55" dirty="0"/>
              <a:t>RTL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59435" y="1345819"/>
            <a:ext cx="7935595" cy="3340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Depending on whether the </a:t>
            </a:r>
            <a:r>
              <a:rPr sz="2400" spc="-5" dirty="0">
                <a:latin typeface="Times New Roman"/>
                <a:cs typeface="Times New Roman"/>
              </a:rPr>
              <a:t>bus is </a:t>
            </a:r>
            <a:r>
              <a:rPr sz="2400" dirty="0">
                <a:latin typeface="Times New Roman"/>
                <a:cs typeface="Times New Roman"/>
              </a:rPr>
              <a:t>to be </a:t>
            </a:r>
            <a:r>
              <a:rPr sz="2400" spc="-5" dirty="0">
                <a:latin typeface="Times New Roman"/>
                <a:cs typeface="Times New Roman"/>
              </a:rPr>
              <a:t>mentioned explicitly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 not, register transfer can be indicated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either</a:t>
            </a:r>
            <a:endParaRPr sz="2400">
              <a:latin typeface="Times New Roman"/>
              <a:cs typeface="Times New Roman"/>
            </a:endParaRPr>
          </a:p>
          <a:p>
            <a:pPr marL="1446530">
              <a:lnSpc>
                <a:spcPct val="100000"/>
              </a:lnSpc>
              <a:spcBef>
                <a:spcPts val="1180"/>
              </a:spcBef>
            </a:pPr>
            <a:r>
              <a:rPr sz="2000" dirty="0">
                <a:latin typeface="Carlito"/>
                <a:cs typeface="Carlito"/>
              </a:rPr>
              <a:t>R2 </a:t>
            </a:r>
            <a:r>
              <a:rPr sz="2000" spc="5" dirty="0">
                <a:latin typeface="Symbol"/>
                <a:cs typeface="Symbol"/>
              </a:rPr>
              <a:t>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rlito"/>
                <a:cs typeface="Carlito"/>
              </a:rPr>
              <a:t>R1</a:t>
            </a:r>
            <a:endParaRPr sz="2000">
              <a:latin typeface="Carlito"/>
              <a:cs typeface="Carlito"/>
            </a:endParaRPr>
          </a:p>
          <a:p>
            <a:pPr marL="317500">
              <a:lnSpc>
                <a:spcPct val="100000"/>
              </a:lnSpc>
              <a:spcBef>
                <a:spcPts val="525"/>
              </a:spcBef>
            </a:pPr>
            <a:r>
              <a:rPr sz="2400" dirty="0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  <a:p>
            <a:pPr marL="1388745">
              <a:lnSpc>
                <a:spcPct val="100000"/>
              </a:lnSpc>
              <a:spcBef>
                <a:spcPts val="375"/>
              </a:spcBef>
            </a:pPr>
            <a:r>
              <a:rPr sz="2000" dirty="0">
                <a:latin typeface="Carlito"/>
                <a:cs typeface="Carlito"/>
              </a:rPr>
              <a:t>BUS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rlito"/>
                <a:cs typeface="Carlito"/>
              </a:rPr>
              <a:t>R1, R2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rlito"/>
                <a:cs typeface="Carlito"/>
              </a:rPr>
              <a:t>BUS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500">
              <a:latin typeface="Carlito"/>
              <a:cs typeface="Carlito"/>
            </a:endParaRPr>
          </a:p>
          <a:p>
            <a:pPr marL="355600" marR="570230" indent="-342900">
              <a:lnSpc>
                <a:spcPct val="100000"/>
              </a:lnSpc>
              <a:spcBef>
                <a:spcPts val="1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 the </a:t>
            </a:r>
            <a:r>
              <a:rPr sz="2400" spc="-5" dirty="0">
                <a:latin typeface="Times New Roman"/>
                <a:cs typeface="Times New Roman"/>
              </a:rPr>
              <a:t>former </a:t>
            </a:r>
            <a:r>
              <a:rPr sz="2400" dirty="0">
                <a:latin typeface="Times New Roman"/>
                <a:cs typeface="Times New Roman"/>
              </a:rPr>
              <a:t>case the </a:t>
            </a:r>
            <a:r>
              <a:rPr sz="2400" spc="-5" dirty="0">
                <a:latin typeface="Times New Roman"/>
                <a:cs typeface="Times New Roman"/>
              </a:rPr>
              <a:t>bus is implicit, </a:t>
            </a:r>
            <a:r>
              <a:rPr sz="2400" dirty="0">
                <a:latin typeface="Times New Roman"/>
                <a:cs typeface="Times New Roman"/>
              </a:rPr>
              <a:t>but in the </a:t>
            </a:r>
            <a:r>
              <a:rPr sz="2400" spc="-30" dirty="0">
                <a:latin typeface="Times New Roman"/>
                <a:cs typeface="Times New Roman"/>
              </a:rPr>
              <a:t>latter,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 explicitly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indicated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Anu Chanti\Desktop\Thank 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81000"/>
            <a:ext cx="7924800" cy="586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1333</Words>
  <Application>Microsoft Office PowerPoint</Application>
  <PresentationFormat>On-screen Show (4:3)</PresentationFormat>
  <Paragraphs>423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Register Transfer Language and  Micro operation</vt:lpstr>
      <vt:lpstr>Register Transfer and Micro operations</vt:lpstr>
      <vt:lpstr>Register transfer language</vt:lpstr>
      <vt:lpstr>Micro-operations</vt:lpstr>
      <vt:lpstr>Micro-operations</vt:lpstr>
      <vt:lpstr>Register Transfer</vt:lpstr>
      <vt:lpstr>Arithmetic Micro-operations</vt:lpstr>
      <vt:lpstr>Arithmetic circuit</vt:lpstr>
      <vt:lpstr>Logical micro-operations</vt:lpstr>
      <vt:lpstr>Logical Micro-operations</vt:lpstr>
      <vt:lpstr>Hardware implementation of logic Micro-operation</vt:lpstr>
      <vt:lpstr>SHIFT MICRO OPERATIONS</vt:lpstr>
      <vt:lpstr>LOGICAL SHIFT</vt:lpstr>
      <vt:lpstr>CIRCULAR SHIFT</vt:lpstr>
      <vt:lpstr>Arithmetic Shift operation</vt:lpstr>
      <vt:lpstr>Basic Symbols For Register Transfers</vt:lpstr>
      <vt:lpstr>BUS AND Memory TRANSFER</vt:lpstr>
      <vt:lpstr>Transfer from Bus to destination register</vt:lpstr>
      <vt:lpstr>Bus transfer in RTL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Register Transfer Language and  Micro operation</dc:title>
  <dc:creator>RGUKT</dc:creator>
  <cp:lastModifiedBy>RGUKT</cp:lastModifiedBy>
  <cp:revision>34</cp:revision>
  <dcterms:created xsi:type="dcterms:W3CDTF">2022-06-23T11:24:54Z</dcterms:created>
  <dcterms:modified xsi:type="dcterms:W3CDTF">2022-06-24T01:38:38Z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2022-06-23T00:00:00Z</vt:filetime>
  </property>
</Properties>
</file>