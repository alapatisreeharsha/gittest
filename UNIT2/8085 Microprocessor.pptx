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8" r:id="rId4"/>
    <p:sldId id="295" r:id="rId5"/>
    <p:sldId id="257" r:id="rId6"/>
    <p:sldId id="258" r:id="rId7"/>
    <p:sldId id="259" r:id="rId8"/>
    <p:sldId id="260" r:id="rId9"/>
    <p:sldId id="261" r:id="rId10"/>
    <p:sldId id="263" r:id="rId11"/>
    <p:sldId id="262" r:id="rId12"/>
    <p:sldId id="264" r:id="rId13"/>
    <p:sldId id="265" r:id="rId14"/>
    <p:sldId id="266" r:id="rId15"/>
    <p:sldId id="267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rgbClr val="FFFF00"/>
          </a:solidFill>
        </p:spPr>
        <p:txBody>
          <a:bodyPr/>
          <a:lstStyle/>
          <a:p>
            <a:r>
              <a:rPr lang="en-IN" altLang="en-US" dirty="0"/>
              <a:t>8085 Microprocessor</a:t>
            </a:r>
            <a:endParaRPr lang="en-I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altLang="en-US" b="1">
                <a:solidFill>
                  <a:srgbClr val="FFFF00"/>
                </a:solidFill>
              </a:rPr>
              <a:t>ARCHITECTURE &amp; PIN DIAGRAM</a:t>
            </a:r>
            <a:endParaRPr lang="en-IN" altLang="en-US"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p>
            <a:r>
              <a:rPr lang="en-IN" altLang="en-US"/>
              <a:t>Basic Architecture of 8085 </a:t>
            </a:r>
            <a:r>
              <a:rPr lang="en-US" altLang="en-US">
                <a:sym typeface="+mn-ea"/>
              </a:rPr>
              <a:t>μ</a:t>
            </a:r>
            <a:r>
              <a:rPr lang="en-IN" altLang="en-US">
                <a:sym typeface="+mn-ea"/>
              </a:rPr>
              <a:t>P</a:t>
            </a:r>
            <a:endParaRPr lang="en-IN" altLang="en-US"/>
          </a:p>
        </p:txBody>
      </p:sp>
      <p:pic>
        <p:nvPicPr>
          <p:cNvPr id="4" name="Content Placeholder 3" descr="8085-architectur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835" y="1690370"/>
            <a:ext cx="10795635" cy="5196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5-01-26 1913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405" y="365760"/>
            <a:ext cx="11034395" cy="58121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p>
            <a:r>
              <a:rPr lang="en-IN" altLang="en-US" b="1"/>
              <a:t>overview</a:t>
            </a:r>
            <a:endParaRPr lang="en-IN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normAutofit fontScale="90000" lnSpcReduction="10000"/>
          </a:bodyPr>
          <a:p>
            <a:r>
              <a:rPr lang="en-IN" altLang="en-US"/>
              <a:t>what is a microprocessor?</a:t>
            </a:r>
            <a:endParaRPr lang="en-IN" altLang="en-US"/>
          </a:p>
          <a:p>
            <a:r>
              <a:rPr lang="en-IN" altLang="en-US">
                <a:sym typeface="+mn-ea"/>
              </a:rPr>
              <a:t>Pin diagram</a:t>
            </a:r>
            <a:endParaRPr lang="en-IN" altLang="en-US"/>
          </a:p>
          <a:p>
            <a:r>
              <a:rPr lang="en-IN" altLang="en-US"/>
              <a:t>Typical structure of  MPU(Architecture):</a:t>
            </a:r>
            <a:endParaRPr lang="en-IN" altLang="en-US"/>
          </a:p>
          <a:p>
            <a:pPr marL="0" indent="457200">
              <a:buFont typeface="+mj-lt"/>
              <a:buNone/>
            </a:pPr>
            <a:r>
              <a:rPr lang="en-IN" altLang="en-US"/>
              <a:t>i.Register section</a:t>
            </a:r>
            <a:endParaRPr lang="en-IN" altLang="en-US"/>
          </a:p>
          <a:p>
            <a:pPr marL="0" indent="457200">
              <a:buFont typeface="+mj-lt"/>
              <a:buNone/>
            </a:pPr>
            <a:r>
              <a:rPr lang="en-IN" altLang="en-US"/>
              <a:t>ii.Arithmetic and Logic unit</a:t>
            </a:r>
            <a:endParaRPr lang="en-IN" altLang="en-US"/>
          </a:p>
          <a:p>
            <a:pPr marL="0" indent="457200">
              <a:buFont typeface="+mj-lt"/>
              <a:buNone/>
            </a:pPr>
            <a:r>
              <a:rPr lang="en-IN" altLang="en-US"/>
              <a:t>iii.Timing and control unit</a:t>
            </a:r>
            <a:endParaRPr lang="en-IN" altLang="en-US"/>
          </a:p>
          <a:p>
            <a:pPr marL="0" indent="457200">
              <a:buFont typeface="+mj-lt"/>
              <a:buNone/>
            </a:pPr>
            <a:r>
              <a:rPr lang="en-IN" altLang="en-US"/>
              <a:t>iv. interface section</a:t>
            </a:r>
            <a:endParaRPr lang="en-IN" altLang="en-US"/>
          </a:p>
          <a:p>
            <a:pPr marL="457200" lvl="1" indent="457200">
              <a:buFont typeface="+mj-lt"/>
              <a:buNone/>
            </a:pPr>
            <a:r>
              <a:rPr lang="en-IN" altLang="en-US"/>
              <a:t>a)address bus</a:t>
            </a:r>
            <a:endParaRPr lang="en-IN" altLang="en-US"/>
          </a:p>
          <a:p>
            <a:pPr marL="457200" lvl="1" indent="457200">
              <a:buFont typeface="+mj-lt"/>
              <a:buNone/>
            </a:pPr>
            <a:r>
              <a:rPr lang="en-IN" altLang="en-US"/>
              <a:t>b)data bus</a:t>
            </a:r>
            <a:endParaRPr lang="en-IN" altLang="en-US"/>
          </a:p>
          <a:p>
            <a:pPr marL="457200" lvl="1" indent="457200">
              <a:buFont typeface="+mj-lt"/>
              <a:buNone/>
            </a:pPr>
            <a:r>
              <a:rPr lang="en-IN" altLang="en-US"/>
              <a:t>c)control bus </a:t>
            </a:r>
            <a:endParaRPr lang="en-IN" altLang="en-US"/>
          </a:p>
          <a:p>
            <a:pPr marL="457200" lvl="1" indent="457200">
              <a:buFont typeface="+mj-lt"/>
              <a:buNone/>
            </a:pPr>
            <a:endParaRPr lang="en-IN" altLang="en-US"/>
          </a:p>
          <a:p>
            <a:pPr marL="457200" lvl="1" indent="457200">
              <a:buFont typeface="+mj-lt"/>
              <a:buNone/>
            </a:pPr>
            <a:endParaRPr lang="en-IN" altLang="en-US"/>
          </a:p>
          <a:p>
            <a:pPr marL="457200" lvl="1" indent="457200">
              <a:buFont typeface="+mj-lt"/>
              <a:buNone/>
            </a:pPr>
            <a:endParaRPr lang="en-I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5461635" y="2254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p>
            <a:r>
              <a:rPr lang="en-IN" altLang="en-US"/>
              <a:t>What is a </a:t>
            </a:r>
            <a:r>
              <a:rPr lang="en-US" altLang="en-US"/>
              <a:t> μ</a:t>
            </a:r>
            <a:r>
              <a:rPr lang="en-IN" altLang="en-US"/>
              <a:t>P?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normAutofit fontScale="90000"/>
          </a:bodyPr>
          <a:p>
            <a:r>
              <a:rPr lang="en-IN" altLang="en-US"/>
              <a:t>A microprocessor is a single chip that contains the main components of a computer’s central processing unit(CPU).</a:t>
            </a:r>
            <a:endParaRPr lang="en-IN" altLang="en-US"/>
          </a:p>
          <a:p>
            <a:r>
              <a:rPr lang="en-IN" altLang="en-US"/>
              <a:t>It serves as the brain of the system,performing arithmetic ,logic ,control and  input/output (I/0) operations required for program execution.</a:t>
            </a:r>
            <a:endParaRPr lang="en-IN" altLang="en-US"/>
          </a:p>
          <a:p>
            <a:r>
              <a:rPr lang="en-IN" altLang="en-US"/>
              <a:t>8085 micro processor: * It is a 8 bit (databus) microprocessor from 					intel,developed in 1976.</a:t>
            </a:r>
            <a:endParaRPr lang="en-IN" altLang="en-US"/>
          </a:p>
          <a:p>
            <a:pPr marL="0" indent="0">
              <a:buNone/>
            </a:pPr>
            <a:r>
              <a:rPr lang="en-IN" altLang="en-US"/>
              <a:t>      	* 40 pin integrated circuit.</a:t>
            </a:r>
            <a:endParaRPr lang="en-IN" altLang="en-US"/>
          </a:p>
          <a:p>
            <a:pPr marL="457200" lvl="1" indent="457200">
              <a:buNone/>
            </a:pPr>
            <a:r>
              <a:rPr lang="en-IN" altLang="en-US" sz="2800"/>
              <a:t>* </a:t>
            </a:r>
            <a:r>
              <a:rPr lang="en-US" altLang="en-US" sz="2800"/>
              <a:t>It uses a 5V power supply and operates at a clock speed of 3 MHz.</a:t>
            </a:r>
            <a:endParaRPr lang="en-US" altLang="en-US" sz="2800"/>
          </a:p>
          <a:p>
            <a:pPr marL="457200" lvl="1" indent="457200">
              <a:buNone/>
            </a:pPr>
            <a:r>
              <a:rPr lang="en-IN" altLang="en-US" sz="2800"/>
              <a:t>*</a:t>
            </a:r>
            <a:r>
              <a:rPr lang="en-US" altLang="en-US" sz="2800"/>
              <a:t>The processor supports a 16-bit address bus, addressing up to 64 KB of </a:t>
            </a:r>
            <a:r>
              <a:rPr lang="en-IN" altLang="en-US" sz="2800"/>
              <a:t>	</a:t>
            </a:r>
            <a:r>
              <a:rPr lang="en-US" altLang="en-US" sz="2800"/>
              <a:t>memory.</a:t>
            </a:r>
            <a:r>
              <a:rPr lang="en-IN" altLang="en-US" sz="2800"/>
              <a:t>         </a:t>
            </a:r>
            <a:endParaRPr lang="en-IN" altLang="en-US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p>
            <a:r>
              <a:rPr lang="en-IN" altLang="en-US"/>
              <a:t>Typical structure of 8085 </a:t>
            </a:r>
            <a:r>
              <a:rPr lang="en-US" altLang="en-US">
                <a:sym typeface="+mn-ea"/>
              </a:rPr>
              <a:t>μ</a:t>
            </a:r>
            <a:r>
              <a:rPr lang="en-IN" altLang="en-US">
                <a:sym typeface="+mn-ea"/>
              </a:rPr>
              <a:t>P(Architecture)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normAutofit lnSpcReduction="10000"/>
          </a:bodyPr>
          <a:p>
            <a:pPr marL="0" indent="0">
              <a:buNone/>
            </a:pPr>
            <a:r>
              <a:rPr lang="en-IN" altLang="en-US"/>
              <a:t>1) Register Section:</a:t>
            </a:r>
            <a:endParaRPr lang="en-IN" altLang="en-US"/>
          </a:p>
          <a:p>
            <a:pPr marL="0" indent="457200">
              <a:buNone/>
            </a:pPr>
            <a:r>
              <a:rPr lang="en-IN" altLang="en-US"/>
              <a:t>a. Registers Accessible to programmers:</a:t>
            </a:r>
            <a:endParaRPr lang="en-IN" altLang="en-US"/>
          </a:p>
          <a:p>
            <a:pPr marL="457200" lvl="1" indent="457200">
              <a:buNone/>
            </a:pPr>
            <a:r>
              <a:rPr lang="en-IN" altLang="en-US" sz="2400">
                <a:sym typeface="+mn-ea"/>
              </a:rPr>
              <a:t>i)General purpose registers:(8-bit)</a:t>
            </a:r>
            <a:endParaRPr lang="en-IN" altLang="en-US" sz="2400"/>
          </a:p>
          <a:p>
            <a:pPr marL="914400" lvl="2" indent="457200">
              <a:buNone/>
            </a:pPr>
            <a:r>
              <a:rPr lang="en-IN" altLang="en-US" sz="2400">
                <a:sym typeface="+mn-ea"/>
              </a:rPr>
              <a:t>* B,C,D,E,H,L.</a:t>
            </a:r>
            <a:endParaRPr lang="en-IN" altLang="en-US" sz="2400"/>
          </a:p>
          <a:p>
            <a:pPr marL="914400" lvl="2" indent="457200">
              <a:buNone/>
            </a:pPr>
            <a:r>
              <a:rPr lang="en-IN" altLang="en-US" sz="2400">
                <a:sym typeface="+mn-ea"/>
              </a:rPr>
              <a:t>* Can be used as 16 bit registers (B-C, D-E,H-L)</a:t>
            </a:r>
            <a:endParaRPr lang="en-IN" altLang="en-US" sz="2400"/>
          </a:p>
          <a:p>
            <a:pPr marL="457200" lvl="1" indent="457200">
              <a:buNone/>
            </a:pPr>
            <a:r>
              <a:rPr lang="en-IN" altLang="en-US" sz="2400">
                <a:sym typeface="+mn-ea"/>
              </a:rPr>
              <a:t>ii) Special purpose registers:</a:t>
            </a:r>
            <a:endParaRPr lang="en-IN" altLang="en-US" sz="2400"/>
          </a:p>
          <a:p>
            <a:pPr marL="914400" lvl="2" indent="457200">
              <a:buNone/>
            </a:pPr>
            <a:r>
              <a:rPr lang="en-IN" altLang="en-US" sz="2400">
                <a:sym typeface="+mn-ea"/>
              </a:rPr>
              <a:t>* 8 bit:  Accumulator, Index Register, Status or flag register.</a:t>
            </a:r>
            <a:endParaRPr lang="en-IN" altLang="en-US" sz="2400"/>
          </a:p>
          <a:p>
            <a:pPr marL="914400" lvl="2" indent="457200">
              <a:buNone/>
            </a:pPr>
            <a:r>
              <a:rPr lang="en-IN" altLang="en-US" sz="2400">
                <a:sym typeface="+mn-ea"/>
              </a:rPr>
              <a:t>* 16 bit: PC, Stack pointer.</a:t>
            </a:r>
            <a:endParaRPr lang="en-IN" altLang="en-US"/>
          </a:p>
          <a:p>
            <a:pPr marL="0" indent="457200">
              <a:buNone/>
            </a:pPr>
            <a:r>
              <a:rPr lang="en-IN" altLang="en-US"/>
              <a:t>b.Registers Inaccessible to Programmers:</a:t>
            </a:r>
            <a:endParaRPr lang="en-IN" altLang="en-US"/>
          </a:p>
          <a:p>
            <a:pPr marL="457200" lvl="1" indent="457200">
              <a:buNone/>
            </a:pPr>
            <a:r>
              <a:rPr lang="en-IN" altLang="en-US"/>
              <a:t>i)Memory Address Registers(16 bit)</a:t>
            </a:r>
            <a:endParaRPr lang="en-IN" altLang="en-US"/>
          </a:p>
          <a:p>
            <a:pPr marL="457200" lvl="1" indent="457200">
              <a:buNone/>
            </a:pPr>
            <a:r>
              <a:rPr lang="en-IN" altLang="en-US"/>
              <a:t>ii) Temporary Register.</a:t>
            </a:r>
            <a:endParaRPr lang="en-IN" altLang="en-US" sz="2800"/>
          </a:p>
          <a:p>
            <a:pPr marL="914400" lvl="2" indent="457200">
              <a:buNone/>
            </a:pPr>
            <a:endParaRPr lang="en-IN" altLang="en-US" sz="2800"/>
          </a:p>
          <a:p>
            <a:pPr marL="914400" lvl="2" indent="457200">
              <a:buNone/>
            </a:pPr>
            <a:endParaRPr lang="en-IN" altLang="en-US" sz="2800"/>
          </a:p>
          <a:p>
            <a:pPr marL="914400" lvl="2" indent="457200">
              <a:buNone/>
            </a:pPr>
            <a:endParaRPr lang="en-IN" altLang="en-US" sz="2800"/>
          </a:p>
          <a:p>
            <a:pPr marL="914400" lvl="2" indent="457200">
              <a:buNone/>
            </a:pPr>
            <a:endParaRPr lang="en-IN" altLang="en-US"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p>
            <a:r>
              <a:rPr lang="en-IN" altLang="en-US"/>
              <a:t>a.Registers accesible to programmers:</a:t>
            </a:r>
            <a:endParaRPr lang="en-IN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838200" y="1691640"/>
            <a:ext cx="10515600" cy="5166360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r>
              <a:rPr lang="en-IN" altLang="en-US" sz="2400"/>
              <a:t>i) </a:t>
            </a:r>
            <a:r>
              <a:rPr lang="en-IN" altLang="en-US" sz="2400" b="1"/>
              <a:t>General purpose registers:</a:t>
            </a:r>
            <a:endParaRPr lang="en-US" altLang="en-US" sz="2400" b="1"/>
          </a:p>
          <a:p>
            <a:r>
              <a:rPr lang="en-US" altLang="en-US" sz="2400"/>
              <a:t>In the 8085 microprocessor, general-purpose</a:t>
            </a:r>
            <a:endParaRPr lang="en-US" altLang="en-US" sz="2400"/>
          </a:p>
          <a:p>
            <a:r>
              <a:rPr lang="en-US" altLang="en-US" sz="2400"/>
              <a:t>registers (B, C, D, E, H, and L) are 8-bit </a:t>
            </a:r>
            <a:endParaRPr lang="en-US" altLang="en-US" sz="2400"/>
          </a:p>
          <a:p>
            <a:r>
              <a:rPr lang="en-US" altLang="en-US" sz="2400"/>
              <a:t>registers used to store temporary data during</a:t>
            </a:r>
            <a:endParaRPr lang="en-US" altLang="en-US" sz="2400"/>
          </a:p>
          <a:p>
            <a:r>
              <a:rPr lang="en-US" altLang="en-US" sz="2400"/>
              <a:t>program execution and can be paired</a:t>
            </a:r>
            <a:endParaRPr lang="en-US" altLang="en-US" sz="2400"/>
          </a:p>
          <a:p>
            <a:r>
              <a:rPr lang="en-US" altLang="en-US" sz="2400"/>
              <a:t>to perform 16-bit operations.</a:t>
            </a:r>
            <a:endParaRPr lang="en-US" altLang="en-US" sz="2400"/>
          </a:p>
          <a:p>
            <a:endParaRPr lang="en-US" altLang="en-US" sz="2400"/>
          </a:p>
          <a:p>
            <a:r>
              <a:rPr lang="en-IN" altLang="en-US" sz="2400"/>
              <a:t>ii)</a:t>
            </a:r>
            <a:r>
              <a:rPr lang="en-IN" altLang="en-US" sz="2400" b="1"/>
              <a:t>Special purpose registers:</a:t>
            </a:r>
            <a:endParaRPr lang="en-IN" altLang="en-US" sz="2400" b="1"/>
          </a:p>
          <a:p>
            <a:pPr indent="457200"/>
            <a:r>
              <a:rPr lang="en-IN" altLang="en-US" sz="2400" b="1"/>
              <a:t>A) 8 bit :</a:t>
            </a:r>
            <a:endParaRPr lang="en-IN" altLang="en-US" sz="2400" b="1"/>
          </a:p>
          <a:p>
            <a:pPr marL="457200" lvl="1" indent="457200"/>
            <a:r>
              <a:rPr lang="en-IN" altLang="en-US" sz="2400" b="1"/>
              <a:t>1) Accumulator:</a:t>
            </a:r>
            <a:r>
              <a:rPr lang="en-US" altLang="en-US" sz="2400"/>
              <a:t>The accumulator in </a:t>
            </a:r>
            <a:endParaRPr lang="en-US" altLang="en-US" sz="2400"/>
          </a:p>
          <a:p>
            <a:pPr marL="457200" lvl="1" indent="457200"/>
            <a:r>
              <a:rPr lang="en-US" altLang="en-US" sz="2400"/>
              <a:t>the 8085 microprocessor is an 8-bit special-purpose register used for </a:t>
            </a:r>
            <a:r>
              <a:rPr lang="en-IN" altLang="en-US" sz="2400"/>
              <a:t>                                  a</a:t>
            </a:r>
            <a:r>
              <a:rPr lang="en-US" altLang="en-US" sz="2400"/>
              <a:t>rithmetic, logic, and data transfer operations, storing the results of</a:t>
            </a:r>
            <a:r>
              <a:rPr lang="en-IN" altLang="en-US" sz="2400"/>
              <a:t> </a:t>
            </a:r>
            <a:r>
              <a:rPr lang="en-US" altLang="en-US" sz="2400"/>
              <a:t>these </a:t>
            </a:r>
            <a:r>
              <a:rPr lang="en-IN" altLang="en-US" sz="2400"/>
              <a:t>  </a:t>
            </a:r>
            <a:r>
              <a:rPr lang="en-US" altLang="en-US" sz="2400"/>
              <a:t>operations.</a:t>
            </a:r>
            <a:endParaRPr lang="en-US" altLang="en-US" sz="2400"/>
          </a:p>
          <a:p>
            <a:pPr marL="457200" lvl="1" indent="457200"/>
            <a:endParaRPr lang="en-IN" altLang="en-US" sz="2400"/>
          </a:p>
          <a:p>
            <a:pPr marL="457200" lvl="1" indent="457200"/>
            <a:endParaRPr lang="en-IN" altLang="en-US" sz="2400" b="1"/>
          </a:p>
          <a:p>
            <a:endParaRPr lang="en-IN" altLang="en-US" sz="2400" b="1"/>
          </a:p>
          <a:p>
            <a:endParaRPr lang="en-IN" altLang="en-US" sz="2400" b="1"/>
          </a:p>
        </p:txBody>
      </p:sp>
      <p:pic>
        <p:nvPicPr>
          <p:cNvPr id="4" name="Content Placeholder 3" descr="register"/>
          <p:cNvPicPr>
            <a:picLocks noChangeAspect="1"/>
          </p:cNvPicPr>
          <p:nvPr>
            <p:ph idx="1"/>
          </p:nvPr>
        </p:nvPicPr>
        <p:blipFill>
          <a:blip r:embed="rId1"/>
          <a:srcRect t="-1290" b="29559"/>
          <a:stretch>
            <a:fillRect/>
          </a:stretch>
        </p:blipFill>
        <p:spPr>
          <a:xfrm>
            <a:off x="6596380" y="1831340"/>
            <a:ext cx="4757420" cy="3459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r>
              <a:rPr lang="en-IN" altLang="en-US" sz="2800"/>
              <a:t>2)Index register:</a:t>
            </a:r>
            <a:endParaRPr lang="en-IN" altLang="en-US" sz="2800"/>
          </a:p>
        </p:txBody>
      </p:sp>
      <p:sp>
        <p:nvSpPr>
          <p:cNvPr id="6" name="Text Box 5"/>
          <p:cNvSpPr txBox="1"/>
          <p:nvPr/>
        </p:nvSpPr>
        <p:spPr>
          <a:xfrm>
            <a:off x="838200" y="1691005"/>
            <a:ext cx="10515600" cy="483044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sz="2400"/>
              <a:t> Indexing in 8085 is implemented using H-L pair registers.</a:t>
            </a:r>
            <a:endParaRPr lang="en-IN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sz="2400"/>
              <a:t>8085 don’t possess a dedicated index register. </a:t>
            </a:r>
            <a:endParaRPr lang="en-IN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sz="2400"/>
              <a:t>denoted as M=[[H][L]]</a:t>
            </a:r>
            <a:endParaRPr lang="en-IN" altLang="en-US" sz="2400"/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IN" altLang="en-US" sz="2400"/>
              <a:t>  MOV A,M</a:t>
            </a:r>
            <a:endParaRPr lang="en-IN" altLang="en-US" sz="2400"/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IN" altLang="en-US" sz="2400"/>
              <a:t>  INX H</a:t>
            </a:r>
            <a:endParaRPr lang="en-IN" altLang="en-US" sz="2400"/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IN" altLang="en-US" sz="2400"/>
              <a:t> MOV B,M</a:t>
            </a:r>
            <a:endParaRPr lang="en-IN" altLang="en-US" sz="2400"/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IN" altLang="en-US" sz="2400"/>
              <a:t> INX H</a:t>
            </a:r>
            <a:endParaRPr lang="en-IN" altLang="en-US" sz="2400"/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IN" altLang="en-US" sz="2400"/>
              <a:t> MOV C,M</a:t>
            </a:r>
            <a:endParaRPr lang="en-IN" altLang="en-US" sz="2400"/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IN" altLang="en-US" sz="2400"/>
              <a:t> INX H</a:t>
            </a:r>
            <a:endParaRPr lang="en-IN" altLang="en-US" sz="2400"/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IN" altLang="en-US" sz="2400"/>
              <a:t> MOV D,M</a:t>
            </a:r>
            <a:endParaRPr lang="en-IN" altLang="en-US" sz="2400"/>
          </a:p>
        </p:txBody>
      </p:sp>
      <p:pic>
        <p:nvPicPr>
          <p:cNvPr id="4" name="Content Placeholder 3" descr="Screenshot 2025-01-20 121819"/>
          <p:cNvPicPr>
            <a:picLocks noChangeAspect="1"/>
          </p:cNvPicPr>
          <p:nvPr>
            <p:ph idx="1"/>
          </p:nvPr>
        </p:nvPicPr>
        <p:blipFill>
          <a:blip r:embed="rId1"/>
          <a:srcRect l="40519" t="41967" r="1023"/>
          <a:stretch>
            <a:fillRect/>
          </a:stretch>
        </p:blipFill>
        <p:spPr>
          <a:xfrm>
            <a:off x="6095365" y="3157855"/>
            <a:ext cx="5139690" cy="30194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r>
              <a:rPr lang="en-IN" altLang="en-US" sz="2800"/>
              <a:t>3)Flag Register</a:t>
            </a:r>
            <a:endParaRPr lang="en-IN" altLang="en-US" sz="2800"/>
          </a:p>
        </p:txBody>
      </p:sp>
      <p:sp>
        <p:nvSpPr>
          <p:cNvPr id="6" name="Text Box 5"/>
          <p:cNvSpPr txBox="1"/>
          <p:nvPr/>
        </p:nvSpPr>
        <p:spPr>
          <a:xfrm>
            <a:off x="838200" y="1651000"/>
            <a:ext cx="10515600" cy="4464050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v"/>
            </a:pPr>
            <a:r>
              <a:rPr lang="en-IN" altLang="en-US" sz="2400"/>
              <a:t>Cy : if carry generated from MSB during arithmetic operations this field is set to </a:t>
            </a:r>
            <a:r>
              <a:rPr lang="en-IN" altLang="en-US"/>
              <a:t>1.</a:t>
            </a:r>
            <a:endParaRPr lang="en-IN" altLang="en-US"/>
          </a:p>
          <a:p>
            <a:pPr marL="342900" indent="-342900">
              <a:buFont typeface="Wingdings" panose="05000000000000000000" charset="0"/>
              <a:buChar char="v"/>
            </a:pPr>
            <a:r>
              <a:rPr lang="en-IN" altLang="en-US" sz="2400"/>
              <a:t>X : don’t care</a:t>
            </a:r>
            <a:endParaRPr lang="en-IN" altLang="en-US" sz="2400"/>
          </a:p>
          <a:p>
            <a:pPr marL="342900" indent="-342900">
              <a:buFont typeface="Wingdings" panose="05000000000000000000" charset="0"/>
              <a:buChar char="v"/>
            </a:pPr>
            <a:r>
              <a:rPr lang="en-IN" altLang="en-US" sz="2400"/>
              <a:t>P : </a:t>
            </a:r>
            <a:r>
              <a:rPr lang="en-IN" altLang="en-US" sz="2400">
                <a:sym typeface="+mn-ea"/>
              </a:rPr>
              <a:t>Parity , if no.of 1’s in </a:t>
            </a:r>
            <a:endParaRPr lang="en-IN" altLang="en-US" sz="2400"/>
          </a:p>
          <a:p>
            <a:pPr indent="0">
              <a:buFont typeface="Wingdings" panose="05000000000000000000" charset="0"/>
              <a:buNone/>
            </a:pPr>
            <a:r>
              <a:rPr lang="en-IN" altLang="en-US" sz="2400">
                <a:sym typeface="+mn-ea"/>
              </a:rPr>
              <a:t>         accumulator is even </a:t>
            </a:r>
            <a:endParaRPr lang="en-IN" altLang="en-US" sz="2400"/>
          </a:p>
          <a:p>
            <a:pPr indent="457200">
              <a:buFont typeface="Wingdings" panose="05000000000000000000" charset="0"/>
              <a:buNone/>
            </a:pPr>
            <a:r>
              <a:rPr lang="en-IN" altLang="en-US" sz="2400">
                <a:sym typeface="+mn-ea"/>
              </a:rPr>
              <a:t>  then it is set to 1.</a:t>
            </a:r>
            <a:endParaRPr lang="en-IN" altLang="en-US" sz="2400"/>
          </a:p>
          <a:p>
            <a:pPr marL="342900" indent="-342900">
              <a:buFont typeface="Wingdings" panose="05000000000000000000" charset="0"/>
              <a:buChar char="v"/>
            </a:pPr>
            <a:r>
              <a:rPr lang="en-IN" altLang="en-US" sz="2400"/>
              <a:t>AC </a:t>
            </a:r>
            <a:r>
              <a:rPr lang="en-IN" altLang="en-US" sz="2400">
                <a:sym typeface="+mn-ea"/>
              </a:rPr>
              <a:t>: Auxiliary carry ,if </a:t>
            </a:r>
            <a:endParaRPr lang="en-IN" altLang="en-US" sz="2400"/>
          </a:p>
          <a:p>
            <a:pPr lvl="2" indent="0">
              <a:buFont typeface="Wingdings" panose="05000000000000000000" charset="0"/>
              <a:buNone/>
            </a:pPr>
            <a:r>
              <a:rPr lang="en-IN" altLang="en-US" sz="2400">
                <a:sym typeface="+mn-ea"/>
              </a:rPr>
              <a:t>carry generated from</a:t>
            </a:r>
            <a:endParaRPr lang="en-IN" altLang="en-US" sz="2400"/>
          </a:p>
          <a:p>
            <a:pPr lvl="2" indent="0">
              <a:buFont typeface="Wingdings" panose="05000000000000000000" charset="0"/>
              <a:buNone/>
            </a:pPr>
            <a:r>
              <a:rPr lang="en-IN" altLang="en-US" sz="2400">
                <a:sym typeface="+mn-ea"/>
              </a:rPr>
              <a:t>LS hexadecimal bits</a:t>
            </a:r>
            <a:endParaRPr lang="en-IN" altLang="en-US" sz="2400"/>
          </a:p>
          <a:p>
            <a:pPr marL="342900" indent="-342900">
              <a:buFont typeface="Wingdings" panose="05000000000000000000" charset="0"/>
              <a:buChar char="v"/>
            </a:pPr>
            <a:r>
              <a:rPr lang="en-IN" altLang="en-US" sz="2400"/>
              <a:t>Z: Zero ,it is set to 1, if </a:t>
            </a:r>
            <a:endParaRPr lang="en-IN" altLang="en-US" sz="2400"/>
          </a:p>
          <a:p>
            <a:pPr indent="0">
              <a:buFont typeface="Wingdings" panose="05000000000000000000" charset="0"/>
              <a:buNone/>
            </a:pPr>
            <a:r>
              <a:rPr lang="en-IN" altLang="en-US" sz="2400"/>
              <a:t>         accumulator contains</a:t>
            </a:r>
            <a:endParaRPr lang="en-IN" altLang="en-US" sz="2400"/>
          </a:p>
          <a:p>
            <a:pPr indent="457200">
              <a:buFont typeface="Wingdings" panose="05000000000000000000" charset="0"/>
              <a:buNone/>
            </a:pPr>
            <a:r>
              <a:rPr lang="en-IN" altLang="en-US" sz="2400"/>
              <a:t>  all 0’s.</a:t>
            </a:r>
            <a:endParaRPr lang="en-IN" altLang="en-US" sz="2400"/>
          </a:p>
        </p:txBody>
      </p:sp>
      <p:pic>
        <p:nvPicPr>
          <p:cNvPr id="4" name="Content Placeholder 3" descr="images"/>
          <p:cNvPicPr>
            <a:picLocks noChangeAspect="1"/>
          </p:cNvPicPr>
          <p:nvPr>
            <p:ph idx="1"/>
          </p:nvPr>
        </p:nvPicPr>
        <p:blipFill>
          <a:blip r:embed="rId1"/>
          <a:srcRect l="4663" t="23543" r="3148" b="17488"/>
          <a:stretch>
            <a:fillRect/>
          </a:stretch>
        </p:blipFill>
        <p:spPr>
          <a:xfrm>
            <a:off x="4436745" y="2233930"/>
            <a:ext cx="6917055" cy="32981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normAutofit/>
          </a:bodyPr>
          <a:p>
            <a:r>
              <a:rPr lang="en-IN" altLang="en-US" sz="2800"/>
              <a:t>B)16-bit</a:t>
            </a:r>
            <a:endParaRPr lang="en-IN" altLang="en-US" sz="2800"/>
          </a:p>
        </p:txBody>
      </p:sp>
      <p:sp>
        <p:nvSpPr>
          <p:cNvPr id="5" name="Text Box 4"/>
          <p:cNvSpPr txBox="1"/>
          <p:nvPr/>
        </p:nvSpPr>
        <p:spPr>
          <a:xfrm>
            <a:off x="838200" y="1690370"/>
            <a:ext cx="10515600" cy="516826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r>
              <a:rPr lang="en-IN" altLang="en-US" sz="2400">
                <a:sym typeface="+mn-ea"/>
              </a:rPr>
              <a:t>1</a:t>
            </a:r>
            <a:r>
              <a:rPr lang="en-IN" altLang="en-US" sz="2400" b="1">
                <a:sym typeface="+mn-ea"/>
              </a:rPr>
              <a:t>. Stack pointer register</a:t>
            </a:r>
            <a:r>
              <a:rPr lang="en-IN" altLang="en-US" sz="2400">
                <a:sym typeface="+mn-ea"/>
              </a:rPr>
              <a:t>: </a:t>
            </a:r>
            <a:r>
              <a:rPr lang="en-US" altLang="en-US" sz="2400">
                <a:sym typeface="+mn-ea"/>
              </a:rPr>
              <a:t>The stack pointer (SP) in the 8085 microprocessor is a 16-bit register that holds the address of the top </a:t>
            </a:r>
            <a:endParaRPr lang="en-US" altLang="en-US" sz="2400">
              <a:sym typeface="+mn-ea"/>
            </a:endParaRPr>
          </a:p>
          <a:p>
            <a:r>
              <a:rPr lang="en-US" altLang="en-US" sz="2400">
                <a:sym typeface="+mn-ea"/>
              </a:rPr>
              <a:t>of the </a:t>
            </a:r>
            <a:r>
              <a:rPr lang="en-IN" altLang="en-US" sz="2400">
                <a:sym typeface="+mn-ea"/>
              </a:rPr>
              <a:t>stack  which has useful information.</a:t>
            </a:r>
            <a:endParaRPr lang="en-IN" altLang="en-US" sz="2400">
              <a:sym typeface="+mn-ea"/>
            </a:endParaRPr>
          </a:p>
          <a:p>
            <a:endParaRPr lang="en-IN" altLang="en-US" sz="2400">
              <a:sym typeface="+mn-ea"/>
            </a:endParaRPr>
          </a:p>
          <a:p>
            <a:r>
              <a:rPr lang="en-IN" altLang="en-US" sz="2400" b="1">
                <a:sym typeface="+mn-ea"/>
              </a:rPr>
              <a:t>2. Program counter:</a:t>
            </a:r>
            <a:r>
              <a:rPr lang="en-US" altLang="en-US" sz="2400"/>
              <a:t>The program counter (PC) in</a:t>
            </a:r>
            <a:endParaRPr lang="en-US" altLang="en-US" sz="2400"/>
          </a:p>
          <a:p>
            <a:r>
              <a:rPr lang="en-US" altLang="en-US" sz="2400"/>
              <a:t> the 8085 microprocessor is a 16-bit register that </a:t>
            </a:r>
            <a:endParaRPr lang="en-US" altLang="en-US" sz="2400"/>
          </a:p>
          <a:p>
            <a:r>
              <a:rPr lang="en-US" altLang="en-US" sz="2400"/>
              <a:t>holds the memory address of the next instruction</a:t>
            </a:r>
            <a:endParaRPr lang="en-US" altLang="en-US" sz="2400"/>
          </a:p>
          <a:p>
            <a:r>
              <a:rPr lang="en-US" altLang="en-US" sz="2400"/>
              <a:t> to be executed.</a:t>
            </a:r>
            <a:endParaRPr lang="en-US" altLang="en-US" sz="2400"/>
          </a:p>
          <a:p>
            <a:endParaRPr lang="en-IN" altLang="en-US" sz="2400"/>
          </a:p>
        </p:txBody>
      </p:sp>
      <p:pic>
        <p:nvPicPr>
          <p:cNvPr id="4" name="Content Placeholder 3" descr="Screenshot 2025-01-20 125734"/>
          <p:cNvPicPr>
            <a:picLocks noChangeAspect="1"/>
          </p:cNvPicPr>
          <p:nvPr>
            <p:ph idx="1"/>
          </p:nvPr>
        </p:nvPicPr>
        <p:blipFill>
          <a:blip r:embed="rId1"/>
          <a:srcRect l="6987" t="17551" r="-6987" b="-2795"/>
          <a:stretch>
            <a:fillRect/>
          </a:stretch>
        </p:blipFill>
        <p:spPr>
          <a:xfrm>
            <a:off x="7043420" y="2058035"/>
            <a:ext cx="458216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r>
              <a:rPr lang="en-IN" altLang="en-US"/>
              <a:t>b.Registers Inaccessible to programmers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pPr marL="0" indent="0">
              <a:buNone/>
            </a:pPr>
            <a:r>
              <a:rPr lang="en-IN" altLang="en-US"/>
              <a:t>i) Memory address register(MAR):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Memory Address Register (MAR) in the 8085 microprocessor is a register that holds the memory address of the data or instruction to be accessed.</a:t>
            </a:r>
            <a:endParaRPr lang="en-US" altLang="en-US"/>
          </a:p>
          <a:p>
            <a:pPr marL="0" indent="0">
              <a:buNone/>
            </a:pPr>
            <a:r>
              <a:rPr lang="en-IN" altLang="en-US"/>
              <a:t>ii)Temporary register:</a:t>
            </a:r>
            <a:endParaRPr lang="en-IN" altLang="en-US"/>
          </a:p>
          <a:p>
            <a:pPr marL="0" indent="0">
              <a:buNone/>
            </a:pPr>
            <a:r>
              <a:rPr lang="en-US" altLang="en-US"/>
              <a:t>The temporary register in the 8085 microprocessor is an internal 8-bit register used by the Arithmetic and Logic Unit (ALU) to hold intermediate data during execution of operations.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4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r>
              <a:rPr lang="en-IN" altLang="en-US"/>
              <a:t>2)Arithmetic and Logical unit </a:t>
            </a:r>
            <a:endParaRPr lang="en-IN" altLang="en-US"/>
          </a:p>
        </p:txBody>
      </p:sp>
      <p:graphicFrame>
        <p:nvGraphicFramePr>
          <p:cNvPr id="5" name="Content Placeholder 4"/>
          <p:cNvGraphicFramePr/>
          <p:nvPr>
            <p:ph idx="1"/>
            <p:custDataLst>
              <p:tags r:id="rId1"/>
            </p:custDataLst>
          </p:nvPr>
        </p:nvGraphicFramePr>
        <p:xfrm>
          <a:off x="838200" y="1690370"/>
          <a:ext cx="10515600" cy="5167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0980"/>
                <a:gridCol w="7754620"/>
              </a:tblGrid>
              <a:tr h="7613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2400"/>
                        <a:t>purpose</a:t>
                      </a:r>
                      <a:endParaRPr lang="en-I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/>
                        <a:t>responsible for performing all arithmetic and logical operations required during program execution.</a:t>
                      </a:r>
                      <a:endParaRPr lang="en-US" altLang="en-US" sz="2000"/>
                    </a:p>
                  </a:txBody>
                  <a:tcPr/>
                </a:tc>
              </a:tr>
              <a:tr h="8375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 b="1">
                          <a:solidFill>
                            <a:schemeClr val="tx1"/>
                          </a:solidFill>
                        </a:rPr>
                        <a:t>Arithmetic</a:t>
                      </a:r>
                      <a:endParaRPr lang="en-US" altLang="en-US" sz="2400" b="1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US" sz="2400" b="1">
                          <a:solidFill>
                            <a:schemeClr val="tx1"/>
                          </a:solidFill>
                        </a:rPr>
                        <a:t>Operations</a:t>
                      </a:r>
                      <a:endParaRPr lang="en-US" altLang="en-US" sz="24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b="1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en-US" sz="2000" b="1">
                          <a:solidFill>
                            <a:schemeClr val="tx1"/>
                          </a:solidFill>
                        </a:rPr>
                        <a:t>ddition and subtraction (8-bit and sometimes 16-bit using register pairs).Increment and decrement operations.</a:t>
                      </a:r>
                      <a:endParaRPr lang="en-US" altLang="en-US" sz="20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7613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 b="1"/>
                        <a:t>Logical Operations</a:t>
                      </a:r>
                      <a:endParaRPr lang="en-US" altLang="en-US" sz="24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1"/>
                        <a:t>Rotate operations (rotate left, rotate right with or without carry).</a:t>
                      </a:r>
                      <a:endParaRPr lang="en-US" altLang="en-US" sz="2000" b="1"/>
                    </a:p>
                    <a:p>
                      <a:pPr>
                        <a:buNone/>
                      </a:pPr>
                      <a:r>
                        <a:rPr lang="en-US" altLang="en-US" sz="2000" b="1"/>
                        <a:t>Compare operations to check equality or magnitude of two numbers.</a:t>
                      </a:r>
                      <a:endParaRPr lang="en-US" altLang="en-US" sz="2000" b="1"/>
                    </a:p>
                  </a:txBody>
                  <a:tcPr/>
                </a:tc>
              </a:tr>
              <a:tr h="8369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 b="1"/>
                        <a:t>Interaction with Flags</a:t>
                      </a:r>
                      <a:endParaRPr lang="en-US" altLang="en-US" sz="24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1">
                          <a:solidFill>
                            <a:schemeClr val="tx1"/>
                          </a:solidFill>
                        </a:rPr>
                        <a:t>The ALU updates the Flags Register based on the results of operations.</a:t>
                      </a:r>
                      <a:endParaRPr lang="en-US" altLang="en-US" sz="20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12090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 b="1"/>
                        <a:t>Temporary Register Usage</a:t>
                      </a:r>
                      <a:endParaRPr lang="en-US" altLang="en-US" sz="2400" b="1"/>
                    </a:p>
                    <a:p>
                      <a:pPr>
                        <a:buNone/>
                      </a:pPr>
                      <a:endParaRPr lang="en-US" altLang="en-US" sz="24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1"/>
                        <a:t>The ALU uses the temporary register internally to hold one of the operands or intermediate results during executio</a:t>
                      </a:r>
                      <a:r>
                        <a:rPr lang="en-US" altLang="en-US"/>
                        <a:t>n.</a:t>
                      </a:r>
                      <a:endParaRPr lang="en-US" altLang="en-US"/>
                    </a:p>
                  </a:txBody>
                  <a:tcPr/>
                </a:tc>
              </a:tr>
              <a:tr h="7613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 b="1"/>
                        <a:t>Integration</a:t>
                      </a:r>
                      <a:endParaRPr lang="en-US" altLang="en-US" sz="24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1"/>
                        <a:t>The ALU works closely with the Accumulator, which stores the primary operand and receives the result of operations.</a:t>
                      </a:r>
                      <a:endParaRPr lang="en-US" altLang="en-US" sz="2000" b="1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p>
            <a:r>
              <a:rPr lang="en-IN" altLang="en-US"/>
              <a:t>3) Timing and control unit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r>
              <a:rPr lang="en-US" altLang="en-US"/>
              <a:t>The Timing and Control Unit is responsible for synchronizing all operations in the microprocessor and generating the necessary control signals to coordinate communication between the processor, memory, and I/O devices.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08940"/>
            <a:ext cx="10515600" cy="1325563"/>
          </a:xfrm>
          <a:solidFill>
            <a:srgbClr val="FFFF00"/>
          </a:solidFill>
          <a:ln>
            <a:solidFill>
              <a:srgbClr val="FFFF00"/>
            </a:solidFill>
          </a:ln>
        </p:spPr>
        <p:txBody>
          <a:bodyPr/>
          <a:p>
            <a:r>
              <a:rPr lang="en-IN" altLang="en-US"/>
              <a:t>4)Interface section:</a:t>
            </a:r>
            <a:endParaRPr lang="en-IN" altLang="en-US"/>
          </a:p>
        </p:txBody>
      </p:sp>
      <p:pic>
        <p:nvPicPr>
          <p:cNvPr id="7" name="Content Placeholder 6" descr="Pin-Diagram-of-8085-Microprocessor-copy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63085" y="1691005"/>
            <a:ext cx="6990715" cy="516636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0511790" y="7874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837565" y="1691640"/>
            <a:ext cx="3526155" cy="5165090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r>
              <a:rPr lang="en-IN" altLang="en-US" sz="2800" b="1"/>
              <a:t>i)Address Bus:</a:t>
            </a:r>
            <a:endParaRPr lang="en-IN" altLang="en-US" sz="2800" b="1"/>
          </a:p>
          <a:p>
            <a:pPr marL="342900" indent="-342900">
              <a:buFont typeface="Wingdings" panose="05000000000000000000" charset="0"/>
              <a:buChar char="q"/>
            </a:pPr>
            <a:r>
              <a:rPr lang="en-IN" altLang="en-US" sz="2400"/>
              <a:t> It includes the pins  </a:t>
            </a:r>
            <a:endParaRPr lang="en-IN" altLang="en-US" sz="2400"/>
          </a:p>
          <a:p>
            <a:pPr indent="0">
              <a:buFont typeface="Wingdings" panose="05000000000000000000" charset="0"/>
              <a:buNone/>
            </a:pPr>
            <a:r>
              <a:rPr lang="en-IN" altLang="en-US" sz="2400"/>
              <a:t>     28-21(A15-A8)--&gt;Higher</a:t>
            </a:r>
            <a:endParaRPr lang="en-IN" altLang="en-US" sz="2400"/>
          </a:p>
          <a:p>
            <a:pPr indent="0">
              <a:buFont typeface="Wingdings" panose="05000000000000000000" charset="0"/>
              <a:buNone/>
            </a:pPr>
            <a:r>
              <a:rPr lang="en-IN" altLang="en-US" sz="2400"/>
              <a:t>      order bits</a:t>
            </a:r>
            <a:endParaRPr lang="en-IN" altLang="en-US" sz="2400"/>
          </a:p>
          <a:p>
            <a:pPr indent="0">
              <a:buFont typeface="Wingdings" panose="05000000000000000000" charset="0"/>
              <a:buNone/>
            </a:pPr>
            <a:r>
              <a:rPr lang="en-IN" altLang="en-US" sz="2400"/>
              <a:t>     19-12(AD7-AD0)--&gt;</a:t>
            </a:r>
            <a:endParaRPr lang="en-IN" altLang="en-US" sz="2400"/>
          </a:p>
          <a:p>
            <a:pPr indent="0">
              <a:buFont typeface="Wingdings" panose="05000000000000000000" charset="0"/>
              <a:buNone/>
            </a:pPr>
            <a:r>
              <a:rPr lang="en-IN" altLang="en-US" sz="2400"/>
              <a:t>      lower order bits</a:t>
            </a:r>
            <a:endParaRPr lang="en-IN" altLang="en-US" sz="2400"/>
          </a:p>
          <a:p>
            <a:pPr marL="342900" indent="-342900">
              <a:buFont typeface="Wingdings" panose="05000000000000000000" charset="0"/>
              <a:buChar char="q"/>
            </a:pPr>
            <a:r>
              <a:rPr lang="en-IN" altLang="en-US" sz="2400"/>
              <a:t>Using these 16 bits we can address 2^16 locations(65536)</a:t>
            </a:r>
            <a:endParaRPr lang="en-IN" altLang="en-US" sz="2400"/>
          </a:p>
          <a:p>
            <a:pPr marL="342900" indent="-342900">
              <a:buFont typeface="Wingdings" panose="05000000000000000000" charset="0"/>
              <a:buChar char="q"/>
            </a:pPr>
            <a:r>
              <a:rPr lang="en-IN" altLang="en-US" sz="2400"/>
              <a:t> </a:t>
            </a:r>
            <a:r>
              <a:rPr lang="en-IN" altLang="en-US" sz="2400">
                <a:sym typeface="+mn-ea"/>
              </a:rPr>
              <a:t>2^16 =2^6 *2^10</a:t>
            </a:r>
            <a:endParaRPr lang="en-IN" altLang="en-US" sz="2400"/>
          </a:p>
          <a:p>
            <a:pPr marL="457200" lvl="1" indent="457200">
              <a:buFont typeface="Wingdings" panose="05000000000000000000" charset="0"/>
              <a:buNone/>
            </a:pPr>
            <a:r>
              <a:rPr lang="en-IN" altLang="en-US" sz="2400">
                <a:sym typeface="+mn-ea"/>
              </a:rPr>
              <a:t>= 64 k</a:t>
            </a:r>
            <a:endParaRPr lang="en-IN" altLang="en-US" sz="2400"/>
          </a:p>
          <a:p>
            <a:pPr marL="457200" lvl="1" indent="457200">
              <a:buFont typeface="Wingdings" panose="05000000000000000000" charset="0"/>
              <a:buNone/>
            </a:pPr>
            <a:r>
              <a:rPr lang="en-IN" altLang="en-US" sz="2400">
                <a:sym typeface="+mn-ea"/>
              </a:rPr>
              <a:t>[since k=1024]</a:t>
            </a:r>
            <a:endParaRPr lang="en-IN" altLang="en-US" sz="2400"/>
          </a:p>
          <a:p>
            <a:pPr marL="342900" indent="-342900">
              <a:buFont typeface="Wingdings" panose="05000000000000000000" charset="0"/>
              <a:buChar char="q"/>
            </a:pPr>
            <a:r>
              <a:rPr lang="en-IN" altLang="en-US" sz="2400"/>
              <a:t> it can address upto 64k </a:t>
            </a:r>
            <a:endParaRPr lang="en-IN" altLang="en-US" sz="2400"/>
          </a:p>
          <a:p>
            <a:pPr indent="0">
              <a:buFont typeface="Wingdings" panose="05000000000000000000" charset="0"/>
              <a:buNone/>
            </a:pPr>
            <a:r>
              <a:rPr lang="en-IN" altLang="en-US" sz="2400"/>
              <a:t>    memory locations.</a:t>
            </a:r>
            <a:endParaRPr lang="en-IN" altLang="en-US" sz="2400"/>
          </a:p>
          <a:p>
            <a:pPr marL="342900" indent="-342900">
              <a:buFont typeface="Wingdings" panose="05000000000000000000" charset="0"/>
              <a:buChar char="q"/>
            </a:pPr>
            <a:endParaRPr lang="en-IN" altLang="en-US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1305"/>
            <a:ext cx="10515600" cy="1325563"/>
          </a:xfrm>
          <a:solidFill>
            <a:srgbClr val="FFFF00"/>
          </a:solidFill>
        </p:spPr>
        <p:txBody>
          <a:bodyPr/>
          <a:p>
            <a:r>
              <a:rPr lang="en-IN" altLang="en-US" sz="2800" b="1"/>
              <a:t>ii)Data Bus</a:t>
            </a:r>
            <a:endParaRPr lang="en-IN" altLang="en-US" sz="28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pPr>
              <a:buFont typeface="Wingdings" panose="05000000000000000000" charset="0"/>
              <a:buChar char="q"/>
            </a:pPr>
            <a:r>
              <a:rPr lang="en-IN" altLang="en-US"/>
              <a:t>It includes pins (AD7-AD0) 19-12 , where AD7 is MSB and AD0 is LSB.</a:t>
            </a:r>
            <a:endParaRPr lang="en-IN" altLang="en-US"/>
          </a:p>
          <a:p>
            <a:pPr>
              <a:buFont typeface="Wingdings" panose="05000000000000000000" charset="0"/>
              <a:buChar char="q"/>
            </a:pPr>
            <a:r>
              <a:rPr lang="en-IN" altLang="en-US"/>
              <a:t>Used for receiving 1) Program code from memory</a:t>
            </a:r>
            <a:endParaRPr lang="en-IN" altLang="en-US"/>
          </a:p>
          <a:p>
            <a:pPr marL="0" indent="0">
              <a:buFont typeface="Wingdings" panose="05000000000000000000" charset="0"/>
              <a:buNone/>
            </a:pPr>
            <a:r>
              <a:rPr lang="en-IN" altLang="en-US"/>
              <a:t>                                     2)Data byte from an input port or memory.</a:t>
            </a:r>
            <a:endParaRPr lang="en-IN" altLang="en-US"/>
          </a:p>
          <a:p>
            <a:pPr>
              <a:buFont typeface="Wingdings" panose="05000000000000000000" charset="0"/>
              <a:buChar char="q"/>
            </a:pPr>
            <a:r>
              <a:rPr lang="en-IN" altLang="en-US"/>
              <a:t>Used for sending out a data byte to an output port (or )to memory.</a:t>
            </a:r>
            <a:endParaRPr lang="en-IN" altLang="en-US"/>
          </a:p>
          <a:p>
            <a:pPr>
              <a:buFont typeface="Wingdings" panose="05000000000000000000" charset="0"/>
              <a:buChar char="q"/>
            </a:pPr>
            <a:r>
              <a:rPr lang="en-IN" altLang="en-US"/>
              <a:t>These bits can be used both as data bus and lower order bits of Address bus.</a:t>
            </a:r>
            <a:endParaRPr lang="en-IN" altLang="en-US"/>
          </a:p>
          <a:p>
            <a:pPr>
              <a:buFont typeface="Wingdings" panose="05000000000000000000" charset="0"/>
              <a:buChar char="q"/>
            </a:pPr>
            <a:endParaRPr lang="en-I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5273040" y="7353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p>
            <a:r>
              <a:rPr lang="en-IN" altLang="en-US" sz="3600"/>
              <a:t>i</a:t>
            </a:r>
            <a:r>
              <a:rPr lang="en-IN" altLang="en-US" sz="3600" b="1"/>
              <a:t>ii)Control Bus</a:t>
            </a:r>
            <a:endParaRPr lang="en-IN" altLang="en-US" sz="36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pPr marL="0" indent="0">
              <a:buNone/>
            </a:pPr>
            <a:r>
              <a:rPr lang="en-IN" altLang="en-US"/>
              <a:t>a. Memory &amp; I/O control lines:</a:t>
            </a:r>
            <a:endParaRPr lang="en-IN" altLang="en-US"/>
          </a:p>
          <a:p>
            <a:pPr marL="971550" lvl="1" indent="-514350">
              <a:buFont typeface="+mj-lt"/>
              <a:buAutoNum type="alphaUcPeriod"/>
            </a:pPr>
            <a:r>
              <a:rPr lang="en-IN" altLang="en-US" b="1"/>
              <a:t>RD’ and WR’ (31-30): </a:t>
            </a:r>
            <a:endParaRPr lang="en-IN" altLang="en-US" b="1"/>
          </a:p>
          <a:p>
            <a:pPr lvl="2">
              <a:buFont typeface="Wingdings" panose="05000000000000000000" charset="0"/>
              <a:buChar char="q"/>
            </a:pPr>
            <a:r>
              <a:rPr lang="en-IN" altLang="en-US" sz="2000"/>
              <a:t> These are active low inputs.</a:t>
            </a:r>
            <a:endParaRPr lang="en-IN" altLang="en-US" sz="2000"/>
          </a:p>
          <a:p>
            <a:pPr lvl="2">
              <a:buFont typeface="Wingdings" panose="05000000000000000000" charset="0"/>
              <a:buChar char="q"/>
            </a:pPr>
            <a:r>
              <a:rPr lang="en-US" altLang="en-US" sz="2000"/>
              <a:t>These signals are outputs from the 8085 microprocessor and are sent to memory or I/O devices to control data transfer operations.</a:t>
            </a:r>
            <a:endParaRPr lang="en-US" altLang="en-US" sz="2000"/>
          </a:p>
          <a:p>
            <a:pPr lvl="2">
              <a:buFont typeface="Wingdings" panose="05000000000000000000" charset="0"/>
              <a:buChar char="q"/>
            </a:pPr>
            <a:endParaRPr lang="en-US" altLang="en-US" sz="2000"/>
          </a:p>
          <a:p>
            <a:pPr lvl="2">
              <a:buFont typeface="Wingdings" panose="05000000000000000000" charset="0"/>
              <a:buChar char="q"/>
            </a:pPr>
            <a:endParaRPr lang="en-IN" altLang="en-US"/>
          </a:p>
          <a:p>
            <a:pPr marL="914400" lvl="2" indent="457200">
              <a:buFont typeface="+mj-lt"/>
              <a:buNone/>
            </a:pPr>
            <a:r>
              <a:rPr lang="en-IN" altLang="en-US"/>
              <a:t> </a:t>
            </a:r>
            <a:endParaRPr lang="en-IN" alt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972310" y="3689350"/>
          <a:ext cx="7999730" cy="2177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565"/>
                <a:gridCol w="2141855"/>
                <a:gridCol w="4131310"/>
              </a:tblGrid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       </a:t>
                      </a:r>
                      <a:r>
                        <a:rPr lang="en-IN" altLang="en-US" sz="2800"/>
                        <a:t> </a:t>
                      </a:r>
                      <a:r>
                        <a:rPr lang="en-IN" altLang="en-US" sz="2400"/>
                        <a:t>WR’</a:t>
                      </a:r>
                      <a:endParaRPr lang="en-I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2400"/>
                        <a:t>         RD’</a:t>
                      </a:r>
                      <a:endParaRPr lang="en-I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                  </a:t>
                      </a:r>
                      <a:r>
                        <a:rPr lang="en-IN" altLang="en-US" sz="2400"/>
                        <a:t>Function</a:t>
                      </a:r>
                      <a:endParaRPr lang="en-IN" altLang="en-US" sz="2400"/>
                    </a:p>
                  </a:txBody>
                  <a:tcPr/>
                </a:tc>
              </a:tr>
              <a:tr h="4146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0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1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AD(7-0) are output pins</a:t>
                      </a:r>
                      <a:endParaRPr lang="en-IN" altLang="en-US"/>
                    </a:p>
                  </a:txBody>
                  <a:tcPr/>
                </a:tc>
              </a:tr>
              <a:tr h="4146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1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0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AD(7-0) are input pins </a:t>
                      </a:r>
                      <a:endParaRPr lang="en-IN" altLang="en-US"/>
                    </a:p>
                  </a:txBody>
                  <a:tcPr/>
                </a:tc>
              </a:tr>
              <a:tr h="4152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1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1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Internal processing</a:t>
                      </a:r>
                      <a:endParaRPr lang="en-IN" altLang="en-US"/>
                    </a:p>
                  </a:txBody>
                  <a:tcPr/>
                </a:tc>
              </a:tr>
              <a:tr h="4146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0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0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micro processor has malfunctioned</a:t>
                      </a:r>
                      <a:endParaRPr lang="en-I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r>
              <a:rPr lang="en-IN" altLang="en-US"/>
              <a:t>...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640"/>
            <a:ext cx="10515600" cy="4485640"/>
          </a:xfr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pPr marL="0" indent="0">
              <a:buNone/>
            </a:pPr>
            <a:r>
              <a:rPr lang="en-IN" altLang="en-US"/>
              <a:t>B. IO (34):</a:t>
            </a:r>
            <a:endParaRPr lang="en-IN" altLang="en-US"/>
          </a:p>
          <a:p>
            <a:pPr lvl="1">
              <a:buFont typeface="Wingdings" panose="05000000000000000000" charset="0"/>
              <a:buChar char="q"/>
            </a:pPr>
            <a:r>
              <a:rPr lang="en-IN" altLang="en-US"/>
              <a:t>A</a:t>
            </a:r>
            <a:r>
              <a:rPr lang="en-US" altLang="en-US"/>
              <a:t>n important control signal used to differentiate between I/O operations and memory operations during data transfer.</a:t>
            </a:r>
            <a:r>
              <a:rPr lang="en-IN" altLang="en-US"/>
              <a:t>(output pin)</a:t>
            </a:r>
            <a:endParaRPr lang="en-US" altLang="en-US"/>
          </a:p>
          <a:p>
            <a:pPr lvl="1">
              <a:buFont typeface="Wingdings" panose="05000000000000000000" charset="0"/>
              <a:buChar char="q"/>
            </a:pPr>
            <a:r>
              <a:rPr lang="en-US" altLang="en-US"/>
              <a:t>IO/M' = 0: Indicates a memory operation (read or write from/to memory).</a:t>
            </a:r>
            <a:endParaRPr lang="en-US" altLang="en-US"/>
          </a:p>
          <a:p>
            <a:pPr lvl="1">
              <a:buFont typeface="Wingdings" panose="05000000000000000000" charset="0"/>
              <a:buChar char="q"/>
            </a:pPr>
            <a:r>
              <a:rPr lang="en-US" altLang="en-US"/>
              <a:t>IO/M' = 1: Indicates an I/O operation (read or write from/to an I/O port).</a:t>
            </a:r>
            <a:endParaRPr lang="en-US" altLang="en-US"/>
          </a:p>
          <a:p>
            <a:pPr marL="457200" lvl="1" indent="0">
              <a:buFont typeface="Wingdings" panose="05000000000000000000" charset="0"/>
              <a:buNone/>
            </a:pPr>
            <a:endParaRPr lang="en-US" alt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525905" y="3889375"/>
          <a:ext cx="9022715" cy="2051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2720"/>
                <a:gridCol w="1659255"/>
                <a:gridCol w="1529715"/>
                <a:gridCol w="4391025"/>
              </a:tblGrid>
              <a:tr h="4102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IO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WR’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RD’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Description</a:t>
                      </a:r>
                      <a:endParaRPr lang="en-IN" altLang="en-US"/>
                    </a:p>
                  </a:txBody>
                  <a:tcPr/>
                </a:tc>
              </a:tr>
              <a:tr h="4102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0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0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1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μ</a:t>
                      </a:r>
                      <a:r>
                        <a:rPr lang="en-IN" altLang="en-US" sz="1800">
                          <a:sym typeface="+mn-ea"/>
                        </a:rPr>
                        <a:t>P writes to memory</a:t>
                      </a:r>
                      <a:endParaRPr lang="en-US"/>
                    </a:p>
                  </a:txBody>
                  <a:tcPr/>
                </a:tc>
              </a:tr>
              <a:tr h="4102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0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1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0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μ</a:t>
                      </a:r>
                      <a:r>
                        <a:rPr lang="en-IN" altLang="en-US" sz="1800">
                          <a:sym typeface="+mn-ea"/>
                        </a:rPr>
                        <a:t>P reads from memory</a:t>
                      </a:r>
                      <a:endParaRPr lang="en-US"/>
                    </a:p>
                  </a:txBody>
                  <a:tcPr/>
                </a:tc>
              </a:tr>
              <a:tr h="4102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1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0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1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μ</a:t>
                      </a:r>
                      <a:r>
                        <a:rPr lang="en-IN" altLang="en-US" sz="1800">
                          <a:sym typeface="+mn-ea"/>
                        </a:rPr>
                        <a:t>P writes to output port</a:t>
                      </a:r>
                      <a:endParaRPr lang="en-US"/>
                    </a:p>
                  </a:txBody>
                  <a:tcPr/>
                </a:tc>
              </a:tr>
              <a:tr h="4102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1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1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0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μ</a:t>
                      </a:r>
                      <a:r>
                        <a:rPr lang="en-IN" altLang="en-US" sz="1800">
                          <a:sym typeface="+mn-ea"/>
                        </a:rPr>
                        <a:t>P reads from input port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r>
              <a:rPr lang="en-IN" altLang="en-US"/>
              <a:t>...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5166995"/>
          </a:xfr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normAutofit lnSpcReduction="10000"/>
          </a:bodyPr>
          <a:p>
            <a:pPr marL="0" indent="0">
              <a:buNone/>
            </a:pPr>
            <a:r>
              <a:rPr lang="en-IN" altLang="en-US"/>
              <a:t>C. Ready (pin-35):</a:t>
            </a:r>
            <a:endParaRPr lang="en-IN" altLang="en-US"/>
          </a:p>
          <a:p>
            <a:pPr marL="914400" lvl="1" indent="-457200">
              <a:buFont typeface="Wingdings" panose="05000000000000000000" charset="0"/>
              <a:buChar char="q"/>
            </a:pPr>
            <a:r>
              <a:rPr lang="en-US" altLang="en-US" sz="2800">
                <a:sym typeface="+mn-ea"/>
              </a:rPr>
              <a:t>It is an active high input signal.</a:t>
            </a:r>
            <a:endParaRPr lang="en-US" altLang="en-US" sz="2800"/>
          </a:p>
          <a:p>
            <a:pPr marL="914400" lvl="1" indent="-457200">
              <a:buFont typeface="Wingdings" panose="05000000000000000000" charset="0"/>
              <a:buChar char="q"/>
            </a:pPr>
            <a:r>
              <a:rPr lang="en-US" altLang="en-US" sz="2800">
                <a:sym typeface="+mn-ea"/>
              </a:rPr>
              <a:t>The READY pin indicates whether a peripheral or memory is ready to perform a data transfer operation with the microprocessor.</a:t>
            </a:r>
            <a:endParaRPr lang="en-US" altLang="en-US" sz="2800"/>
          </a:p>
          <a:p>
            <a:pPr marL="914400" lvl="1" indent="-457200">
              <a:buFont typeface="Wingdings" panose="05000000000000000000" charset="0"/>
              <a:buChar char="q"/>
            </a:pPr>
            <a:r>
              <a:rPr lang="en-US" altLang="en-US" sz="2800">
                <a:sym typeface="+mn-ea"/>
              </a:rPr>
              <a:t>READY = 1: The peripheral or memory is ready, and the microprocessor proceeds with the operation (e.g., read or write).</a:t>
            </a:r>
            <a:endParaRPr lang="en-US" altLang="en-US" sz="2800"/>
          </a:p>
          <a:p>
            <a:pPr marL="914400" lvl="1" indent="-457200">
              <a:buFont typeface="Wingdings" panose="05000000000000000000" charset="0"/>
              <a:buChar char="q"/>
            </a:pPr>
            <a:r>
              <a:rPr lang="en-US" altLang="en-US" sz="2800">
                <a:sym typeface="+mn-ea"/>
              </a:rPr>
              <a:t>READY = 0: The peripheral or memory is not ready, and the microprocessor enters a wait state until the READY signal becomes high.</a:t>
            </a:r>
            <a:endParaRPr lang="en-US" altLang="en-US" sz="2800">
              <a:sym typeface="+mn-ea"/>
            </a:endParaRPr>
          </a:p>
          <a:p>
            <a:pPr marL="457200" lvl="1" indent="0">
              <a:buFont typeface="Wingdings" panose="05000000000000000000" charset="0"/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/>
              <a:t>D. ALE(Address Latch Enable) -pin 32:</a:t>
            </a:r>
            <a:endParaRPr lang="en-IN" altLang="en-US"/>
          </a:p>
          <a:p>
            <a:pPr lvl="1">
              <a:buFont typeface="Wingdings" panose="05000000000000000000" charset="0"/>
              <a:buChar char="q"/>
            </a:pPr>
            <a:r>
              <a:rPr lang="en-US" altLang="en-US" sz="2800"/>
              <a:t>ALE is an active high output signal.</a:t>
            </a:r>
            <a:endParaRPr lang="en-US" altLang="en-US" sz="2800"/>
          </a:p>
          <a:p>
            <a:pPr marL="457200" lvl="1" indent="0">
              <a:buFont typeface="Wingdings" panose="05000000000000000000" charset="0"/>
              <a:buNone/>
            </a:pPr>
            <a:endParaRPr lang="en-US" altLang="en-US"/>
          </a:p>
          <a:p>
            <a:pPr lvl="1">
              <a:buFont typeface="Wingdings" panose="05000000000000000000" charset="0"/>
              <a:buChar char="q"/>
            </a:pPr>
            <a:endParaRPr lang="en-I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r>
              <a:rPr lang="en-IN" altLang="en-US"/>
              <a:t>...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640"/>
            <a:ext cx="10515600" cy="4485640"/>
          </a:xfr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pPr lvl="1">
              <a:buFont typeface="Wingdings" panose="05000000000000000000" charset="0"/>
              <a:buChar char="q"/>
            </a:pPr>
            <a:r>
              <a:rPr lang="en-US" altLang="en-US"/>
              <a:t>ALE = </a:t>
            </a:r>
            <a:r>
              <a:rPr lang="en-IN" altLang="en-US"/>
              <a:t>1</a:t>
            </a:r>
            <a:r>
              <a:rPr lang="en-US" altLang="en-US"/>
              <a:t>: The lower 8 bits of the address (AD0-AD7) are available on the multiplexed bus, and external latches (e.g., 74LS373) capture this address.</a:t>
            </a:r>
            <a:endParaRPr lang="en-US" altLang="en-US"/>
          </a:p>
          <a:p>
            <a:pPr lvl="1">
              <a:buFont typeface="Wingdings" panose="05000000000000000000" charset="0"/>
              <a:buChar char="q"/>
            </a:pPr>
            <a:r>
              <a:rPr lang="en-US" altLang="en-US"/>
              <a:t>ALE = Low: The bus switches to data mode (for data read/write operations).</a:t>
            </a:r>
            <a:endParaRPr lang="en-US" altLang="en-US"/>
          </a:p>
          <a:p>
            <a:pPr marL="0" indent="0">
              <a:buFont typeface="Wingdings" panose="05000000000000000000" charset="0"/>
              <a:buNone/>
            </a:pPr>
            <a:r>
              <a:rPr lang="en-IN" altLang="en-US"/>
              <a:t>E.  S0 &amp; S1(29,33-Pins):</a:t>
            </a:r>
            <a:endParaRPr lang="en-IN" altLang="en-US"/>
          </a:p>
          <a:p>
            <a:pPr lvl="1">
              <a:buFont typeface="Wingdings" panose="05000000000000000000" charset="0"/>
              <a:buChar char="q"/>
            </a:pPr>
            <a:r>
              <a:rPr lang="en-US" altLang="en-US"/>
              <a:t>status pins are used to indicate various conditions of the microprocessor, such as whether the microprocessor is executing a particular instruction, or if certain operations are being performed.</a:t>
            </a:r>
            <a:endParaRPr lang="en-US" altLang="en-US"/>
          </a:p>
          <a:p>
            <a:pPr lvl="1">
              <a:buFont typeface="Wingdings" panose="05000000000000000000" charset="0"/>
              <a:buChar char="q"/>
            </a:pPr>
            <a:r>
              <a:rPr lang="en-US" altLang="en-US"/>
              <a:t> These pins provide useful signals to external components (like memory, I/O devices, etc.) to help synchronize operations with the microprocessor.</a:t>
            </a:r>
            <a:endParaRPr lang="en-US" altLang="en-US"/>
          </a:p>
          <a:p>
            <a:pPr marL="0" indent="457200">
              <a:buFont typeface="Wingdings" panose="05000000000000000000" charset="0"/>
              <a:buNone/>
            </a:pPr>
            <a:endParaRPr lang="en-I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r>
              <a:rPr lang="en-IN" altLang="en-US"/>
              <a:t>...</a:t>
            </a:r>
            <a:endParaRPr lang="en-IN" alt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1"/>
            </p:custDataLst>
          </p:nvPr>
        </p:nvGraphicFramePr>
        <p:xfrm>
          <a:off x="838200" y="1691005"/>
          <a:ext cx="1050163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3335"/>
                <a:gridCol w="2553335"/>
                <a:gridCol w="2553335"/>
                <a:gridCol w="284162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IO</a:t>
                      </a:r>
                      <a:endParaRPr lang="en-I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S1</a:t>
                      </a:r>
                      <a:endParaRPr lang="en-I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S0</a:t>
                      </a:r>
                      <a:endParaRPr lang="en-I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FUNCTION</a:t>
                      </a:r>
                      <a:endParaRPr lang="en-IN" altLang="en-US"/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0</a:t>
                      </a:r>
                      <a:endParaRPr lang="en-I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1</a:t>
                      </a:r>
                      <a:endParaRPr lang="en-I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1</a:t>
                      </a:r>
                      <a:endParaRPr lang="en-I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OPCODE FETCH</a:t>
                      </a:r>
                      <a:endParaRPr lang="en-IN" altLang="en-US"/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0</a:t>
                      </a:r>
                      <a:endParaRPr lang="en-I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1</a:t>
                      </a:r>
                      <a:endParaRPr lang="en-I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0</a:t>
                      </a:r>
                      <a:endParaRPr lang="en-I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Memory read</a:t>
                      </a:r>
                      <a:endParaRPr lang="en-IN" altLang="en-US"/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0</a:t>
                      </a:r>
                      <a:endParaRPr lang="en-I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0</a:t>
                      </a:r>
                      <a:endParaRPr lang="en-I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1</a:t>
                      </a:r>
                      <a:endParaRPr lang="en-I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Memory write</a:t>
                      </a:r>
                      <a:endParaRPr lang="en-IN" altLang="en-US"/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1</a:t>
                      </a:r>
                      <a:endParaRPr lang="en-I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1</a:t>
                      </a:r>
                      <a:endParaRPr lang="en-I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0</a:t>
                      </a:r>
                      <a:endParaRPr lang="en-I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I/O read</a:t>
                      </a:r>
                      <a:endParaRPr lang="en-IN" altLang="en-US"/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1</a:t>
                      </a:r>
                      <a:endParaRPr lang="en-I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0</a:t>
                      </a:r>
                      <a:endParaRPr lang="en-I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1</a:t>
                      </a:r>
                      <a:endParaRPr lang="en-I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I/0 write</a:t>
                      </a:r>
                      <a:endParaRPr lang="en-IN" altLang="en-US"/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1</a:t>
                      </a:r>
                      <a:endParaRPr lang="en-I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1</a:t>
                      </a:r>
                      <a:endParaRPr lang="en-I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1</a:t>
                      </a:r>
                      <a:endParaRPr lang="en-I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Interrupt acknowledge</a:t>
                      </a:r>
                      <a:endParaRPr lang="en-IN" altLang="en-US"/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0</a:t>
                      </a:r>
                      <a:endParaRPr lang="en-I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0</a:t>
                      </a:r>
                      <a:endParaRPr lang="en-I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0</a:t>
                      </a:r>
                      <a:endParaRPr lang="en-I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μ</a:t>
                      </a:r>
                      <a:r>
                        <a:rPr lang="en-IN" altLang="en-US" sz="1800">
                          <a:sym typeface="+mn-ea"/>
                        </a:rPr>
                        <a:t>P becomes hot</a:t>
                      </a:r>
                      <a:endParaRPr lang="en-IN" altLang="en-US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p>
            <a:r>
              <a:rPr lang="en-IN" altLang="en-US" sz="3600"/>
              <a:t>b)CPU &amp;bus control lines</a:t>
            </a:r>
            <a:endParaRPr lang="en-IN" alt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5"/>
          </a:xfr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IN" altLang="en-US"/>
              <a:t>A. (reset in)’ and (reset out) -pins 36,3</a:t>
            </a:r>
            <a:endParaRPr lang="en-IN" altLang="en-US"/>
          </a:p>
          <a:p>
            <a:pPr lvl="1">
              <a:buFont typeface="Wingdings" panose="05000000000000000000" charset="0"/>
              <a:buChar char="q"/>
            </a:pPr>
            <a:r>
              <a:rPr lang="en-IN" altLang="en-US" sz="2800">
                <a:sym typeface="+mn-ea"/>
              </a:rPr>
              <a:t>reset out is an output pin used to reset peripherals connected to microprocessor.</a:t>
            </a:r>
            <a:endParaRPr lang="en-IN" altLang="en-US" sz="2800"/>
          </a:p>
          <a:p>
            <a:pPr lvl="1">
              <a:buFont typeface="Wingdings" panose="05000000000000000000" charset="0"/>
              <a:buChar char="q"/>
            </a:pPr>
            <a:r>
              <a:rPr lang="en-IN" altLang="en-US" sz="2800">
                <a:sym typeface="+mn-ea"/>
              </a:rPr>
              <a:t>(reset in)’ is an active low input pin , it sets pc&lt;--0 and clear the buses.</a:t>
            </a:r>
            <a:endParaRPr lang="en-IN" altLang="en-US" sz="2800"/>
          </a:p>
          <a:p>
            <a:pPr marL="0" indent="45720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/>
              <a:t>B.Interrupt lines:</a:t>
            </a:r>
            <a:endParaRPr lang="en-IN" altLang="en-US"/>
          </a:p>
          <a:p>
            <a:pPr marL="0" indent="457200">
              <a:buNone/>
            </a:pPr>
            <a:r>
              <a:rPr lang="en-IN" altLang="en-US"/>
              <a:t>i.TRAP- pin 6</a:t>
            </a:r>
            <a:endParaRPr lang="en-IN" altLang="en-US"/>
          </a:p>
          <a:p>
            <a:pPr marL="800100" lvl="1" indent="-342900">
              <a:buFont typeface="Wingdings" panose="05000000000000000000" charset="0"/>
              <a:buChar char="q"/>
            </a:pPr>
            <a:r>
              <a:rPr lang="en-IN" altLang="en-US"/>
              <a:t>Non-maskable interrupt.(</a:t>
            </a:r>
            <a:r>
              <a:rPr lang="en-US" altLang="en-US"/>
              <a:t>Power failure detection</a:t>
            </a:r>
            <a:r>
              <a:rPr lang="en-IN" altLang="en-US"/>
              <a:t>,</a:t>
            </a:r>
            <a:r>
              <a:rPr lang="en-US" altLang="en-US">
                <a:sym typeface="+mn-ea"/>
              </a:rPr>
              <a:t>Emergency shutdown systems</a:t>
            </a:r>
            <a:r>
              <a:rPr lang="en-IN" altLang="en-US">
                <a:sym typeface="+mn-ea"/>
              </a:rPr>
              <a:t>,</a:t>
            </a:r>
            <a:r>
              <a:rPr lang="en-US" altLang="en-US">
                <a:sym typeface="+mn-ea"/>
              </a:rPr>
              <a:t>Protection against critical hardware faults.</a:t>
            </a:r>
            <a:r>
              <a:rPr lang="en-IN" altLang="en-US">
                <a:sym typeface="+mn-ea"/>
              </a:rPr>
              <a:t>)</a:t>
            </a:r>
            <a:endParaRPr lang="en-US" altLang="en-US"/>
          </a:p>
          <a:p>
            <a:pPr marL="800100" lvl="1" indent="-342900">
              <a:buFont typeface="Wingdings" panose="05000000000000000000" charset="0"/>
              <a:buChar char="q"/>
            </a:pPr>
            <a:r>
              <a:rPr lang="en-IN" altLang="en-US"/>
              <a:t>Highest priority among all the interrupt pins.</a:t>
            </a:r>
            <a:endParaRPr lang="en-IN" altLang="en-US"/>
          </a:p>
          <a:p>
            <a:pPr marL="800100" lvl="1" indent="-342900">
              <a:buFont typeface="Wingdings" panose="05000000000000000000" charset="0"/>
              <a:buChar char="q"/>
            </a:pPr>
            <a:r>
              <a:rPr lang="en-US" altLang="en-US"/>
              <a:t>A vector address is a specific memory location associated with a particular interrupt. When an interrupt is triggered, the microprocessor automatically transfers control to this address to execute the ISR. </a:t>
            </a:r>
            <a:endParaRPr lang="en-US" altLang="en-US"/>
          </a:p>
          <a:p>
            <a:pPr marL="800100" lvl="1" indent="-342900">
              <a:buFont typeface="Wingdings" panose="05000000000000000000" charset="0"/>
              <a:buChar char="q"/>
            </a:pPr>
            <a:r>
              <a:rPr lang="en-IN" altLang="en-US"/>
              <a:t>vector  address is 0024H, interrupt number is 3.</a:t>
            </a:r>
            <a:endParaRPr lang="en-I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pPr marL="0" indent="0">
              <a:buFont typeface="Arial" panose="020B0604020202020204" pitchFamily="34" charset="0"/>
            </a:pPr>
            <a:r>
              <a:rPr lang="en-IN" altLang="en-US"/>
              <a:t>...</a:t>
            </a:r>
            <a:endParaRPr lang="en-IN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838200" y="1628775"/>
            <a:ext cx="10515600" cy="522922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p>
            <a:pPr marL="0" indent="0">
              <a:buNone/>
            </a:pPr>
            <a:r>
              <a:rPr lang="en-IN" altLang="en-US" sz="2400">
                <a:sym typeface="+mn-ea"/>
              </a:rPr>
              <a:t>ii)RST 7.5, 6.5,5.5:(Pins 7-9)</a:t>
            </a:r>
            <a:endParaRPr lang="en-IN" altLang="en-US" sz="2400"/>
          </a:p>
          <a:p>
            <a:pPr lvl="1">
              <a:buFont typeface="Wingdings" panose="05000000000000000000" charset="0"/>
              <a:buChar char="v"/>
            </a:pPr>
            <a:r>
              <a:rPr lang="en-IN" altLang="en-US" sz="2400">
                <a:sym typeface="+mn-ea"/>
              </a:rPr>
              <a:t>Maskable interrupts.</a:t>
            </a:r>
            <a:endParaRPr lang="en-IN" altLang="en-US" sz="2400"/>
          </a:p>
          <a:p>
            <a:pPr lvl="1">
              <a:buFont typeface="Wingdings" panose="05000000000000000000" charset="0"/>
              <a:buChar char="v"/>
            </a:pPr>
            <a:r>
              <a:rPr lang="en-IN" altLang="en-US" sz="2400">
                <a:sym typeface="+mn-ea"/>
              </a:rPr>
              <a:t>RST-restart, cuz instruction will restart if interruption has finished,</a:t>
            </a:r>
            <a:endParaRPr lang="en-IN" altLang="en-US" sz="2400"/>
          </a:p>
          <a:p>
            <a:pPr lvl="1">
              <a:buFont typeface="Wingdings" panose="05000000000000000000" charset="0"/>
              <a:buChar char="v"/>
            </a:pPr>
            <a:r>
              <a:rPr lang="en-IN" altLang="en-US" sz="2400">
                <a:sym typeface="+mn-ea"/>
              </a:rPr>
              <a:t>vector address:</a:t>
            </a:r>
            <a:r>
              <a:rPr lang="en-IN" altLang="en-US" sz="2400">
                <a:sym typeface="+mn-ea"/>
              </a:rPr>
              <a:t> RST 7.5--&gt; 7.5*8=60= 003CH</a:t>
            </a:r>
            <a:endParaRPr lang="en-IN" altLang="en-US" sz="2400"/>
          </a:p>
          <a:p>
            <a:pPr marL="2743200" lvl="6" indent="0">
              <a:buFont typeface="Wingdings" panose="05000000000000000000" charset="0"/>
              <a:buNone/>
            </a:pPr>
            <a:r>
              <a:rPr lang="en-IN" altLang="en-US" sz="2400">
                <a:sym typeface="+mn-ea"/>
              </a:rPr>
              <a:t>RST 6.5 --&gt; 6.5 * 8=52= 0034H</a:t>
            </a:r>
            <a:endParaRPr lang="en-IN" altLang="en-US" sz="2400"/>
          </a:p>
          <a:p>
            <a:pPr marL="2743200" lvl="6" indent="0">
              <a:buFont typeface="Wingdings" panose="05000000000000000000" charset="0"/>
              <a:buNone/>
            </a:pPr>
            <a:r>
              <a:rPr lang="en-IN" altLang="en-US" sz="2400">
                <a:sym typeface="+mn-ea"/>
              </a:rPr>
              <a:t>RST 5.5 --&gt; 5.5*8=44=002CH</a:t>
            </a:r>
            <a:endParaRPr lang="en-IN" altLang="en-US"/>
          </a:p>
          <a:p>
            <a:pPr lvl="1">
              <a:buFont typeface="Wingdings" panose="05000000000000000000" charset="0"/>
              <a:buChar char="v"/>
            </a:pPr>
            <a:r>
              <a:rPr lang="en-IN" altLang="en-US" sz="2400">
                <a:sym typeface="+mn-ea"/>
              </a:rPr>
              <a:t>EXAMPLE:When a maskable interrupt occur in </a:t>
            </a:r>
            <a:endParaRPr lang="en-IN" altLang="en-US" sz="2400">
              <a:sym typeface="+mn-ea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en-IN" altLang="en-US" sz="2400"/>
              <a:t>    execution of main program, RST 7.5 is activated and </a:t>
            </a:r>
            <a:endParaRPr lang="en-IN" altLang="en-US" sz="2400"/>
          </a:p>
          <a:p>
            <a:pPr lvl="1" indent="0">
              <a:buFont typeface="Wingdings" panose="05000000000000000000" charset="0"/>
              <a:buNone/>
            </a:pPr>
            <a:r>
              <a:rPr lang="en-IN" altLang="en-US" sz="2400"/>
              <a:t>   calculates its vector address and using jump    </a:t>
            </a:r>
            <a:endParaRPr lang="en-IN" altLang="en-US" sz="2400"/>
          </a:p>
          <a:p>
            <a:pPr lvl="1" indent="0">
              <a:buFont typeface="Wingdings" panose="05000000000000000000" charset="0"/>
              <a:buNone/>
            </a:pPr>
            <a:r>
              <a:rPr lang="en-IN" altLang="en-US" sz="2400"/>
              <a:t>statement it moved to 16 bit address ,where code for </a:t>
            </a:r>
            <a:endParaRPr lang="en-IN" altLang="en-US" sz="2400"/>
          </a:p>
          <a:p>
            <a:pPr lvl="1" indent="0">
              <a:buFont typeface="Wingdings" panose="05000000000000000000" charset="0"/>
              <a:buNone/>
            </a:pPr>
            <a:r>
              <a:rPr lang="en-IN" altLang="en-US" sz="2400"/>
              <a:t>interrupt handling is located.Once interruption is</a:t>
            </a:r>
            <a:endParaRPr lang="en-IN" altLang="en-US" sz="2400"/>
          </a:p>
          <a:p>
            <a:pPr lvl="1" indent="0">
              <a:buFont typeface="Wingdings" panose="05000000000000000000" charset="0"/>
              <a:buNone/>
            </a:pPr>
            <a:r>
              <a:rPr lang="en-IN" altLang="en-US" sz="2400"/>
              <a:t> handled, it returns.</a:t>
            </a:r>
            <a:endParaRPr lang="en-IN" altLang="en-US" sz="2400"/>
          </a:p>
          <a:p>
            <a:pPr lvl="1" indent="0">
              <a:buFont typeface="Wingdings" panose="05000000000000000000" charset="0"/>
              <a:buNone/>
            </a:pPr>
            <a:r>
              <a:rPr lang="en-IN" altLang="en-US" sz="2400"/>
              <a:t>    </a:t>
            </a:r>
            <a:endParaRPr lang="en-IN" altLang="en-US" sz="2400"/>
          </a:p>
          <a:p>
            <a:pPr lvl="1">
              <a:buFont typeface="Wingdings" panose="05000000000000000000" charset="0"/>
              <a:buChar char="v"/>
            </a:pPr>
            <a:endParaRPr lang="en-IN" altLang="en-US" sz="2400"/>
          </a:p>
        </p:txBody>
      </p:sp>
      <p:pic>
        <p:nvPicPr>
          <p:cNvPr id="4" name="Content Placeholder 3" descr="Screenshot 2025-01-21 072453"/>
          <p:cNvPicPr>
            <a:picLocks noChangeAspect="1"/>
          </p:cNvPicPr>
          <p:nvPr>
            <p:ph idx="1"/>
          </p:nvPr>
        </p:nvPicPr>
        <p:blipFill>
          <a:blip r:embed="rId1"/>
          <a:srcRect l="54207" t="15367" r="5" b="985"/>
          <a:stretch>
            <a:fillRect/>
          </a:stretch>
        </p:blipFill>
        <p:spPr>
          <a:xfrm>
            <a:off x="8375015" y="3567430"/>
            <a:ext cx="2978785" cy="329057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r>
              <a:rPr lang="en-IN" altLang="en-US"/>
              <a:t>...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640"/>
            <a:ext cx="10515600" cy="5019675"/>
          </a:xfr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IN" altLang="en-US"/>
              <a:t>iii)INTR (interrupt request) pin-10:</a:t>
            </a:r>
            <a:endParaRPr lang="en-IN" altLang="en-US"/>
          </a:p>
          <a:p>
            <a:pPr lvl="1">
              <a:buFont typeface="Wingdings" panose="05000000000000000000" charset="0"/>
              <a:buChar char="q"/>
            </a:pPr>
            <a:r>
              <a:rPr lang="en-IN" altLang="en-US">
                <a:sym typeface="+mn-ea"/>
              </a:rPr>
              <a:t>maskable interrupt. </a:t>
            </a:r>
            <a:endParaRPr lang="en-IN" altLang="en-US"/>
          </a:p>
          <a:p>
            <a:pPr lvl="1">
              <a:buFont typeface="Wingdings" panose="05000000000000000000" charset="0"/>
              <a:buChar char="q"/>
            </a:pPr>
            <a:r>
              <a:rPr lang="en-IN" altLang="en-US">
                <a:sym typeface="+mn-ea"/>
              </a:rPr>
              <a:t>Lowest priority pin among all the interrupt pins.</a:t>
            </a:r>
            <a:endParaRPr lang="en-IN" altLang="en-US"/>
          </a:p>
          <a:p>
            <a:pPr lvl="1">
              <a:buFont typeface="Wingdings" panose="05000000000000000000" charset="0"/>
              <a:buChar char="q"/>
            </a:pPr>
            <a:r>
              <a:rPr lang="en-US" altLang="en-US">
                <a:sym typeface="+mn-ea"/>
              </a:rPr>
              <a:t>The microprocessor acknowledges the interrupt request by sending an Interrupt Acknowledge (INTA) signal.</a:t>
            </a:r>
            <a:endParaRPr lang="en-US" altLang="en-US"/>
          </a:p>
          <a:p>
            <a:pPr lvl="1">
              <a:buFont typeface="Wingdings" panose="05000000000000000000" charset="0"/>
              <a:buChar char="q"/>
            </a:pPr>
            <a:r>
              <a:rPr lang="en-US" altLang="en-US">
                <a:sym typeface="+mn-ea"/>
              </a:rPr>
              <a:t>This signal informs the external device that the microprocessor is ready to handle the interrupt.</a:t>
            </a:r>
            <a:endParaRPr lang="en-IN" altLang="en-US"/>
          </a:p>
          <a:p>
            <a:pPr marL="0" indent="0">
              <a:buNone/>
            </a:pPr>
            <a:r>
              <a:rPr lang="en-IN" altLang="en-US"/>
              <a:t>iv)INTA’ (interrupt acknowledge) pin 11:</a:t>
            </a:r>
            <a:endParaRPr lang="en-IN" altLang="en-US"/>
          </a:p>
          <a:p>
            <a:pPr lvl="1">
              <a:buFont typeface="Wingdings" panose="05000000000000000000" charset="0"/>
              <a:buChar char="q"/>
            </a:pPr>
            <a:r>
              <a:rPr lang="en-US" altLang="en-US"/>
              <a:t>An external device sends an interrupt request through the INTR pin.</a:t>
            </a:r>
            <a:endParaRPr lang="en-US" altLang="en-US"/>
          </a:p>
          <a:p>
            <a:pPr lvl="1">
              <a:buFont typeface="Wingdings" panose="05000000000000000000" charset="0"/>
              <a:buChar char="q"/>
            </a:pPr>
            <a:r>
              <a:rPr lang="en-US" altLang="en-US"/>
              <a:t>If interrupts are enabled and the microprocessor is ready, it responds by activating the INTA signal during the next machine cycle</a:t>
            </a:r>
            <a:endParaRPr lang="en-US" altLang="en-US"/>
          </a:p>
          <a:p>
            <a:pPr lvl="1">
              <a:buFont typeface="Wingdings" panose="05000000000000000000" charset="0"/>
              <a:buChar char="q"/>
            </a:pPr>
            <a:r>
              <a:rPr lang="en-US" altLang="en-US"/>
              <a:t>The external device, upon receiving the INTA signal, places the corresponding RST instruction (Restart instruction) on the data bus.</a:t>
            </a:r>
            <a:endParaRPr lang="en-US" altLang="en-US"/>
          </a:p>
          <a:p>
            <a:pPr lvl="1">
              <a:buFont typeface="Wingdings" panose="05000000000000000000" charset="0"/>
              <a:buChar char="q"/>
            </a:pPr>
            <a:r>
              <a:rPr lang="en-US" altLang="en-US"/>
              <a:t>This instruction determines the vector address for the Interrupt Service Routine (ISR).</a:t>
            </a:r>
            <a:endParaRPr lang="en-US" altLang="en-US"/>
          </a:p>
          <a:p>
            <a:pPr lvl="1">
              <a:buFont typeface="Wingdings" panose="05000000000000000000" charset="0"/>
              <a:buChar char="q"/>
            </a:pPr>
            <a:r>
              <a:rPr lang="en-US" altLang="en-US"/>
              <a:t>The microprocessor reads the RST instruction, jumps to the appropriate vector address, and begins executing the ISR.</a:t>
            </a:r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r>
              <a:rPr lang="en-IN" altLang="en-US"/>
              <a:t>...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486275"/>
          </a:xfr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pPr marL="0" indent="0">
              <a:buNone/>
            </a:pPr>
            <a:r>
              <a:rPr lang="en-IN" altLang="en-US"/>
              <a:t>C. DMA Signals:(38,39 pins)</a:t>
            </a:r>
            <a:endParaRPr lang="en-IN" altLang="en-US"/>
          </a:p>
          <a:p>
            <a:pPr marL="457200" lvl="1" indent="0">
              <a:buFont typeface="Wingdings" panose="05000000000000000000" charset="0"/>
              <a:buNone/>
            </a:pPr>
            <a:r>
              <a:rPr lang="en-IN" altLang="en-US"/>
              <a:t>i)</a:t>
            </a:r>
            <a:r>
              <a:rPr lang="en-IN" altLang="en-US" b="1"/>
              <a:t>Hold:</a:t>
            </a:r>
            <a:r>
              <a:rPr lang="en-US" altLang="en-US"/>
              <a:t>The HOLD pin in the 8085 microprocessor is an input pin that allows external devices to gain control of the system buses (address bus, data bus, and control bus).</a:t>
            </a:r>
            <a:endParaRPr lang="en-US" altLang="en-US"/>
          </a:p>
          <a:p>
            <a:pPr marL="457200" lvl="1" indent="0">
              <a:buFont typeface="Wingdings" panose="05000000000000000000" charset="0"/>
              <a:buNone/>
            </a:pPr>
            <a:r>
              <a:rPr lang="en-IN" altLang="en-US"/>
              <a:t>ii)</a:t>
            </a:r>
            <a:r>
              <a:rPr lang="en-IN" altLang="en-US" b="1"/>
              <a:t>HLDA:</a:t>
            </a:r>
            <a:r>
              <a:rPr lang="en-US" altLang="en-US"/>
              <a:t>The HLDA (Hold Acknowledge) pin in the 8085 microprocessor is an output pin used to indicate that the microprocessor has acknowledged a bus request made through the HOLD pin and has relinquished control of the system buses (address, data, and control buses).</a:t>
            </a:r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p>
            <a:r>
              <a:rPr lang="en-IN" altLang="en-US"/>
              <a:t>c)Utility control lines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pPr marL="0" indent="0">
              <a:buNone/>
            </a:pPr>
            <a:r>
              <a:rPr lang="en-IN" altLang="en-US"/>
              <a:t>i. VCC and VSS Pins(40,20):</a:t>
            </a:r>
            <a:endParaRPr lang="en-IN" altLang="en-US"/>
          </a:p>
          <a:p>
            <a:pPr lvl="1">
              <a:buFont typeface="Wingdings" panose="05000000000000000000" charset="0"/>
              <a:buChar char="q"/>
            </a:pPr>
            <a:r>
              <a:rPr lang="en-IN" altLang="en-US" sz="2800">
                <a:sym typeface="+mn-ea"/>
              </a:rPr>
              <a:t>vcc --&gt; +5V DC</a:t>
            </a:r>
            <a:endParaRPr lang="en-IN" altLang="en-US" sz="2800"/>
          </a:p>
          <a:p>
            <a:pPr lvl="1">
              <a:buFont typeface="Wingdings" panose="05000000000000000000" charset="0"/>
              <a:buChar char="q"/>
            </a:pPr>
            <a:r>
              <a:rPr lang="en-IN" altLang="en-US" sz="2800">
                <a:sym typeface="+mn-ea"/>
              </a:rPr>
              <a:t>vss--&gt; ground</a:t>
            </a:r>
            <a:endParaRPr lang="en-IN" altLang="en-US"/>
          </a:p>
          <a:p>
            <a:pPr marL="0" indent="0">
              <a:buNone/>
            </a:pPr>
            <a:r>
              <a:rPr lang="en-IN" altLang="en-US"/>
              <a:t>ii.x1 &amp;x2, CLK out pins(1,2,37):</a:t>
            </a:r>
            <a:endParaRPr lang="en-IN" altLang="en-US"/>
          </a:p>
          <a:p>
            <a:pPr marL="742950" lvl="1" indent="-285750">
              <a:buFont typeface="Wingdings" panose="05000000000000000000" charset="0"/>
              <a:buChar char="q"/>
            </a:pPr>
            <a:r>
              <a:rPr lang="en-IN" altLang="en-US"/>
              <a:t>x1,x2 are clock input signals responsible for operating frequency of microprocessor.</a:t>
            </a:r>
            <a:endParaRPr lang="en-IN" altLang="en-US"/>
          </a:p>
          <a:p>
            <a:pPr marL="742950" lvl="1" indent="-285750">
              <a:buFont typeface="Wingdings" panose="05000000000000000000" charset="0"/>
              <a:buChar char="q"/>
            </a:pPr>
            <a:r>
              <a:rPr lang="en-IN" altLang="en-US"/>
              <a:t>through x1,+5v is applied and is resonates the quartz whose natural frequency is 6MHz and outputs 3MHz and this is input to our micro processor.</a:t>
            </a:r>
            <a:endParaRPr lang="en-IN" altLang="en-US"/>
          </a:p>
          <a:p>
            <a:pPr marL="742950" lvl="1" indent="-285750">
              <a:buFont typeface="Wingdings" panose="05000000000000000000" charset="0"/>
              <a:buChar char="q"/>
            </a:pPr>
            <a:r>
              <a:rPr lang="en-IN" altLang="en-US"/>
              <a:t>clk out provides a timing reference for various components.</a:t>
            </a:r>
            <a:endParaRPr lang="en-IN" altLang="en-US"/>
          </a:p>
          <a:p>
            <a:pPr lvl="1">
              <a:buFont typeface="Wingdings" panose="05000000000000000000" charset="0"/>
              <a:buChar char="q"/>
            </a:pPr>
            <a:endParaRPr lang="en-IN" altLang="en-US" sz="2400"/>
          </a:p>
          <a:p>
            <a:pPr lvl="1">
              <a:buFont typeface="Wingdings" panose="05000000000000000000" charset="0"/>
              <a:buChar char="q"/>
            </a:pPr>
            <a:endParaRPr lang="en-IN" altLang="en-US"/>
          </a:p>
          <a:p>
            <a:pPr marL="457200" lvl="1" indent="0">
              <a:buFont typeface="Wingdings" panose="05000000000000000000" charset="0"/>
              <a:buNone/>
            </a:pPr>
            <a:endParaRPr lang="en-I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p>
            <a:r>
              <a:rPr lang="en-IN" altLang="en-US"/>
              <a:t>data transfer between processor and memory</a:t>
            </a:r>
            <a:endParaRPr lang="en-IN" altLang="en-US"/>
          </a:p>
        </p:txBody>
      </p:sp>
      <p:pic>
        <p:nvPicPr>
          <p:cNvPr id="4" name="Content Placeholder 3" descr="Screenshot 2025-01-21 08523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08175" y="1660525"/>
            <a:ext cx="8549005" cy="47783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2025-01-21 08545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51535" y="625475"/>
            <a:ext cx="10502265" cy="58394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2025-01-21 08574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594995"/>
            <a:ext cx="10279380" cy="586613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thank_you_page_slide_37833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8*406"/>
  <p:tag name="TABLE_ENDDRAG_RECT" val="66*133*828*406"/>
</p:tagLst>
</file>

<file path=ppt/tags/tag2.xml><?xml version="1.0" encoding="utf-8"?>
<p:tagLst xmlns:p="http://schemas.openxmlformats.org/presentationml/2006/main">
  <p:tag name="TABLE_ENDDRAG_ORIGIN_RECT" val="629*164"/>
  <p:tag name="TABLE_ENDDRAG_RECT" val="155*290*629*164"/>
</p:tagLst>
</file>

<file path=ppt/tags/tag3.xml><?xml version="1.0" encoding="utf-8"?>
<p:tagLst xmlns:p="http://schemas.openxmlformats.org/presentationml/2006/main">
  <p:tag name="TABLE_ENDDRAG_ORIGIN_RECT" val="710*161"/>
  <p:tag name="TABLE_ENDDRAG_RECT" val="120*306*710*161"/>
</p:tagLst>
</file>

<file path=ppt/tags/tag4.xml><?xml version="1.0" encoding="utf-8"?>
<p:tagLst xmlns:p="http://schemas.openxmlformats.org/presentationml/2006/main">
  <p:tag name="TABLE_ENDDRAG_ORIGIN_RECT" val="804*206"/>
  <p:tag name="TABLE_ENDDRAG_RECT" val="66*133*804*20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9675</Words>
  <Application>WPS Presentation</Application>
  <PresentationFormat>Widescreen</PresentationFormat>
  <Paragraphs>411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Arial</vt:lpstr>
      <vt:lpstr>SimSun</vt:lpstr>
      <vt:lpstr>Wingdings</vt:lpstr>
      <vt:lpstr>Wingdings</vt:lpstr>
      <vt:lpstr>Calibri Light</vt:lpstr>
      <vt:lpstr>Calibri</vt:lpstr>
      <vt:lpstr>Microsoft YaHei</vt:lpstr>
      <vt:lpstr>Arial Unicode MS</vt:lpstr>
      <vt:lpstr>Office Theme</vt:lpstr>
      <vt:lpstr>8085 Microprocessor</vt:lpstr>
      <vt:lpstr>Basic Architecture of 8085 μP</vt:lpstr>
      <vt:lpstr>PowerPoint 演示文稿</vt:lpstr>
      <vt:lpstr>overview</vt:lpstr>
      <vt:lpstr>What is a  μP?</vt:lpstr>
      <vt:lpstr>Typical structure of 8085 μP(Architecture)</vt:lpstr>
      <vt:lpstr>a.Registers accesible to programmers:</vt:lpstr>
      <vt:lpstr>2)Index register:</vt:lpstr>
      <vt:lpstr>3)Flag Register</vt:lpstr>
      <vt:lpstr>B)16-bit</vt:lpstr>
      <vt:lpstr>b.Registers Inaccessible to programmers</vt:lpstr>
      <vt:lpstr>2)Arithmetic and Logical unit </vt:lpstr>
      <vt:lpstr>3) Timing and control unit</vt:lpstr>
      <vt:lpstr>4)Interface section:</vt:lpstr>
      <vt:lpstr>ii)Data Bus</vt:lpstr>
      <vt:lpstr>iii)Control Bus</vt:lpstr>
      <vt:lpstr>...</vt:lpstr>
      <vt:lpstr>...</vt:lpstr>
      <vt:lpstr>...</vt:lpstr>
      <vt:lpstr>...</vt:lpstr>
      <vt:lpstr>b)CPU &amp;bus control lines</vt:lpstr>
      <vt:lpstr>...</vt:lpstr>
      <vt:lpstr>...</vt:lpstr>
      <vt:lpstr>...</vt:lpstr>
      <vt:lpstr>c)Utility control lines</vt:lpstr>
      <vt:lpstr>data transfer between processor and memory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8085 Microprocessor</dc:title>
  <dc:creator/>
  <cp:lastModifiedBy>Manoj Chandra</cp:lastModifiedBy>
  <cp:revision>4</cp:revision>
  <dcterms:created xsi:type="dcterms:W3CDTF">2025-01-21T03:32:00Z</dcterms:created>
  <dcterms:modified xsi:type="dcterms:W3CDTF">2025-01-27T04:41:02Z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A852ADC5B45542BBB9DF11F718A9EC67_11</vt:lpwstr>
  </property>
  <property fmtid="{D5CDD505-2E9C-101B-9397-08002B2CF9AE}" pid="3" name="KSOProductBuildVer">
    <vt:lpwstr>1033-12.2.0.19805</vt:lpwstr>
  </property>
</Properties>
</file>