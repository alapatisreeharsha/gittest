
<file path=[Content_Types].xml><?xml version="1.0" encoding="utf-8"?>
<Types xmlns="http://schemas.openxmlformats.org/package/2006/content-types">
  <Default ContentType="image/jpeg" Extension="jpg"/>
  <Default ContentType="application/xml" Extension="xml"/>
  <Default ContentType="image/png" Extension="png"/>
  <Default ContentType="image/jpeg" Extension="jpeg"/>
  <Default ContentType="image/webp" Extension="webp"/>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7.xml"/><Relationship Id="rId22" Type="http://schemas.openxmlformats.org/officeDocument/2006/relationships/slide" Target="slides/slide19.xml"/><Relationship Id="rId21" Type="http://schemas.openxmlformats.org/officeDocument/2006/relationships/slide" Target="slides/slide18.xml"/><Relationship Id="rId24" Type="http://schemas.openxmlformats.org/officeDocument/2006/relationships/slide" Target="slides/slide21.xml"/><Relationship Id="rId23" Type="http://schemas.openxmlformats.org/officeDocument/2006/relationships/slide" Target="slides/slide20.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25" Type="http://schemas.openxmlformats.org/officeDocument/2006/relationships/slide" Target="slides/slide22.xml"/><Relationship Id="rId28" Type="http://schemas.openxmlformats.org/officeDocument/2006/relationships/slide" Target="slides/slide25.xml"/><Relationship Id="rId27" Type="http://schemas.openxmlformats.org/officeDocument/2006/relationships/slide" Target="slides/slide24.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11" Type="http://schemas.openxmlformats.org/officeDocument/2006/relationships/slide" Target="slides/slide8.xml"/><Relationship Id="rId10" Type="http://schemas.openxmlformats.org/officeDocument/2006/relationships/slide" Target="slides/slide7.xml"/><Relationship Id="rId13" Type="http://schemas.openxmlformats.org/officeDocument/2006/relationships/slide" Target="slides/slide10.xml"/><Relationship Id="rId12" Type="http://schemas.openxmlformats.org/officeDocument/2006/relationships/slide" Target="slides/slide9.xml"/><Relationship Id="rId15" Type="http://schemas.openxmlformats.org/officeDocument/2006/relationships/slide" Target="slides/slide12.xml"/><Relationship Id="rId14" Type="http://schemas.openxmlformats.org/officeDocument/2006/relationships/slide" Target="slides/slide11.xml"/><Relationship Id="rId17" Type="http://schemas.openxmlformats.org/officeDocument/2006/relationships/slide" Target="slides/slide14.xml"/><Relationship Id="rId16" Type="http://schemas.openxmlformats.org/officeDocument/2006/relationships/slide" Target="slides/slide13.xml"/><Relationship Id="rId19" Type="http://schemas.openxmlformats.org/officeDocument/2006/relationships/slide" Target="slides/slide16.xml"/><Relationship Id="rId18"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F708F-B4AA-5820-F679-A5E9FBD201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7A5C0D-63F3-D198-E7EC-80A2E7A51A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706CC7-C57F-76A2-7B50-0577D2DC6715}"/>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5" name="Footer Placeholder 4">
            <a:extLst>
              <a:ext uri="{FF2B5EF4-FFF2-40B4-BE49-F238E27FC236}">
                <a16:creationId xmlns:a16="http://schemas.microsoft.com/office/drawing/2014/main" id="{9BF61232-0783-70F4-AB9E-0A0E77A15D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D4C9FD-270C-4552-5114-35FA15DC696B}"/>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1593174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F838E-45DB-1A9E-5424-75F70A2DA4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B16DCE-A7C2-9158-4F33-5A3815D32F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07E9FD-70E0-BD32-F09D-9407527F0262}"/>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5" name="Footer Placeholder 4">
            <a:extLst>
              <a:ext uri="{FF2B5EF4-FFF2-40B4-BE49-F238E27FC236}">
                <a16:creationId xmlns:a16="http://schemas.microsoft.com/office/drawing/2014/main" id="{1F7F207B-1768-1F56-DFCD-C24E23E77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CBF86E-95FD-9954-122F-F99A55FE11F6}"/>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2595128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A7531-3C73-8AD2-92D2-0DCB10B3D7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2A0AB7-9DD3-F2D4-01BB-EF248B87A4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8C2547-F7A6-CA87-BCC4-87A6A1801273}"/>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5" name="Footer Placeholder 4">
            <a:extLst>
              <a:ext uri="{FF2B5EF4-FFF2-40B4-BE49-F238E27FC236}">
                <a16:creationId xmlns:a16="http://schemas.microsoft.com/office/drawing/2014/main" id="{F8A0B613-70F6-5BE2-DB15-EDD4480D13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E4D36B-4135-43A6-D84E-58A518B07132}"/>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2494333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BF26-D6FA-6D4E-3199-091C2D0F9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5827D1-464C-35A4-762C-3FBCB01B96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58CDA8-4A98-0815-6E87-9EEC4A6B49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D32C45-4DB6-DE68-2614-7B62EED1132E}"/>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6" name="Footer Placeholder 5">
            <a:extLst>
              <a:ext uri="{FF2B5EF4-FFF2-40B4-BE49-F238E27FC236}">
                <a16:creationId xmlns:a16="http://schemas.microsoft.com/office/drawing/2014/main" id="{D9F3C49F-63FC-CCC0-0C3B-CC99E62906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EB9FBF-3C79-1AAB-AB6F-CA0161BBDB9A}"/>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400480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5FB27-8288-EE39-04BD-11A778E416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F11F21-E800-CED9-44E0-7194B69DEF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8D1E24-84CB-079E-F612-B02B998199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2D06F5-FCA3-8C74-60BC-AA694D16F5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E8082F-25B4-D718-8520-8B496CAC83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265216-1BF7-4BA8-5464-A38DEF00E29A}"/>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8" name="Footer Placeholder 7">
            <a:extLst>
              <a:ext uri="{FF2B5EF4-FFF2-40B4-BE49-F238E27FC236}">
                <a16:creationId xmlns:a16="http://schemas.microsoft.com/office/drawing/2014/main" id="{93E60D9B-00CF-25BB-383E-8CAD94A5E9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1BED28-D66D-01B8-437C-219B7AC077F6}"/>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114005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4D87-50C5-92DE-8524-6D530B686B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9EDDE4-F4DC-C829-A6B5-314DF6AF6260}"/>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4" name="Footer Placeholder 3">
            <a:extLst>
              <a:ext uri="{FF2B5EF4-FFF2-40B4-BE49-F238E27FC236}">
                <a16:creationId xmlns:a16="http://schemas.microsoft.com/office/drawing/2014/main" id="{90CE4410-28CA-984B-F909-A60C066F7B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7DB05A-854A-5FA9-DFEF-77950E8B55E1}"/>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3126076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6EE92-01AA-EF82-87ED-56A8DA52E6D7}"/>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3" name="Footer Placeholder 2">
            <a:extLst>
              <a:ext uri="{FF2B5EF4-FFF2-40B4-BE49-F238E27FC236}">
                <a16:creationId xmlns:a16="http://schemas.microsoft.com/office/drawing/2014/main" id="{435E76CE-5B1F-7F17-57E4-89694973FB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F5CA83-07FC-27A8-0FC2-0EF6CB87E843}"/>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3249189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C695D-A214-247B-661F-BC8144B70A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9BF519-1F42-EE39-6CBF-6A8BC7E3AD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BAAFD9-D588-B34F-38C5-2674BD700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49C7BB-E8A8-D2B2-BE23-4AD9A15FF096}"/>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6" name="Footer Placeholder 5">
            <a:extLst>
              <a:ext uri="{FF2B5EF4-FFF2-40B4-BE49-F238E27FC236}">
                <a16:creationId xmlns:a16="http://schemas.microsoft.com/office/drawing/2014/main" id="{618AB742-6426-CC01-425B-71FC90B5D6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D2212A-CB8F-A31A-394E-5A2CDF6FDCBE}"/>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1474079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76B3-5E5E-94DF-FC16-EEE32913CE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1594FB-F72A-E2A5-1E78-746941E012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27895C-3CE9-18ED-E7CD-4AEF8CC18E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E15DAD-E684-60FB-AFF4-ED674DE9B841}"/>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6" name="Footer Placeholder 5">
            <a:extLst>
              <a:ext uri="{FF2B5EF4-FFF2-40B4-BE49-F238E27FC236}">
                <a16:creationId xmlns:a16="http://schemas.microsoft.com/office/drawing/2014/main" id="{971F286F-1505-4844-3C75-9C873AD2B7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2D5FF8-788B-7B3B-5E1F-1D03D4C38AEF}"/>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3846155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309F9-8C83-DF62-E191-8B038D5296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272EE1-4293-C3EC-FD9F-A3AD1CFA42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683705-BAC8-CC9C-87B5-9345A64E0ED6}"/>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5" name="Footer Placeholder 4">
            <a:extLst>
              <a:ext uri="{FF2B5EF4-FFF2-40B4-BE49-F238E27FC236}">
                <a16:creationId xmlns:a16="http://schemas.microsoft.com/office/drawing/2014/main" id="{BAED799A-7148-34A3-0A24-442EB9CCE9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DC573-7258-012D-ECEF-7919F768B017}"/>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3458311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5E6BAB-7D76-52E8-0D68-D72DB8E9C3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C1C1D1-3A46-A373-6615-5AFDC98CAE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43FAE-2B99-03D4-1830-E6E50D7CFAAE}"/>
              </a:ext>
            </a:extLst>
          </p:cNvPr>
          <p:cNvSpPr>
            <a:spLocks noGrp="1"/>
          </p:cNvSpPr>
          <p:nvPr>
            <p:ph type="dt" sz="half" idx="10"/>
          </p:nvPr>
        </p:nvSpPr>
        <p:spPr/>
        <p:txBody>
          <a:bodyPr/>
          <a:lstStyle/>
          <a:p>
            <a:fld id="{66759652-320C-4225-BB32-F049BC4F557B}" type="datetimeFigureOut">
              <a:rPr lang="en-US" smtClean="0"/>
              <a:t>2/24/2024</a:t>
            </a:fld>
            <a:endParaRPr lang="en-US"/>
          </a:p>
        </p:txBody>
      </p:sp>
      <p:sp>
        <p:nvSpPr>
          <p:cNvPr id="5" name="Footer Placeholder 4">
            <a:extLst>
              <a:ext uri="{FF2B5EF4-FFF2-40B4-BE49-F238E27FC236}">
                <a16:creationId xmlns:a16="http://schemas.microsoft.com/office/drawing/2014/main" id="{3EC26AEE-83D7-6324-1762-E168E4226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12053-377D-57B0-4993-5DE4C1A0F5EF}"/>
              </a:ext>
            </a:extLst>
          </p:cNvPr>
          <p:cNvSpPr>
            <a:spLocks noGrp="1"/>
          </p:cNvSpPr>
          <p:nvPr>
            <p:ph type="sldNum" sz="quarter" idx="12"/>
          </p:nvPr>
        </p:nvSpPr>
        <p:spPr/>
        <p:txBody>
          <a:bodyPr/>
          <a:lstStyle/>
          <a:p>
            <a:fld id="{7CDADAB1-CCE7-4BFA-976A-AB17BC6FED97}" type="slidenum">
              <a:rPr lang="en-US" smtClean="0"/>
              <a:t>‹#›</a:t>
            </a:fld>
            <a:endParaRPr lang="en-US"/>
          </a:p>
        </p:txBody>
      </p:sp>
    </p:spTree>
    <p:extLst>
      <p:ext uri="{BB962C8B-B14F-4D97-AF65-F5344CB8AC3E}">
        <p14:creationId xmlns:p14="http://schemas.microsoft.com/office/powerpoint/2010/main" val="3391572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eb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6955C7-D190-1D2C-4428-459D42A1FF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250A26-E6C0-4967-E196-BB936BDA68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4C69FB-5134-7A54-7302-EDA158981A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759652-320C-4225-BB32-F049BC4F557B}" type="datetimeFigureOut">
              <a:rPr lang="en-US" smtClean="0"/>
              <a:t>2/24/2024</a:t>
            </a:fld>
            <a:endParaRPr lang="en-US"/>
          </a:p>
        </p:txBody>
      </p:sp>
      <p:sp>
        <p:nvSpPr>
          <p:cNvPr id="5" name="Footer Placeholder 4">
            <a:extLst>
              <a:ext uri="{FF2B5EF4-FFF2-40B4-BE49-F238E27FC236}">
                <a16:creationId xmlns:a16="http://schemas.microsoft.com/office/drawing/2014/main" id="{33420ADD-D1F3-D317-A0AD-FB9346CF4C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77C9B7-8C85-BA03-FE2F-B994701369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DADAB1-CCE7-4BFA-976A-AB17BC6FED97}" type="slidenum">
              <a:rPr lang="en-US" smtClean="0"/>
              <a:t>‹#›</a:t>
            </a:fld>
            <a:endParaRPr lang="en-US"/>
          </a:p>
        </p:txBody>
      </p:sp>
    </p:spTree>
    <p:extLst>
      <p:ext uri="{BB962C8B-B14F-4D97-AF65-F5344CB8AC3E}">
        <p14:creationId xmlns:p14="http://schemas.microsoft.com/office/powerpoint/2010/main" val="165663846"/>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7948C-2140-29B8-68F7-2C4FEFF2EF88}"/>
              </a:ext>
            </a:extLst>
          </p:cNvPr>
          <p:cNvSpPr>
            <a:spLocks noGrp="1"/>
          </p:cNvSpPr>
          <p:nvPr>
            <p:ph type="ctrTitle"/>
          </p:nvPr>
        </p:nvSpPr>
        <p:spPr>
          <a:xfrm>
            <a:off x="1799207" y="1175629"/>
            <a:ext cx="9144000" cy="2387600"/>
          </a:xfrm>
        </p:spPr>
        <p:txBody>
          <a:bodyPr>
            <a:normAutofit/>
          </a:bodyPr>
          <a:lstStyle/>
          <a:p>
            <a:r>
              <a:rPr lang="en-US" dirty="0">
                <a:latin typeface="Times New Roman" panose="02020603050405020304" pitchFamily="18" charset="0"/>
                <a:cs typeface="Times New Roman" panose="02020603050405020304" pitchFamily="18" charset="0"/>
              </a:rPr>
              <a:t>The 8086 Microprocessor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Architecture</a:t>
            </a:r>
          </a:p>
        </p:txBody>
      </p:sp>
    </p:spTree>
    <p:extLst>
      <p:ext uri="{BB962C8B-B14F-4D97-AF65-F5344CB8AC3E}">
        <p14:creationId xmlns:p14="http://schemas.microsoft.com/office/powerpoint/2010/main" val="2212203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138D0-8927-A38F-413B-AB6BDC540C9B}"/>
              </a:ext>
            </a:extLst>
          </p:cNvPr>
          <p:cNvSpPr>
            <a:spLocks noGrp="1"/>
          </p:cNvSpPr>
          <p:nvPr>
            <p:ph type="title"/>
          </p:nvPr>
        </p:nvSpPr>
        <p:spPr/>
        <p:txBody>
          <a:bodyPr/>
          <a:lstStyle/>
          <a:p>
            <a:r>
              <a:rPr lang="en-US" dirty="0"/>
              <a:t>The 8086 Microprocessor -Introduction</a:t>
            </a:r>
          </a:p>
        </p:txBody>
      </p:sp>
      <p:sp>
        <p:nvSpPr>
          <p:cNvPr id="3" name="Content Placeholder 2">
            <a:extLst>
              <a:ext uri="{FF2B5EF4-FFF2-40B4-BE49-F238E27FC236}">
                <a16:creationId xmlns:a16="http://schemas.microsoft.com/office/drawing/2014/main" id="{9D659DF0-30EC-4539-1AFD-B01E6911DC8F}"/>
              </a:ext>
            </a:extLst>
          </p:cNvPr>
          <p:cNvSpPr>
            <a:spLocks noGrp="1"/>
          </p:cNvSpPr>
          <p:nvPr>
            <p:ph idx="1"/>
          </p:nvPr>
        </p:nvSpPr>
        <p:spPr/>
        <p:txBody>
          <a:bodyPr/>
          <a:lstStyle/>
          <a:p>
            <a:r>
              <a:rPr lang="en-US" dirty="0"/>
              <a:t>Intel 8086 microprocessor is the enhanced version of Intel 8085 microprocessor and it was designed by Intel in 1976.</a:t>
            </a:r>
          </a:p>
          <a:p>
            <a:r>
              <a:rPr lang="en-US" dirty="0"/>
              <a:t>It is a 16-bit,N-Channel,HMOS(High Speed Metal Oxide Semiconductor) Microprocessor</a:t>
            </a:r>
          </a:p>
          <a:p>
            <a:r>
              <a:rPr lang="en-US" dirty="0"/>
              <a:t>It is packaged in a 40-pin IC Package DIP(Dual Inline Package)</a:t>
            </a:r>
          </a:p>
          <a:p>
            <a:r>
              <a:rPr lang="en-US" dirty="0"/>
              <a:t>It uses 20 address lines and 16 data lines. It can directly address </a:t>
            </a:r>
            <a:r>
              <a:rPr lang="en-US" dirty="0" err="1"/>
              <a:t>upto</a:t>
            </a:r>
            <a:r>
              <a:rPr lang="en-US" dirty="0"/>
              <a:t> </a:t>
            </a:r>
            <a:r>
              <a:rPr lang="en-US" b="0" i="0" dirty="0">
                <a:solidFill>
                  <a:srgbClr val="000000"/>
                </a:solidFill>
                <a:effectLst/>
                <a:latin typeface="inter-regular"/>
              </a:rPr>
              <a:t> 2</a:t>
            </a:r>
            <a:r>
              <a:rPr lang="en-US" b="0" i="0" baseline="30000" dirty="0">
                <a:solidFill>
                  <a:srgbClr val="000000"/>
                </a:solidFill>
                <a:effectLst/>
                <a:latin typeface="inter-regular"/>
              </a:rPr>
              <a:t>20</a:t>
            </a:r>
            <a:r>
              <a:rPr lang="en-US" b="0" i="0" dirty="0">
                <a:solidFill>
                  <a:srgbClr val="000000"/>
                </a:solidFill>
                <a:effectLst/>
                <a:latin typeface="inter-regular"/>
              </a:rPr>
              <a:t> = 1 Mb of memory</a:t>
            </a:r>
          </a:p>
          <a:p>
            <a:r>
              <a:rPr lang="en-US" dirty="0">
                <a:solidFill>
                  <a:srgbClr val="000000"/>
                </a:solidFill>
                <a:latin typeface="inter-regular"/>
              </a:rPr>
              <a:t>8086 is designed to operate in two modes i.e., Minimum and Maximum</a:t>
            </a:r>
            <a:endParaRPr lang="en-US" dirty="0"/>
          </a:p>
          <a:p>
            <a:endParaRPr lang="en-US" dirty="0"/>
          </a:p>
        </p:txBody>
      </p:sp>
    </p:spTree>
    <p:extLst>
      <p:ext uri="{BB962C8B-B14F-4D97-AF65-F5344CB8AC3E}">
        <p14:creationId xmlns:p14="http://schemas.microsoft.com/office/powerpoint/2010/main" val="2593813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AEED344-6C40-E4A8-0723-E4D9B4316E9B}"/>
              </a:ext>
            </a:extLst>
          </p:cNvPr>
          <p:cNvSpPr>
            <a:spLocks noGrp="1"/>
          </p:cNvSpPr>
          <p:nvPr>
            <p:ph type="title"/>
          </p:nvPr>
        </p:nvSpPr>
        <p:spPr>
          <a:xfrm>
            <a:off x="838200" y="205327"/>
            <a:ext cx="10515600" cy="904382"/>
          </a:xfrm>
        </p:spPr>
        <p:txBody>
          <a:bodyPr>
            <a:normAutofit/>
          </a:bodyPr>
          <a:lstStyle/>
          <a:p>
            <a:r>
              <a:rPr lang="en-US" dirty="0"/>
              <a:t>Internal Architecture of 8086 Microprocessor</a:t>
            </a:r>
          </a:p>
        </p:txBody>
      </p:sp>
      <p:pic>
        <p:nvPicPr>
          <p:cNvPr id="10" name="Content Placeholder 9">
            <a:extLst>
              <a:ext uri="{FF2B5EF4-FFF2-40B4-BE49-F238E27FC236}">
                <a16:creationId xmlns:a16="http://schemas.microsoft.com/office/drawing/2014/main" id="{0897156E-154D-DC8D-7D89-74558B5E7E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5028" y="976544"/>
            <a:ext cx="6937384" cy="5823751"/>
          </a:xfrm>
        </p:spPr>
      </p:pic>
    </p:spTree>
    <p:extLst>
      <p:ext uri="{BB962C8B-B14F-4D97-AF65-F5344CB8AC3E}">
        <p14:creationId xmlns:p14="http://schemas.microsoft.com/office/powerpoint/2010/main" val="4177690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000E3C-64C5-E872-6E08-508CDE44417E}"/>
              </a:ext>
            </a:extLst>
          </p:cNvPr>
          <p:cNvSpPr>
            <a:spLocks noGrp="1"/>
          </p:cNvSpPr>
          <p:nvPr>
            <p:ph idx="1"/>
          </p:nvPr>
        </p:nvSpPr>
        <p:spPr>
          <a:xfrm>
            <a:off x="838200" y="727969"/>
            <a:ext cx="10515600" cy="5448994"/>
          </a:xfrm>
        </p:spPr>
        <p:txBody>
          <a:bodyPr/>
          <a:lstStyle/>
          <a:p>
            <a:r>
              <a:rPr lang="en-US" b="0" i="0" dirty="0">
                <a:solidFill>
                  <a:srgbClr val="000000"/>
                </a:solidFill>
                <a:effectLst/>
                <a:latin typeface="Work Sans" panose="020B0604020202020204" pitchFamily="2" charset="0"/>
              </a:rPr>
              <a:t>The architecture of the 8086 microprocessor consists of two independent sections or units</a:t>
            </a:r>
          </a:p>
          <a:p>
            <a:pPr lvl="1">
              <a:buFont typeface="Wingdings" panose="05000000000000000000" pitchFamily="2" charset="2"/>
              <a:buChar char="§"/>
            </a:pPr>
            <a:r>
              <a:rPr lang="en-US" dirty="0">
                <a:solidFill>
                  <a:srgbClr val="000000"/>
                </a:solidFill>
                <a:latin typeface="Work Sans" panose="020B0604020202020204" pitchFamily="2" charset="0"/>
              </a:rPr>
              <a:t>T</a:t>
            </a:r>
            <a:r>
              <a:rPr lang="en-US" b="0" i="0" dirty="0">
                <a:solidFill>
                  <a:srgbClr val="000000"/>
                </a:solidFill>
                <a:effectLst/>
                <a:latin typeface="Work Sans" panose="020B0604020202020204" pitchFamily="2" charset="0"/>
              </a:rPr>
              <a:t>he Bus Interface Unit (BIU)</a:t>
            </a:r>
          </a:p>
          <a:p>
            <a:pPr lvl="1">
              <a:buFont typeface="Wingdings" panose="05000000000000000000" pitchFamily="2" charset="2"/>
              <a:buChar char="§"/>
            </a:pPr>
            <a:r>
              <a:rPr lang="en-US" b="0" i="0">
                <a:solidFill>
                  <a:srgbClr val="000000"/>
                </a:solidFill>
                <a:effectLst/>
                <a:latin typeface="Work Sans" panose="020B0604020202020204" pitchFamily="2" charset="0"/>
              </a:rPr>
              <a:t>The </a:t>
            </a:r>
            <a:r>
              <a:rPr lang="en-US" b="0" i="0" dirty="0">
                <a:solidFill>
                  <a:srgbClr val="000000"/>
                </a:solidFill>
                <a:effectLst/>
                <a:latin typeface="Work Sans" panose="020B0604020202020204" pitchFamily="2" charset="0"/>
              </a:rPr>
              <a:t>Execution Unit (EU).</a:t>
            </a:r>
          </a:p>
          <a:p>
            <a:r>
              <a:rPr lang="en-US" b="0" i="0" dirty="0">
                <a:solidFill>
                  <a:srgbClr val="000000"/>
                </a:solidFill>
                <a:effectLst/>
                <a:latin typeface="Work Sans" panose="020B0604020202020204" pitchFamily="2" charset="0"/>
              </a:rPr>
              <a:t>BI</a:t>
            </a:r>
            <a:r>
              <a:rPr lang="en-US" dirty="0">
                <a:solidFill>
                  <a:srgbClr val="000000"/>
                </a:solidFill>
                <a:latin typeface="Work Sans" panose="020B0604020202020204" pitchFamily="2" charset="0"/>
              </a:rPr>
              <a:t>U provides the interface of 8086 to external memory and I/O devices via the System Bus. It performs various machine cycles such as memory read, I/O read etc., to transfer data between memory and I/O devices.</a:t>
            </a:r>
          </a:p>
          <a:p>
            <a:r>
              <a:rPr lang="en-US" b="0" i="0" dirty="0">
                <a:solidFill>
                  <a:srgbClr val="000000"/>
                </a:solidFill>
                <a:effectLst/>
                <a:latin typeface="Work Sans" panose="020B0604020202020204" pitchFamily="2" charset="0"/>
              </a:rPr>
              <a:t>The E</a:t>
            </a:r>
            <a:r>
              <a:rPr lang="en-US" dirty="0">
                <a:solidFill>
                  <a:srgbClr val="000000"/>
                </a:solidFill>
                <a:latin typeface="Work Sans" panose="020B0604020202020204" pitchFamily="2" charset="0"/>
              </a:rPr>
              <a:t>xecution unit tells the bus interface unit where to fetch instruction or data from. It decodes the instruction and performs arithmetic and logical operations using the ALU.</a:t>
            </a:r>
            <a:endParaRPr lang="en-US" b="0" i="0" dirty="0">
              <a:solidFill>
                <a:srgbClr val="000000"/>
              </a:solidFill>
              <a:effectLst/>
              <a:latin typeface="Work Sans" panose="020B0604020202020204" pitchFamily="2" charset="0"/>
            </a:endParaRPr>
          </a:p>
        </p:txBody>
      </p:sp>
    </p:spTree>
    <p:extLst>
      <p:ext uri="{BB962C8B-B14F-4D97-AF65-F5344CB8AC3E}">
        <p14:creationId xmlns:p14="http://schemas.microsoft.com/office/powerpoint/2010/main" val="1749726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BC46-FFA2-2F43-78CD-8151C1925BB4}"/>
              </a:ext>
            </a:extLst>
          </p:cNvPr>
          <p:cNvSpPr>
            <a:spLocks noGrp="1"/>
          </p:cNvSpPr>
          <p:nvPr>
            <p:ph type="title"/>
          </p:nvPr>
        </p:nvSpPr>
        <p:spPr/>
        <p:txBody>
          <a:bodyPr/>
          <a:lstStyle/>
          <a:p>
            <a:r>
              <a:rPr lang="en-US" b="1" dirty="0"/>
              <a:t>Bus Interface Unit(BIU) </a:t>
            </a:r>
          </a:p>
        </p:txBody>
      </p:sp>
      <p:sp>
        <p:nvSpPr>
          <p:cNvPr id="3" name="Content Placeholder 2">
            <a:extLst>
              <a:ext uri="{FF2B5EF4-FFF2-40B4-BE49-F238E27FC236}">
                <a16:creationId xmlns:a16="http://schemas.microsoft.com/office/drawing/2014/main" id="{05733004-FE19-ED41-E2D7-8B10AB32080B}"/>
              </a:ext>
            </a:extLst>
          </p:cNvPr>
          <p:cNvSpPr>
            <a:spLocks noGrp="1"/>
          </p:cNvSpPr>
          <p:nvPr>
            <p:ph idx="1"/>
          </p:nvPr>
        </p:nvSpPr>
        <p:spPr/>
        <p:txBody>
          <a:bodyPr/>
          <a:lstStyle/>
          <a:p>
            <a:r>
              <a:rPr lang="en-US" b="0" i="0" dirty="0">
                <a:solidFill>
                  <a:srgbClr val="000000"/>
                </a:solidFill>
                <a:effectLst/>
                <a:latin typeface="Work Sans" pitchFamily="2" charset="0"/>
              </a:rPr>
              <a:t>The BIU performs read and write operations on data in the memory and on the external devices connected to the ports of the microprocessor, and it also sends out addresses. </a:t>
            </a:r>
          </a:p>
          <a:p>
            <a:r>
              <a:rPr lang="en-US" b="0" i="0" dirty="0">
                <a:solidFill>
                  <a:srgbClr val="000000"/>
                </a:solidFill>
                <a:effectLst/>
                <a:latin typeface="Work Sans" pitchFamily="2" charset="0"/>
              </a:rPr>
              <a:t>To perform these operations BIU contains some functional parts</a:t>
            </a:r>
          </a:p>
          <a:p>
            <a:pPr lvl="1">
              <a:buFont typeface="Wingdings" panose="05000000000000000000" pitchFamily="2" charset="2"/>
              <a:buChar char="v"/>
            </a:pPr>
            <a:r>
              <a:rPr lang="en-US" sz="2800" dirty="0"/>
              <a:t>Instruction Queue</a:t>
            </a:r>
          </a:p>
          <a:p>
            <a:pPr lvl="1">
              <a:buFont typeface="Wingdings" panose="05000000000000000000" pitchFamily="2" charset="2"/>
              <a:buChar char="v"/>
            </a:pPr>
            <a:r>
              <a:rPr lang="en-US" sz="2800" dirty="0"/>
              <a:t>Segment Registers</a:t>
            </a:r>
          </a:p>
          <a:p>
            <a:pPr lvl="1">
              <a:buFont typeface="Wingdings" panose="05000000000000000000" pitchFamily="2" charset="2"/>
              <a:buChar char="v"/>
            </a:pPr>
            <a:r>
              <a:rPr lang="en-US" sz="2800" dirty="0"/>
              <a:t>Instruction Pointer</a:t>
            </a:r>
          </a:p>
        </p:txBody>
      </p:sp>
    </p:spTree>
    <p:extLst>
      <p:ext uri="{BB962C8B-B14F-4D97-AF65-F5344CB8AC3E}">
        <p14:creationId xmlns:p14="http://schemas.microsoft.com/office/powerpoint/2010/main" val="1111209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F7B58-C5E7-2976-A9E0-EAD5A8014E74}"/>
              </a:ext>
            </a:extLst>
          </p:cNvPr>
          <p:cNvSpPr>
            <a:spLocks noGrp="1"/>
          </p:cNvSpPr>
          <p:nvPr>
            <p:ph type="title"/>
          </p:nvPr>
        </p:nvSpPr>
        <p:spPr/>
        <p:txBody>
          <a:bodyPr/>
          <a:lstStyle/>
          <a:p>
            <a:r>
              <a:rPr lang="en-US" dirty="0"/>
              <a:t>Instruction Queue	</a:t>
            </a:r>
          </a:p>
        </p:txBody>
      </p:sp>
      <p:sp>
        <p:nvSpPr>
          <p:cNvPr id="3" name="Content Placeholder 2">
            <a:extLst>
              <a:ext uri="{FF2B5EF4-FFF2-40B4-BE49-F238E27FC236}">
                <a16:creationId xmlns:a16="http://schemas.microsoft.com/office/drawing/2014/main" id="{1E1566DD-949B-11D0-9A46-C0570D81C5A5}"/>
              </a:ext>
            </a:extLst>
          </p:cNvPr>
          <p:cNvSpPr>
            <a:spLocks noGrp="1"/>
          </p:cNvSpPr>
          <p:nvPr>
            <p:ph idx="1"/>
          </p:nvPr>
        </p:nvSpPr>
        <p:spPr>
          <a:xfrm>
            <a:off x="838200" y="1427747"/>
            <a:ext cx="10515600" cy="4860758"/>
          </a:xfrm>
        </p:spPr>
        <p:txBody>
          <a:bodyPr>
            <a:normAutofit lnSpcReduction="10000"/>
          </a:bodyPr>
          <a:lstStyle/>
          <a:p>
            <a:r>
              <a:rPr lang="en-US" b="0" i="0" dirty="0">
                <a:solidFill>
                  <a:srgbClr val="000000"/>
                </a:solidFill>
                <a:effectLst/>
                <a:latin typeface="Work Sans" pitchFamily="2" charset="0"/>
              </a:rPr>
              <a:t>The instruction queue holds the six bytes of instruction fetched from the code memory by the BIU that are to be executed by the EU. </a:t>
            </a:r>
          </a:p>
          <a:p>
            <a:r>
              <a:rPr lang="en-US" b="0" i="0" dirty="0">
                <a:solidFill>
                  <a:srgbClr val="000000"/>
                </a:solidFill>
                <a:effectLst/>
                <a:latin typeface="Work Sans" pitchFamily="2" charset="0"/>
              </a:rPr>
              <a:t>The instruction queue contains registers that work on FIFO (first-in-first-out) principle.</a:t>
            </a:r>
          </a:p>
          <a:p>
            <a:r>
              <a:rPr lang="en-US" b="0" i="0" dirty="0">
                <a:solidFill>
                  <a:srgbClr val="000000"/>
                </a:solidFill>
                <a:effectLst/>
                <a:latin typeface="Work Sans" pitchFamily="2" charset="0"/>
              </a:rPr>
              <a:t>Since EU and BIU are independent, whenever the execution unit starts decoding and executing fetched instructions, the BIU fetches additional instructions to the queue from the code memory for execution.</a:t>
            </a:r>
            <a:endParaRPr lang="en-US" dirty="0">
              <a:solidFill>
                <a:srgbClr val="000000"/>
              </a:solidFill>
              <a:latin typeface="Work Sans" pitchFamily="2" charset="0"/>
            </a:endParaRPr>
          </a:p>
          <a:p>
            <a:r>
              <a:rPr lang="en-US" b="0" i="0" dirty="0">
                <a:solidFill>
                  <a:srgbClr val="000000"/>
                </a:solidFill>
                <a:effectLst/>
                <a:latin typeface="Work Sans" pitchFamily="2" charset="0"/>
              </a:rPr>
              <a:t>Again when the execution unit starts executing fetched instructions in the queue, again the BIU will add instructions to the queue at the same time.</a:t>
            </a:r>
            <a:endParaRPr lang="en-US" b="1" dirty="0"/>
          </a:p>
        </p:txBody>
      </p:sp>
    </p:spTree>
    <p:extLst>
      <p:ext uri="{BB962C8B-B14F-4D97-AF65-F5344CB8AC3E}">
        <p14:creationId xmlns:p14="http://schemas.microsoft.com/office/powerpoint/2010/main" val="2267656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7B2C1B-4BA2-5ECC-6A74-6DA4A264D097}"/>
              </a:ext>
            </a:extLst>
          </p:cNvPr>
          <p:cNvSpPr>
            <a:spLocks noGrp="1"/>
          </p:cNvSpPr>
          <p:nvPr>
            <p:ph idx="1"/>
          </p:nvPr>
        </p:nvSpPr>
        <p:spPr>
          <a:xfrm>
            <a:off x="838200" y="497305"/>
            <a:ext cx="10515600" cy="5679658"/>
          </a:xfrm>
        </p:spPr>
        <p:txBody>
          <a:bodyPr/>
          <a:lstStyle/>
          <a:p>
            <a:r>
              <a:rPr lang="en-US" b="0" i="0" dirty="0">
                <a:solidFill>
                  <a:srgbClr val="000000"/>
                </a:solidFill>
                <a:effectLst/>
                <a:latin typeface="Work Sans" pitchFamily="2" charset="0"/>
              </a:rPr>
              <a:t>Since the fetching of instructions from the memory and execution of instructions in the queue are done as the same time, both the operations will overlap. </a:t>
            </a:r>
            <a:r>
              <a:rPr lang="en-US" b="0" i="0">
                <a:solidFill>
                  <a:srgbClr val="000000"/>
                </a:solidFill>
                <a:effectLst/>
                <a:latin typeface="Work Sans" pitchFamily="2" charset="0"/>
              </a:rPr>
              <a:t>The </a:t>
            </a:r>
            <a:r>
              <a:rPr lang="en-US" b="0" i="0" dirty="0">
                <a:solidFill>
                  <a:srgbClr val="000000"/>
                </a:solidFill>
                <a:effectLst/>
                <a:latin typeface="Work Sans" pitchFamily="2" charset="0"/>
              </a:rPr>
              <a:t>Pipelining which speeds up the execution by reducing CPU waiting state time as illustrated in the below figure.</a:t>
            </a:r>
          </a:p>
          <a:p>
            <a:pPr marL="0" indent="0">
              <a:buNone/>
            </a:pPr>
            <a:endParaRPr lang="en-US" dirty="0"/>
          </a:p>
        </p:txBody>
      </p:sp>
      <p:pic>
        <p:nvPicPr>
          <p:cNvPr id="5" name="Picture 4">
            <a:extLst>
              <a:ext uri="{FF2B5EF4-FFF2-40B4-BE49-F238E27FC236}">
                <a16:creationId xmlns:a16="http://schemas.microsoft.com/office/drawing/2014/main" id="{E1887762-7E2C-D220-D85E-D9881C5B09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9432" y="2903622"/>
            <a:ext cx="7780421" cy="3821780"/>
          </a:xfrm>
          <a:prstGeom prst="rect">
            <a:avLst/>
          </a:prstGeom>
        </p:spPr>
      </p:pic>
    </p:spTree>
    <p:extLst>
      <p:ext uri="{BB962C8B-B14F-4D97-AF65-F5344CB8AC3E}">
        <p14:creationId xmlns:p14="http://schemas.microsoft.com/office/powerpoint/2010/main" val="2705478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B8FBE40-3504-7679-B332-63F6555A30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3510" y="435006"/>
            <a:ext cx="8693869" cy="5912528"/>
          </a:xfrm>
        </p:spPr>
      </p:pic>
    </p:spTree>
    <p:extLst>
      <p:ext uri="{BB962C8B-B14F-4D97-AF65-F5344CB8AC3E}">
        <p14:creationId xmlns:p14="http://schemas.microsoft.com/office/powerpoint/2010/main" val="629100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C4B86-5D21-C07C-3A08-29EA64FF73A5}"/>
              </a:ext>
            </a:extLst>
          </p:cNvPr>
          <p:cNvSpPr>
            <a:spLocks noGrp="1"/>
          </p:cNvSpPr>
          <p:nvPr>
            <p:ph type="title"/>
          </p:nvPr>
        </p:nvSpPr>
        <p:spPr>
          <a:xfrm>
            <a:off x="1094874" y="188662"/>
            <a:ext cx="10515600" cy="1325563"/>
          </a:xfrm>
        </p:spPr>
        <p:txBody>
          <a:bodyPr/>
          <a:lstStyle/>
          <a:p>
            <a:r>
              <a:rPr lang="en-US" dirty="0"/>
              <a:t>Segment Registers</a:t>
            </a:r>
          </a:p>
        </p:txBody>
      </p:sp>
      <p:sp>
        <p:nvSpPr>
          <p:cNvPr id="3" name="Content Placeholder 2">
            <a:extLst>
              <a:ext uri="{FF2B5EF4-FFF2-40B4-BE49-F238E27FC236}">
                <a16:creationId xmlns:a16="http://schemas.microsoft.com/office/drawing/2014/main" id="{1C412052-E1C8-BA3E-3755-E145B3E074CC}"/>
              </a:ext>
            </a:extLst>
          </p:cNvPr>
          <p:cNvSpPr>
            <a:spLocks noGrp="1"/>
          </p:cNvSpPr>
          <p:nvPr>
            <p:ph idx="1"/>
          </p:nvPr>
        </p:nvSpPr>
        <p:spPr>
          <a:xfrm>
            <a:off x="838200" y="1363579"/>
            <a:ext cx="10515600" cy="5129296"/>
          </a:xfrm>
        </p:spPr>
        <p:txBody>
          <a:bodyPr>
            <a:normAutofit/>
          </a:bodyPr>
          <a:lstStyle/>
          <a:p>
            <a:r>
              <a:rPr lang="en-US" b="0" i="0" dirty="0">
                <a:solidFill>
                  <a:srgbClr val="000000"/>
                </a:solidFill>
                <a:effectLst/>
                <a:latin typeface="Work Sans" pitchFamily="2" charset="0"/>
              </a:rPr>
              <a:t>Each segment is associated with segment registers that are 16 bits wide. The four registers related to four segments are,</a:t>
            </a:r>
          </a:p>
          <a:p>
            <a:pPr lvl="1" fontAlgn="base">
              <a:buFont typeface="Wingdings" panose="05000000000000000000" pitchFamily="2" charset="2"/>
              <a:buChar char="Ø"/>
            </a:pPr>
            <a:r>
              <a:rPr lang="en-US" sz="2800" b="0" i="0" u="none" strike="noStrike" dirty="0">
                <a:solidFill>
                  <a:srgbClr val="000000"/>
                </a:solidFill>
                <a:effectLst/>
                <a:latin typeface="Work Sans" pitchFamily="2" charset="0"/>
              </a:rPr>
              <a:t>Data Segment Register (DS) - It is used to point to the base address of the data register.</a:t>
            </a:r>
          </a:p>
          <a:p>
            <a:pPr lvl="1" fontAlgn="base">
              <a:buFont typeface="Wingdings" panose="05000000000000000000" pitchFamily="2" charset="2"/>
              <a:buChar char="Ø"/>
            </a:pPr>
            <a:r>
              <a:rPr lang="en-US" sz="2800" b="0" i="0" u="none" strike="noStrike" dirty="0">
                <a:solidFill>
                  <a:srgbClr val="000000"/>
                </a:solidFill>
                <a:effectLst/>
                <a:latin typeface="Work Sans" pitchFamily="2" charset="0"/>
              </a:rPr>
              <a:t>Code Segment Register (CS) - It is used to point to the base address of the code register.</a:t>
            </a:r>
          </a:p>
          <a:p>
            <a:pPr lvl="1" fontAlgn="base">
              <a:buFont typeface="Wingdings" panose="05000000000000000000" pitchFamily="2" charset="2"/>
              <a:buChar char="Ø"/>
            </a:pPr>
            <a:r>
              <a:rPr lang="en-US" sz="2800" b="0" i="0" u="none" strike="noStrike" dirty="0">
                <a:solidFill>
                  <a:srgbClr val="000000"/>
                </a:solidFill>
                <a:effectLst/>
                <a:latin typeface="Work Sans" pitchFamily="2" charset="0"/>
              </a:rPr>
              <a:t>Extra Segment Register (ES) - It holds the base address of the extra memory segment.</a:t>
            </a:r>
          </a:p>
          <a:p>
            <a:pPr lvl="1" fontAlgn="base">
              <a:buFont typeface="Wingdings" panose="05000000000000000000" pitchFamily="2" charset="2"/>
              <a:buChar char="Ø"/>
            </a:pPr>
            <a:r>
              <a:rPr lang="en-US" sz="2800" b="0" i="0" u="none" strike="noStrike" dirty="0">
                <a:solidFill>
                  <a:srgbClr val="000000"/>
                </a:solidFill>
                <a:effectLst/>
                <a:latin typeface="Work Sans" pitchFamily="2" charset="0"/>
              </a:rPr>
              <a:t>Stack Segment Register (SS) - It holds the base address of the stack memory segment.</a:t>
            </a:r>
          </a:p>
          <a:p>
            <a:endParaRPr lang="en-US" dirty="0"/>
          </a:p>
        </p:txBody>
      </p:sp>
    </p:spTree>
    <p:extLst>
      <p:ext uri="{BB962C8B-B14F-4D97-AF65-F5344CB8AC3E}">
        <p14:creationId xmlns:p14="http://schemas.microsoft.com/office/powerpoint/2010/main" val="3262029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B54BC-FF9D-4641-22B0-BFA4CBEA93C2}"/>
              </a:ext>
            </a:extLst>
          </p:cNvPr>
          <p:cNvSpPr>
            <a:spLocks noGrp="1"/>
          </p:cNvSpPr>
          <p:nvPr>
            <p:ph type="title"/>
          </p:nvPr>
        </p:nvSpPr>
        <p:spPr/>
        <p:txBody>
          <a:bodyPr/>
          <a:lstStyle/>
          <a:p>
            <a:r>
              <a:rPr lang="en-US" dirty="0"/>
              <a:t>Instruction Pointer(IP)</a:t>
            </a:r>
          </a:p>
        </p:txBody>
      </p:sp>
      <p:sp>
        <p:nvSpPr>
          <p:cNvPr id="3" name="Content Placeholder 2">
            <a:extLst>
              <a:ext uri="{FF2B5EF4-FFF2-40B4-BE49-F238E27FC236}">
                <a16:creationId xmlns:a16="http://schemas.microsoft.com/office/drawing/2014/main" id="{D6C003AE-A8A6-1A7F-0770-5A8EE3BDE990}"/>
              </a:ext>
            </a:extLst>
          </p:cNvPr>
          <p:cNvSpPr>
            <a:spLocks noGrp="1"/>
          </p:cNvSpPr>
          <p:nvPr>
            <p:ph idx="1"/>
          </p:nvPr>
        </p:nvSpPr>
        <p:spPr/>
        <p:txBody>
          <a:bodyPr>
            <a:normAutofit/>
          </a:bodyPr>
          <a:lstStyle/>
          <a:p>
            <a:pPr marL="0" indent="0">
              <a:buNone/>
            </a:pPr>
            <a:r>
              <a:rPr lang="en-US" sz="3200" b="0" i="0" dirty="0">
                <a:solidFill>
                  <a:srgbClr val="000000"/>
                </a:solidFill>
                <a:effectLst/>
                <a:latin typeface="Work Sans" pitchFamily="2" charset="0"/>
              </a:rPr>
              <a:t>The instruction pointer is similar to the program counter in 8085 CPU. The IP is updated by BIU so that it contains the offset (distance in byte from base address) of the next instruction. That is IP points to the next instruction to be fetched from the code segment.</a:t>
            </a:r>
            <a:endParaRPr lang="en-US" sz="3200" dirty="0"/>
          </a:p>
        </p:txBody>
      </p:sp>
    </p:spTree>
    <p:extLst>
      <p:ext uri="{BB962C8B-B14F-4D97-AF65-F5344CB8AC3E}">
        <p14:creationId xmlns:p14="http://schemas.microsoft.com/office/powerpoint/2010/main" val="4222761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B4C30-4E51-D7E7-77CF-5ED3D185F5B4}"/>
              </a:ext>
            </a:extLst>
          </p:cNvPr>
          <p:cNvSpPr>
            <a:spLocks noGrp="1"/>
          </p:cNvSpPr>
          <p:nvPr>
            <p:ph type="title"/>
          </p:nvPr>
        </p:nvSpPr>
        <p:spPr/>
        <p:txBody>
          <a:bodyPr>
            <a:normAutofit/>
          </a:bodyPr>
          <a:lstStyle/>
          <a:p>
            <a:r>
              <a:rPr lang="en-US" b="0" i="0" u="none" strike="noStrike" dirty="0">
                <a:solidFill>
                  <a:srgbClr val="000000"/>
                </a:solidFill>
                <a:effectLst/>
                <a:latin typeface="Work Sans" pitchFamily="2" charset="0"/>
              </a:rPr>
              <a:t>Execution Unit (EU)</a:t>
            </a:r>
            <a:br>
              <a:rPr lang="en-US" b="0" i="0" u="none" strike="noStrike" dirty="0">
                <a:solidFill>
                  <a:srgbClr val="000000"/>
                </a:solidFill>
                <a:effectLst/>
                <a:latin typeface="Work Sans" pitchFamily="2" charset="0"/>
              </a:rPr>
            </a:br>
            <a:endParaRPr lang="en-US" dirty="0"/>
          </a:p>
        </p:txBody>
      </p:sp>
      <p:sp>
        <p:nvSpPr>
          <p:cNvPr id="3" name="Content Placeholder 2">
            <a:extLst>
              <a:ext uri="{FF2B5EF4-FFF2-40B4-BE49-F238E27FC236}">
                <a16:creationId xmlns:a16="http://schemas.microsoft.com/office/drawing/2014/main" id="{68BEA6D9-9FE7-E744-1793-DC75014DE4BC}"/>
              </a:ext>
            </a:extLst>
          </p:cNvPr>
          <p:cNvSpPr>
            <a:spLocks noGrp="1"/>
          </p:cNvSpPr>
          <p:nvPr>
            <p:ph idx="1"/>
          </p:nvPr>
        </p:nvSpPr>
        <p:spPr>
          <a:xfrm>
            <a:off x="838200" y="1347537"/>
            <a:ext cx="10515600" cy="4940968"/>
          </a:xfrm>
        </p:spPr>
        <p:txBody>
          <a:bodyPr>
            <a:normAutofit lnSpcReduction="10000"/>
          </a:bodyPr>
          <a:lstStyle/>
          <a:p>
            <a:r>
              <a:rPr lang="en-US" b="0" i="0" dirty="0">
                <a:solidFill>
                  <a:srgbClr val="000000"/>
                </a:solidFill>
                <a:effectLst/>
                <a:latin typeface="Work Sans" pitchFamily="2" charset="0"/>
              </a:rPr>
              <a:t>The execution unit provides effective addresses of memory locations. Then, this address is added to the base address provided by segment registers in the bus interface unit. The execution unit consists of the following parts</a:t>
            </a:r>
          </a:p>
          <a:p>
            <a:pPr>
              <a:buFont typeface="Wingdings" panose="05000000000000000000" pitchFamily="2" charset="2"/>
              <a:buChar char="Ø"/>
            </a:pPr>
            <a:r>
              <a:rPr lang="en-US" b="1" dirty="0">
                <a:solidFill>
                  <a:srgbClr val="000000"/>
                </a:solidFill>
                <a:latin typeface="Work Sans" pitchFamily="2" charset="0"/>
              </a:rPr>
              <a:t>Control System </a:t>
            </a:r>
            <a:r>
              <a:rPr lang="en-US" dirty="0">
                <a:solidFill>
                  <a:srgbClr val="000000"/>
                </a:solidFill>
                <a:latin typeface="Work Sans" pitchFamily="2" charset="0"/>
              </a:rPr>
              <a:t>: It manages all the operations in the execution unit</a:t>
            </a:r>
          </a:p>
          <a:p>
            <a:pPr>
              <a:buFont typeface="Wingdings" panose="05000000000000000000" pitchFamily="2" charset="2"/>
              <a:buChar char="Ø"/>
            </a:pPr>
            <a:r>
              <a:rPr lang="en-US" b="1" dirty="0">
                <a:solidFill>
                  <a:srgbClr val="000000"/>
                </a:solidFill>
                <a:latin typeface="Work Sans" pitchFamily="2" charset="0"/>
              </a:rPr>
              <a:t>Instruction Decoder </a:t>
            </a:r>
            <a:r>
              <a:rPr lang="en-US" dirty="0">
                <a:solidFill>
                  <a:srgbClr val="000000"/>
                </a:solidFill>
                <a:latin typeface="Work Sans" pitchFamily="2" charset="0"/>
              </a:rPr>
              <a:t>: It translates or decodes the instructions in the queue for execution</a:t>
            </a:r>
          </a:p>
          <a:p>
            <a:pPr>
              <a:buFont typeface="Wingdings" panose="05000000000000000000" pitchFamily="2" charset="2"/>
              <a:buChar char="Ø"/>
            </a:pPr>
            <a:r>
              <a:rPr lang="en-US" b="1" dirty="0">
                <a:solidFill>
                  <a:srgbClr val="000000"/>
                </a:solidFill>
                <a:latin typeface="Work Sans" pitchFamily="2" charset="0"/>
              </a:rPr>
              <a:t>Arithmetic and Logic Unit : </a:t>
            </a:r>
            <a:r>
              <a:rPr lang="en-US" b="0" i="0" dirty="0">
                <a:solidFill>
                  <a:srgbClr val="000000"/>
                </a:solidFill>
                <a:effectLst/>
                <a:latin typeface="Work Sans" pitchFamily="2" charset="0"/>
              </a:rPr>
              <a:t>Depending upon the given instructions the ALU performs operations like addition, subtraction, AND, OR, NOT, shifting of binary numbers, </a:t>
            </a:r>
            <a:r>
              <a:rPr lang="en-US" b="0" i="0" dirty="0" err="1">
                <a:solidFill>
                  <a:srgbClr val="000000"/>
                </a:solidFill>
                <a:effectLst/>
                <a:latin typeface="Work Sans" pitchFamily="2" charset="0"/>
              </a:rPr>
              <a:t>etc</a:t>
            </a:r>
            <a:r>
              <a:rPr lang="en-US" b="0" i="0" dirty="0">
                <a:solidFill>
                  <a:srgbClr val="000000"/>
                </a:solidFill>
                <a:effectLst/>
                <a:latin typeface="Work Sans" pitchFamily="2" charset="0"/>
              </a:rPr>
              <a:t>, on the data.</a:t>
            </a:r>
            <a:endParaRPr lang="en-US" dirty="0"/>
          </a:p>
        </p:txBody>
      </p:sp>
    </p:spTree>
    <p:extLst>
      <p:ext uri="{BB962C8B-B14F-4D97-AF65-F5344CB8AC3E}">
        <p14:creationId xmlns:p14="http://schemas.microsoft.com/office/powerpoint/2010/main" val="1818584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4092D6-C17E-64AA-A97E-E58AB17B38BF}"/>
              </a:ext>
            </a:extLst>
          </p:cNvPr>
          <p:cNvSpPr>
            <a:spLocks noGrp="1"/>
          </p:cNvSpPr>
          <p:nvPr>
            <p:ph idx="1"/>
          </p:nvPr>
        </p:nvSpPr>
        <p:spPr>
          <a:xfrm>
            <a:off x="838200" y="657726"/>
            <a:ext cx="10515600" cy="5807242"/>
          </a:xfrm>
        </p:spPr>
        <p:txBody>
          <a:bodyPr>
            <a:normAutofit/>
          </a:bodyPr>
          <a:lstStyle/>
          <a:p>
            <a:pPr algn="l" fontAlgn="base">
              <a:buFont typeface="Arial" panose="020B0604020202020204" pitchFamily="34" charset="0"/>
              <a:buChar char="•"/>
            </a:pPr>
            <a:r>
              <a:rPr lang="en-US" b="1" i="0" u="none" strike="noStrike" dirty="0">
                <a:solidFill>
                  <a:srgbClr val="000000"/>
                </a:solidFill>
                <a:effectLst/>
                <a:latin typeface="Work Sans" pitchFamily="2" charset="0"/>
              </a:rPr>
              <a:t>Flag Register </a:t>
            </a:r>
            <a:r>
              <a:rPr lang="en-US" b="0" i="0" u="none" strike="noStrike" dirty="0">
                <a:solidFill>
                  <a:srgbClr val="000000"/>
                </a:solidFill>
                <a:effectLst/>
                <a:latin typeface="Work Sans" pitchFamily="2" charset="0"/>
              </a:rPr>
              <a:t>: It is a 16-bit register with 16 flip-flops or flags. Out of 16 flags, only 9 are used. In these 9 flags, six flags are used for indicating the status of the result of an operation, and three flags are used to control certain operations in the EU.</a:t>
            </a:r>
          </a:p>
          <a:p>
            <a:pPr algn="l" fontAlgn="base">
              <a:buFont typeface="Arial" panose="020B0604020202020204" pitchFamily="34" charset="0"/>
              <a:buChar char="•"/>
            </a:pPr>
            <a:endParaRPr lang="en-US" b="0" i="0" u="none" strike="noStrike" dirty="0">
              <a:solidFill>
                <a:srgbClr val="000000"/>
              </a:solidFill>
              <a:effectLst/>
              <a:latin typeface="Work Sans" pitchFamily="2" charset="0"/>
            </a:endParaRPr>
          </a:p>
        </p:txBody>
      </p:sp>
      <p:pic>
        <p:nvPicPr>
          <p:cNvPr id="4" name="Picture 3">
            <a:extLst>
              <a:ext uri="{FF2B5EF4-FFF2-40B4-BE49-F238E27FC236}">
                <a16:creationId xmlns:a16="http://schemas.microsoft.com/office/drawing/2014/main" id="{E87B1BE5-DB79-F993-1BCB-B730999AE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8771" y="2713682"/>
            <a:ext cx="7863840" cy="1874520"/>
          </a:xfrm>
          <a:prstGeom prst="rect">
            <a:avLst/>
          </a:prstGeom>
        </p:spPr>
      </p:pic>
    </p:spTree>
    <p:extLst>
      <p:ext uri="{BB962C8B-B14F-4D97-AF65-F5344CB8AC3E}">
        <p14:creationId xmlns:p14="http://schemas.microsoft.com/office/powerpoint/2010/main" val="1478746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4FCE0C-5DCC-71FA-A02D-9DAD426645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9676" y="691186"/>
            <a:ext cx="9149710" cy="5475627"/>
          </a:xfrm>
        </p:spPr>
      </p:pic>
    </p:spTree>
    <p:extLst>
      <p:ext uri="{BB962C8B-B14F-4D97-AF65-F5344CB8AC3E}">
        <p14:creationId xmlns:p14="http://schemas.microsoft.com/office/powerpoint/2010/main" val="3543729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454E26-3A99-DAF6-A561-E3A5C20434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0572" y="726697"/>
            <a:ext cx="9250884" cy="5404606"/>
          </a:xfrm>
        </p:spPr>
      </p:pic>
    </p:spTree>
    <p:extLst>
      <p:ext uri="{BB962C8B-B14F-4D97-AF65-F5344CB8AC3E}">
        <p14:creationId xmlns:p14="http://schemas.microsoft.com/office/powerpoint/2010/main" val="1413993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4C5269-8A5C-96BD-8DFE-8CE283453B09}"/>
              </a:ext>
            </a:extLst>
          </p:cNvPr>
          <p:cNvSpPr>
            <a:spLocks noGrp="1"/>
          </p:cNvSpPr>
          <p:nvPr>
            <p:ph idx="1"/>
          </p:nvPr>
        </p:nvSpPr>
        <p:spPr>
          <a:xfrm>
            <a:off x="1251752" y="435007"/>
            <a:ext cx="10102048" cy="2299315"/>
          </a:xfrm>
        </p:spPr>
        <p:txBody>
          <a:bodyPr>
            <a:normAutofit/>
          </a:bodyPr>
          <a:lstStyle/>
          <a:p>
            <a:pPr algn="l" fontAlgn="base">
              <a:buFont typeface="Arial" panose="020B0604020202020204" pitchFamily="34" charset="0"/>
              <a:buChar char="•"/>
            </a:pPr>
            <a:r>
              <a:rPr lang="en-US" sz="2000" b="1" i="0" u="none" strike="noStrike" dirty="0">
                <a:solidFill>
                  <a:srgbClr val="000000"/>
                </a:solidFill>
                <a:effectLst/>
                <a:latin typeface="Work Sans" pitchFamily="2" charset="0"/>
              </a:rPr>
              <a:t>General Purpose Registers </a:t>
            </a:r>
            <a:r>
              <a:rPr lang="en-US" sz="2000" b="0" i="0" u="none" strike="noStrike" dirty="0">
                <a:solidFill>
                  <a:srgbClr val="000000"/>
                </a:solidFill>
                <a:effectLst/>
                <a:latin typeface="Work Sans" pitchFamily="2" charset="0"/>
              </a:rPr>
              <a:t>: The 8086 contains four 16-bit general-purpose registers (AX, BX, CX, and DX) used to store data, variables, temporary results and can be used as counters. Each register is divided into two 8-bit registers i.e., AX as AH and AL, BX as BH and BL, CX as CH and CL, and DX as DH and DL.</a:t>
            </a:r>
          </a:p>
          <a:p>
            <a:pPr algn="l" fontAlgn="base">
              <a:buFont typeface="Arial" panose="020B0604020202020204" pitchFamily="34" charset="0"/>
              <a:buChar char="•"/>
            </a:pPr>
            <a:endParaRPr lang="en-US" sz="2000" b="0" i="0" u="none" strike="noStrike" dirty="0">
              <a:solidFill>
                <a:srgbClr val="000000"/>
              </a:solidFill>
              <a:effectLst/>
              <a:latin typeface="Work Sans" pitchFamily="2" charset="0"/>
            </a:endParaRPr>
          </a:p>
        </p:txBody>
      </p:sp>
      <p:pic>
        <p:nvPicPr>
          <p:cNvPr id="5" name="Picture 4">
            <a:extLst>
              <a:ext uri="{FF2B5EF4-FFF2-40B4-BE49-F238E27FC236}">
                <a16:creationId xmlns:a16="http://schemas.microsoft.com/office/drawing/2014/main" id="{69A2776A-5AE6-F9DE-B501-FD560B242D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0980" y="1569078"/>
            <a:ext cx="6327005" cy="5288922"/>
          </a:xfrm>
          <a:prstGeom prst="rect">
            <a:avLst/>
          </a:prstGeom>
        </p:spPr>
      </p:pic>
    </p:spTree>
    <p:extLst>
      <p:ext uri="{BB962C8B-B14F-4D97-AF65-F5344CB8AC3E}">
        <p14:creationId xmlns:p14="http://schemas.microsoft.com/office/powerpoint/2010/main" val="2931883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F3A7DB-486F-27DC-C244-D465F3DA08C1}"/>
              </a:ext>
            </a:extLst>
          </p:cNvPr>
          <p:cNvSpPr>
            <a:spLocks noGrp="1"/>
          </p:cNvSpPr>
          <p:nvPr>
            <p:ph idx="1"/>
          </p:nvPr>
        </p:nvSpPr>
        <p:spPr>
          <a:xfrm>
            <a:off x="577049" y="470517"/>
            <a:ext cx="10776751" cy="5706446"/>
          </a:xfrm>
        </p:spPr>
        <p:txBody>
          <a:bodyPr>
            <a:normAutofit/>
          </a:bodyPr>
          <a:lstStyle/>
          <a:p>
            <a:pPr algn="l" fontAlgn="base">
              <a:buFont typeface="Arial" panose="020B0604020202020204" pitchFamily="34" charset="0"/>
              <a:buChar char="•"/>
            </a:pPr>
            <a:r>
              <a:rPr lang="en-US" sz="2600" b="1" i="0" u="none" strike="noStrike" dirty="0">
                <a:solidFill>
                  <a:srgbClr val="000000"/>
                </a:solidFill>
                <a:effectLst/>
                <a:latin typeface="Work Sans" pitchFamily="2" charset="0"/>
              </a:rPr>
              <a:t>Stack Pointer (SP) </a:t>
            </a:r>
            <a:r>
              <a:rPr lang="en-US" sz="2600" b="0" i="0" u="none" strike="noStrike" dirty="0">
                <a:solidFill>
                  <a:srgbClr val="000000"/>
                </a:solidFill>
                <a:effectLst/>
                <a:latin typeface="Work Sans" pitchFamily="2" charset="0"/>
              </a:rPr>
              <a:t>: It is a 16-bit register that contains the offset from the start of the stack segment to the stack top.</a:t>
            </a:r>
          </a:p>
          <a:p>
            <a:pPr algn="l" fontAlgn="base">
              <a:buFont typeface="Arial" panose="020B0604020202020204" pitchFamily="34" charset="0"/>
              <a:buChar char="•"/>
            </a:pPr>
            <a:r>
              <a:rPr lang="en-US" sz="2600" b="1" dirty="0">
                <a:solidFill>
                  <a:srgbClr val="000000"/>
                </a:solidFill>
                <a:latin typeface="Work Sans" pitchFamily="2" charset="0"/>
              </a:rPr>
              <a:t>Base Pointer (BP) </a:t>
            </a:r>
            <a:r>
              <a:rPr lang="en-US" sz="2600" dirty="0">
                <a:solidFill>
                  <a:srgbClr val="000000"/>
                </a:solidFill>
                <a:latin typeface="Work Sans" pitchFamily="2" charset="0"/>
              </a:rPr>
              <a:t>: It is </a:t>
            </a:r>
            <a:r>
              <a:rPr lang="en-US" altLang="en-US" sz="2600" dirty="0">
                <a:latin typeface="Work Sans" pitchFamily="2" charset="0"/>
              </a:rPr>
              <a:t>Primarily used to access data on the stack and it can be used to access data in other segments</a:t>
            </a:r>
          </a:p>
          <a:p>
            <a:r>
              <a:rPr lang="en-US" altLang="en-US" sz="2600" b="1" dirty="0">
                <a:latin typeface="Work Sans" pitchFamily="2" charset="0"/>
              </a:rPr>
              <a:t>Source Index(SI) </a:t>
            </a:r>
            <a:r>
              <a:rPr lang="en-US" altLang="en-US" sz="2600" dirty="0">
                <a:latin typeface="Work Sans" pitchFamily="2" charset="0"/>
              </a:rPr>
              <a:t>: When string operations are performed, the SI register points to memory locations in the data segment which is addressed by the DS register. Thus, SI is associated with the DS in string operations.</a:t>
            </a:r>
          </a:p>
          <a:p>
            <a:r>
              <a:rPr lang="en-US" altLang="en-US" sz="2600" b="1" dirty="0">
                <a:latin typeface="Work Sans" pitchFamily="2" charset="0"/>
              </a:rPr>
              <a:t>Destination Index(DI) </a:t>
            </a:r>
            <a:r>
              <a:rPr lang="en-US" altLang="en-US" sz="2600" dirty="0">
                <a:latin typeface="Work Sans" pitchFamily="2" charset="0"/>
              </a:rPr>
              <a:t>: When string operations are performed, the DI register points to memory locations in the data segment which is addressed by the ES register. Thus, DI is associated with the ES in string operations</a:t>
            </a:r>
          </a:p>
          <a:p>
            <a:pPr eaLnBrk="1" hangingPunct="1">
              <a:lnSpc>
                <a:spcPct val="90000"/>
              </a:lnSpc>
              <a:buFontTx/>
              <a:buNone/>
            </a:pPr>
            <a:endParaRPr lang="en-US" altLang="en-US" sz="2800" dirty="0"/>
          </a:p>
          <a:p>
            <a:endParaRPr lang="en-US" dirty="0"/>
          </a:p>
        </p:txBody>
      </p:sp>
    </p:spTree>
    <p:extLst>
      <p:ext uri="{BB962C8B-B14F-4D97-AF65-F5344CB8AC3E}">
        <p14:creationId xmlns:p14="http://schemas.microsoft.com/office/powerpoint/2010/main" val="3933648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1E94BB-1350-EC14-D792-2419861E7987}"/>
              </a:ext>
            </a:extLst>
          </p:cNvPr>
          <p:cNvSpPr>
            <a:spLocks noGrp="1"/>
          </p:cNvSpPr>
          <p:nvPr>
            <p:ph idx="1"/>
          </p:nvPr>
        </p:nvSpPr>
        <p:spPr>
          <a:xfrm>
            <a:off x="838200" y="573129"/>
            <a:ext cx="10515600" cy="5711742"/>
          </a:xfrm>
        </p:spPr>
        <p:txBody>
          <a:bodyPr/>
          <a:lstStyle/>
          <a:p>
            <a:r>
              <a:rPr lang="en-US" b="0" i="0" dirty="0">
                <a:solidFill>
                  <a:srgbClr val="000000"/>
                </a:solidFill>
                <a:effectLst/>
                <a:latin typeface="Work Sans" pitchFamily="2" charset="0"/>
              </a:rPr>
              <a:t>Since, the two operations i.e., fetching an instruction from code memory by bus interface unit and execution of the instruction by execution unit are performed simultaneously, it is called </a:t>
            </a:r>
            <a:r>
              <a:rPr lang="en-US" b="1" u="sng" dirty="0">
                <a:solidFill>
                  <a:srgbClr val="000000"/>
                </a:solidFill>
                <a:latin typeface="Work Sans" pitchFamily="2" charset="0"/>
              </a:rPr>
              <a:t>P</a:t>
            </a:r>
            <a:r>
              <a:rPr lang="en-US" b="1" i="0" u="sng" dirty="0">
                <a:solidFill>
                  <a:srgbClr val="000000"/>
                </a:solidFill>
                <a:effectLst/>
                <a:latin typeface="Work Sans" pitchFamily="2" charset="0"/>
              </a:rPr>
              <a:t>arallel processing</a:t>
            </a:r>
            <a:r>
              <a:rPr lang="en-US" b="0" i="0" dirty="0">
                <a:solidFill>
                  <a:srgbClr val="000000"/>
                </a:solidFill>
                <a:effectLst/>
                <a:latin typeface="Work Sans" pitchFamily="2" charset="0"/>
              </a:rPr>
              <a:t>.</a:t>
            </a:r>
          </a:p>
          <a:p>
            <a:r>
              <a:rPr lang="en-US" b="0" i="0" dirty="0">
                <a:solidFill>
                  <a:srgbClr val="000000"/>
                </a:solidFill>
                <a:effectLst/>
                <a:latin typeface="Work Sans" pitchFamily="2" charset="0"/>
              </a:rPr>
              <a:t>The A-Bus, B-Bus, and C-Bus are the internal buses of the 8086 processor.</a:t>
            </a:r>
            <a:endParaRPr lang="en-US" dirty="0">
              <a:solidFill>
                <a:srgbClr val="000000"/>
              </a:solidFill>
              <a:latin typeface="Work Sans" pitchFamily="2" charset="0"/>
            </a:endParaRPr>
          </a:p>
          <a:p>
            <a:r>
              <a:rPr lang="en-US" dirty="0">
                <a:solidFill>
                  <a:srgbClr val="000000"/>
                </a:solidFill>
                <a:latin typeface="Work Sans" pitchFamily="2" charset="0"/>
              </a:rPr>
              <a:t>The A-Bus is an interface between BIU and EU.</a:t>
            </a:r>
          </a:p>
          <a:p>
            <a:r>
              <a:rPr lang="en-US" dirty="0">
                <a:solidFill>
                  <a:srgbClr val="000000"/>
                </a:solidFill>
                <a:latin typeface="Work Sans" pitchFamily="2" charset="0"/>
              </a:rPr>
              <a:t>The B-Bus is used to perform instruction fetch, data fetch, address transfer and computations of the effective address of the memory</a:t>
            </a:r>
          </a:p>
          <a:p>
            <a:r>
              <a:rPr lang="en-US" dirty="0">
                <a:solidFill>
                  <a:srgbClr val="000000"/>
                </a:solidFill>
                <a:latin typeface="Work Sans" pitchFamily="2" charset="0"/>
              </a:rPr>
              <a:t>The C-Bus performs transfer of instructions, addresses and data on the system to the execution unit</a:t>
            </a:r>
            <a:endParaRPr lang="en-US" dirty="0"/>
          </a:p>
        </p:txBody>
      </p:sp>
    </p:spTree>
    <p:extLst>
      <p:ext uri="{BB962C8B-B14F-4D97-AF65-F5344CB8AC3E}">
        <p14:creationId xmlns:p14="http://schemas.microsoft.com/office/powerpoint/2010/main" val="2637164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8B4C4-E0B9-2F4F-2CD5-CDE8ABC20907}"/>
              </a:ext>
            </a:extLst>
          </p:cNvPr>
          <p:cNvSpPr>
            <a:spLocks noGrp="1"/>
          </p:cNvSpPr>
          <p:nvPr>
            <p:ph type="title"/>
          </p:nvPr>
        </p:nvSpPr>
        <p:spPr/>
        <p:txBody>
          <a:bodyPr/>
          <a:lstStyle/>
          <a:p>
            <a:r>
              <a:rPr lang="en-US" dirty="0"/>
              <a:t>8086 PINS CONFIGURATION</a:t>
            </a:r>
          </a:p>
        </p:txBody>
      </p:sp>
      <p:pic>
        <p:nvPicPr>
          <p:cNvPr id="5" name="Content Placeholder 4">
            <a:extLst>
              <a:ext uri="{FF2B5EF4-FFF2-40B4-BE49-F238E27FC236}">
                <a16:creationId xmlns:a16="http://schemas.microsoft.com/office/drawing/2014/main" id="{4F9FE084-51F0-0BE5-93EF-36BFBB1796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9474" y="1443790"/>
            <a:ext cx="4331367" cy="5049086"/>
          </a:xfrm>
        </p:spPr>
      </p:pic>
    </p:spTree>
    <p:extLst>
      <p:ext uri="{BB962C8B-B14F-4D97-AF65-F5344CB8AC3E}">
        <p14:creationId xmlns:p14="http://schemas.microsoft.com/office/powerpoint/2010/main" val="3413513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CCE70E-6A08-FE82-4080-6DC2EEA876F3}"/>
              </a:ext>
            </a:extLst>
          </p:cNvPr>
          <p:cNvSpPr>
            <a:spLocks noGrp="1"/>
          </p:cNvSpPr>
          <p:nvPr>
            <p:ph idx="1"/>
          </p:nvPr>
        </p:nvSpPr>
        <p:spPr>
          <a:xfrm>
            <a:off x="737937" y="401054"/>
            <a:ext cx="10615863" cy="5775910"/>
          </a:xfrm>
        </p:spPr>
        <p:txBody>
          <a:bodyPr>
            <a:normAutofit fontScale="92500" lnSpcReduction="20000"/>
          </a:bodyPr>
          <a:lstStyle/>
          <a:p>
            <a:pPr marL="0" indent="0" algn="just">
              <a:buNone/>
            </a:pPr>
            <a:r>
              <a:rPr lang="en-US" dirty="0">
                <a:latin typeface="Work Sans" pitchFamily="2" charset="0"/>
                <a:ea typeface="Gadugi" panose="020B0502040204020203" pitchFamily="34" charset="0"/>
              </a:rPr>
              <a:t>The description of the pins of 8086 is as follows:</a:t>
            </a:r>
          </a:p>
          <a:p>
            <a:pPr algn="just"/>
            <a:r>
              <a:rPr lang="en-US" b="1" dirty="0">
                <a:latin typeface="Work Sans" pitchFamily="2" charset="0"/>
                <a:ea typeface="Gadugi" panose="020B0502040204020203" pitchFamily="34" charset="0"/>
              </a:rPr>
              <a:t>AD0-AD15(Address Data Bus): </a:t>
            </a:r>
            <a:r>
              <a:rPr lang="en-US" dirty="0">
                <a:latin typeface="Work Sans" pitchFamily="2" charset="0"/>
                <a:ea typeface="Gadugi" panose="020B0502040204020203" pitchFamily="34" charset="0"/>
              </a:rPr>
              <a:t>Bidirectional address/data lines. These are low order address bus. They are multiplexed with data. When these lines are used to transmit memory address, the symbol A is used instead of AD, for example A0-A15</a:t>
            </a:r>
          </a:p>
          <a:p>
            <a:pPr algn="just"/>
            <a:r>
              <a:rPr lang="en-US" b="1" dirty="0">
                <a:latin typeface="Work Sans" pitchFamily="2" charset="0"/>
                <a:ea typeface="Gadugi" panose="020B0502040204020203" pitchFamily="34" charset="0"/>
              </a:rPr>
              <a:t>A16-A19(Output): </a:t>
            </a:r>
            <a:r>
              <a:rPr lang="en-US" dirty="0">
                <a:latin typeface="Work Sans" pitchFamily="2" charset="0"/>
                <a:ea typeface="Gadugi" panose="020B0502040204020203" pitchFamily="34" charset="0"/>
              </a:rPr>
              <a:t>High order address lines. These are multiplexed with status signals.</a:t>
            </a:r>
          </a:p>
          <a:p>
            <a:pPr algn="just"/>
            <a:r>
              <a:rPr lang="en-US" b="1" i="0" dirty="0">
                <a:effectLst/>
                <a:latin typeface="Work Sans" pitchFamily="2" charset="0"/>
              </a:rPr>
              <a:t>A16/S3, A17/S4:</a:t>
            </a:r>
            <a:r>
              <a:rPr lang="en-US" b="0" i="0" dirty="0">
                <a:effectLst/>
                <a:latin typeface="Work Sans" pitchFamily="2" charset="0"/>
              </a:rPr>
              <a:t> A16 and A17 are multiplexed with segment identifier signals S3 and S4.</a:t>
            </a:r>
          </a:p>
          <a:p>
            <a:pPr algn="just"/>
            <a:r>
              <a:rPr lang="en-US" b="1" i="0" dirty="0">
                <a:effectLst/>
                <a:latin typeface="Work Sans" pitchFamily="2" charset="0"/>
              </a:rPr>
              <a:t>A18/S5:</a:t>
            </a:r>
            <a:r>
              <a:rPr lang="en-US" b="0" i="0" dirty="0">
                <a:effectLst/>
                <a:latin typeface="Work Sans" pitchFamily="2" charset="0"/>
              </a:rPr>
              <a:t> A18 is multiplexed with interrupt status S5.</a:t>
            </a:r>
          </a:p>
          <a:p>
            <a:pPr algn="just"/>
            <a:r>
              <a:rPr lang="en-US" b="1" i="0" dirty="0">
                <a:effectLst/>
                <a:latin typeface="Work Sans" pitchFamily="2" charset="0"/>
              </a:rPr>
              <a:t>A19/S6:</a:t>
            </a:r>
            <a:r>
              <a:rPr lang="en-US" b="0" i="0" dirty="0">
                <a:effectLst/>
                <a:latin typeface="Work Sans" pitchFamily="2" charset="0"/>
              </a:rPr>
              <a:t> A19 is multiplexed with status signal S6.</a:t>
            </a:r>
          </a:p>
          <a:p>
            <a:pPr algn="just"/>
            <a:r>
              <a:rPr lang="en-US" b="1" i="0" dirty="0">
                <a:effectLst/>
                <a:latin typeface="Work Sans" pitchFamily="2" charset="0"/>
              </a:rPr>
              <a:t>BHE/S7 (Output):</a:t>
            </a:r>
            <a:r>
              <a:rPr lang="en-US" b="0" i="0" dirty="0">
                <a:effectLst/>
                <a:latin typeface="Work Sans" pitchFamily="2" charset="0"/>
              </a:rPr>
              <a:t> Bus High Enable/Status. During T1, it is low. It enables the data onto the most significant half of data bus, D8-D15. 8-bit device connected to upper half of the data bus use BHE signal. It is multiplexed with status signal S7. S7 signal is available during T3 and T4.</a:t>
            </a:r>
          </a:p>
          <a:p>
            <a:pPr marL="0" indent="0" algn="just">
              <a:buNone/>
            </a:pPr>
            <a:endParaRPr lang="en-US" dirty="0">
              <a:latin typeface="Work Sans" pitchFamily="2" charset="0"/>
              <a:ea typeface="Gadugi" panose="020B0502040204020203" pitchFamily="34" charset="0"/>
            </a:endParaRPr>
          </a:p>
        </p:txBody>
      </p:sp>
    </p:spTree>
    <p:extLst>
      <p:ext uri="{BB962C8B-B14F-4D97-AF65-F5344CB8AC3E}">
        <p14:creationId xmlns:p14="http://schemas.microsoft.com/office/powerpoint/2010/main" val="2699731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D77E188-B51B-8CE3-E7FE-F3EF097536CB}"/>
              </a:ext>
            </a:extLst>
          </p:cNvPr>
          <p:cNvSpPr>
            <a:spLocks noGrp="1"/>
          </p:cNvSpPr>
          <p:nvPr>
            <p:ph idx="1"/>
          </p:nvPr>
        </p:nvSpPr>
        <p:spPr>
          <a:xfrm>
            <a:off x="593558" y="368968"/>
            <a:ext cx="10760242" cy="6489032"/>
          </a:xfrm>
        </p:spPr>
        <p:txBody>
          <a:bodyPr>
            <a:normAutofit/>
          </a:bodyPr>
          <a:lstStyle/>
          <a:p>
            <a:pPr algn="just"/>
            <a:r>
              <a:rPr lang="en-US" b="1" i="0" dirty="0">
                <a:effectLst/>
                <a:latin typeface="Work Sans" pitchFamily="2" charset="0"/>
              </a:rPr>
              <a:t>RD (Read):</a:t>
            </a:r>
            <a:r>
              <a:rPr lang="en-US" b="0" i="0" dirty="0">
                <a:effectLst/>
                <a:latin typeface="Work Sans" pitchFamily="2" charset="0"/>
              </a:rPr>
              <a:t> For read operation. It is an output signal. It is active when LOW.</a:t>
            </a:r>
          </a:p>
          <a:p>
            <a:pPr algn="just"/>
            <a:r>
              <a:rPr lang="en-US" b="1" i="0" dirty="0">
                <a:effectLst/>
                <a:latin typeface="Work Sans" pitchFamily="2" charset="0"/>
              </a:rPr>
              <a:t>Ready (Input):</a:t>
            </a:r>
            <a:r>
              <a:rPr lang="en-US" b="0" i="0" dirty="0">
                <a:effectLst/>
                <a:latin typeface="Work Sans" pitchFamily="2" charset="0"/>
              </a:rPr>
              <a:t> The addressed memory or I/O sends acknowledgment through this pin. When HIGH, it denotes that the peripheral is ready to transfer data.</a:t>
            </a:r>
          </a:p>
          <a:p>
            <a:pPr algn="just"/>
            <a:r>
              <a:rPr lang="en-US" b="1" i="0" dirty="0">
                <a:effectLst/>
                <a:latin typeface="Work Sans" pitchFamily="2" charset="0"/>
              </a:rPr>
              <a:t>RESET (Input):</a:t>
            </a:r>
            <a:r>
              <a:rPr lang="en-US" b="0" i="0" dirty="0">
                <a:effectLst/>
                <a:latin typeface="Work Sans" pitchFamily="2" charset="0"/>
              </a:rPr>
              <a:t> System reset. The signal is active HIGH.</a:t>
            </a:r>
          </a:p>
          <a:p>
            <a:pPr algn="just"/>
            <a:r>
              <a:rPr lang="en-US" b="1" i="0" dirty="0">
                <a:effectLst/>
                <a:latin typeface="Work Sans" pitchFamily="2" charset="0"/>
              </a:rPr>
              <a:t>CLK (input):</a:t>
            </a:r>
            <a:r>
              <a:rPr lang="en-US" b="0" i="0" dirty="0">
                <a:effectLst/>
                <a:latin typeface="Work Sans" pitchFamily="2" charset="0"/>
              </a:rPr>
              <a:t> Clock 5, 8 or 10 </a:t>
            </a:r>
            <a:r>
              <a:rPr lang="en-US" b="0" i="0" dirty="0" err="1">
                <a:effectLst/>
                <a:latin typeface="Work Sans" pitchFamily="2" charset="0"/>
              </a:rPr>
              <a:t>MHz.</a:t>
            </a:r>
            <a:endParaRPr lang="en-US" b="0" i="0" dirty="0">
              <a:effectLst/>
              <a:latin typeface="Work Sans" pitchFamily="2" charset="0"/>
            </a:endParaRPr>
          </a:p>
          <a:p>
            <a:pPr algn="just"/>
            <a:r>
              <a:rPr lang="en-US" b="1" i="0" dirty="0">
                <a:effectLst/>
                <a:latin typeface="Work Sans" pitchFamily="2" charset="0"/>
              </a:rPr>
              <a:t>NTR:</a:t>
            </a:r>
            <a:r>
              <a:rPr lang="en-US" b="0" i="0" dirty="0">
                <a:effectLst/>
                <a:latin typeface="Work Sans" pitchFamily="2" charset="0"/>
              </a:rPr>
              <a:t> Interrupt Request.</a:t>
            </a:r>
          </a:p>
          <a:p>
            <a:pPr algn="just"/>
            <a:r>
              <a:rPr lang="en-US" b="1" i="0" dirty="0">
                <a:effectLst/>
                <a:latin typeface="Work Sans" pitchFamily="2" charset="0"/>
              </a:rPr>
              <a:t>NMI (Input):</a:t>
            </a:r>
            <a:r>
              <a:rPr lang="en-US" b="0" i="0" dirty="0">
                <a:effectLst/>
                <a:latin typeface="Work Sans" pitchFamily="2" charset="0"/>
              </a:rPr>
              <a:t> Non-maskable interrupt request.</a:t>
            </a:r>
          </a:p>
          <a:p>
            <a:pPr algn="just"/>
            <a:r>
              <a:rPr lang="en-US" b="1" i="0" dirty="0">
                <a:effectLst/>
                <a:latin typeface="Work Sans" pitchFamily="2" charset="0"/>
              </a:rPr>
              <a:t>TEST (Input):</a:t>
            </a:r>
            <a:r>
              <a:rPr lang="en-US" b="0" i="0" dirty="0">
                <a:effectLst/>
                <a:latin typeface="Work Sans" pitchFamily="2" charset="0"/>
              </a:rPr>
              <a:t> Wait for test control. When LOW the microprocessor continues execution otherwise waits.</a:t>
            </a:r>
          </a:p>
          <a:p>
            <a:pPr algn="just"/>
            <a:r>
              <a:rPr lang="en-US" b="1" i="0" dirty="0">
                <a:effectLst/>
                <a:latin typeface="Work Sans" pitchFamily="2" charset="0"/>
              </a:rPr>
              <a:t>VCC:</a:t>
            </a:r>
            <a:r>
              <a:rPr lang="en-US" b="0" i="0" dirty="0">
                <a:effectLst/>
                <a:latin typeface="Work Sans" pitchFamily="2" charset="0"/>
              </a:rPr>
              <a:t> Power supply +5V dc.</a:t>
            </a:r>
          </a:p>
          <a:p>
            <a:pPr algn="just"/>
            <a:r>
              <a:rPr lang="en-US" b="1" i="0" dirty="0">
                <a:effectLst/>
                <a:latin typeface="Work Sans" pitchFamily="2" charset="0"/>
              </a:rPr>
              <a:t>GND:</a:t>
            </a:r>
            <a:r>
              <a:rPr lang="en-US" b="0" i="0" dirty="0">
                <a:effectLst/>
                <a:latin typeface="Work Sans" pitchFamily="2" charset="0"/>
              </a:rPr>
              <a:t> Ground.</a:t>
            </a:r>
          </a:p>
          <a:p>
            <a:pPr algn="just"/>
            <a:endParaRPr lang="en-US" b="0" i="0" dirty="0">
              <a:effectLst/>
              <a:latin typeface="Work Sans" pitchFamily="2" charset="0"/>
            </a:endParaRPr>
          </a:p>
        </p:txBody>
      </p:sp>
    </p:spTree>
    <p:extLst>
      <p:ext uri="{BB962C8B-B14F-4D97-AF65-F5344CB8AC3E}">
        <p14:creationId xmlns:p14="http://schemas.microsoft.com/office/powerpoint/2010/main" val="2126141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762D-C204-CE11-8ABC-DBDC468C4F39}"/>
              </a:ext>
            </a:extLst>
          </p:cNvPr>
          <p:cNvSpPr>
            <a:spLocks noGrp="1"/>
          </p:cNvSpPr>
          <p:nvPr>
            <p:ph type="title"/>
          </p:nvPr>
        </p:nvSpPr>
        <p:spPr>
          <a:xfrm>
            <a:off x="930442" y="0"/>
            <a:ext cx="10423358" cy="1369846"/>
          </a:xfrm>
        </p:spPr>
        <p:txBody>
          <a:bodyPr>
            <a:normAutofit/>
          </a:bodyPr>
          <a:lstStyle/>
          <a:p>
            <a:r>
              <a:rPr lang="fr-FR" b="0" i="0" dirty="0">
                <a:solidFill>
                  <a:srgbClr val="610B4B"/>
                </a:solidFill>
                <a:effectLst/>
                <a:latin typeface="erdana"/>
              </a:rPr>
              <a:t>Pin Description for Minimum Mode</a:t>
            </a:r>
            <a:br>
              <a:rPr lang="fr-FR" b="0" i="0" dirty="0">
                <a:solidFill>
                  <a:srgbClr val="610B4B"/>
                </a:solidFill>
                <a:effectLst/>
                <a:latin typeface="erdana"/>
              </a:rPr>
            </a:br>
            <a:endParaRPr lang="en-US" dirty="0"/>
          </a:p>
        </p:txBody>
      </p:sp>
      <p:sp>
        <p:nvSpPr>
          <p:cNvPr id="3" name="Content Placeholder 2">
            <a:extLst>
              <a:ext uri="{FF2B5EF4-FFF2-40B4-BE49-F238E27FC236}">
                <a16:creationId xmlns:a16="http://schemas.microsoft.com/office/drawing/2014/main" id="{039EF943-9102-FDB3-0DB4-4D94021CDD82}"/>
              </a:ext>
            </a:extLst>
          </p:cNvPr>
          <p:cNvSpPr>
            <a:spLocks noGrp="1"/>
          </p:cNvSpPr>
          <p:nvPr>
            <p:ph idx="1"/>
          </p:nvPr>
        </p:nvSpPr>
        <p:spPr>
          <a:xfrm>
            <a:off x="838200" y="818146"/>
            <a:ext cx="11111144" cy="5618165"/>
          </a:xfrm>
        </p:spPr>
        <p:txBody>
          <a:bodyPr>
            <a:normAutofit fontScale="55000" lnSpcReduction="20000"/>
          </a:bodyPr>
          <a:lstStyle/>
          <a:p>
            <a:pPr algn="just"/>
            <a:r>
              <a:rPr lang="en-US" sz="3400" b="1" i="0" dirty="0">
                <a:effectLst/>
                <a:latin typeface="Work Sans" pitchFamily="2" charset="0"/>
              </a:rPr>
              <a:t>INTA (Output):</a:t>
            </a:r>
            <a:r>
              <a:rPr lang="en-US" sz="3400" b="0" i="0" dirty="0">
                <a:effectLst/>
                <a:latin typeface="Work Sans" pitchFamily="2" charset="0"/>
              </a:rPr>
              <a:t> Pin number 24 interrupts acknowledgement. On receiving interrupt signal, the processor issues an interrupt acknowledgment signal. It is active LOW.</a:t>
            </a:r>
          </a:p>
          <a:p>
            <a:pPr algn="just"/>
            <a:r>
              <a:rPr lang="en-US" sz="3400" b="1" i="0" dirty="0">
                <a:effectLst/>
                <a:latin typeface="Work Sans" pitchFamily="2" charset="0"/>
              </a:rPr>
              <a:t>ALE (Output):</a:t>
            </a:r>
            <a:r>
              <a:rPr lang="en-US" sz="3400" b="0" i="0" dirty="0">
                <a:effectLst/>
                <a:latin typeface="Work Sans" pitchFamily="2" charset="0"/>
              </a:rPr>
              <a:t> Pin no. 25. Address latch enable. It goes HIGH during T1. The microprocessor 8086 sends this signal to latch the address into the Intel 8282/8283 latch.</a:t>
            </a:r>
          </a:p>
          <a:p>
            <a:pPr algn="just"/>
            <a:r>
              <a:rPr lang="en-US" sz="3400" b="1" i="0" dirty="0">
                <a:effectLst/>
                <a:latin typeface="Work Sans" pitchFamily="2" charset="0"/>
              </a:rPr>
              <a:t>DEN (Output):</a:t>
            </a:r>
            <a:r>
              <a:rPr lang="en-US" sz="3400" b="0" i="0" dirty="0">
                <a:effectLst/>
                <a:latin typeface="Work Sans" pitchFamily="2" charset="0"/>
              </a:rPr>
              <a:t> Pin no. 26. Data Enable. When Intel 8287/8286 octal bus transceiver is used this signal. It is active LOW.</a:t>
            </a:r>
          </a:p>
          <a:p>
            <a:pPr algn="just"/>
            <a:r>
              <a:rPr lang="en-US" sz="3400" b="1" i="0" dirty="0">
                <a:effectLst/>
                <a:latin typeface="Work Sans" pitchFamily="2" charset="0"/>
              </a:rPr>
              <a:t>DT/R (output):</a:t>
            </a:r>
            <a:r>
              <a:rPr lang="en-US" sz="3400" b="0" i="0" dirty="0">
                <a:effectLst/>
                <a:latin typeface="Work Sans" pitchFamily="2" charset="0"/>
              </a:rPr>
              <a:t> Pin No. 27 data Transmit/Receives. When Intel 8287/8286 octal bus transceiver is used this signal controls the direction of data flow through the transceiver. When it is HIGH, data is sent out. When it is LOW, data is received.</a:t>
            </a:r>
          </a:p>
          <a:p>
            <a:pPr algn="just"/>
            <a:r>
              <a:rPr lang="en-US" sz="3400" b="1" i="0" dirty="0">
                <a:effectLst/>
                <a:latin typeface="Work Sans" pitchFamily="2" charset="0"/>
              </a:rPr>
              <a:t>M/IO (Output):</a:t>
            </a:r>
            <a:r>
              <a:rPr lang="en-US" sz="3400" b="0" i="0" dirty="0">
                <a:effectLst/>
                <a:latin typeface="Work Sans" pitchFamily="2" charset="0"/>
              </a:rPr>
              <a:t> Pin no. 28, Memory or I/O access. When this signal is HIGH, the CPU wants to access memory. When this signal is LOW, the CPU wants to access I/O device.</a:t>
            </a:r>
          </a:p>
          <a:p>
            <a:pPr algn="just"/>
            <a:r>
              <a:rPr lang="en-US" sz="3400" b="1" i="0" dirty="0">
                <a:effectLst/>
                <a:latin typeface="Work Sans" pitchFamily="2" charset="0"/>
              </a:rPr>
              <a:t>WR (Output):</a:t>
            </a:r>
            <a:r>
              <a:rPr lang="en-US" sz="3400" b="0" i="0" dirty="0">
                <a:effectLst/>
                <a:latin typeface="Work Sans" pitchFamily="2" charset="0"/>
              </a:rPr>
              <a:t> Pin no. 29, Write. When this signal is LOW, the CPU performs memory or I/O write operation.</a:t>
            </a:r>
          </a:p>
          <a:p>
            <a:pPr algn="just"/>
            <a:r>
              <a:rPr lang="en-US" sz="3400" b="1" i="0" dirty="0">
                <a:effectLst/>
                <a:latin typeface="Work Sans" pitchFamily="2" charset="0"/>
              </a:rPr>
              <a:t>HLDA (Output):</a:t>
            </a:r>
            <a:r>
              <a:rPr lang="en-US" sz="3400" b="0" i="0" dirty="0">
                <a:effectLst/>
                <a:latin typeface="Work Sans" pitchFamily="2" charset="0"/>
              </a:rPr>
              <a:t> Pin no. 30, Hold Acknowledgment. It is sent by the processor when it receives HOLD signal. It is active HIGH signal. When HOLD is removed HLDA goes LOW.</a:t>
            </a:r>
          </a:p>
          <a:p>
            <a:pPr algn="just"/>
            <a:r>
              <a:rPr lang="en-US" sz="3400" b="1" i="0" dirty="0">
                <a:effectLst/>
                <a:latin typeface="Work Sans" pitchFamily="2" charset="0"/>
              </a:rPr>
              <a:t>HOLD (Input):</a:t>
            </a:r>
            <a:r>
              <a:rPr lang="en-US" sz="3400" b="0" i="0" dirty="0">
                <a:effectLst/>
                <a:latin typeface="Work Sans" pitchFamily="2" charset="0"/>
              </a:rPr>
              <a:t> Pin no. 31, Hold. When another device in microcomputer system wants to use the address and data bus, it sends HOLD request to CPU through this pin. It is an active HIGH signal.</a:t>
            </a:r>
          </a:p>
          <a:p>
            <a:pPr algn="just"/>
            <a:endParaRPr lang="en-US" sz="3400" b="0" i="0" dirty="0">
              <a:effectLst/>
              <a:latin typeface="Work Sans" pitchFamily="2" charset="0"/>
            </a:endParaRPr>
          </a:p>
          <a:p>
            <a:pPr algn="just"/>
            <a:endParaRPr lang="en-US" b="0" i="0" dirty="0">
              <a:effectLst/>
              <a:latin typeface="Work Sans" pitchFamily="2" charset="0"/>
            </a:endParaRPr>
          </a:p>
        </p:txBody>
      </p:sp>
    </p:spTree>
    <p:extLst>
      <p:ext uri="{BB962C8B-B14F-4D97-AF65-F5344CB8AC3E}">
        <p14:creationId xmlns:p14="http://schemas.microsoft.com/office/powerpoint/2010/main" val="3204194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DB272-8A68-601E-447F-7EF53D2574F4}"/>
              </a:ext>
            </a:extLst>
          </p:cNvPr>
          <p:cNvSpPr>
            <a:spLocks noGrp="1"/>
          </p:cNvSpPr>
          <p:nvPr>
            <p:ph type="title"/>
          </p:nvPr>
        </p:nvSpPr>
        <p:spPr>
          <a:xfrm>
            <a:off x="838200" y="365126"/>
            <a:ext cx="10515600" cy="886626"/>
          </a:xfrm>
        </p:spPr>
        <p:txBody>
          <a:bodyPr>
            <a:normAutofit fontScale="90000"/>
          </a:bodyPr>
          <a:lstStyle/>
          <a:p>
            <a:r>
              <a:rPr lang="fr-FR" b="0" i="0" dirty="0">
                <a:solidFill>
                  <a:srgbClr val="610B4B"/>
                </a:solidFill>
                <a:effectLst/>
                <a:latin typeface="erdana"/>
              </a:rPr>
              <a:t>Pin Description for Maximum Mode</a:t>
            </a:r>
            <a:br>
              <a:rPr lang="fr-FR" b="0" i="0" dirty="0">
                <a:solidFill>
                  <a:srgbClr val="610B4B"/>
                </a:solidFill>
                <a:effectLst/>
                <a:latin typeface="erdana"/>
              </a:rPr>
            </a:br>
            <a:endParaRPr lang="en-US" dirty="0"/>
          </a:p>
        </p:txBody>
      </p:sp>
      <p:sp>
        <p:nvSpPr>
          <p:cNvPr id="3" name="Content Placeholder 2">
            <a:extLst>
              <a:ext uri="{FF2B5EF4-FFF2-40B4-BE49-F238E27FC236}">
                <a16:creationId xmlns:a16="http://schemas.microsoft.com/office/drawing/2014/main" id="{2503A3A1-C2BD-3A58-443F-CDCF6E3698E5}"/>
              </a:ext>
            </a:extLst>
          </p:cNvPr>
          <p:cNvSpPr>
            <a:spLocks noGrp="1"/>
          </p:cNvSpPr>
          <p:nvPr>
            <p:ph idx="1"/>
          </p:nvPr>
        </p:nvSpPr>
        <p:spPr>
          <a:xfrm>
            <a:off x="838200" y="967666"/>
            <a:ext cx="10515600" cy="5209297"/>
          </a:xfrm>
        </p:spPr>
        <p:txBody>
          <a:bodyPr/>
          <a:lstStyle/>
          <a:p>
            <a:pPr algn="just"/>
            <a:r>
              <a:rPr lang="en-US" b="0" i="0" dirty="0">
                <a:effectLst/>
                <a:latin typeface="inter-regular"/>
              </a:rPr>
              <a:t>In the maximum mode of operation, the pin MN/¯MX is made LOW. It is grounded. The description about the pins from 24 to 31 is as follows:</a:t>
            </a:r>
          </a:p>
          <a:p>
            <a:pPr algn="just"/>
            <a:r>
              <a:rPr lang="en-US" b="1" i="0" dirty="0">
                <a:effectLst/>
                <a:latin typeface="inter-bold"/>
              </a:rPr>
              <a:t>QS1, QS0 (Output):</a:t>
            </a:r>
            <a:r>
              <a:rPr lang="en-US" b="0" i="0" dirty="0">
                <a:effectLst/>
                <a:latin typeface="inter-regular"/>
              </a:rPr>
              <a:t> Pin numbers 24, 25, Instruction Queue Status. Logics are given below:</a:t>
            </a:r>
          </a:p>
          <a:p>
            <a:endParaRPr lang="en-US" dirty="0"/>
          </a:p>
        </p:txBody>
      </p:sp>
      <p:pic>
        <p:nvPicPr>
          <p:cNvPr id="8" name="Picture 7">
            <a:extLst>
              <a:ext uri="{FF2B5EF4-FFF2-40B4-BE49-F238E27FC236}">
                <a16:creationId xmlns:a16="http://schemas.microsoft.com/office/drawing/2014/main" id="{88BAE8E9-18B8-08C4-C5C7-8A66D4A5D5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5420" y="3346704"/>
            <a:ext cx="3977640" cy="2450592"/>
          </a:xfrm>
          <a:prstGeom prst="rect">
            <a:avLst/>
          </a:prstGeom>
        </p:spPr>
      </p:pic>
    </p:spTree>
    <p:extLst>
      <p:ext uri="{BB962C8B-B14F-4D97-AF65-F5344CB8AC3E}">
        <p14:creationId xmlns:p14="http://schemas.microsoft.com/office/powerpoint/2010/main" val="1794661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B3A689B-FDDE-CDA1-FE1B-C679E429ACAE}"/>
              </a:ext>
            </a:extLst>
          </p:cNvPr>
          <p:cNvSpPr>
            <a:spLocks noGrp="1"/>
          </p:cNvSpPr>
          <p:nvPr>
            <p:ph idx="1"/>
          </p:nvPr>
        </p:nvSpPr>
        <p:spPr>
          <a:xfrm>
            <a:off x="630238" y="417513"/>
            <a:ext cx="10723562" cy="5759450"/>
          </a:xfrm>
        </p:spPr>
        <p:txBody>
          <a:bodyPr/>
          <a:lstStyle/>
          <a:p>
            <a:r>
              <a:rPr lang="en-US" b="1" i="0">
                <a:solidFill>
                  <a:srgbClr val="333333"/>
                </a:solidFill>
                <a:effectLst/>
                <a:latin typeface="inter-bold"/>
              </a:rPr>
              <a:t>S0, S1, S2 (Output):</a:t>
            </a:r>
            <a:r>
              <a:rPr lang="en-US" b="0" i="0">
                <a:solidFill>
                  <a:srgbClr val="333333"/>
                </a:solidFill>
                <a:effectLst/>
                <a:latin typeface="inter-regular"/>
              </a:rPr>
              <a:t> Pin numbers 26, 27, 28 Status Signals. These signals are connected to the bus controller of Intel 8288. This bus controller generates memory and I/O access control signals. Logics for status signal are given below:</a:t>
            </a:r>
            <a:endParaRPr lang="en-US"/>
          </a:p>
        </p:txBody>
      </p:sp>
      <p:pic>
        <p:nvPicPr>
          <p:cNvPr id="8" name="Picture 7">
            <a:extLst>
              <a:ext uri="{FF2B5EF4-FFF2-40B4-BE49-F238E27FC236}">
                <a16:creationId xmlns:a16="http://schemas.microsoft.com/office/drawing/2014/main" id="{A2BD6FC6-6FF0-7E02-4DC5-CA1926644B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4719" y="2313623"/>
            <a:ext cx="3543300" cy="3863340"/>
          </a:xfrm>
          <a:prstGeom prst="rect">
            <a:avLst/>
          </a:prstGeom>
        </p:spPr>
      </p:pic>
    </p:spTree>
    <p:extLst>
      <p:ext uri="{BB962C8B-B14F-4D97-AF65-F5344CB8AC3E}">
        <p14:creationId xmlns:p14="http://schemas.microsoft.com/office/powerpoint/2010/main" val="2579470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B7DFBD-11B2-0306-EFF5-1857446E24B7}"/>
              </a:ext>
            </a:extLst>
          </p:cNvPr>
          <p:cNvSpPr>
            <a:spLocks noGrp="1"/>
          </p:cNvSpPr>
          <p:nvPr>
            <p:ph idx="1"/>
          </p:nvPr>
        </p:nvSpPr>
        <p:spPr>
          <a:xfrm>
            <a:off x="745724" y="665825"/>
            <a:ext cx="10608076" cy="5511138"/>
          </a:xfrm>
        </p:spPr>
        <p:txBody>
          <a:bodyPr>
            <a:normAutofit/>
          </a:bodyPr>
          <a:lstStyle/>
          <a:p>
            <a:pPr algn="just"/>
            <a:r>
              <a:rPr lang="en-US" b="1" i="0" dirty="0">
                <a:effectLst/>
                <a:latin typeface="Work Sans" pitchFamily="2" charset="0"/>
              </a:rPr>
              <a:t>LOCK (Output):</a:t>
            </a:r>
            <a:r>
              <a:rPr lang="en-US" b="0" i="0" dirty="0">
                <a:effectLst/>
                <a:latin typeface="Work Sans" pitchFamily="2" charset="0"/>
              </a:rPr>
              <a:t> Pin no. 29. It is an active LOW signal. When this signal is LOW, all interrupts are masked and no HOLD request is granted. In a multiprocessor system all other processors are informed through this signal that they should not ask the CPU for relinquishing the bus control.</a:t>
            </a:r>
          </a:p>
          <a:p>
            <a:pPr algn="just"/>
            <a:r>
              <a:rPr lang="en-US" b="1" i="0" dirty="0">
                <a:effectLst/>
                <a:latin typeface="Work Sans" pitchFamily="2" charset="0"/>
              </a:rPr>
              <a:t>RG/GT1, RQ/GT0 (Bidirectional): </a:t>
            </a:r>
            <a:r>
              <a:rPr lang="en-US" b="0" i="0" dirty="0">
                <a:effectLst/>
                <a:latin typeface="Work Sans" pitchFamily="2" charset="0"/>
              </a:rPr>
              <a:t>Pin numbers 30, 31, Local Bus Priority Control. Other processors ask the CPU by these lines to release the local bus.</a:t>
            </a:r>
          </a:p>
          <a:p>
            <a:pPr algn="just"/>
            <a:r>
              <a:rPr lang="en-US" b="0" i="0" dirty="0">
                <a:effectLst/>
                <a:latin typeface="Work Sans" pitchFamily="2" charset="0"/>
              </a:rPr>
              <a:t>In the maximum mode of operation signals WR, ALE, DEN, DT/R etc. are not available directly from the processor. These signals are available from the controller 8288.</a:t>
            </a:r>
          </a:p>
          <a:p>
            <a:endParaRPr lang="en-US" dirty="0"/>
          </a:p>
        </p:txBody>
      </p:sp>
    </p:spTree>
    <p:extLst>
      <p:ext uri="{BB962C8B-B14F-4D97-AF65-F5344CB8AC3E}">
        <p14:creationId xmlns:p14="http://schemas.microsoft.com/office/powerpoint/2010/main" val="779099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81A7E94-4964-BAE4-AA78-D34175B569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6960" y="618123"/>
            <a:ext cx="8063364" cy="5375576"/>
          </a:xfrm>
        </p:spPr>
      </p:pic>
    </p:spTree>
    <p:extLst>
      <p:ext uri="{BB962C8B-B14F-4D97-AF65-F5344CB8AC3E}">
        <p14:creationId xmlns:p14="http://schemas.microsoft.com/office/powerpoint/2010/main" val="3798266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