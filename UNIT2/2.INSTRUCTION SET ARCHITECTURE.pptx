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7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90600"/>
            <a:ext cx="8229600" cy="2819400"/>
          </a:xfrm>
        </p:spPr>
        <p:txBody>
          <a:bodyPr/>
          <a:lstStyle/>
          <a:p>
            <a:r>
              <a:rPr lang="en-US" dirty="0"/>
              <a:t>INSTRUCTION SET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Set Architecture(ISA)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848600" cy="5029200"/>
          </a:xfrm>
        </p:spPr>
        <p:txBody>
          <a:bodyPr/>
          <a:lstStyle/>
          <a:p>
            <a:r>
              <a:rPr lang="en-US" dirty="0"/>
              <a:t>An Instruction Set Architecture (ISA) is part of the abstract model of a computer that defines how the CPU is controlled by the software.</a:t>
            </a:r>
          </a:p>
          <a:p>
            <a:endParaRPr lang="en-US" dirty="0"/>
          </a:p>
          <a:p>
            <a:r>
              <a:rPr lang="en-US" dirty="0"/>
              <a:t>It is the part of Computer Architecture which is related to programming, instructions, registers, addressing modes, etc.</a:t>
            </a:r>
          </a:p>
          <a:p>
            <a:endParaRPr lang="en-US" dirty="0"/>
          </a:p>
          <a:p>
            <a:r>
              <a:rPr lang="en-US" dirty="0"/>
              <a:t>Instruction set : It is a combination of instructions, that a processor executes.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077200" cy="1143000"/>
          </a:xfrm>
        </p:spPr>
        <p:txBody>
          <a:bodyPr>
            <a:normAutofit/>
          </a:bodyPr>
          <a:lstStyle/>
          <a:p>
            <a:r>
              <a:rPr lang="en-US" dirty="0"/>
              <a:t>Instruction Set Architecture(ISA)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Bridges the hardware/software co-design</a:t>
            </a:r>
          </a:p>
          <a:p>
            <a:r>
              <a:rPr lang="en-US" dirty="0"/>
              <a:t>Compiler developer use ISA to develop compilers.</a:t>
            </a:r>
          </a:p>
          <a:p>
            <a:r>
              <a:rPr lang="en-US" dirty="0"/>
              <a:t>CPU designers design a CPU to implement the ISA.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Some open source examples:</a:t>
            </a:r>
          </a:p>
          <a:p>
            <a:r>
              <a:rPr lang="en-US" dirty="0"/>
              <a:t>MIPS32/MIPS64</a:t>
            </a:r>
          </a:p>
          <a:p>
            <a:r>
              <a:rPr lang="en-US" dirty="0"/>
              <a:t>RISC-V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Instruction Set Architecture(ISA)</a:t>
            </a:r>
            <a:br>
              <a:rPr lang="en-US" dirty="0"/>
            </a:br>
            <a:r>
              <a:rPr lang="en-US" dirty="0"/>
              <a:t>The Hardware-Software Interface</a:t>
            </a:r>
          </a:p>
        </p:txBody>
      </p:sp>
      <p:pic>
        <p:nvPicPr>
          <p:cNvPr id="1026" name="Picture 2" descr="C:\Users\RGUKT\Desktop\hardware software interface of ISA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600200"/>
            <a:ext cx="7924800" cy="4724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PT - PART 1 Introduction PowerPoint Presentation, free download -  ID:33520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Instruction Set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5029200"/>
          </a:xfrm>
        </p:spPr>
        <p:txBody>
          <a:bodyPr>
            <a:normAutofit lnSpcReduction="10000"/>
          </a:bodyPr>
          <a:lstStyle/>
          <a:p>
            <a:pPr fontAlgn="base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Arithmetic/Logical : Integer ALU ops.</a:t>
            </a:r>
          </a:p>
          <a:p>
            <a:pPr lvl="1" fontAlgn="base"/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ADD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, 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, 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SUB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, 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.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Load/Stores : Data transfer between memory and registers.</a:t>
            </a:r>
          </a:p>
          <a:p>
            <a:pPr lvl="1" fontAlgn="base"/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LOAD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, 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STORE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Reg-reg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), 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MOVE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Mem-mem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Control : Instructions to change the program execution sequence.</a:t>
            </a:r>
          </a:p>
          <a:p>
            <a:pPr lvl="1" fontAlgn="base"/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BEQZ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, 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BNEQ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, 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JMP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, 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CALL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, 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, 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TRAP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System : OS instructions, virtual memory management instructions.</a:t>
            </a:r>
          </a:p>
          <a:p>
            <a:pPr lvl="1" fontAlgn="base"/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Instruction Set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Floating Point :</a:t>
            </a:r>
          </a:p>
          <a:p>
            <a:pPr lvl="1" fontAlgn="base"/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FADD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, 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FMULT</a:t>
            </a:r>
            <a:endParaRPr lang="en-US" i="1" dirty="0"/>
          </a:p>
          <a:p>
            <a:pPr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Decimal : Support for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BSD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String : Special instruction optimized for handling ASCII character strings.</a:t>
            </a:r>
          </a:p>
          <a:p>
            <a:pPr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Graphics : Pixel operations, compression and decompression.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Instruction Set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447800"/>
            <a:ext cx="8077200" cy="50292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All machines generally provide a full set of operations for the first three categories.</a:t>
            </a:r>
          </a:p>
          <a:p>
            <a:pPr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All machines MUST provide instruction support for basic system functions.</a:t>
            </a:r>
          </a:p>
          <a:p>
            <a:pPr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Floating point instructions are optional but are commonly provided.</a:t>
            </a:r>
          </a:p>
          <a:p>
            <a:pPr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Decimal and string instructions are optional but are disappearing in recent ISAs. They can be easily emulated by sequences of simpler instructions.</a:t>
            </a:r>
          </a:p>
          <a:p>
            <a:pPr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Graphic instructions are optional.</a:t>
            </a:r>
          </a:p>
          <a:p>
            <a:pPr fontAlgn="base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Instruction Set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Control Flow instructions</a:t>
            </a:r>
          </a:p>
          <a:p>
            <a:pPr lvl="1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Four types are identifiable: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Conditional branches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Jumps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Procedure Calls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Procedure Returns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C:\Users\RGUKT\Downloads\WhatsApp Image 2022-06-12 at 6.32.38 P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Types of Operands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Machine instructions operate on data. The most important general categories of data are: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Addresses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Numbers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Characters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Logical data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Operands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Numbers: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All machine languages include numeric data types. 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Three types of numerical data are common in computers: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Integer or fixed point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Floating point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Decimal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C:\Users\RGUKT\Downloads\WhatsApp Image 2022-06-12 at 6.32.35 PM (1)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Set Architecture(ISA)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ISAs differ based on the internal storage in a processor. Accordingly, the ISA can be classified as follows, based on where the operands are stored and whether they are named explicitly or implicitly:</a:t>
            </a:r>
          </a:p>
          <a:p>
            <a:r>
              <a:rPr lang="en-US" b="1" dirty="0"/>
              <a:t>Single accumulator organization</a:t>
            </a:r>
          </a:p>
          <a:p>
            <a:r>
              <a:rPr lang="en-US" b="1" dirty="0"/>
              <a:t>General register organization</a:t>
            </a:r>
          </a:p>
          <a:p>
            <a:r>
              <a:rPr lang="en-US" b="1" dirty="0"/>
              <a:t>Stack organization</a:t>
            </a:r>
          </a:p>
          <a:p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Single accumulator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Single accumulator organization</a:t>
            </a:r>
            <a:r>
              <a:rPr lang="en-US" dirty="0"/>
              <a:t>, which names one of the general purpose registers as the accumulator and uses it to necessarily store one of the operands.</a:t>
            </a:r>
          </a:p>
          <a:p>
            <a:endParaRPr lang="en-US" dirty="0"/>
          </a:p>
          <a:p>
            <a:r>
              <a:rPr lang="en-US" dirty="0"/>
              <a:t> This indicates that one of the operands is implied to be in the accumulator and it is enough if the other operand is specified along with the instruction.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C:\Users\RGUKT\Downloads\WhatsApp Image 2022-06-12 at 7.13.21 P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General register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General register organization, </a:t>
            </a:r>
            <a:r>
              <a:rPr lang="en-US" dirty="0"/>
              <a:t>which specifies all the operands explicitly. Depending on whether the operands are available in memory or registers, it can be further classified as</a:t>
            </a:r>
          </a:p>
          <a:p>
            <a:r>
              <a:rPr lang="en-US" dirty="0"/>
              <a:t>– </a:t>
            </a:r>
            <a:r>
              <a:rPr lang="en-US" b="1" dirty="0"/>
              <a:t>Register</a:t>
            </a:r>
            <a:r>
              <a:rPr lang="en-US" dirty="0"/>
              <a:t> </a:t>
            </a:r>
            <a:r>
              <a:rPr lang="en-US" b="1" dirty="0"/>
              <a:t>–</a:t>
            </a:r>
            <a:r>
              <a:rPr lang="en-US" dirty="0"/>
              <a:t> </a:t>
            </a:r>
            <a:r>
              <a:rPr lang="en-US" b="1" dirty="0"/>
              <a:t>register</a:t>
            </a:r>
            <a:r>
              <a:rPr lang="en-US" dirty="0"/>
              <a:t>, where registers are used for storing operands. Such architectures are in fact also called </a:t>
            </a:r>
            <a:r>
              <a:rPr lang="en-US" b="1" dirty="0"/>
              <a:t>load</a:t>
            </a:r>
            <a:r>
              <a:rPr lang="en-US" dirty="0"/>
              <a:t> </a:t>
            </a:r>
            <a:r>
              <a:rPr lang="en-US" b="1" dirty="0"/>
              <a:t>–</a:t>
            </a:r>
            <a:r>
              <a:rPr lang="en-US" dirty="0"/>
              <a:t> </a:t>
            </a:r>
            <a:r>
              <a:rPr lang="en-US" b="1" dirty="0"/>
              <a:t>store</a:t>
            </a:r>
            <a:r>
              <a:rPr lang="en-US" dirty="0"/>
              <a:t> architectures, as only load and store instructions can have memory operands.</a:t>
            </a:r>
          </a:p>
          <a:p>
            <a:r>
              <a:rPr lang="en-US" b="1" dirty="0"/>
              <a:t>           –  Register</a:t>
            </a:r>
            <a:r>
              <a:rPr lang="en-US" dirty="0"/>
              <a:t> </a:t>
            </a:r>
            <a:r>
              <a:rPr lang="en-US" b="1" dirty="0"/>
              <a:t>–</a:t>
            </a:r>
            <a:r>
              <a:rPr lang="en-US" dirty="0"/>
              <a:t> </a:t>
            </a:r>
            <a:r>
              <a:rPr lang="en-US" b="1" dirty="0"/>
              <a:t>memory</a:t>
            </a:r>
            <a:r>
              <a:rPr lang="en-US" dirty="0"/>
              <a:t>, where one operand is in a register and the other one in memory.</a:t>
            </a:r>
          </a:p>
          <a:p>
            <a:r>
              <a:rPr lang="en-US" b="1" dirty="0"/>
              <a:t>            – Memory</a:t>
            </a:r>
            <a:r>
              <a:rPr lang="en-US" dirty="0"/>
              <a:t> </a:t>
            </a:r>
            <a:r>
              <a:rPr lang="en-US" b="1" dirty="0"/>
              <a:t>–</a:t>
            </a:r>
            <a:r>
              <a:rPr lang="en-US" dirty="0"/>
              <a:t> </a:t>
            </a:r>
            <a:r>
              <a:rPr lang="en-US" b="1" dirty="0"/>
              <a:t>memory</a:t>
            </a:r>
            <a:r>
              <a:rPr lang="en-US" dirty="0"/>
              <a:t>, where all the operands are specified as memory operands.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C:\Users\RGUKT\Downloads\WhatsApp Image 2022-06-12 at 7.13.34 P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C:\Users\RGUKT\Downloads\WhatsApp Image 2022-06-12 at 7.13.30 PM (1)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Stack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Stack organization</a:t>
            </a:r>
            <a:r>
              <a:rPr lang="en-US" dirty="0"/>
              <a:t>, where the operands are put into the stack and the operations are carried out on the top of the stack. The operands are implicitly specified here.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C:\Users\RGUKT\Downloads\WhatsApp Image 2022-06-12 at 7.13.40 P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nu Chanti\Desktop\Thank yo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1" y="381000"/>
            <a:ext cx="7848600" cy="586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